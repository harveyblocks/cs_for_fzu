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74"/>
  </p:notesMasterIdLst>
  <p:sldIdLst>
    <p:sldId id="354" r:id="rId4"/>
    <p:sldId id="311" r:id="rId5"/>
    <p:sldId id="339" r:id="rId6"/>
    <p:sldId id="340" r:id="rId7"/>
    <p:sldId id="347" r:id="rId8"/>
    <p:sldId id="373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364" r:id="rId28"/>
    <p:sldId id="365" r:id="rId29"/>
    <p:sldId id="256" r:id="rId30"/>
    <p:sldId id="302" r:id="rId31"/>
    <p:sldId id="327" r:id="rId32"/>
    <p:sldId id="419" r:id="rId33"/>
    <p:sldId id="328" r:id="rId34"/>
    <p:sldId id="329" r:id="rId35"/>
    <p:sldId id="374" r:id="rId36"/>
    <p:sldId id="330" r:id="rId37"/>
    <p:sldId id="331" r:id="rId38"/>
    <p:sldId id="332" r:id="rId39"/>
    <p:sldId id="333" r:id="rId40"/>
    <p:sldId id="371" r:id="rId41"/>
    <p:sldId id="334" r:id="rId42"/>
    <p:sldId id="375" r:id="rId43"/>
    <p:sldId id="335" r:id="rId44"/>
    <p:sldId id="336" r:id="rId45"/>
    <p:sldId id="337" r:id="rId46"/>
    <p:sldId id="420" r:id="rId47"/>
    <p:sldId id="421" r:id="rId48"/>
    <p:sldId id="341" r:id="rId49"/>
    <p:sldId id="342" r:id="rId50"/>
    <p:sldId id="343" r:id="rId51"/>
    <p:sldId id="344" r:id="rId52"/>
    <p:sldId id="345" r:id="rId53"/>
    <p:sldId id="346" r:id="rId54"/>
    <p:sldId id="376" r:id="rId55"/>
    <p:sldId id="422" r:id="rId56"/>
    <p:sldId id="362" r:id="rId57"/>
    <p:sldId id="348" r:id="rId58"/>
    <p:sldId id="349" r:id="rId59"/>
    <p:sldId id="351" r:id="rId60"/>
    <p:sldId id="352" r:id="rId61"/>
    <p:sldId id="377" r:id="rId62"/>
    <p:sldId id="353" r:id="rId63"/>
    <p:sldId id="423" r:id="rId64"/>
    <p:sldId id="378" r:id="rId65"/>
    <p:sldId id="355" r:id="rId66"/>
    <p:sldId id="356" r:id="rId67"/>
    <p:sldId id="357" r:id="rId68"/>
    <p:sldId id="363" r:id="rId69"/>
    <p:sldId id="379" r:id="rId70"/>
    <p:sldId id="358" r:id="rId71"/>
    <p:sldId id="359" r:id="rId72"/>
    <p:sldId id="360" r:id="rId7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60" y="3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8E51B-9CF4-4B2F-B1F2-F1B0FDC648C3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9A64B-CF22-48C9-8A0C-C748AD1A9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63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E05862A-7269-456F-45EB-6E46B6D4A7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FCEBC83-E421-3FEF-3D48-29F6BDA48E8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w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w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7465B-A470-ABF8-DD4B-170A8C25A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C8EBA5-61F1-5285-EA7F-7B32378F8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F0BC97-7CD1-63D0-53A1-56DE0B56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C08673-6F34-B294-3380-68FC7E9D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EB8E4-5E67-BA8C-E9C6-34792435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54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56E4D-B3B9-AE82-26EC-DEBF7D71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A7B8E1-D8E6-E402-29DD-979CFEC83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3C5B6-1A7D-297B-D3FD-E99E0C12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F5304B-B747-F8A4-A001-A2EE0D67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B8A8B-7DCE-BA97-B390-9526B135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88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F8C59-E0E8-6BAC-A65D-422356FE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A7BDB-E25D-56BB-3F27-B33A01E90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63BCD-4D6A-5490-E7D6-291337E9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A3467-643D-CC46-AD40-697EFA6A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B8E522-F29E-B126-F263-CD23A537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3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A39D2-E99D-C74A-BA5E-B400543D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BCAA7-9386-75F5-BFD1-C4DA2635C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178212-87F6-B3D6-F2C8-103633417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A08DA7-1BE6-7737-7420-F3A31645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FCEC38-2B5E-B49B-E9C2-AE2A8FC0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122-4B08-1C09-5347-81E4E7EA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2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AB171-385E-EA3A-0B65-46FD07BD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2C0981-C033-6DA0-DF90-86671363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AD8606-447E-9735-F5B2-9C0205FB3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6BDE46-1B5A-6BD2-6CF6-5862C90AC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8F3C3F-44F5-C78E-BCA3-4DF4DD7C9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6FCD40-084A-123A-DA05-3F90276F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9E575A-C510-48E7-499B-8C4B41DD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BA62B5-A61D-97BD-92A0-253EB933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0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9CA93-3C78-6026-CDB9-ECD864F1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E079A9-B821-23CE-441D-6A98132E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426F57-6687-128C-3DD2-47FB7A5F1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8014CE-B469-A1FA-D52E-714090F9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595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960572-4B10-F073-001C-4CCA64C0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ADB811-8206-EC36-0378-5FAA64D1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93D80F-1468-5FCC-402C-46C00EAD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4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C5717-55F4-31D6-B4F2-3AA0AD4E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8F3446-16BD-D34F-B832-7D01F632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01D37C-7F7F-F3EA-0F79-1EAA7DAD6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C9750D-8A6D-8B27-1B53-B0DD5422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EA0370-7772-05E1-51FB-E0EACF4F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C6450C-2915-5B2A-605B-086904EEB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5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7094C-A435-742F-2876-13728958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E1DB14-C3D0-CE9A-4AE2-4CFA6032E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07DD40-2DF8-7BB6-D0B3-384C454E8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328E4F-B994-F4ED-15CE-19843F25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70275-6632-8D2D-4F4B-29A44BB2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8E43F-C202-A1BC-4E14-3A614136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41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5B77E-9D33-C1FA-1871-6D615D9E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B973EE-FA8A-2617-DC8C-D440DB1AA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E6E721-64C9-3F3A-3B86-5CD17688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F3D4A-B8A8-5D74-1B4C-595D18608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08E3DE-16F6-400E-E20D-A7806106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46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47AFC6-724B-6842-60B7-378D7285B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A1B0A4-C729-6170-C80A-2974A2385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65F21F-D5F4-8B72-0398-081A79DC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21D95-A65A-7FD3-B951-8AF66498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89DFAC-73FE-C198-020E-FCAAC927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158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B9FFC64C-B67B-0413-1C2E-182D5AABD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60F36499-CD1E-A0C4-A3E7-06B58C0FF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CF8B045D-EAE0-7267-7661-4737EAE75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D60D90C3-81D7-948E-E863-AD4AA78F3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ShockwaveFlash1">
            <a:extLst>
              <a:ext uri="{FF2B5EF4-FFF2-40B4-BE49-F238E27FC236}">
                <a16:creationId xmlns:a16="http://schemas.microsoft.com/office/drawing/2014/main" id="{ECF80440-490C-BF3E-1936-F0B47A087EAF}"/>
              </a:ext>
            </a:extLst>
          </p:cNvPr>
          <p:cNvPicPr preferRelativeResize="0">
            <a:picLocks noChangeArrowheads="1" noChangeShapeType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934" y="6524625"/>
            <a:ext cx="124883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A360E8-3161-B6F8-431E-309AB1870F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110C2-C39E-42C3-BCE3-080818B2FE17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4AE71A-6E1E-47EA-03DB-0E1E228936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80B9A3-D741-3C18-9B6C-B5EC128094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 algn="r">
              <a:defRPr>
                <a:latin typeface="Garamond" panose="02020404030301010803" pitchFamily="18" charset="0"/>
              </a:defRPr>
            </a:lvl1pPr>
          </a:lstStyle>
          <a:p>
            <a:fld id="{DEF02428-46D2-4873-87F9-971AB858CE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040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9F1621-AF13-6898-5657-D0CFF57359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E54104-A237-44C7-AA32-10BAC960E749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3A1298-D65D-647C-631E-E1ED66DFD2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065D19-10D1-DA99-FC6B-D98CEC1464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28E0B-1103-49D6-B5F3-CB515A43D8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119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48AE99-05F0-6921-847E-CBFB6DA38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D4ADE-5972-4746-A34F-5F4A710411F5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33F425-90AB-5AC6-EA63-ED7862A2AE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23DBF4-AB2E-9F15-9276-BF594341C4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D608A-1CED-49C8-9CC0-32C8CAFD9E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381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6AB5B-A8D6-E8E6-E611-BBC6F88E96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A69E7-9664-4377-B360-EF8F5E890CA6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B4E5EA-CEE2-2B4F-E295-28B156A37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6A2E9D-5C49-417C-C63B-2AC74BC38E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0A5BE-4010-4042-A34A-3A1DD699B9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1446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F476CE3-6DC5-1A28-DE31-84E183CF0A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7829A4-DD0B-49BE-88B4-470688D83EEC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69123C9-5699-8106-8FF3-157E4B8406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04AF8AB-858D-EE61-8306-E6AA90B51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0E9B9B-A336-437C-98DF-B1D985F6D1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308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2ADFC93-F0B7-0B72-17CF-7CA147323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09375-2134-408D-B36E-42D866CC2B88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18E555-E913-E541-5909-FB3DDDEF7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5D78A2-45CF-CCC9-10E2-805A777EF9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E2E2B-A3BE-43CF-B720-87F110826C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929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A093376-4256-BC46-95A4-21DBB8E256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E0A53-50AF-458D-B9B2-0AB82DE197E1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D525FB9-7E2E-5531-543A-E4D1842E29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B10852-F28E-B315-F83B-230019174C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7F5EBE-C1C2-4728-B930-E17A4EAAE2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3965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13C27-CAA3-54FB-F013-3A2BEBF34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D07EC-12EB-4F68-BD00-1ACDDF58C836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C3F14E-DFA6-D664-2224-476D0E14ED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9253D-F03D-F86D-EA6C-0658199559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9D2FC3-C70A-4CF1-BADB-8B40D4D5B8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567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7B3F4-F232-E17B-AF01-A8DF33EE7E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98C96-8B8B-47E2-8E7B-AB30639DBF1A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50BC58-D0C5-653E-53FD-BCFDECA852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08955-EFB3-B7BC-5AD0-DBADC967AA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A94AE2-0BC1-4EC4-A8E5-1D5A53F04A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8696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F49F51-DC44-25D0-42D8-DBA636CF70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FADEC-909D-4477-836A-2A71FC01A696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545B5A-BDB6-5EEC-2550-E4EA6AC835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8E5720-A999-3349-0799-F595B411C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76AB42-AC32-4530-88D0-8803CF7C4D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4854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92E5D7-FE62-E68E-59CF-4B04F25DAE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03D1A-E0B1-4BEB-B45C-41667E713FDD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8FEC6B-6D58-D0BF-1273-C42F1C9CE0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3DA79D-8DFC-4E52-C4A0-A0C3BBBF31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7516B6-F908-40A4-BB59-383288034B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4301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415E9F-8A8C-9392-F7DE-A2958A135E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184F2-5E26-4C6F-9DC9-436B8033B9EB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674C3E7-E93B-55E5-8A81-B306B0A46D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63CF21-9D96-80B0-FE66-E15DA0D2DE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280AE-59DB-48A3-B840-47C483A4A0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97297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558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DB835-D42F-C84B-3216-AEB93FDD3C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21CBF-72B3-4895-A73D-CF66065A356A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8A599A-6E46-9A9B-29BC-56ACC588FF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99619-1FD8-BAD9-7693-7F645646CC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FC4ADB-59CE-48B2-ACB0-72C80A0DD8D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99970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7CD3CBA-4961-E8FD-A5AE-6DCA4940C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C9F51D77-1D2E-67B4-FA6A-4638162CB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C38ABD33-8504-5BE9-C8D7-DECBFFBED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69ECE2CF-8A11-1E57-753A-8553B5AC3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ShockwaveFlash1">
            <a:extLst>
              <a:ext uri="{FF2B5EF4-FFF2-40B4-BE49-F238E27FC236}">
                <a16:creationId xmlns:a16="http://schemas.microsoft.com/office/drawing/2014/main" id="{7DE1AAD9-E354-9EDD-B052-86F3567255E8}"/>
              </a:ext>
            </a:extLst>
          </p:cNvPr>
          <p:cNvPicPr preferRelativeResize="0">
            <a:picLocks noChangeArrowheads="1" noChangeShapeType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934" y="6524625"/>
            <a:ext cx="124883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B176B3-76CD-D1BA-424D-4526FB5365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F0AB2-5C4B-4E1F-AF44-2A3FA0E280A0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8215F7D-B2F8-5246-875E-A8B9088D87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6FBC2EE-EE58-308D-9F8E-F828ED857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 algn="r">
              <a:defRPr>
                <a:latin typeface="Garamond" panose="02020404030301010803" pitchFamily="18" charset="0"/>
              </a:defRPr>
            </a:lvl1pPr>
          </a:lstStyle>
          <a:p>
            <a:fld id="{6B467D47-0441-44B8-B371-2A6648916B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2238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E7499C-F5D1-AB0D-C597-A72569534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E7736-9AFD-485D-9ACF-6EBE971B37B6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12157C-6DA0-2DEA-0D63-86F05139C2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0C68CF-43AA-DF6D-262F-DABB86EEF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9A1348-3D81-4A52-8FC8-3EE103A75B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5978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C6DDE-BAC9-04E8-8669-0ECB071DC7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C28CB-A53C-46FE-AECF-01CC2738BD15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7480CC-9E23-1A7C-E875-DC979C1F5A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C63982-F707-E098-B686-A69A23FCFF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8C7E34-E977-4904-B2FE-181C63F4C4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8818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A9B41-6A75-C129-E10B-19F3367E7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6657C-5640-4771-ACDB-8D2EBDC4033D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13B96-C8D6-680F-8DE4-7C2D0FA9A8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E977D-9AEB-7CB7-E23D-6E0DCF8336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53FD5C-3A87-4385-BEC8-D0200F8BD3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14710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495AE78-232A-322E-3E48-BA30A8B4D3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28C2-377A-45FE-B1A8-4139CE025D20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D0227DF-74CA-ED85-1340-E7E59997D9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A256D4-9BD5-80A5-8D84-7EF3EC93B0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3D1B3-0D52-44D7-AF1A-8CDBF0981D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79254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E33C054-80C7-3DB6-A285-0ADB1D7140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37172-396A-443B-B4F6-B79B11DE10A2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3596BF-9A40-0B36-2DC1-A9EB230BF8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B68E90-56E7-DA88-8952-C70387B4EA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C73574-8989-4187-AAA9-79E7199021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9025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1BEAFD2-2709-25A5-6C3A-767CDC9D2D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E768F-94FB-489A-8054-4C74675295D5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93A6B27-1FA1-D3CD-5472-D3C0709A4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B7667A-749B-CACB-D96D-A3519B1909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17CDFB-6830-4C72-9455-D67804846B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2188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A5699-4320-76CB-DA89-B8A02EAC0F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DB73C-A8A8-4B85-A505-60080D3DC0F4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3B507-CE79-2A19-1B4C-DDD63333F2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82BCE5-39B7-F834-0E6B-AD87056F8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F1F558-1AD4-400A-95C2-CE87E77688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5532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72D101-3571-7354-ADD0-AF94C70E6D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4934D-AF5F-4366-8F91-24339FC18E09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68AC7-C043-7592-0F42-D47080B262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14DC0-D7F9-5272-5D8B-8932C14E5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E501D-2076-4A7F-8ADD-5FA5CD2E0B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7387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B85F08-DE9B-4AFD-75AA-AE17A8A883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7D574-5E1C-4F43-BB10-A6E4A2BBE15A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69C35C-58CF-F387-1C85-46224B9D25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6BD5A2-9DF6-27A8-4B33-63CC8BD41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BB99CE-CF9D-4BB8-B0BF-C524AA9028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9629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078E84-ABA5-1CD8-BFB7-1FBDA321EA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C005E-4A10-4C27-8D6E-53A023DACB8B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615D7E-5FC1-0C0D-DEEA-2E23E246E0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6B91CE-F480-43A2-EE53-E2E5B824BC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E26B28-3EEA-42F0-A135-2623FFAF7A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48783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63744D6-5844-FD3F-09B5-4E43120114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21DAE-8EB7-4147-B0B8-FCB11A8EE532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DEF33B-D75E-1BBE-8E0A-3A16FF7C78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F0FDED3-28C4-9D04-FFBE-8A4A1A1A9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39193B-FF72-4532-B835-07BA52F8A3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43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558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52513"/>
            <a:ext cx="5384800" cy="5078412"/>
          </a:xfrm>
        </p:spPr>
        <p:txBody>
          <a:bodyPr/>
          <a:lstStyle/>
          <a:p>
            <a:pPr lvl="0"/>
            <a:r>
              <a:rPr lang="en-US" altLang="zh-CN"/>
              <a:t>Click to edit Master text styles
</a:t>
            </a:r>
            <a:r>
              <a:rPr lang="zh-CN" altLang="en-US"/>
              <a:t>第二等级
第三等级
第四等级
第五等级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E452E-6830-4EEF-2F7E-01CFE39AC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F4C78-D863-4A27-B638-B31AA21D9030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FE962E-A5D5-7DAD-A54D-B1BD6F9FA5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34C3DB-4A76-3BC7-B7A6-006A38AA98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36DBD0-CC87-420A-B3C2-C698F8BCD2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1542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337A53-8512-B7DD-5785-36BDEC3C6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4ACA03-230A-01BB-E6C3-6F379F7A9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DE920-D97D-4170-04A5-D66C4CA51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C92B2-7797-43E6-A09D-66C13CE7FC7B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A00ABE-AFB6-E165-94E5-0663A0846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4C342-A7A6-74F8-81E4-713E3B0D5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3C277-5248-47A5-A04E-258D2C516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4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9B7F651-44EF-6C90-23B0-CC3243BA8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9777DB5-9638-F772-2E4B-0C4105A0C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52513"/>
            <a:ext cx="109728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0F97D44-4E0F-E3CA-B5C4-FA8C9A120A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1AF8DC65-DD72-4C12-BD37-FFB9FA05B21A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DF2A1753-2AE7-C43A-F0D4-DE2CB805F0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AD3C4E04-9E99-B431-7832-FFA812A210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95284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53C58688-CCA3-4622-8B6A-E284CABE688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5" name="Freeform 7">
            <a:extLst>
              <a:ext uri="{FF2B5EF4-FFF2-40B4-BE49-F238E27FC236}">
                <a16:creationId xmlns:a16="http://schemas.microsoft.com/office/drawing/2014/main" id="{E7A042CD-06AF-6AD6-0B0F-DF7718818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30FECDA4-5E12-2933-F12C-08C055C64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FE46416B-2E49-DF58-3AE3-96BEE9651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4412E0A-85ED-1A10-79DB-9A27B29B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Text Box 11">
            <a:extLst>
              <a:ext uri="{FF2B5EF4-FFF2-40B4-BE49-F238E27FC236}">
                <a16:creationId xmlns:a16="http://schemas.microsoft.com/office/drawing/2014/main" id="{56372391-3FED-10AF-95B4-50D5153CA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620714"/>
            <a:ext cx="388831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E2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软件工程</a:t>
            </a:r>
          </a:p>
        </p:txBody>
      </p:sp>
    </p:spTree>
    <p:extLst>
      <p:ext uri="{BB962C8B-B14F-4D97-AF65-F5344CB8AC3E}">
        <p14:creationId xmlns:p14="http://schemas.microsoft.com/office/powerpoint/2010/main" val="234510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  <a:cs typeface="宋体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EB5E049-95B6-B189-2256-55D201A11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1E529D7-DE3F-5545-4942-BE6FE8224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52513"/>
            <a:ext cx="10972800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D4A833B0-7892-2340-CEA0-9CA86F79F14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BE2EC27D-52DB-4FD7-AD01-DD1BA50618CE}" type="datetime1">
              <a:rPr lang="zh-CN" altLang="en-US"/>
              <a:pPr>
                <a:defRPr/>
              </a:pPr>
              <a:t>2024/12/18</a:t>
            </a:fld>
            <a:endParaRPr lang="en-US" altLang="zh-CN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2E368AB-FEFC-51E0-8CD7-F345AA20B0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2DD2E1AB-AFA5-74AB-4FE4-D188AF72FA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51917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DFD86B77-CEFE-4D56-B8D7-B65942BA6B4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5" name="Freeform 7">
            <a:extLst>
              <a:ext uri="{FF2B5EF4-FFF2-40B4-BE49-F238E27FC236}">
                <a16:creationId xmlns:a16="http://schemas.microsoft.com/office/drawing/2014/main" id="{6A4DCE83-C753-985D-4CAA-BBF03006F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B9A1FBFD-C43F-0047-7798-F71625DFB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2057" name="Picture 9">
            <a:extLst>
              <a:ext uri="{FF2B5EF4-FFF2-40B4-BE49-F238E27FC236}">
                <a16:creationId xmlns:a16="http://schemas.microsoft.com/office/drawing/2014/main" id="{2119C81D-2E19-90DB-044B-FF265AC6E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200" y="5867400"/>
            <a:ext cx="261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2EC3AE29-33FF-7D21-1297-342E9A836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1200"/>
            <a:ext cx="109220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Text Box 11">
            <a:extLst>
              <a:ext uri="{FF2B5EF4-FFF2-40B4-BE49-F238E27FC236}">
                <a16:creationId xmlns:a16="http://schemas.microsoft.com/office/drawing/2014/main" id="{36BBF88B-81DB-A0D0-0FAA-C705B791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1" y="620714"/>
            <a:ext cx="388831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000" b="1">
                <a:solidFill>
                  <a:srgbClr val="E2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软件工程</a:t>
            </a:r>
          </a:p>
        </p:txBody>
      </p:sp>
    </p:spTree>
    <p:extLst>
      <p:ext uri="{BB962C8B-B14F-4D97-AF65-F5344CB8AC3E}">
        <p14:creationId xmlns:p14="http://schemas.microsoft.com/office/powerpoint/2010/main" val="84297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  <a:cs typeface="宋体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400" b="1">
          <a:solidFill>
            <a:schemeClr val="tx1"/>
          </a:solidFill>
          <a:latin typeface="+mn-lt"/>
          <a:ea typeface="+mn-ea"/>
          <a:cs typeface="宋体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b="1">
          <a:solidFill>
            <a:schemeClr val="tx1"/>
          </a:solidFill>
          <a:latin typeface="+mn-lt"/>
          <a:ea typeface="+mn-ea"/>
          <a:cs typeface="宋体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宋体" charset="0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0B31482B-4F84-8543-959A-A7328DF209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42388A-E9FC-4098-95BC-CA9B9CB21FF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4520444-C161-FDB6-0ED7-EE61FBA30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软件项目估算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633FA00F-6A2E-79BC-F792-D186D9E7E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81076"/>
            <a:ext cx="8002588" cy="5040313"/>
          </a:xfrm>
        </p:spPr>
        <p:txBody>
          <a:bodyPr/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2600"/>
              <a:t>软件的成本及工作量估算从来都没有成为一门精确的科学。因为</a:t>
            </a:r>
            <a:r>
              <a:rPr lang="zh-CN" altLang="en-US" sz="2600">
                <a:solidFill>
                  <a:srgbClr val="FF0000"/>
                </a:solidFill>
              </a:rPr>
              <a:t>变化的因素太多</a:t>
            </a:r>
            <a:r>
              <a:rPr lang="en-US" altLang="zh-CN" sz="2600"/>
              <a:t>—</a:t>
            </a:r>
            <a:r>
              <a:rPr lang="zh-CN" altLang="en-US" sz="2600"/>
              <a:t>人员、技术、环境和行政等，都会影响软件的最终成本和开发所用的工作量。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2600"/>
              <a:t>不过，软件项目估算还是能够从一种</a:t>
            </a:r>
            <a:r>
              <a:rPr lang="zh-CN" altLang="en-US" sz="2600">
                <a:solidFill>
                  <a:srgbClr val="FF0000"/>
                </a:solidFill>
              </a:rPr>
              <a:t>“神秘的”技巧</a:t>
            </a:r>
            <a:r>
              <a:rPr lang="zh-CN" altLang="en-US" sz="2600"/>
              <a:t>变成一系列</a:t>
            </a:r>
            <a:r>
              <a:rPr lang="zh-CN" altLang="en-US" sz="2600">
                <a:solidFill>
                  <a:srgbClr val="FF0000"/>
                </a:solidFill>
              </a:rPr>
              <a:t>系统化的步骤</a:t>
            </a:r>
            <a:r>
              <a:rPr lang="zh-CN" altLang="en-US" sz="2600"/>
              <a:t>，在可接受的</a:t>
            </a:r>
            <a:r>
              <a:rPr lang="zh-CN" altLang="en-US" sz="2600">
                <a:solidFill>
                  <a:srgbClr val="FF0000"/>
                </a:solidFill>
              </a:rPr>
              <a:t>风险范围</a:t>
            </a:r>
            <a:r>
              <a:rPr lang="zh-CN" altLang="en-US" sz="2600"/>
              <a:t>内提供估算结果。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E400542C-D1C9-1F21-1C06-F8D80BA005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D440D44-B8F0-4CA0-B8C7-ED7297CAD9CB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40233EE-B993-0D34-BDBB-909E3C5897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19288" y="260350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/>
              <a:t>软件项目估算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3174D49-786F-A7E1-2907-FEF57E26ABB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19289" y="836613"/>
            <a:ext cx="8353425" cy="5181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600"/>
              <a:t>可能的“</a:t>
            </a:r>
            <a:r>
              <a:rPr lang="zh-CN" altLang="en-US" sz="2600">
                <a:solidFill>
                  <a:srgbClr val="FF0000"/>
                </a:solidFill>
              </a:rPr>
              <a:t>捷径</a:t>
            </a:r>
            <a:r>
              <a:rPr lang="zh-CN" altLang="en-US" sz="2600"/>
              <a:t>”：</a:t>
            </a:r>
          </a:p>
          <a:p>
            <a:pPr lvl="1" eaLnBrk="1" hangingPunct="1">
              <a:lnSpc>
                <a:spcPct val="150000"/>
              </a:lnSpc>
              <a:spcBef>
                <a:spcPct val="30000"/>
              </a:spcBef>
            </a:pPr>
            <a:r>
              <a:rPr lang="en-US" altLang="zh-CN" sz="2300"/>
              <a:t>1. </a:t>
            </a:r>
            <a:r>
              <a:rPr lang="zh-CN" altLang="en-US" sz="2300"/>
              <a:t>把估算</a:t>
            </a:r>
            <a:r>
              <a:rPr lang="zh-CN" altLang="en-US" sz="2300">
                <a:solidFill>
                  <a:schemeClr val="accent2"/>
                </a:solidFill>
              </a:rPr>
              <a:t>推迟</a:t>
            </a:r>
            <a:r>
              <a:rPr lang="zh-CN" altLang="en-US" sz="2300"/>
              <a:t>到项目后期进行：</a:t>
            </a:r>
          </a:p>
          <a:p>
            <a:pPr lvl="2" eaLnBrk="1" hangingPunct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/>
              <a:t>显然，在项目完成之后就能得到</a:t>
            </a:r>
            <a:r>
              <a:rPr lang="en-US" altLang="zh-CN" sz="2100"/>
              <a:t>100%</a:t>
            </a:r>
            <a:r>
              <a:rPr lang="zh-CN" altLang="en-US" sz="2100"/>
              <a:t>精确的估算；</a:t>
            </a:r>
          </a:p>
          <a:p>
            <a:pPr lvl="2" eaLnBrk="1" hangingPunct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/>
              <a:t>不现实，成本估算必须预先给出。</a:t>
            </a:r>
          </a:p>
          <a:p>
            <a:pPr lvl="1" eaLnBrk="1" hangingPunct="1">
              <a:lnSpc>
                <a:spcPct val="150000"/>
              </a:lnSpc>
              <a:spcBef>
                <a:spcPct val="30000"/>
              </a:spcBef>
            </a:pPr>
            <a:r>
              <a:rPr lang="en-US" altLang="zh-CN" sz="2300"/>
              <a:t>2. </a:t>
            </a:r>
            <a:r>
              <a:rPr lang="zh-CN" altLang="en-US" sz="2300"/>
              <a:t>根据已经完成的</a:t>
            </a:r>
            <a:r>
              <a:rPr lang="zh-CN" altLang="en-US" sz="2300">
                <a:solidFill>
                  <a:schemeClr val="accent2"/>
                </a:solidFill>
              </a:rPr>
              <a:t>类似</a:t>
            </a:r>
            <a:r>
              <a:rPr lang="zh-CN" altLang="en-US" sz="2300"/>
              <a:t>项目进行估算：</a:t>
            </a:r>
          </a:p>
          <a:p>
            <a:pPr lvl="2" eaLnBrk="1" hangingPunct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/>
              <a:t>如果当前项目与以前的工作非常相似，并且项目的其他影响因素 </a:t>
            </a:r>
            <a:r>
              <a:rPr lang="en-US" altLang="zh-CN" sz="2100"/>
              <a:t>(</a:t>
            </a:r>
            <a:r>
              <a:rPr lang="zh-CN" altLang="en-US" sz="2100"/>
              <a:t>例如，客户、商业条件、软件工程环境、交付期限</a:t>
            </a:r>
            <a:r>
              <a:rPr lang="en-US" altLang="zh-CN" sz="2100"/>
              <a:t>)</a:t>
            </a:r>
            <a:r>
              <a:rPr lang="zh-CN" altLang="en-US" sz="2100"/>
              <a:t>也大致相同，就可以采用此方法。</a:t>
            </a:r>
          </a:p>
          <a:p>
            <a:pPr lvl="2" eaLnBrk="1" hangingPunct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/>
              <a:t>遗憾的是，</a:t>
            </a:r>
            <a:r>
              <a:rPr lang="zh-CN" altLang="en-US" sz="2100">
                <a:solidFill>
                  <a:srgbClr val="FF0000"/>
                </a:solidFill>
              </a:rPr>
              <a:t>过去的经验并不总是能够指明未来的结果</a:t>
            </a:r>
            <a:r>
              <a:rPr lang="zh-CN" altLang="en-US" sz="21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684D991E-948D-3195-7DFE-5EE4FD26DF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148D27-E8BD-48C2-AC8B-5A7080472511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C17997D-BF4B-C5BE-D394-7B24EFA71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可能的“捷径”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F9F1D13A-E3E2-CCE0-0DE3-5D0869256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087438"/>
            <a:ext cx="8640762" cy="507841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200"/>
              <a:t>3. </a:t>
            </a:r>
            <a:r>
              <a:rPr lang="zh-CN" altLang="en-US" sz="2200"/>
              <a:t>使用比较简单的</a:t>
            </a:r>
            <a:r>
              <a:rPr lang="zh-CN" altLang="en-US" sz="2200">
                <a:solidFill>
                  <a:srgbClr val="FF0000"/>
                </a:solidFill>
              </a:rPr>
              <a:t>分解技术</a:t>
            </a:r>
            <a:r>
              <a:rPr lang="zh-CN" altLang="en-US" sz="2200"/>
              <a:t>，生成项目的成本和工作量估算：</a:t>
            </a:r>
            <a:endParaRPr lang="en-US" altLang="zh-CN" sz="2200"/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分而治之</a:t>
            </a:r>
            <a:r>
              <a:rPr lang="zh-CN" altLang="en-US" sz="2000"/>
              <a:t>：当待解决的问题过于复杂时，可以把它进一步分解，直到分解后的子问题变得容易解决为止。然后，分别解决每一个子问题，并将这些子问题的解答综合起来，从而得到原问题的解答。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2000"/>
              <a:t>把项目分解成</a:t>
            </a:r>
            <a:r>
              <a:rPr lang="zh-CN" altLang="en-US" sz="2000">
                <a:solidFill>
                  <a:srgbClr val="FF0000"/>
                </a:solidFill>
              </a:rPr>
              <a:t>若干主要功能</a:t>
            </a:r>
            <a:r>
              <a:rPr lang="zh-CN" altLang="en-US" sz="2000"/>
              <a:t>和</a:t>
            </a:r>
            <a:r>
              <a:rPr lang="zh-CN" altLang="en-US" sz="2000">
                <a:solidFill>
                  <a:srgbClr val="FF0000"/>
                </a:solidFill>
              </a:rPr>
              <a:t>相关的软件工程活动</a:t>
            </a:r>
            <a:r>
              <a:rPr lang="zh-CN" altLang="en-US" sz="2000"/>
              <a:t>，以</a:t>
            </a:r>
            <a:r>
              <a:rPr lang="zh-CN" altLang="en-US" sz="2000">
                <a:solidFill>
                  <a:srgbClr val="FF0000"/>
                </a:solidFill>
              </a:rPr>
              <a:t>逐步求精</a:t>
            </a:r>
            <a:r>
              <a:rPr lang="zh-CN" altLang="en-US" sz="2000"/>
              <a:t>的方式对成本和工作量进行估算。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200"/>
              <a:t>4. </a:t>
            </a:r>
            <a:r>
              <a:rPr lang="zh-CN" altLang="en-US" sz="2200"/>
              <a:t>使用一个或多个</a:t>
            </a:r>
            <a:r>
              <a:rPr lang="zh-CN" altLang="en-US" sz="2200">
                <a:solidFill>
                  <a:srgbClr val="FF0000"/>
                </a:solidFill>
              </a:rPr>
              <a:t>经验模型</a:t>
            </a:r>
            <a:r>
              <a:rPr lang="zh-CN" altLang="en-US" sz="2200"/>
              <a:t>来进行软件成本和工作量的估算。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方法</a:t>
            </a:r>
            <a:r>
              <a:rPr lang="en-US" altLang="zh-CN"/>
              <a:t>3</a:t>
            </a:r>
            <a:r>
              <a:rPr lang="zh-CN" altLang="en-US"/>
              <a:t>和</a:t>
            </a:r>
            <a:r>
              <a:rPr lang="en-US" altLang="zh-CN"/>
              <a:t>4</a:t>
            </a:r>
            <a:r>
              <a:rPr lang="zh-CN" altLang="en-US"/>
              <a:t>可行，最理想情况是同时使用这两种方法，相互进行</a:t>
            </a:r>
            <a:r>
              <a:rPr lang="zh-CN" altLang="en-US">
                <a:solidFill>
                  <a:srgbClr val="FF0000"/>
                </a:solidFill>
              </a:rPr>
              <a:t>交叉检查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20FE8F10-B9C3-BE47-BB1D-B1DC644F3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3A8E66-737B-45A4-A3A7-0667B88A761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A1EDB33D-9F95-8C77-4EA2-131A0910C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软件项目估算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857BD4B5-72F4-9A4D-A00F-F486DC09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981076"/>
            <a:ext cx="8496300" cy="507841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经验估算模型</a:t>
            </a:r>
            <a:r>
              <a:rPr lang="zh-CN" altLang="en-US"/>
              <a:t>可以作为</a:t>
            </a:r>
            <a:r>
              <a:rPr lang="zh-CN" altLang="en-US">
                <a:solidFill>
                  <a:srgbClr val="FF0000"/>
                </a:solidFill>
              </a:rPr>
              <a:t>分解技术的补充</a:t>
            </a:r>
            <a:r>
              <a:rPr lang="zh-CN" altLang="en-US"/>
              <a:t>，一个基于经验 </a:t>
            </a:r>
            <a:r>
              <a:rPr lang="en-US" altLang="zh-CN"/>
              <a:t>(</a:t>
            </a:r>
            <a:r>
              <a:rPr lang="zh-CN" altLang="en-US"/>
              <a:t>历史数据</a:t>
            </a:r>
            <a:r>
              <a:rPr lang="en-US" altLang="zh-CN"/>
              <a:t>)</a:t>
            </a:r>
            <a:r>
              <a:rPr lang="zh-CN" altLang="en-US"/>
              <a:t>的模型形式如下：</a:t>
            </a:r>
          </a:p>
          <a:p>
            <a:pPr algn="ctr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/>
              <a:t>d = f ( v</a:t>
            </a:r>
            <a:r>
              <a:rPr lang="en-US" altLang="zh-CN" baseline="-25000"/>
              <a:t>i </a:t>
            </a:r>
            <a:r>
              <a:rPr lang="en-US" altLang="zh-CN"/>
              <a:t>)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其中，</a:t>
            </a:r>
            <a:r>
              <a:rPr lang="en-US" altLang="zh-CN" sz="2000"/>
              <a:t>d</a:t>
            </a:r>
            <a:r>
              <a:rPr lang="zh-CN" altLang="en-US" sz="2000"/>
              <a:t>是很多</a:t>
            </a:r>
            <a:r>
              <a:rPr lang="zh-CN" altLang="en-US" sz="2000">
                <a:solidFill>
                  <a:srgbClr val="FF0000"/>
                </a:solidFill>
              </a:rPr>
              <a:t>估算值</a:t>
            </a:r>
            <a:r>
              <a:rPr lang="zh-CN" altLang="en-US" sz="2000"/>
              <a:t> </a:t>
            </a:r>
            <a:r>
              <a:rPr lang="en-US" altLang="zh-CN" sz="2000"/>
              <a:t>(</a:t>
            </a:r>
            <a:r>
              <a:rPr lang="zh-CN" altLang="en-US" sz="2000"/>
              <a:t>例如，工作量、成本、项目持续时间</a:t>
            </a:r>
            <a:r>
              <a:rPr lang="en-US" altLang="zh-CN" sz="2000"/>
              <a:t>)</a:t>
            </a:r>
            <a:r>
              <a:rPr lang="zh-CN" altLang="en-US" sz="2000"/>
              <a:t>中的一种，</a:t>
            </a:r>
            <a:r>
              <a:rPr lang="en-US" altLang="zh-CN" sz="2000"/>
              <a:t>v</a:t>
            </a:r>
            <a:r>
              <a:rPr lang="en-US" altLang="zh-CN" sz="2000" baseline="-25000"/>
              <a:t>i</a:t>
            </a:r>
            <a:r>
              <a:rPr lang="zh-CN" altLang="en-US" sz="2000"/>
              <a:t>是所选的</a:t>
            </a:r>
            <a:r>
              <a:rPr lang="zh-CN" altLang="en-US" sz="2000">
                <a:solidFill>
                  <a:srgbClr val="FF0000"/>
                </a:solidFill>
              </a:rPr>
              <a:t>独立参数</a:t>
            </a:r>
            <a:r>
              <a:rPr lang="zh-CN" altLang="en-US" sz="2000"/>
              <a:t> </a:t>
            </a:r>
            <a:r>
              <a:rPr lang="en-US" altLang="zh-CN" sz="2000"/>
              <a:t>(</a:t>
            </a:r>
            <a:r>
              <a:rPr lang="zh-CN" altLang="en-US" sz="2000"/>
              <a:t>例如，被估算的</a:t>
            </a:r>
            <a:r>
              <a:rPr lang="en-US" altLang="zh-CN" sz="2000"/>
              <a:t>LOC</a:t>
            </a:r>
            <a:r>
              <a:rPr lang="zh-CN" altLang="en-US" sz="2000"/>
              <a:t>或</a:t>
            </a:r>
            <a:r>
              <a:rPr lang="en-US" altLang="zh-CN" sz="2000"/>
              <a:t>FP)</a:t>
            </a:r>
            <a:r>
              <a:rPr lang="zh-CN" altLang="en-US" sz="2000"/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每种可行的软件成本估算方法，其效果的好坏取决于估算所使用的</a:t>
            </a:r>
            <a:r>
              <a:rPr lang="zh-CN" altLang="en-US">
                <a:solidFill>
                  <a:srgbClr val="FF0000"/>
                </a:solidFill>
              </a:rPr>
              <a:t>历史数据</a:t>
            </a:r>
            <a:r>
              <a:rPr lang="zh-CN" altLang="en-US"/>
              <a:t>。如果没有历史数据，成本估算就建立在了不稳定的基础上。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80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80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80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CAA39412-3492-9535-8FB8-80CC9B86CC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D739F0-535A-475F-A1DF-B0562FAC35D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919C82A-940A-F5FB-A4FC-D9D4FC6AF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定义任务网络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C574228F-AE52-056B-95B5-607BEE11E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14413"/>
            <a:ext cx="8229600" cy="50784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任务网络</a:t>
            </a:r>
            <a:r>
              <a:rPr lang="zh-CN" altLang="en-US"/>
              <a:t>，也称活动网络，是一个</a:t>
            </a:r>
            <a:r>
              <a:rPr lang="zh-CN" altLang="en-US">
                <a:solidFill>
                  <a:srgbClr val="FF0066"/>
                </a:solidFill>
              </a:rPr>
              <a:t>项目任务流程的图形表示</a:t>
            </a:r>
            <a:r>
              <a:rPr lang="zh-CN" altLang="en-US"/>
              <a:t>。必须</a:t>
            </a:r>
            <a:r>
              <a:rPr lang="zh-CN" altLang="en-US">
                <a:solidFill>
                  <a:srgbClr val="FF0000"/>
                </a:solidFill>
              </a:rPr>
              <a:t>协调多个并发任务</a:t>
            </a:r>
            <a:r>
              <a:rPr lang="zh-CN" altLang="en-US"/>
              <a:t>，以保证它们能够在后继任务需要其工作产品之前完成。</a:t>
            </a:r>
          </a:p>
        </p:txBody>
      </p:sp>
      <p:pic>
        <p:nvPicPr>
          <p:cNvPr id="214020" name="Picture 4">
            <a:extLst>
              <a:ext uri="{FF2B5EF4-FFF2-40B4-BE49-F238E27FC236}">
                <a16:creationId xmlns:a16="http://schemas.microsoft.com/office/drawing/2014/main" id="{97F88E4D-09E1-DC3E-659F-6AFAE8B68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693989"/>
            <a:ext cx="7632700" cy="361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3BA22AB2-F5FA-AC68-9434-2784A6DCE7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153DD59-A68F-4860-AB00-B0B29C4E968B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53D2FA3-7C70-E0A0-B3DE-F858F30BF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定义任务网络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77B356A1-C7FB-5A5C-4BD4-C1427E4C7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3238"/>
            <a:ext cx="8229600" cy="4070350"/>
          </a:xfrm>
        </p:spPr>
        <p:txBody>
          <a:bodyPr/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3200"/>
              <a:t>项目管理者应该注意那些位于</a:t>
            </a:r>
            <a:r>
              <a:rPr lang="zh-CN" altLang="en-US" sz="3200">
                <a:solidFill>
                  <a:srgbClr val="FF0000"/>
                </a:solidFill>
              </a:rPr>
              <a:t>关键路径 </a:t>
            </a:r>
            <a:r>
              <a:rPr lang="en-US" altLang="zh-CN" sz="3200"/>
              <a:t>(critical path)</a:t>
            </a:r>
            <a:r>
              <a:rPr lang="zh-CN" altLang="en-US" sz="3200"/>
              <a:t>之上的任务。也就是说，为了保证整个项目的如期完成，就必须保证这些任务能够如期完成。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667AFC4B-0233-7FF4-C87B-87F756BF3E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1BF71B-96CA-40F5-9E76-70009D0A6632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85EE165-B860-5537-BD57-87936D37F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333376"/>
            <a:ext cx="8059737" cy="7651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关键路径法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(Critical Path Method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CPM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8884761-8E3A-FD87-0A91-D16A919B8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96975"/>
            <a:ext cx="8229600" cy="45021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根据指定的网络图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逻辑关系</a:t>
            </a:r>
            <a:r>
              <a:rPr lang="zh-CN" altLang="en-US" sz="2800">
                <a:latin typeface="宋体" panose="02010600030101010101" pitchFamily="2" charset="-122"/>
              </a:rPr>
              <a:t>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单一</a:t>
            </a:r>
            <a:r>
              <a:rPr lang="zh-CN" altLang="en-US" sz="2800">
                <a:latin typeface="宋体" panose="02010600030101010101" pitchFamily="2" charset="-122"/>
              </a:rPr>
              <a:t>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历时估算</a:t>
            </a:r>
            <a:r>
              <a:rPr lang="zh-CN" altLang="en-US" sz="2800">
                <a:latin typeface="宋体" panose="02010600030101010101" pitchFamily="2" charset="-122"/>
              </a:rPr>
              <a:t>，计算每一个活动的单一的、确定的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最早</a:t>
            </a:r>
            <a:r>
              <a:rPr lang="zh-CN" altLang="en-US" sz="2800">
                <a:latin typeface="宋体" panose="02010600030101010101" pitchFamily="2" charset="-122"/>
              </a:rPr>
              <a:t>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最迟开始</a:t>
            </a:r>
            <a:r>
              <a:rPr lang="zh-CN" altLang="en-US" sz="2800">
                <a:latin typeface="宋体" panose="02010600030101010101" pitchFamily="2" charset="-122"/>
              </a:rPr>
              <a:t>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sz="2800">
                <a:latin typeface="宋体" panose="02010600030101010101" pitchFamily="2" charset="-122"/>
              </a:rPr>
              <a:t>日期。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计算浮动时间。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计算网络图中最长的路径。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确定项目完成时间。</a:t>
            </a: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>
            <a:extLst>
              <a:ext uri="{FF2B5EF4-FFF2-40B4-BE49-F238E27FC236}">
                <a16:creationId xmlns:a16="http://schemas.microsoft.com/office/drawing/2014/main" id="{103F3B2B-FE00-BC58-DD2E-C66F651E95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0B76BEE-BA14-4314-B7B7-F6DB410527F2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4E1BB3AC-EEC9-FA75-55FC-3A490C49A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7772400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网络图中任务进度时间参数说明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1383828-94D5-7655-14E7-F4968590F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052513"/>
            <a:ext cx="5486400" cy="507841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最早开始时间</a:t>
            </a:r>
            <a:r>
              <a:rPr lang="en-US" altLang="zh-CN" sz="2200">
                <a:latin typeface="宋体" panose="02010600030101010101" pitchFamily="2" charset="-122"/>
              </a:rPr>
              <a:t>(Early start)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最晚开始时间</a:t>
            </a:r>
            <a:r>
              <a:rPr lang="en-US" altLang="zh-CN" sz="2200">
                <a:latin typeface="宋体" panose="02010600030101010101" pitchFamily="2" charset="-122"/>
              </a:rPr>
              <a:t>(Late start)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最早完成时间</a:t>
            </a:r>
            <a:r>
              <a:rPr lang="en-US" altLang="zh-CN" sz="2200">
                <a:latin typeface="宋体" panose="02010600030101010101" pitchFamily="2" charset="-122"/>
              </a:rPr>
              <a:t>(Early finish)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最晚完成时间</a:t>
            </a:r>
            <a:r>
              <a:rPr lang="en-US" altLang="zh-CN" sz="2200">
                <a:latin typeface="宋体" panose="02010600030101010101" pitchFamily="2" charset="-122"/>
              </a:rPr>
              <a:t>(Late finish)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自由浮动（</a:t>
            </a:r>
            <a:r>
              <a:rPr lang="en-US" altLang="zh-CN" sz="2200">
                <a:latin typeface="宋体" panose="02010600030101010101" pitchFamily="2" charset="-122"/>
              </a:rPr>
              <a:t>Free Float</a:t>
            </a:r>
            <a:r>
              <a:rPr lang="zh-CN" altLang="en-US" sz="2200">
                <a:latin typeface="宋体" panose="02010600030101010101" pitchFamily="2" charset="-122"/>
              </a:rPr>
              <a:t>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总浮动（</a:t>
            </a:r>
            <a:r>
              <a:rPr lang="en-US" altLang="zh-CN" sz="2200">
                <a:latin typeface="宋体" panose="02010600030101010101" pitchFamily="2" charset="-122"/>
              </a:rPr>
              <a:t>Total Float</a:t>
            </a:r>
            <a:r>
              <a:rPr lang="zh-CN" altLang="en-US" sz="2200">
                <a:latin typeface="宋体" panose="02010600030101010101" pitchFamily="2" charset="-122"/>
              </a:rPr>
              <a:t>）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超前</a:t>
            </a:r>
            <a:r>
              <a:rPr lang="en-US" altLang="zh-CN" sz="2200">
                <a:latin typeface="宋体" panose="02010600030101010101" pitchFamily="2" charset="-122"/>
              </a:rPr>
              <a:t>(Lead)</a:t>
            </a:r>
            <a:r>
              <a:rPr lang="zh-CN" altLang="en-US" sz="2200">
                <a:latin typeface="宋体" panose="02010600030101010101" pitchFamily="2" charset="-122"/>
              </a:rPr>
              <a:t>：允许提前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后置任务</a:t>
            </a:r>
            <a:r>
              <a:rPr lang="zh-CN" altLang="en-US" sz="2200">
                <a:latin typeface="宋体" panose="02010600030101010101" pitchFamily="2" charset="-122"/>
              </a:rPr>
              <a:t>的时间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200">
                <a:latin typeface="宋体" panose="02010600030101010101" pitchFamily="2" charset="-122"/>
              </a:rPr>
              <a:t>滞后</a:t>
            </a:r>
            <a:r>
              <a:rPr lang="en-US" altLang="zh-CN" sz="2200">
                <a:latin typeface="宋体" panose="02010600030101010101" pitchFamily="2" charset="-122"/>
              </a:rPr>
              <a:t>(Lag)</a:t>
            </a:r>
            <a:r>
              <a:rPr lang="zh-CN" altLang="en-US" sz="2200">
                <a:latin typeface="宋体" panose="02010600030101010101" pitchFamily="2" charset="-122"/>
              </a:rPr>
              <a:t>：允许推迟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后置任务</a:t>
            </a:r>
            <a:r>
              <a:rPr lang="zh-CN" altLang="en-US" sz="2200">
                <a:latin typeface="宋体" panose="02010600030101010101" pitchFamily="2" charset="-122"/>
              </a:rPr>
              <a:t>的时间</a:t>
            </a:r>
          </a:p>
        </p:txBody>
      </p:sp>
      <p:pic>
        <p:nvPicPr>
          <p:cNvPr id="48133" name="Picture 4" descr="8-14">
            <a:extLst>
              <a:ext uri="{FF2B5EF4-FFF2-40B4-BE49-F238E27FC236}">
                <a16:creationId xmlns:a16="http://schemas.microsoft.com/office/drawing/2014/main" id="{E05514A1-EF9F-BCE4-8CF1-8C46D749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8" t="22221" r="19423" b="19444"/>
          <a:stretch>
            <a:fillRect/>
          </a:stretch>
        </p:blipFill>
        <p:spPr bwMode="auto">
          <a:xfrm>
            <a:off x="6888163" y="1268413"/>
            <a:ext cx="3200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Oval 5">
            <a:extLst>
              <a:ext uri="{FF2B5EF4-FFF2-40B4-BE49-F238E27FC236}">
                <a16:creationId xmlns:a16="http://schemas.microsoft.com/office/drawing/2014/main" id="{BB637BF3-6FEA-B16E-466C-286DB93D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1484313"/>
            <a:ext cx="1219200" cy="762000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4800">
              <a:solidFill>
                <a:srgbClr val="FF66FF"/>
              </a:solidFill>
              <a:latin typeface="Arial Narrow" panose="020B0606020202030204" pitchFamily="34" charset="0"/>
            </a:endParaRPr>
          </a:p>
        </p:txBody>
      </p:sp>
      <p:sp>
        <p:nvSpPr>
          <p:cNvPr id="48135" name="Oval 6">
            <a:extLst>
              <a:ext uri="{FF2B5EF4-FFF2-40B4-BE49-F238E27FC236}">
                <a16:creationId xmlns:a16="http://schemas.microsoft.com/office/drawing/2014/main" id="{61618640-7FED-1AE7-4735-38E9FC4A2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289" y="1484313"/>
            <a:ext cx="1374775" cy="838200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4800">
              <a:solidFill>
                <a:srgbClr val="FF66FF"/>
              </a:solidFill>
              <a:latin typeface="Arial Narrow" panose="020B0606020202030204" pitchFamily="34" charset="0"/>
            </a:endParaRPr>
          </a:p>
        </p:txBody>
      </p:sp>
      <p:sp>
        <p:nvSpPr>
          <p:cNvPr id="48136" name="Oval 7">
            <a:extLst>
              <a:ext uri="{FF2B5EF4-FFF2-40B4-BE49-F238E27FC236}">
                <a16:creationId xmlns:a16="http://schemas.microsoft.com/office/drawing/2014/main" id="{80A4BF3F-2A43-13F5-94E9-353404275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1" y="4581525"/>
            <a:ext cx="1069975" cy="990600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4800">
              <a:solidFill>
                <a:srgbClr val="FF66FF"/>
              </a:solidFill>
              <a:latin typeface="Arial Narrow" panose="020B0606020202030204" pitchFamily="34" charset="0"/>
            </a:endParaRPr>
          </a:p>
        </p:txBody>
      </p:sp>
      <p:sp>
        <p:nvSpPr>
          <p:cNvPr id="48137" name="Oval 8">
            <a:extLst>
              <a:ext uri="{FF2B5EF4-FFF2-40B4-BE49-F238E27FC236}">
                <a16:creationId xmlns:a16="http://schemas.microsoft.com/office/drawing/2014/main" id="{3643EF23-F687-111C-F54C-B072BB57F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6" y="4581525"/>
            <a:ext cx="1069975" cy="914400"/>
          </a:xfrm>
          <a:prstGeom prst="ellipse">
            <a:avLst/>
          </a:prstGeom>
          <a:noFill/>
          <a:ln w="25400">
            <a:solidFill>
              <a:srgbClr val="FF66FF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4800">
              <a:solidFill>
                <a:srgbClr val="FF66FF"/>
              </a:solidFill>
              <a:latin typeface="Arial Narrow" panose="020B0606020202030204" pitchFamily="34" charset="0"/>
            </a:endParaRPr>
          </a:p>
        </p:txBody>
      </p:sp>
      <p:sp>
        <p:nvSpPr>
          <p:cNvPr id="48138" name="Line 9">
            <a:extLst>
              <a:ext uri="{FF2B5EF4-FFF2-40B4-BE49-F238E27FC236}">
                <a16:creationId xmlns:a16="http://schemas.microsoft.com/office/drawing/2014/main" id="{098DBB10-5138-A358-E2FF-5CFB717E9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2125" y="2060575"/>
            <a:ext cx="744538" cy="0"/>
          </a:xfrm>
          <a:prstGeom prst="line">
            <a:avLst/>
          </a:prstGeom>
          <a:noFill/>
          <a:ln w="57150">
            <a:solidFill>
              <a:srgbClr val="B0AC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9" name="Line 10">
            <a:extLst>
              <a:ext uri="{FF2B5EF4-FFF2-40B4-BE49-F238E27FC236}">
                <a16:creationId xmlns:a16="http://schemas.microsoft.com/office/drawing/2014/main" id="{D6889379-6AEA-ED5A-C8B6-EEA7AF896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4" y="5013325"/>
            <a:ext cx="896937" cy="1588"/>
          </a:xfrm>
          <a:prstGeom prst="line">
            <a:avLst/>
          </a:prstGeom>
          <a:noFill/>
          <a:ln w="57150">
            <a:solidFill>
              <a:srgbClr val="B0AC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>
            <a:extLst>
              <a:ext uri="{FF2B5EF4-FFF2-40B4-BE49-F238E27FC236}">
                <a16:creationId xmlns:a16="http://schemas.microsoft.com/office/drawing/2014/main" id="{2370D17B-0AA3-8296-A89F-A566DD9DD2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524357E-2B56-4DDF-97E6-D6744E331483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62832483-3685-6B74-740D-1021D67F04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关键路径法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022523EB-8CBF-3D5D-9EFA-F55EF9C27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41439"/>
            <a:ext cx="8229600" cy="47894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浮动时间。浮动时间是一个任务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活动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机动性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它是一个活动在不影响其它活动或者项目完成的情况下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可以延迟的时间量：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总浮动 </a:t>
            </a:r>
            <a:r>
              <a:rPr lang="en-US" altLang="zh-CN" sz="2200">
                <a:latin typeface="Times New Roman" panose="02020603050405020304" pitchFamily="18" charset="0"/>
              </a:rPr>
              <a:t>(Total Float)</a:t>
            </a:r>
            <a:r>
              <a:rPr lang="zh-CN" altLang="en-US" sz="2200">
                <a:latin typeface="Times New Roman" panose="02020603050405020304" pitchFamily="18" charset="0"/>
              </a:rPr>
              <a:t>：</a:t>
            </a:r>
          </a:p>
          <a:p>
            <a:pPr lvl="2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在不影响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项目最早完成时间</a:t>
            </a:r>
            <a:r>
              <a:rPr lang="zh-CN" altLang="en-US" sz="2000">
                <a:latin typeface="宋体" panose="02010600030101010101" pitchFamily="2" charset="-122"/>
              </a:rPr>
              <a:t>，本活动可以延迟的时间。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自由浮动 </a:t>
            </a:r>
            <a:r>
              <a:rPr lang="en-US" altLang="zh-CN" sz="2200">
                <a:latin typeface="Times New Roman" panose="02020603050405020304" pitchFamily="18" charset="0"/>
              </a:rPr>
              <a:t>(Free Float)</a:t>
            </a:r>
            <a:r>
              <a:rPr lang="zh-CN" altLang="en-US" sz="2200">
                <a:latin typeface="Times New Roman" panose="02020603050405020304" pitchFamily="18" charset="0"/>
              </a:rPr>
              <a:t>：</a:t>
            </a:r>
          </a:p>
          <a:p>
            <a:pPr lvl="2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在不影响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后置任务最早开始时间</a:t>
            </a:r>
            <a:r>
              <a:rPr lang="zh-CN" altLang="en-US" sz="2000">
                <a:latin typeface="宋体" panose="02010600030101010101" pitchFamily="2" charset="-122"/>
              </a:rPr>
              <a:t>，本活动可以延迟的时间。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D35A1A7F-7B0B-9C51-44DF-824BB620B2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F9A387-1CF2-46C5-9C3C-EBB546D0F8D1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F22D1E0B-B619-F6B1-7F12-4304DAFE3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7772400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CPM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估计</a:t>
            </a:r>
          </a:p>
        </p:txBody>
      </p:sp>
      <p:grpSp>
        <p:nvGrpSpPr>
          <p:cNvPr id="50180" name="Group 3">
            <a:extLst>
              <a:ext uri="{FF2B5EF4-FFF2-40B4-BE49-F238E27FC236}">
                <a16:creationId xmlns:a16="http://schemas.microsoft.com/office/drawing/2014/main" id="{99C0C5ED-9609-79C2-747D-6A006B1FCE73}"/>
              </a:ext>
            </a:extLst>
          </p:cNvPr>
          <p:cNvGrpSpPr>
            <a:grpSpLocks/>
          </p:cNvGrpSpPr>
          <p:nvPr/>
        </p:nvGrpSpPr>
        <p:grpSpPr bwMode="auto">
          <a:xfrm>
            <a:off x="2046288" y="2133600"/>
            <a:ext cx="8153400" cy="2660650"/>
            <a:chOff x="158" y="1936"/>
            <a:chExt cx="5136" cy="1676"/>
          </a:xfrm>
        </p:grpSpPr>
        <p:sp>
          <p:nvSpPr>
            <p:cNvPr id="50181" name="Text Box 4">
              <a:extLst>
                <a:ext uri="{FF2B5EF4-FFF2-40B4-BE49-F238E27FC236}">
                  <a16:creationId xmlns:a16="http://schemas.microsoft.com/office/drawing/2014/main" id="{BB7095B6-F713-8D84-D8CE-BC92C428F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669"/>
              <a:ext cx="626" cy="4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en-US">
                  <a:solidFill>
                    <a:srgbClr val="000000"/>
                  </a:solidFill>
                </a:rPr>
                <a:t>开始</a:t>
              </a:r>
            </a:p>
          </p:txBody>
        </p:sp>
        <p:sp>
          <p:nvSpPr>
            <p:cNvPr id="50182" name="Text Box 5">
              <a:extLst>
                <a:ext uri="{FF2B5EF4-FFF2-40B4-BE49-F238E27FC236}">
                  <a16:creationId xmlns:a16="http://schemas.microsoft.com/office/drawing/2014/main" id="{80DE610A-D3F9-1325-DFEF-39C4CD82B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1936"/>
              <a:ext cx="2047" cy="4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4000">
                  <a:solidFill>
                    <a:srgbClr val="000000"/>
                  </a:solidFill>
                  <a:latin typeface="Arial Narrow" panose="020B0606020202030204" pitchFamily="34" charset="0"/>
                </a:rPr>
                <a:t>A:100</a:t>
              </a:r>
              <a:r>
                <a:rPr lang="zh-CN" altLang="en-US" sz="4000">
                  <a:solidFill>
                    <a:srgbClr val="000000"/>
                  </a:solidFill>
                  <a:latin typeface="Arial Narrow" panose="020B0606020202030204" pitchFamily="34" charset="0"/>
                </a:rPr>
                <a:t>天</a:t>
              </a:r>
            </a:p>
          </p:txBody>
        </p:sp>
        <p:sp>
          <p:nvSpPr>
            <p:cNvPr id="50183" name="Text Box 6">
              <a:extLst>
                <a:ext uri="{FF2B5EF4-FFF2-40B4-BE49-F238E27FC236}">
                  <a16:creationId xmlns:a16="http://schemas.microsoft.com/office/drawing/2014/main" id="{D8774CB0-063C-C311-BC41-B61012443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193"/>
              <a:ext cx="751" cy="4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>
                  <a:solidFill>
                    <a:srgbClr val="000000"/>
                  </a:solidFill>
                  <a:latin typeface="Arial Narrow" panose="020B0606020202030204" pitchFamily="34" charset="0"/>
                </a:rPr>
                <a:t>B:10</a:t>
              </a:r>
              <a:r>
                <a:rPr lang="zh-CN" altLang="en-US" sz="2800">
                  <a:solidFill>
                    <a:srgbClr val="000000"/>
                  </a:solidFill>
                  <a:latin typeface="Arial Narrow" panose="020B0606020202030204" pitchFamily="34" charset="0"/>
                </a:rPr>
                <a:t>天</a:t>
              </a:r>
            </a:p>
          </p:txBody>
        </p:sp>
        <p:sp>
          <p:nvSpPr>
            <p:cNvPr id="50184" name="Text Box 7">
              <a:extLst>
                <a:ext uri="{FF2B5EF4-FFF2-40B4-BE49-F238E27FC236}">
                  <a16:creationId xmlns:a16="http://schemas.microsoft.com/office/drawing/2014/main" id="{8E080125-2684-C4B9-C365-D420FD108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2669"/>
              <a:ext cx="626" cy="4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en-US">
                  <a:solidFill>
                    <a:srgbClr val="000000"/>
                  </a:solidFill>
                </a:rPr>
                <a:t>结束</a:t>
              </a:r>
            </a:p>
          </p:txBody>
        </p:sp>
        <p:sp>
          <p:nvSpPr>
            <p:cNvPr id="50185" name="Line 8">
              <a:extLst>
                <a:ext uri="{FF2B5EF4-FFF2-40B4-BE49-F238E27FC236}">
                  <a16:creationId xmlns:a16="http://schemas.microsoft.com/office/drawing/2014/main" id="{C1D20ECC-C4F8-BED3-AB8D-51B27B6D3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" y="2983"/>
              <a:ext cx="1629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186" name="Line 9">
              <a:extLst>
                <a:ext uri="{FF2B5EF4-FFF2-40B4-BE49-F238E27FC236}">
                  <a16:creationId xmlns:a16="http://schemas.microsoft.com/office/drawing/2014/main" id="{886ECBC8-2057-32BB-90BF-A344660DD8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" y="2145"/>
              <a:ext cx="1002" cy="7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187" name="Line 10">
              <a:extLst>
                <a:ext uri="{FF2B5EF4-FFF2-40B4-BE49-F238E27FC236}">
                  <a16:creationId xmlns:a16="http://schemas.microsoft.com/office/drawing/2014/main" id="{4B293831-2DAF-1DF3-69DB-E98B93FE2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4" y="2879"/>
              <a:ext cx="1504" cy="5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188" name="Line 11">
              <a:extLst>
                <a:ext uri="{FF2B5EF4-FFF2-40B4-BE49-F238E27FC236}">
                  <a16:creationId xmlns:a16="http://schemas.microsoft.com/office/drawing/2014/main" id="{FAAD4DE9-4A18-4BC3-C50A-9EEBD5B01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2145"/>
              <a:ext cx="752" cy="6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5F403B51-78F9-1FAE-2B46-820A6B3555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D1EA5A-36B3-4733-AF08-27D406141E33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35D1F3C-9B73-0723-E8FD-967D244FB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0"/>
            <a:ext cx="7772400" cy="6477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进度时间参数</a:t>
            </a:r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42D95DBC-CB51-CB08-2F10-0BC211C4C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2313" y="1447800"/>
            <a:ext cx="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5" name="Line 4">
            <a:extLst>
              <a:ext uri="{FF2B5EF4-FFF2-40B4-BE49-F238E27FC236}">
                <a16:creationId xmlns:a16="http://schemas.microsoft.com/office/drawing/2014/main" id="{41890761-2B2B-20CE-81C4-BD981D430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2313" y="51054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B5794E40-78A0-1191-977C-F549BEFBC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1752600"/>
            <a:ext cx="57912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A:100</a:t>
            </a:r>
          </a:p>
        </p:txBody>
      </p:sp>
      <p:sp>
        <p:nvSpPr>
          <p:cNvPr id="51207" name="Rectangle 6">
            <a:extLst>
              <a:ext uri="{FF2B5EF4-FFF2-40B4-BE49-F238E27FC236}">
                <a16:creationId xmlns:a16="http://schemas.microsoft.com/office/drawing/2014/main" id="{31563EB9-7CC4-D874-527C-7F05AF75E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2895600"/>
            <a:ext cx="14478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B:10</a:t>
            </a:r>
          </a:p>
        </p:txBody>
      </p:sp>
      <p:sp>
        <p:nvSpPr>
          <p:cNvPr id="51208" name="Rectangle 7">
            <a:extLst>
              <a:ext uri="{FF2B5EF4-FFF2-40B4-BE49-F238E27FC236}">
                <a16:creationId xmlns:a16="http://schemas.microsoft.com/office/drawing/2014/main" id="{FE209B0D-D382-9E18-2DFE-B1D144158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113" y="3810000"/>
            <a:ext cx="1447800" cy="53340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B:10</a:t>
            </a:r>
          </a:p>
        </p:txBody>
      </p:sp>
      <p:sp>
        <p:nvSpPr>
          <p:cNvPr id="51209" name="Text Box 8">
            <a:extLst>
              <a:ext uri="{FF2B5EF4-FFF2-40B4-BE49-F238E27FC236}">
                <a16:creationId xmlns:a16="http://schemas.microsoft.com/office/drawing/2014/main" id="{7EF037CF-1D3A-EA04-5B3C-40F74DEE1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1050" y="915988"/>
            <a:ext cx="1962150" cy="13906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 Narrow" panose="020B0606020202030204" pitchFamily="34" charset="0"/>
              </a:rPr>
              <a:t>A: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ES = 0, EF = 100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LS = 0, LF = 100</a:t>
            </a:r>
          </a:p>
        </p:txBody>
      </p:sp>
      <p:sp>
        <p:nvSpPr>
          <p:cNvPr id="51210" name="Text Box 9">
            <a:extLst>
              <a:ext uri="{FF2B5EF4-FFF2-40B4-BE49-F238E27FC236}">
                <a16:creationId xmlns:a16="http://schemas.microsoft.com/office/drawing/2014/main" id="{86F90EDA-0076-E443-7D9C-F1D0DF062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238" y="2514600"/>
            <a:ext cx="1966912" cy="13906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 Narrow" panose="020B0606020202030204" pitchFamily="34" charset="0"/>
              </a:rPr>
              <a:t>B: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ES = 0, EF = 10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LS = 90, LF = 100</a:t>
            </a:r>
          </a:p>
        </p:txBody>
      </p:sp>
      <p:sp>
        <p:nvSpPr>
          <p:cNvPr id="51211" name="Text Box 10">
            <a:extLst>
              <a:ext uri="{FF2B5EF4-FFF2-40B4-BE49-F238E27FC236}">
                <a16:creationId xmlns:a16="http://schemas.microsoft.com/office/drawing/2014/main" id="{B424A282-9726-0137-E1DE-2A124A9B8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257801"/>
            <a:ext cx="7029450" cy="11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公式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:      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最早完成时间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EF = 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最早开始时间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ES + 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任务所需时间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duration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最晚开始时间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LS = 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最晚完成时间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LF - duration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总浮动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TF = LS - ES = LF - EF</a:t>
            </a:r>
          </a:p>
        </p:txBody>
      </p:sp>
      <p:sp>
        <p:nvSpPr>
          <p:cNvPr id="51212" name="Text Box 11">
            <a:extLst>
              <a:ext uri="{FF2B5EF4-FFF2-40B4-BE49-F238E27FC236}">
                <a16:creationId xmlns:a16="http://schemas.microsoft.com/office/drawing/2014/main" id="{8A198309-BEC1-30AA-7443-CD73559B6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4076701"/>
            <a:ext cx="1962150" cy="8731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TF = LS – ES = 90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TF = LF – EF = 90</a:t>
            </a:r>
            <a:endParaRPr lang="en-US" altLang="zh-CN" sz="4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>
            <a:extLst>
              <a:ext uri="{FF2B5EF4-FFF2-40B4-BE49-F238E27FC236}">
                <a16:creationId xmlns:a16="http://schemas.microsoft.com/office/drawing/2014/main" id="{3338BBAD-DA28-1F8D-8B23-91AA569F6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53A784E-4937-4AC7-967A-720AA5F18C71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0A69D87-2487-DDAF-A313-2B1AEF3D7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1"/>
            <a:ext cx="7772400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任务滞后</a:t>
            </a:r>
            <a:r>
              <a:rPr lang="en-US" altLang="zh-CN" sz="1900" b="0">
                <a:latin typeface="黑体" panose="02010609060101010101" pitchFamily="49" charset="-122"/>
                <a:ea typeface="黑体" panose="02010609060101010101" pitchFamily="49" charset="-122"/>
              </a:rPr>
              <a:t>Lag</a:t>
            </a:r>
            <a:endParaRPr lang="en-US" alt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8E25080-9CD8-2B3C-4ECF-29C01176D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800350"/>
            <a:ext cx="1600200" cy="91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rgbClr val="000000"/>
                </a:solidFill>
                <a:latin typeface="Arial Narrow" panose="020B0606020202030204" pitchFamily="34" charset="0"/>
              </a:rPr>
              <a:t>活动</a:t>
            </a:r>
            <a:r>
              <a:rPr lang="en-US" altLang="zh-CN" sz="3600">
                <a:solidFill>
                  <a:srgbClr val="000000"/>
                </a:solidFill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52229" name="Rectangle 4">
            <a:extLst>
              <a:ext uri="{FF2B5EF4-FFF2-40B4-BE49-F238E27FC236}">
                <a16:creationId xmlns:a16="http://schemas.microsoft.com/office/drawing/2014/main" id="{8C4A303B-14FA-EF9C-9A98-036BC1D26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800350"/>
            <a:ext cx="1600200" cy="91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rgbClr val="000000"/>
                </a:solidFill>
                <a:latin typeface="Arial Narrow" panose="020B0606020202030204" pitchFamily="34" charset="0"/>
              </a:rPr>
              <a:t>活动</a:t>
            </a:r>
            <a:r>
              <a:rPr lang="en-US" altLang="zh-CN" sz="3600">
                <a:solidFill>
                  <a:srgbClr val="000000"/>
                </a:solidFill>
                <a:latin typeface="Arial Narrow" panose="020B0606020202030204" pitchFamily="34" charset="0"/>
              </a:rPr>
              <a:t>B</a:t>
            </a:r>
          </a:p>
        </p:txBody>
      </p:sp>
      <p:sp>
        <p:nvSpPr>
          <p:cNvPr id="52230" name="Line 5">
            <a:extLst>
              <a:ext uri="{FF2B5EF4-FFF2-40B4-BE49-F238E27FC236}">
                <a16:creationId xmlns:a16="http://schemas.microsoft.com/office/drawing/2014/main" id="{404A3946-330C-EDE5-14FD-A67DB5B76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33375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31" name="Text Box 6">
            <a:extLst>
              <a:ext uri="{FF2B5EF4-FFF2-40B4-BE49-F238E27FC236}">
                <a16:creationId xmlns:a16="http://schemas.microsoft.com/office/drawing/2014/main" id="{246A8C89-9BCE-34FA-3BAC-99E62D5A5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72415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000000"/>
                </a:solidFill>
                <a:latin typeface="Arial Narrow" panose="020B0606020202030204" pitchFamily="34" charset="0"/>
              </a:rPr>
              <a:t>结束</a:t>
            </a:r>
            <a:r>
              <a:rPr lang="en-US" altLang="zh-CN" sz="2800">
                <a:solidFill>
                  <a:srgbClr val="000000"/>
                </a:solidFill>
                <a:latin typeface="Arial Narrow" panose="020B0606020202030204" pitchFamily="34" charset="0"/>
              </a:rPr>
              <a:t>---</a:t>
            </a:r>
            <a:r>
              <a:rPr lang="zh-CN" altLang="en-US" sz="2800">
                <a:solidFill>
                  <a:srgbClr val="000000"/>
                </a:solidFill>
                <a:latin typeface="Arial Narrow" panose="020B0606020202030204" pitchFamily="34" charset="0"/>
              </a:rPr>
              <a:t>开始</a:t>
            </a:r>
          </a:p>
        </p:txBody>
      </p:sp>
      <p:sp>
        <p:nvSpPr>
          <p:cNvPr id="52232" name="Text Box 7">
            <a:extLst>
              <a:ext uri="{FF2B5EF4-FFF2-40B4-BE49-F238E27FC236}">
                <a16:creationId xmlns:a16="http://schemas.microsoft.com/office/drawing/2014/main" id="{811B1BED-E477-9764-644A-0F1376C5C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48615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00000"/>
                </a:solidFill>
                <a:latin typeface="Arial Narrow" panose="020B0606020202030204" pitchFamily="34" charset="0"/>
              </a:rPr>
              <a:t>Lag=3</a:t>
            </a:r>
          </a:p>
        </p:txBody>
      </p:sp>
      <p:sp>
        <p:nvSpPr>
          <p:cNvPr id="52233" name="Text Box 8">
            <a:extLst>
              <a:ext uri="{FF2B5EF4-FFF2-40B4-BE49-F238E27FC236}">
                <a16:creationId xmlns:a16="http://schemas.microsoft.com/office/drawing/2014/main" id="{94015BCB-D7AE-A7DD-83CC-E0C9B4771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1914525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B0AC00"/>
                </a:solidFill>
                <a:latin typeface="Arial Narrow" panose="020B0606020202030204" pitchFamily="34" charset="0"/>
              </a:rPr>
              <a:t>A</a:t>
            </a:r>
            <a:r>
              <a:rPr lang="zh-CN" altLang="en-US" b="1">
                <a:solidFill>
                  <a:srgbClr val="B0AC00"/>
                </a:solidFill>
                <a:latin typeface="Arial Narrow" panose="020B0606020202030204" pitchFamily="34" charset="0"/>
              </a:rPr>
              <a:t>完成之后</a:t>
            </a:r>
            <a:r>
              <a:rPr lang="en-US" altLang="zh-CN" b="1">
                <a:solidFill>
                  <a:srgbClr val="B0AC00"/>
                </a:solidFill>
                <a:latin typeface="Arial Narrow" panose="020B0606020202030204" pitchFamily="34" charset="0"/>
              </a:rPr>
              <a:t>3</a:t>
            </a:r>
            <a:r>
              <a:rPr lang="zh-CN" altLang="en-US" b="1">
                <a:solidFill>
                  <a:srgbClr val="B0AC00"/>
                </a:solidFill>
                <a:latin typeface="Arial Narrow" panose="020B0606020202030204" pitchFamily="34" charset="0"/>
              </a:rPr>
              <a:t>天</a:t>
            </a:r>
            <a:r>
              <a:rPr lang="en-US" altLang="zh-CN" b="1">
                <a:solidFill>
                  <a:srgbClr val="B0AC00"/>
                </a:solidFill>
                <a:latin typeface="Arial Narrow" panose="020B0606020202030204" pitchFamily="34" charset="0"/>
              </a:rPr>
              <a:t>B</a:t>
            </a:r>
            <a:r>
              <a:rPr lang="zh-CN" altLang="en-US" b="1">
                <a:solidFill>
                  <a:srgbClr val="B0AC00"/>
                </a:solidFill>
                <a:latin typeface="Arial Narrow" panose="020B0606020202030204" pitchFamily="34" charset="0"/>
              </a:rPr>
              <a:t>开始</a:t>
            </a:r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>
            <a:extLst>
              <a:ext uri="{FF2B5EF4-FFF2-40B4-BE49-F238E27FC236}">
                <a16:creationId xmlns:a16="http://schemas.microsoft.com/office/drawing/2014/main" id="{03C27469-9318-417C-423C-78F4E9C1A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7551AED-73BB-414E-89E0-08D0857FC520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B440EDB-C94C-B977-F463-B64405A0A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50825"/>
            <a:ext cx="7772400" cy="6477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进度时间参数</a:t>
            </a:r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969687EA-0BF0-B7D2-3DCC-CECB335A2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635000"/>
            <a:ext cx="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3" name="Line 4">
            <a:extLst>
              <a:ext uri="{FF2B5EF4-FFF2-40B4-BE49-F238E27FC236}">
                <a16:creationId xmlns:a16="http://schemas.microsoft.com/office/drawing/2014/main" id="{877B223C-8E14-8D1C-FE61-0936DAD7D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42926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54" name="Rectangle 5">
            <a:extLst>
              <a:ext uri="{FF2B5EF4-FFF2-40B4-BE49-F238E27FC236}">
                <a16:creationId xmlns:a16="http://schemas.microsoft.com/office/drawing/2014/main" id="{30B4B9BA-B1B5-6815-8C83-87CBBFFC9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939800"/>
            <a:ext cx="57912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A:100</a:t>
            </a:r>
          </a:p>
        </p:txBody>
      </p:sp>
      <p:sp>
        <p:nvSpPr>
          <p:cNvPr id="53255" name="Rectangle 6">
            <a:extLst>
              <a:ext uri="{FF2B5EF4-FFF2-40B4-BE49-F238E27FC236}">
                <a16:creationId xmlns:a16="http://schemas.microsoft.com/office/drawing/2014/main" id="{01B2DFC4-7ADB-E87E-F287-0EEC885EA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2082800"/>
            <a:ext cx="14478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B:10</a:t>
            </a:r>
          </a:p>
        </p:txBody>
      </p:sp>
      <p:sp>
        <p:nvSpPr>
          <p:cNvPr id="53256" name="Rectangle 7">
            <a:extLst>
              <a:ext uri="{FF2B5EF4-FFF2-40B4-BE49-F238E27FC236}">
                <a16:creationId xmlns:a16="http://schemas.microsoft.com/office/drawing/2014/main" id="{AFA95A3D-DB65-E1CD-418F-5CDBD0153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8" y="2997200"/>
            <a:ext cx="1447800" cy="53340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B:10</a:t>
            </a:r>
          </a:p>
        </p:txBody>
      </p:sp>
      <p:sp>
        <p:nvSpPr>
          <p:cNvPr id="53257" name="Text Box 8">
            <a:extLst>
              <a:ext uri="{FF2B5EF4-FFF2-40B4-BE49-F238E27FC236}">
                <a16:creationId xmlns:a16="http://schemas.microsoft.com/office/drawing/2014/main" id="{B230EE48-577F-0B3A-1375-91B52CD42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6" y="333375"/>
            <a:ext cx="2251075" cy="18478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 Narrow" panose="020B0606020202030204" pitchFamily="34" charset="0"/>
              </a:rPr>
              <a:t>B: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ES = 0, EF = 10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LS = 80, LF = 90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TF = LS – ES = 80</a:t>
            </a:r>
          </a:p>
        </p:txBody>
      </p:sp>
      <p:sp>
        <p:nvSpPr>
          <p:cNvPr id="53258" name="Text Box 9">
            <a:extLst>
              <a:ext uri="{FF2B5EF4-FFF2-40B4-BE49-F238E27FC236}">
                <a16:creationId xmlns:a16="http://schemas.microsoft.com/office/drawing/2014/main" id="{D04F85EE-D173-7568-E715-4386A8C78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8" y="2373313"/>
            <a:ext cx="2182812" cy="18478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Arial Narrow" panose="020B0606020202030204" pitchFamily="34" charset="0"/>
              </a:rPr>
              <a:t>C: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ES = 15, EF = 20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LS = 95, LF = 100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TF = LS – ES = 80</a:t>
            </a:r>
          </a:p>
        </p:txBody>
      </p:sp>
      <p:sp>
        <p:nvSpPr>
          <p:cNvPr id="53259" name="Rectangle 10">
            <a:extLst>
              <a:ext uri="{FF2B5EF4-FFF2-40B4-BE49-F238E27FC236}">
                <a16:creationId xmlns:a16="http://schemas.microsoft.com/office/drawing/2014/main" id="{A80FDF50-C8CF-4090-EA0C-11BF0732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8" y="2020888"/>
            <a:ext cx="10668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C:5</a:t>
            </a:r>
          </a:p>
        </p:txBody>
      </p:sp>
      <p:sp>
        <p:nvSpPr>
          <p:cNvPr id="53260" name="Rectangle 11">
            <a:extLst>
              <a:ext uri="{FF2B5EF4-FFF2-40B4-BE49-F238E27FC236}">
                <a16:creationId xmlns:a16="http://schemas.microsoft.com/office/drawing/2014/main" id="{3548B23B-C99C-62A3-2B59-DF794ABA4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997200"/>
            <a:ext cx="914400" cy="53340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C:5</a:t>
            </a:r>
          </a:p>
        </p:txBody>
      </p:sp>
      <p:sp>
        <p:nvSpPr>
          <p:cNvPr id="53261" name="Rectangle 12">
            <a:extLst>
              <a:ext uri="{FF2B5EF4-FFF2-40B4-BE49-F238E27FC236}">
                <a16:creationId xmlns:a16="http://schemas.microsoft.com/office/drawing/2014/main" id="{BA4CAB95-441F-4DC6-6D6A-64D511824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3683000"/>
            <a:ext cx="1447800" cy="53340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solidFill>
                  <a:srgbClr val="000000"/>
                </a:solidFill>
                <a:latin typeface="Arial Narrow" panose="020B0606020202030204" pitchFamily="34" charset="0"/>
              </a:rPr>
              <a:t>B:10</a:t>
            </a:r>
          </a:p>
        </p:txBody>
      </p:sp>
      <p:sp>
        <p:nvSpPr>
          <p:cNvPr id="53262" name="Line 13">
            <a:extLst>
              <a:ext uri="{FF2B5EF4-FFF2-40B4-BE49-F238E27FC236}">
                <a16:creationId xmlns:a16="http://schemas.microsoft.com/office/drawing/2014/main" id="{2DD4CF52-F048-555D-EEC0-8023BF8406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5088" y="3683000"/>
            <a:ext cx="1447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63" name="Line 14">
            <a:extLst>
              <a:ext uri="{FF2B5EF4-FFF2-40B4-BE49-F238E27FC236}">
                <a16:creationId xmlns:a16="http://schemas.microsoft.com/office/drawing/2014/main" id="{C4985D5A-2F7C-0D48-70C2-FDA891AC48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15088" y="3683000"/>
            <a:ext cx="1447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264" name="Text Box 15">
            <a:extLst>
              <a:ext uri="{FF2B5EF4-FFF2-40B4-BE49-F238E27FC236}">
                <a16:creationId xmlns:a16="http://schemas.microsoft.com/office/drawing/2014/main" id="{BE678F15-6ECB-B318-D8AB-EF658A16E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4581526"/>
            <a:ext cx="8435975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后置任务的最早开始时间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ES(S) = 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前置任务的最早完成时间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EF(P) + Lag,        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前置任务的最晚完成时间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LF(P) = 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后置任务的最晚开始时间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LS (S) – Lag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</a:rPr>
              <a:t>自由浮动</a:t>
            </a:r>
            <a:r>
              <a:rPr lang="en-US" altLang="zh-CN" sz="1800" b="1">
                <a:solidFill>
                  <a:srgbClr val="000000"/>
                </a:solidFill>
              </a:rPr>
              <a:t>FF=</a:t>
            </a:r>
            <a:r>
              <a:rPr lang="zh-CN" altLang="en-US" sz="1800" b="1">
                <a:solidFill>
                  <a:srgbClr val="000000"/>
                </a:solidFill>
              </a:rPr>
              <a:t>后置任务的最早开始时间</a:t>
            </a:r>
            <a:r>
              <a:rPr lang="en-US" altLang="zh-CN" sz="1800" b="1">
                <a:solidFill>
                  <a:srgbClr val="000000"/>
                </a:solidFill>
              </a:rPr>
              <a:t>ES(S)-</a:t>
            </a:r>
            <a:r>
              <a:rPr lang="zh-CN" altLang="en-US" sz="1800" b="1">
                <a:solidFill>
                  <a:srgbClr val="000000"/>
                </a:solidFill>
              </a:rPr>
              <a:t>前置任务的最早完成时间</a:t>
            </a:r>
            <a:r>
              <a:rPr lang="en-US" altLang="zh-CN" sz="1800" b="1">
                <a:solidFill>
                  <a:srgbClr val="000000"/>
                </a:solidFill>
              </a:rPr>
              <a:t>EF(P)- Lag</a:t>
            </a:r>
            <a:endParaRPr lang="en-US" altLang="zh-CN" sz="1800" b="1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   	</a:t>
            </a:r>
            <a:r>
              <a:rPr lang="zh-CN" altLang="en-US" sz="1800" b="1">
                <a:solidFill>
                  <a:srgbClr val="000000"/>
                </a:solidFill>
                <a:latin typeface="Arial Narrow" panose="020B0606020202030204" pitchFamily="34" charset="0"/>
              </a:rPr>
              <a:t>总浮动</a:t>
            </a:r>
            <a:r>
              <a:rPr lang="en-US" altLang="zh-CN" sz="1800" b="1">
                <a:solidFill>
                  <a:srgbClr val="000000"/>
                </a:solidFill>
                <a:latin typeface="Arial Narrow" panose="020B0606020202030204" pitchFamily="34" charset="0"/>
              </a:rPr>
              <a:t>TF = LS – ES = LF - EF                        </a:t>
            </a:r>
          </a:p>
        </p:txBody>
      </p:sp>
      <p:sp>
        <p:nvSpPr>
          <p:cNvPr id="53265" name="Text Box 16">
            <a:extLst>
              <a:ext uri="{FF2B5EF4-FFF2-40B4-BE49-F238E27FC236}">
                <a16:creationId xmlns:a16="http://schemas.microsoft.com/office/drawing/2014/main" id="{2030094C-D10A-48A5-829F-9EB983BC2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288" y="1792289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Arial Narrow" panose="020B0606020202030204" pitchFamily="34" charset="0"/>
              </a:rPr>
              <a:t>Lag=5</a:t>
            </a:r>
          </a:p>
        </p:txBody>
      </p:sp>
      <p:sp>
        <p:nvSpPr>
          <p:cNvPr id="53266" name="Line 17">
            <a:extLst>
              <a:ext uri="{FF2B5EF4-FFF2-40B4-BE49-F238E27FC236}">
                <a16:creationId xmlns:a16="http://schemas.microsoft.com/office/drawing/2014/main" id="{F17C7495-6730-8588-4074-B78E4A022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9488" y="232568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>
            <a:extLst>
              <a:ext uri="{FF2B5EF4-FFF2-40B4-BE49-F238E27FC236}">
                <a16:creationId xmlns:a16="http://schemas.microsoft.com/office/drawing/2014/main" id="{AC772578-DF84-2488-D2AD-B1AA817FC4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3846797-77BF-4E67-BC14-47E65B9E0F3B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D00DF46-D986-E14E-A69C-A9F77890E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0"/>
            <a:ext cx="7772400" cy="6477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关键路径（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Critical Path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88A7B25-5583-0502-A38C-10784D0CE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2875"/>
            <a:ext cx="8229600" cy="45021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关键路径是决定项目完成的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最短时间</a:t>
            </a:r>
            <a:r>
              <a:rPr lang="zh-CN" altLang="en-US" sz="2800">
                <a:latin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是时间浮动为</a:t>
            </a:r>
            <a:r>
              <a:rPr lang="en-US" altLang="zh-CN" sz="2800">
                <a:latin typeface="宋体" panose="02010600030101010101" pitchFamily="2" charset="-122"/>
              </a:rPr>
              <a:t>0</a:t>
            </a:r>
            <a:r>
              <a:rPr lang="zh-CN" altLang="en-US" sz="2800">
                <a:latin typeface="宋体" panose="02010600030101010101" pitchFamily="2" charset="-122"/>
              </a:rPr>
              <a:t>（</a:t>
            </a:r>
            <a:r>
              <a:rPr lang="en-US" altLang="zh-CN" sz="2800">
                <a:latin typeface="宋体" panose="02010600030101010101" pitchFamily="2" charset="-122"/>
              </a:rPr>
              <a:t>Float=0</a:t>
            </a:r>
            <a:r>
              <a:rPr lang="zh-CN" altLang="en-US" sz="2800">
                <a:latin typeface="宋体" panose="02010600030101010101" pitchFamily="2" charset="-122"/>
              </a:rPr>
              <a:t>）的路径。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网络图中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最长的路径。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2800">
                <a:latin typeface="宋体" panose="02010600030101010101" pitchFamily="2" charset="-122"/>
              </a:rPr>
              <a:t>关键路径上的任何活动延迟，都会导致整个项目完成时间的延迟。</a:t>
            </a:r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>
            <a:extLst>
              <a:ext uri="{FF2B5EF4-FFF2-40B4-BE49-F238E27FC236}">
                <a16:creationId xmlns:a16="http://schemas.microsoft.com/office/drawing/2014/main" id="{9E70B0A6-5BC5-7E31-CC20-FF9EA18288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9CA82B3-2B4E-441F-BEA3-432764F35DE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85D47F2-A6E3-988C-01EF-7AE33D03E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7064" y="215901"/>
            <a:ext cx="8015287" cy="836613"/>
          </a:xfrm>
        </p:spPr>
        <p:txBody>
          <a:bodyPr/>
          <a:lstStyle/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Simple Example of Determining the Critical Path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A4A27E2-BDE0-A900-907C-F3D18883F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412875"/>
            <a:ext cx="7772400" cy="4572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Consider the following project network diagram.  Assume all times are in days.</a:t>
            </a:r>
          </a:p>
          <a:p>
            <a:pPr>
              <a:spcBef>
                <a:spcPct val="50000"/>
              </a:spcBef>
            </a:pP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a. How many paths are on this network diagram?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 b. How long is each path?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 c. Which is the critical path?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 d. What is the shortest amount of time needed to  complete this project?</a:t>
            </a:r>
          </a:p>
          <a:p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301" name="Object 4">
            <a:extLst>
              <a:ext uri="{FF2B5EF4-FFF2-40B4-BE49-F238E27FC236}">
                <a16:creationId xmlns:a16="http://schemas.microsoft.com/office/drawing/2014/main" id="{26EBD39E-74F4-B92D-2C81-52F7A617F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2276476"/>
          <a:ext cx="7696200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78780" imgH="993140" progId="Word.Document.8">
                  <p:embed/>
                </p:oleObj>
              </mc:Choice>
              <mc:Fallback>
                <p:oleObj name="Document" r:id="rId2" imgW="5478780" imgH="993140" progId="Word.Document.8">
                  <p:embed/>
                  <p:pic>
                    <p:nvPicPr>
                      <p:cNvPr id="55301" name="Object 4">
                        <a:extLst>
                          <a:ext uri="{FF2B5EF4-FFF2-40B4-BE49-F238E27FC236}">
                            <a16:creationId xmlns:a16="http://schemas.microsoft.com/office/drawing/2014/main" id="{26EBD39E-74F4-B92D-2C81-52F7A617FF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276476"/>
                        <a:ext cx="7696200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>
            <a:extLst>
              <a:ext uri="{FF2B5EF4-FFF2-40B4-BE49-F238E27FC236}">
                <a16:creationId xmlns:a16="http://schemas.microsoft.com/office/drawing/2014/main" id="{DD1E7B80-3CF1-30FB-31C4-BE05B96E1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F36290-C011-4A58-8B1D-937BC08753C6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F71F890-1032-9ABB-68EA-EEF62E0DE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9" y="215901"/>
            <a:ext cx="7380287" cy="549275"/>
          </a:xfrm>
        </p:spPr>
        <p:txBody>
          <a:bodyPr/>
          <a:lstStyle/>
          <a:p>
            <a:r>
              <a:rPr lang="en-US" altLang="zh-CN" sz="2600" b="0">
                <a:latin typeface="黑体" panose="02010609060101010101" pitchFamily="49" charset="-122"/>
                <a:ea typeface="黑体" panose="02010609060101010101" pitchFamily="49" charset="-122"/>
              </a:rPr>
              <a:t>Determining the Critical Path for Project X</a:t>
            </a:r>
            <a:endParaRPr lang="en-US" altLang="zh-CN" sz="2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6324" name="Picture 3">
            <a:extLst>
              <a:ext uri="{FF2B5EF4-FFF2-40B4-BE49-F238E27FC236}">
                <a16:creationId xmlns:a16="http://schemas.microsoft.com/office/drawing/2014/main" id="{3863E5C4-6391-8FE0-ABED-F6A401536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125539"/>
            <a:ext cx="8459788" cy="514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6">
            <a:extLst>
              <a:ext uri="{FF2B5EF4-FFF2-40B4-BE49-F238E27FC236}">
                <a16:creationId xmlns:a16="http://schemas.microsoft.com/office/drawing/2014/main" id="{557D77BD-9DFB-2893-4204-57801475E1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2AD1069-1894-447C-9296-934EA99623D2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FB88419-EB7D-AB98-E904-25DD2AEB7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1"/>
            <a:ext cx="7772400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关键路径的其他说明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05CD1CE-B218-382A-7C98-1BD4E5D0F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806576"/>
            <a:ext cx="8229600" cy="421481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>
                <a:latin typeface="宋体" panose="02010600030101010101" pitchFamily="2" charset="-122"/>
              </a:rPr>
              <a:t>明确关键路径后，你可以合理安排进度。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>
                <a:latin typeface="宋体" panose="02010600030101010101" pitchFamily="2" charset="-122"/>
              </a:rPr>
              <a:t>关键路径可能不止一条。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>
                <a:latin typeface="宋体" panose="02010600030101010101" pitchFamily="2" charset="-122"/>
              </a:rPr>
              <a:t>在项目的进行过程中，关键路径可能改变。</a:t>
            </a:r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>
            <a:extLst>
              <a:ext uri="{FF2B5EF4-FFF2-40B4-BE49-F238E27FC236}">
                <a16:creationId xmlns:a16="http://schemas.microsoft.com/office/drawing/2014/main" id="{8C3D5EF4-3357-3F37-D3BB-911AB2317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49E6F23-CCC9-45DE-9B85-94DD51E0C32F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5C79505-88CD-5113-0B49-717A57078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正推法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105B906-3F5D-B695-2AC3-F0A41E0D6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81076"/>
            <a:ext cx="8362950" cy="5078413"/>
          </a:xfrm>
        </p:spPr>
        <p:txBody>
          <a:bodyPr/>
          <a:lstStyle/>
          <a:p>
            <a:pPr>
              <a:lnSpc>
                <a:spcPct val="145000"/>
              </a:lnSpc>
            </a:pPr>
            <a:r>
              <a:rPr lang="zh-CN" altLang="en-US">
                <a:latin typeface="宋体" panose="02010600030101010101" pitchFamily="2" charset="-122"/>
              </a:rPr>
              <a:t>按照时间顺序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计算</a:t>
            </a:r>
            <a:r>
              <a:rPr lang="zh-CN" altLang="en-US">
                <a:latin typeface="宋体" panose="02010600030101010101" pitchFamily="2" charset="-122"/>
              </a:rPr>
              <a:t>各个任务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活动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最早开始时间和最早完成时间</a:t>
            </a:r>
            <a:r>
              <a:rPr lang="zh-CN" altLang="en-US">
                <a:latin typeface="宋体" panose="02010600030101010101" pitchFamily="2" charset="-122"/>
              </a:rPr>
              <a:t>的方法，称为正推法。执行过程如下：</a:t>
            </a:r>
          </a:p>
          <a:p>
            <a:pPr lvl="1">
              <a:lnSpc>
                <a:spcPct val="145000"/>
              </a:lnSpc>
            </a:pPr>
            <a:r>
              <a:rPr lang="en-US" altLang="zh-CN" sz="2000">
                <a:latin typeface="宋体" panose="02010600030101010101" pitchFamily="2" charset="-122"/>
              </a:rPr>
              <a:t>(1) </a:t>
            </a:r>
            <a:r>
              <a:rPr lang="zh-CN" altLang="en-US" sz="2000">
                <a:latin typeface="宋体" panose="02010600030101010101" pitchFamily="2" charset="-122"/>
              </a:rPr>
              <a:t>首先确定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项目的开始时间</a:t>
            </a:r>
          </a:p>
          <a:p>
            <a:pPr lvl="1">
              <a:lnSpc>
                <a:spcPct val="145000"/>
              </a:lnSpc>
            </a:pPr>
            <a:r>
              <a:rPr lang="en-US" altLang="zh-CN" sz="2000">
                <a:latin typeface="宋体" panose="02010600030101010101" pitchFamily="2" charset="-122"/>
              </a:rPr>
              <a:t>(2) </a:t>
            </a:r>
            <a:r>
              <a:rPr lang="zh-CN" altLang="en-US" sz="2000">
                <a:latin typeface="宋体" panose="02010600030101010101" pitchFamily="2" charset="-122"/>
              </a:rPr>
              <a:t>项目的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开始时间</a:t>
            </a:r>
            <a:r>
              <a:rPr lang="zh-CN" altLang="en-US" sz="2000">
                <a:latin typeface="宋体" panose="02010600030101010101" pitchFamily="2" charset="-122"/>
              </a:rPr>
              <a:t>是网络图中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第一个任务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活动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的最早开始时间</a:t>
            </a:r>
          </a:p>
          <a:p>
            <a:pPr lvl="1">
              <a:lnSpc>
                <a:spcPct val="145000"/>
              </a:lnSpc>
            </a:pPr>
            <a:r>
              <a:rPr lang="en-US" altLang="zh-CN" sz="2000">
                <a:latin typeface="宋体" panose="02010600030101010101" pitchFamily="2" charset="-122"/>
              </a:rPr>
              <a:t>(3) 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从左到右</a:t>
            </a:r>
            <a:r>
              <a:rPr lang="zh-CN" altLang="en-US" sz="2000">
                <a:latin typeface="宋体" panose="02010600030101010101" pitchFamily="2" charset="-122"/>
              </a:rPr>
              <a:t>，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从上到下</a:t>
            </a:r>
            <a:r>
              <a:rPr lang="zh-CN" altLang="en-US" sz="2000">
                <a:latin typeface="宋体" panose="02010600030101010101" pitchFamily="2" charset="-122"/>
              </a:rPr>
              <a:t>进行任务编排</a:t>
            </a:r>
          </a:p>
          <a:p>
            <a:pPr lvl="1">
              <a:lnSpc>
                <a:spcPct val="145000"/>
              </a:lnSpc>
            </a:pPr>
            <a:r>
              <a:rPr lang="en-US" altLang="zh-CN" sz="2000">
                <a:latin typeface="宋体" panose="02010600030101010101" pitchFamily="2" charset="-122"/>
              </a:rPr>
              <a:t>(4) </a:t>
            </a:r>
            <a:r>
              <a:rPr lang="zh-CN" altLang="en-US" sz="2000">
                <a:latin typeface="宋体" panose="02010600030101010101" pitchFamily="2" charset="-122"/>
              </a:rPr>
              <a:t>当一个任务有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多个前置</a:t>
            </a:r>
            <a:r>
              <a:rPr lang="zh-CN" altLang="en-US" sz="2000">
                <a:latin typeface="宋体" panose="02010600030101010101" pitchFamily="2" charset="-122"/>
              </a:rPr>
              <a:t>时，选择其中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最大</a:t>
            </a:r>
            <a:r>
              <a:rPr lang="zh-CN" altLang="en-US" sz="2000">
                <a:latin typeface="宋体" panose="02010600030101010101" pitchFamily="2" charset="-122"/>
              </a:rPr>
              <a:t>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最早完成日期</a:t>
            </a:r>
            <a:r>
              <a:rPr lang="zh-CN" altLang="en-US" sz="2000">
                <a:latin typeface="宋体" panose="02010600030101010101" pitchFamily="2" charset="-122"/>
              </a:rPr>
              <a:t>作为其后置任务的最早开始日期</a:t>
            </a:r>
          </a:p>
          <a:p>
            <a:pPr lvl="1">
              <a:lnSpc>
                <a:spcPct val="145000"/>
              </a:lnSpc>
            </a:pPr>
            <a:r>
              <a:rPr lang="en-US" altLang="zh-CN" sz="2000">
                <a:latin typeface="宋体" panose="02010600030101010101" pitchFamily="2" charset="-122"/>
              </a:rPr>
              <a:t>(5)</a:t>
            </a:r>
            <a:r>
              <a:rPr lang="zh-CN" altLang="en-US" sz="2000">
                <a:latin typeface="宋体" panose="02010600030101010101" pitchFamily="2" charset="-122"/>
              </a:rPr>
              <a:t>公式</a:t>
            </a:r>
            <a:r>
              <a:rPr lang="en-US" altLang="zh-CN" sz="2000">
                <a:latin typeface="宋体" panose="02010600030101010101" pitchFamily="2" charset="-122"/>
              </a:rPr>
              <a:t>:</a:t>
            </a:r>
          </a:p>
          <a:p>
            <a:pPr lvl="2">
              <a:lnSpc>
                <a:spcPct val="145000"/>
              </a:lnSpc>
            </a:pPr>
            <a:r>
              <a:rPr lang="en-US" altLang="zh-CN" sz="1800">
                <a:latin typeface="宋体" panose="02010600030101010101" pitchFamily="2" charset="-122"/>
              </a:rPr>
              <a:t>ES + Duration = EF (Duration</a:t>
            </a:r>
            <a:r>
              <a:rPr lang="zh-CN" altLang="en-US" sz="1800">
                <a:latin typeface="宋体" panose="02010600030101010101" pitchFamily="2" charset="-122"/>
              </a:rPr>
              <a:t>是一个任务</a:t>
            </a:r>
            <a:r>
              <a:rPr lang="en-US" altLang="zh-CN" sz="1800">
                <a:latin typeface="宋体" panose="02010600030101010101" pitchFamily="2" charset="-122"/>
              </a:rPr>
              <a:t>(</a:t>
            </a:r>
            <a:r>
              <a:rPr lang="zh-CN" altLang="en-US" sz="1800">
                <a:latin typeface="宋体" panose="02010600030101010101" pitchFamily="2" charset="-122"/>
              </a:rPr>
              <a:t>活动</a:t>
            </a:r>
            <a:r>
              <a:rPr lang="en-US" altLang="zh-CN" sz="1800">
                <a:latin typeface="宋体" panose="02010600030101010101" pitchFamily="2" charset="-122"/>
              </a:rPr>
              <a:t>)</a:t>
            </a:r>
            <a:r>
              <a:rPr lang="zh-CN" altLang="en-US" sz="1800">
                <a:latin typeface="宋体" panose="02010600030101010101" pitchFamily="2" charset="-122"/>
              </a:rPr>
              <a:t>的历时时间</a:t>
            </a:r>
            <a:r>
              <a:rPr lang="en-US" altLang="zh-CN" sz="1800">
                <a:latin typeface="宋体" panose="02010600030101010101" pitchFamily="2" charset="-122"/>
              </a:rPr>
              <a:t>)</a:t>
            </a:r>
          </a:p>
          <a:p>
            <a:pPr lvl="2">
              <a:lnSpc>
                <a:spcPct val="145000"/>
              </a:lnSpc>
            </a:pPr>
            <a:r>
              <a:rPr lang="en-US" altLang="zh-CN" sz="1800">
                <a:latin typeface="宋体" panose="02010600030101010101" pitchFamily="2" charset="-122"/>
              </a:rPr>
              <a:t>EF + Lag = ESs (ESs</a:t>
            </a:r>
            <a:r>
              <a:rPr lang="zh-CN" altLang="en-US" sz="1800">
                <a:latin typeface="宋体" panose="02010600030101010101" pitchFamily="2" charset="-122"/>
              </a:rPr>
              <a:t>是后置任务</a:t>
            </a:r>
            <a:r>
              <a:rPr lang="en-US" altLang="zh-CN" sz="1800">
                <a:latin typeface="宋体" panose="02010600030101010101" pitchFamily="2" charset="-122"/>
              </a:rPr>
              <a:t>(</a:t>
            </a:r>
            <a:r>
              <a:rPr lang="zh-CN" altLang="en-US" sz="1800">
                <a:latin typeface="宋体" panose="02010600030101010101" pitchFamily="2" charset="-122"/>
              </a:rPr>
              <a:t>活动</a:t>
            </a:r>
            <a:r>
              <a:rPr lang="en-US" altLang="zh-CN" sz="1800">
                <a:latin typeface="宋体" panose="02010600030101010101" pitchFamily="2" charset="-122"/>
              </a:rPr>
              <a:t>)</a:t>
            </a:r>
            <a:r>
              <a:rPr lang="zh-CN" altLang="en-US" sz="1800">
                <a:latin typeface="宋体" panose="02010600030101010101" pitchFamily="2" charset="-122"/>
              </a:rPr>
              <a:t>的最早开始时间</a:t>
            </a:r>
            <a:r>
              <a:rPr lang="en-US" altLang="zh-CN" sz="1800">
                <a:latin typeface="宋体" panose="02010600030101010101" pitchFamily="2" charset="-122"/>
              </a:rPr>
              <a:t>)</a:t>
            </a:r>
            <a:endParaRPr lang="zh-CN" altLang="en-US" sz="180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6">
            <a:extLst>
              <a:ext uri="{FF2B5EF4-FFF2-40B4-BE49-F238E27FC236}">
                <a16:creationId xmlns:a16="http://schemas.microsoft.com/office/drawing/2014/main" id="{E270E362-17AB-A1DB-B996-59B1FA23CB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C67CE5-F638-47A3-894F-5528E36B6D4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37F880B-C898-DAFE-4B1B-3EE6D42A1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1"/>
            <a:ext cx="7772400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正推法实例</a:t>
            </a:r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A72BF086-CDA8-43D0-74B6-2E864B09E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5229226"/>
            <a:ext cx="8001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当一个任务有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多个前置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时，选择其中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最大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最早完成日期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作为其后置任务的最早开始日期</a:t>
            </a:r>
          </a:p>
        </p:txBody>
      </p:sp>
      <p:pic>
        <p:nvPicPr>
          <p:cNvPr id="59397" name="Picture 4">
            <a:extLst>
              <a:ext uri="{FF2B5EF4-FFF2-40B4-BE49-F238E27FC236}">
                <a16:creationId xmlns:a16="http://schemas.microsoft.com/office/drawing/2014/main" id="{F4600C65-22D4-D185-1823-6EEAC0344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765175"/>
            <a:ext cx="7581900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398" name="Rectangle 5">
            <a:extLst>
              <a:ext uri="{FF2B5EF4-FFF2-40B4-BE49-F238E27FC236}">
                <a16:creationId xmlns:a16="http://schemas.microsoft.com/office/drawing/2014/main" id="{6CE83AA7-BD29-7962-D963-CEE146352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2513956"/>
            <a:ext cx="576262" cy="46166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9399" name="Rectangle 6">
            <a:extLst>
              <a:ext uri="{FF2B5EF4-FFF2-40B4-BE49-F238E27FC236}">
                <a16:creationId xmlns:a16="http://schemas.microsoft.com/office/drawing/2014/main" id="{5AD4E5CA-7286-1FF4-B217-602F0E460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1686075"/>
            <a:ext cx="574675" cy="46166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>
            <a:extLst>
              <a:ext uri="{FF2B5EF4-FFF2-40B4-BE49-F238E27FC236}">
                <a16:creationId xmlns:a16="http://schemas.microsoft.com/office/drawing/2014/main" id="{637A8065-812F-25D1-55B9-3DEBAF0919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664CF2-39D0-4D1A-8AE2-237E188A53F3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E82B269-7CFE-92A6-2263-25E0CABDE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逆推法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268E576B-AA8F-C25F-CAEC-58936EA6F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5000"/>
              </a:lnSpc>
            </a:pPr>
            <a:r>
              <a:rPr lang="zh-CN" altLang="en-US" sz="2200"/>
              <a:t>按照</a:t>
            </a:r>
            <a:r>
              <a:rPr lang="zh-CN" altLang="en-US" sz="2200">
                <a:solidFill>
                  <a:srgbClr val="FF0000"/>
                </a:solidFill>
              </a:rPr>
              <a:t>逆时间</a:t>
            </a:r>
            <a:r>
              <a:rPr lang="zh-CN" altLang="en-US" sz="2200"/>
              <a:t>顺序计算</a:t>
            </a:r>
            <a:r>
              <a:rPr lang="zh-CN" altLang="en-US" sz="2200">
                <a:solidFill>
                  <a:srgbClr val="FF0000"/>
                </a:solidFill>
              </a:rPr>
              <a:t>最晚开始时间和最晚结束时间</a:t>
            </a:r>
            <a:r>
              <a:rPr lang="zh-CN" altLang="en-US" sz="2200"/>
              <a:t>的方法，称为逆推法。此方法的执行过程如下：</a:t>
            </a:r>
          </a:p>
          <a:p>
            <a:pPr lvl="1">
              <a:lnSpc>
                <a:spcPct val="145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首先确定项目的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结束时间</a:t>
            </a:r>
          </a:p>
          <a:p>
            <a:pPr lvl="1">
              <a:lnSpc>
                <a:spcPct val="145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项目的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结束时间</a:t>
            </a:r>
            <a:r>
              <a:rPr lang="zh-CN" altLang="en-US" sz="2000">
                <a:latin typeface="宋体" panose="02010600030101010101" pitchFamily="2" charset="-122"/>
              </a:rPr>
              <a:t>是网络图中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最后一个活动的最晚结束时间</a:t>
            </a:r>
          </a:p>
          <a:p>
            <a:pPr lvl="1">
              <a:lnSpc>
                <a:spcPct val="145000"/>
              </a:lnSpc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从右到左</a:t>
            </a:r>
            <a:r>
              <a:rPr lang="zh-CN" altLang="en-US" sz="2000">
                <a:latin typeface="宋体" panose="02010600030101010101" pitchFamily="2" charset="-122"/>
              </a:rPr>
              <a:t>，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从上到下</a:t>
            </a:r>
            <a:r>
              <a:rPr lang="zh-CN" altLang="en-US" sz="2000">
                <a:latin typeface="宋体" panose="02010600030101010101" pitchFamily="2" charset="-122"/>
              </a:rPr>
              <a:t>进行计算</a:t>
            </a:r>
          </a:p>
          <a:p>
            <a:pPr lvl="1">
              <a:lnSpc>
                <a:spcPct val="145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当一个前置任务有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多个后置任务</a:t>
            </a:r>
            <a:r>
              <a:rPr lang="zh-CN" altLang="en-US" sz="2000">
                <a:latin typeface="宋体" panose="02010600030101010101" pitchFamily="2" charset="-122"/>
              </a:rPr>
              <a:t>时，选择其中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最小最晚</a:t>
            </a:r>
            <a:r>
              <a:rPr lang="zh-CN" altLang="en-US" sz="2000">
                <a:latin typeface="宋体" panose="02010600030101010101" pitchFamily="2" charset="-122"/>
              </a:rPr>
              <a:t>开始日期作为其前置任务的最晚完成日期</a:t>
            </a:r>
          </a:p>
          <a:p>
            <a:pPr lvl="1">
              <a:lnSpc>
                <a:spcPct val="145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公式：</a:t>
            </a:r>
            <a:endParaRPr lang="en-US" altLang="zh-CN" sz="2000">
              <a:latin typeface="宋体" panose="02010600030101010101" pitchFamily="2" charset="-122"/>
            </a:endParaRPr>
          </a:p>
          <a:p>
            <a:pPr lvl="2">
              <a:lnSpc>
                <a:spcPct val="145000"/>
              </a:lnSpc>
            </a:pPr>
            <a:r>
              <a:rPr lang="en-US" altLang="zh-CN" sz="1800">
                <a:latin typeface="宋体" panose="02010600030101010101" pitchFamily="2" charset="-122"/>
              </a:rPr>
              <a:t>LF – Duration = LS</a:t>
            </a:r>
          </a:p>
          <a:p>
            <a:pPr lvl="2">
              <a:lnSpc>
                <a:spcPct val="145000"/>
              </a:lnSpc>
            </a:pPr>
            <a:r>
              <a:rPr lang="en-US" altLang="zh-CN" sz="1800">
                <a:latin typeface="宋体" panose="02010600030101010101" pitchFamily="2" charset="-122"/>
              </a:rPr>
              <a:t>LS – Lag = LFp</a:t>
            </a:r>
            <a:r>
              <a:rPr lang="zh-CN" altLang="en-US" sz="1800">
                <a:latin typeface="宋体" panose="02010600030101010101" pitchFamily="2" charset="-122"/>
              </a:rPr>
              <a:t>，其中</a:t>
            </a:r>
            <a:r>
              <a:rPr lang="en-US" altLang="zh-CN" sz="1800">
                <a:latin typeface="宋体" panose="02010600030101010101" pitchFamily="2" charset="-122"/>
              </a:rPr>
              <a:t>LFp</a:t>
            </a:r>
            <a:r>
              <a:rPr lang="zh-CN" altLang="en-US" sz="1800">
                <a:latin typeface="宋体" panose="02010600030101010101" pitchFamily="2" charset="-122"/>
              </a:rPr>
              <a:t>是前置任务的最晚完成时间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6">
            <a:extLst>
              <a:ext uri="{FF2B5EF4-FFF2-40B4-BE49-F238E27FC236}">
                <a16:creationId xmlns:a16="http://schemas.microsoft.com/office/drawing/2014/main" id="{10BACF09-19DF-6397-D4D6-8DF7EE26E8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2CF469F-A6F5-4495-AB53-6796A2765BFD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D1DAF6D-4635-E9E4-C06A-96D5591D6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15901"/>
            <a:ext cx="7772400" cy="62071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逆推图示</a:t>
            </a:r>
          </a:p>
        </p:txBody>
      </p:sp>
      <p:sp>
        <p:nvSpPr>
          <p:cNvPr id="61444" name="Text Box 3">
            <a:extLst>
              <a:ext uri="{FF2B5EF4-FFF2-40B4-BE49-F238E27FC236}">
                <a16:creationId xmlns:a16="http://schemas.microsoft.com/office/drawing/2014/main" id="{75922114-E535-7597-8EE2-86B38314A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373689"/>
            <a:ext cx="868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当一个前置任务有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多个后置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任务时，选择其中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最晚开始日期</a:t>
            </a:r>
            <a:r>
              <a:rPr lang="zh-CN" altLang="en-US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作为其前置任务的最晚完成日期</a:t>
            </a:r>
          </a:p>
        </p:txBody>
      </p:sp>
      <p:pic>
        <p:nvPicPr>
          <p:cNvPr id="61445" name="Picture 4">
            <a:extLst>
              <a:ext uri="{FF2B5EF4-FFF2-40B4-BE49-F238E27FC236}">
                <a16:creationId xmlns:a16="http://schemas.microsoft.com/office/drawing/2014/main" id="{CB952D8C-2D43-D9D9-7F65-CE3462AE5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765175"/>
            <a:ext cx="7572375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46" name="Rectangle 5">
            <a:extLst>
              <a:ext uri="{FF2B5EF4-FFF2-40B4-BE49-F238E27FC236}">
                <a16:creationId xmlns:a16="http://schemas.microsoft.com/office/drawing/2014/main" id="{458581EA-DCE4-3844-EDA5-05671440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1" y="3271194"/>
            <a:ext cx="576263" cy="46166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6">
            <a:extLst>
              <a:ext uri="{FF2B5EF4-FFF2-40B4-BE49-F238E27FC236}">
                <a16:creationId xmlns:a16="http://schemas.microsoft.com/office/drawing/2014/main" id="{F908BBAB-937B-7481-AEEA-550EA81F91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FD1C09E-87E5-457E-A6C0-6433419B8F38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06A3366-4444-81C4-E68A-CAD20BB70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188914"/>
            <a:ext cx="7772400" cy="7191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E6403C5-6259-DFFC-35C2-A2468AB64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作为项目经理，你需要给一个软件项目做计划安排，经过任务分解后得到任务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，假设各个任务之间</a:t>
            </a:r>
            <a:r>
              <a:rPr lang="zh-CN" altLang="en-US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没有滞后和超前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，下图是这个项目的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PDM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网络图。通过历时估计已经估算出每个任务的工期，现已标识在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PDM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网络图上。</a:t>
            </a:r>
            <a:r>
              <a:rPr lang="zh-CN" altLang="en-US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假设项目的最早开工日期是第０天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，请计算每个任务的最早开始时间，最晚开始时间，最早完成时间，最晚完成时间，同时确定关键路径，并计算关键路径的长度，计算任务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的自由浮动和总浮动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6">
            <a:extLst>
              <a:ext uri="{FF2B5EF4-FFF2-40B4-BE49-F238E27FC236}">
                <a16:creationId xmlns:a16="http://schemas.microsoft.com/office/drawing/2014/main" id="{73C4CBD1-44B7-581A-DBCE-2FCC063E0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602269-4CAB-4E31-B4AD-9D5D32196572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C99EF07-79E1-4E45-E837-AEDB6BA21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1"/>
            <a:ext cx="7772400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课堂练习</a:t>
            </a:r>
          </a:p>
        </p:txBody>
      </p:sp>
      <p:grpSp>
        <p:nvGrpSpPr>
          <p:cNvPr id="63492" name="Group 3">
            <a:extLst>
              <a:ext uri="{FF2B5EF4-FFF2-40B4-BE49-F238E27FC236}">
                <a16:creationId xmlns:a16="http://schemas.microsoft.com/office/drawing/2014/main" id="{2A0B3B7B-68B6-65F6-DACA-EA1AF0031B8B}"/>
              </a:ext>
            </a:extLst>
          </p:cNvPr>
          <p:cNvGrpSpPr>
            <a:grpSpLocks/>
          </p:cNvGrpSpPr>
          <p:nvPr/>
        </p:nvGrpSpPr>
        <p:grpSpPr bwMode="auto">
          <a:xfrm>
            <a:off x="9407526" y="2344738"/>
            <a:ext cx="1260475" cy="1573212"/>
            <a:chOff x="2160" y="1652"/>
            <a:chExt cx="1542" cy="1635"/>
          </a:xfrm>
        </p:grpSpPr>
        <p:sp>
          <p:nvSpPr>
            <p:cNvPr id="63562" name="Text Box 4">
              <a:extLst>
                <a:ext uri="{FF2B5EF4-FFF2-40B4-BE49-F238E27FC236}">
                  <a16:creationId xmlns:a16="http://schemas.microsoft.com/office/drawing/2014/main" id="{FA28D1D2-3F7B-B238-855E-012A87087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63" name="Text Box 5">
              <a:extLst>
                <a:ext uri="{FF2B5EF4-FFF2-40B4-BE49-F238E27FC236}">
                  <a16:creationId xmlns:a16="http://schemas.microsoft.com/office/drawing/2014/main" id="{AE40099F-D2B2-4456-4D03-43B8AF843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64" name="Text Box 6">
              <a:extLst>
                <a:ext uri="{FF2B5EF4-FFF2-40B4-BE49-F238E27FC236}">
                  <a16:creationId xmlns:a16="http://schemas.microsoft.com/office/drawing/2014/main" id="{0884D56A-1861-51DE-E91C-DC1BB1F7F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65" name="Text Box 7">
              <a:extLst>
                <a:ext uri="{FF2B5EF4-FFF2-40B4-BE49-F238E27FC236}">
                  <a16:creationId xmlns:a16="http://schemas.microsoft.com/office/drawing/2014/main" id="{0FC8F30C-0BFE-AAFB-F5BC-9BA46E222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66" name="Rectangle 8">
              <a:extLst>
                <a:ext uri="{FF2B5EF4-FFF2-40B4-BE49-F238E27FC236}">
                  <a16:creationId xmlns:a16="http://schemas.microsoft.com/office/drawing/2014/main" id="{3FDEB0F7-8597-9AB0-762F-42186DE28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Duration=3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G</a:t>
              </a:r>
            </a:p>
          </p:txBody>
        </p:sp>
        <p:sp>
          <p:nvSpPr>
            <p:cNvPr id="63567" name="Rectangle 9">
              <a:extLst>
                <a:ext uri="{FF2B5EF4-FFF2-40B4-BE49-F238E27FC236}">
                  <a16:creationId xmlns:a16="http://schemas.microsoft.com/office/drawing/2014/main" id="{BCD823C8-465C-2679-D67B-93982DF6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68" name="Rectangle 10">
              <a:extLst>
                <a:ext uri="{FF2B5EF4-FFF2-40B4-BE49-F238E27FC236}">
                  <a16:creationId xmlns:a16="http://schemas.microsoft.com/office/drawing/2014/main" id="{426F8198-7E4A-8C08-2B2D-5ABBE638E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69" name="Rectangle 11">
              <a:extLst>
                <a:ext uri="{FF2B5EF4-FFF2-40B4-BE49-F238E27FC236}">
                  <a16:creationId xmlns:a16="http://schemas.microsoft.com/office/drawing/2014/main" id="{58E6E65A-EDD9-9387-FEF9-E082025C8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70" name="Rectangle 12">
              <a:extLst>
                <a:ext uri="{FF2B5EF4-FFF2-40B4-BE49-F238E27FC236}">
                  <a16:creationId xmlns:a16="http://schemas.microsoft.com/office/drawing/2014/main" id="{4E876FE2-DFB7-C75E-058F-F19527DE7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3493" name="Group 13">
            <a:extLst>
              <a:ext uri="{FF2B5EF4-FFF2-40B4-BE49-F238E27FC236}">
                <a16:creationId xmlns:a16="http://schemas.microsoft.com/office/drawing/2014/main" id="{CEE1D0AE-DBEF-481E-8271-3B0B20AD2438}"/>
              </a:ext>
            </a:extLst>
          </p:cNvPr>
          <p:cNvGrpSpPr>
            <a:grpSpLocks/>
          </p:cNvGrpSpPr>
          <p:nvPr/>
        </p:nvGrpSpPr>
        <p:grpSpPr bwMode="auto">
          <a:xfrm>
            <a:off x="1752601" y="2438401"/>
            <a:ext cx="1260475" cy="1573213"/>
            <a:chOff x="2160" y="1652"/>
            <a:chExt cx="1542" cy="1635"/>
          </a:xfrm>
        </p:grpSpPr>
        <p:sp>
          <p:nvSpPr>
            <p:cNvPr id="63553" name="Text Box 14">
              <a:extLst>
                <a:ext uri="{FF2B5EF4-FFF2-40B4-BE49-F238E27FC236}">
                  <a16:creationId xmlns:a16="http://schemas.microsoft.com/office/drawing/2014/main" id="{B03AB1BE-2467-001D-7038-983F044A1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54" name="Text Box 15">
              <a:extLst>
                <a:ext uri="{FF2B5EF4-FFF2-40B4-BE49-F238E27FC236}">
                  <a16:creationId xmlns:a16="http://schemas.microsoft.com/office/drawing/2014/main" id="{8E24E02A-0938-8673-50B4-2C4720EC9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55" name="Text Box 16">
              <a:extLst>
                <a:ext uri="{FF2B5EF4-FFF2-40B4-BE49-F238E27FC236}">
                  <a16:creationId xmlns:a16="http://schemas.microsoft.com/office/drawing/2014/main" id="{5F38F600-B41E-7815-D108-81D668797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56" name="Text Box 17">
              <a:extLst>
                <a:ext uri="{FF2B5EF4-FFF2-40B4-BE49-F238E27FC236}">
                  <a16:creationId xmlns:a16="http://schemas.microsoft.com/office/drawing/2014/main" id="{101A719A-B652-23D3-F442-06C180467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57" name="Rectangle 18">
              <a:extLst>
                <a:ext uri="{FF2B5EF4-FFF2-40B4-BE49-F238E27FC236}">
                  <a16:creationId xmlns:a16="http://schemas.microsoft.com/office/drawing/2014/main" id="{46916534-06A4-9950-E300-790111B51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Duration=4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900">
                  <a:solidFill>
                    <a:srgbClr val="000000"/>
                  </a:solidFill>
                </a:rPr>
                <a:t>Task A</a:t>
              </a:r>
            </a:p>
          </p:txBody>
        </p:sp>
        <p:sp>
          <p:nvSpPr>
            <p:cNvPr id="63558" name="Rectangle 19">
              <a:extLst>
                <a:ext uri="{FF2B5EF4-FFF2-40B4-BE49-F238E27FC236}">
                  <a16:creationId xmlns:a16="http://schemas.microsoft.com/office/drawing/2014/main" id="{DAB47159-05D9-7F4A-9812-13EDB8A97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9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3559" name="Rectangle 20">
              <a:extLst>
                <a:ext uri="{FF2B5EF4-FFF2-40B4-BE49-F238E27FC236}">
                  <a16:creationId xmlns:a16="http://schemas.microsoft.com/office/drawing/2014/main" id="{707C5AE5-488D-BDAF-B5A1-10CA04A9A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60" name="Rectangle 21">
              <a:extLst>
                <a:ext uri="{FF2B5EF4-FFF2-40B4-BE49-F238E27FC236}">
                  <a16:creationId xmlns:a16="http://schemas.microsoft.com/office/drawing/2014/main" id="{0B0E05AD-37B1-19E4-ACEE-A117ECDEA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61" name="Rectangle 22">
              <a:extLst>
                <a:ext uri="{FF2B5EF4-FFF2-40B4-BE49-F238E27FC236}">
                  <a16:creationId xmlns:a16="http://schemas.microsoft.com/office/drawing/2014/main" id="{0552CEF2-63BF-C598-D656-68F9C4496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3494" name="Group 23">
            <a:extLst>
              <a:ext uri="{FF2B5EF4-FFF2-40B4-BE49-F238E27FC236}">
                <a16:creationId xmlns:a16="http://schemas.microsoft.com/office/drawing/2014/main" id="{F0FDE331-CB54-0814-8EFF-D92788EA87B0}"/>
              </a:ext>
            </a:extLst>
          </p:cNvPr>
          <p:cNvGrpSpPr>
            <a:grpSpLocks/>
          </p:cNvGrpSpPr>
          <p:nvPr/>
        </p:nvGrpSpPr>
        <p:grpSpPr bwMode="auto">
          <a:xfrm>
            <a:off x="4043363" y="1143000"/>
            <a:ext cx="1262062" cy="1574800"/>
            <a:chOff x="2160" y="1652"/>
            <a:chExt cx="1542" cy="1635"/>
          </a:xfrm>
        </p:grpSpPr>
        <p:sp>
          <p:nvSpPr>
            <p:cNvPr id="63544" name="Text Box 24">
              <a:extLst>
                <a:ext uri="{FF2B5EF4-FFF2-40B4-BE49-F238E27FC236}">
                  <a16:creationId xmlns:a16="http://schemas.microsoft.com/office/drawing/2014/main" id="{E42618E6-E31F-E564-D99F-1D4479A82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45" name="Text Box 25">
              <a:extLst>
                <a:ext uri="{FF2B5EF4-FFF2-40B4-BE49-F238E27FC236}">
                  <a16:creationId xmlns:a16="http://schemas.microsoft.com/office/drawing/2014/main" id="{CC8C7C20-113A-1F82-901B-AE32F75A4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46" name="Text Box 26">
              <a:extLst>
                <a:ext uri="{FF2B5EF4-FFF2-40B4-BE49-F238E27FC236}">
                  <a16:creationId xmlns:a16="http://schemas.microsoft.com/office/drawing/2014/main" id="{0D21559A-1668-1994-7D9C-34C3B97356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47" name="Text Box 27">
              <a:extLst>
                <a:ext uri="{FF2B5EF4-FFF2-40B4-BE49-F238E27FC236}">
                  <a16:creationId xmlns:a16="http://schemas.microsoft.com/office/drawing/2014/main" id="{2C9DD033-97A0-DB14-C3E9-5BBCB5938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48" name="Rectangle 28">
              <a:extLst>
                <a:ext uri="{FF2B5EF4-FFF2-40B4-BE49-F238E27FC236}">
                  <a16:creationId xmlns:a16="http://schemas.microsoft.com/office/drawing/2014/main" id="{FDD4C6D7-B6E6-5B20-2E75-75A4E6943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Duration=6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B</a:t>
              </a:r>
            </a:p>
          </p:txBody>
        </p:sp>
        <p:sp>
          <p:nvSpPr>
            <p:cNvPr id="63549" name="Rectangle 29">
              <a:extLst>
                <a:ext uri="{FF2B5EF4-FFF2-40B4-BE49-F238E27FC236}">
                  <a16:creationId xmlns:a16="http://schemas.microsoft.com/office/drawing/2014/main" id="{3FABA883-2EB2-1860-F5DA-983878EA2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50" name="Rectangle 30">
              <a:extLst>
                <a:ext uri="{FF2B5EF4-FFF2-40B4-BE49-F238E27FC236}">
                  <a16:creationId xmlns:a16="http://schemas.microsoft.com/office/drawing/2014/main" id="{A3D0FC12-1E3E-B5ED-7263-9FE3895B8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51" name="Rectangle 31">
              <a:extLst>
                <a:ext uri="{FF2B5EF4-FFF2-40B4-BE49-F238E27FC236}">
                  <a16:creationId xmlns:a16="http://schemas.microsoft.com/office/drawing/2014/main" id="{C003277D-69C0-E187-D9F8-EAD993477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52" name="Rectangle 32">
              <a:extLst>
                <a:ext uri="{FF2B5EF4-FFF2-40B4-BE49-F238E27FC236}">
                  <a16:creationId xmlns:a16="http://schemas.microsoft.com/office/drawing/2014/main" id="{553C0112-C829-E076-2DFA-611757D55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3495" name="Group 33">
            <a:extLst>
              <a:ext uri="{FF2B5EF4-FFF2-40B4-BE49-F238E27FC236}">
                <a16:creationId xmlns:a16="http://schemas.microsoft.com/office/drawing/2014/main" id="{31A58496-52F0-93E5-AC33-E329AE1A3DBC}"/>
              </a:ext>
            </a:extLst>
          </p:cNvPr>
          <p:cNvGrpSpPr>
            <a:grpSpLocks/>
          </p:cNvGrpSpPr>
          <p:nvPr/>
        </p:nvGrpSpPr>
        <p:grpSpPr bwMode="auto">
          <a:xfrm>
            <a:off x="5957889" y="1143000"/>
            <a:ext cx="1260475" cy="1574800"/>
            <a:chOff x="2160" y="1652"/>
            <a:chExt cx="1542" cy="1635"/>
          </a:xfrm>
        </p:grpSpPr>
        <p:sp>
          <p:nvSpPr>
            <p:cNvPr id="63535" name="Text Box 34">
              <a:extLst>
                <a:ext uri="{FF2B5EF4-FFF2-40B4-BE49-F238E27FC236}">
                  <a16:creationId xmlns:a16="http://schemas.microsoft.com/office/drawing/2014/main" id="{B7EAAA8D-771B-4332-196E-7019ACBF4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36" name="Text Box 35">
              <a:extLst>
                <a:ext uri="{FF2B5EF4-FFF2-40B4-BE49-F238E27FC236}">
                  <a16:creationId xmlns:a16="http://schemas.microsoft.com/office/drawing/2014/main" id="{F4192619-40F6-1922-E8F9-7233988D5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37" name="Text Box 36">
              <a:extLst>
                <a:ext uri="{FF2B5EF4-FFF2-40B4-BE49-F238E27FC236}">
                  <a16:creationId xmlns:a16="http://schemas.microsoft.com/office/drawing/2014/main" id="{66250114-EA1E-32DD-C4A5-D0B44611C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38" name="Text Box 37">
              <a:extLst>
                <a:ext uri="{FF2B5EF4-FFF2-40B4-BE49-F238E27FC236}">
                  <a16:creationId xmlns:a16="http://schemas.microsoft.com/office/drawing/2014/main" id="{201A1210-D8FD-C995-2BDC-19D1C1234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39" name="Rectangle 38">
              <a:extLst>
                <a:ext uri="{FF2B5EF4-FFF2-40B4-BE49-F238E27FC236}">
                  <a16:creationId xmlns:a16="http://schemas.microsoft.com/office/drawing/2014/main" id="{7827F1D4-A327-0732-A6AE-9188A7F3D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Duration=7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C</a:t>
              </a:r>
            </a:p>
          </p:txBody>
        </p:sp>
        <p:sp>
          <p:nvSpPr>
            <p:cNvPr id="63540" name="Rectangle 39">
              <a:extLst>
                <a:ext uri="{FF2B5EF4-FFF2-40B4-BE49-F238E27FC236}">
                  <a16:creationId xmlns:a16="http://schemas.microsoft.com/office/drawing/2014/main" id="{0909A6E9-53D3-0149-537A-350C33B05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41" name="Rectangle 40">
              <a:extLst>
                <a:ext uri="{FF2B5EF4-FFF2-40B4-BE49-F238E27FC236}">
                  <a16:creationId xmlns:a16="http://schemas.microsoft.com/office/drawing/2014/main" id="{FD5A6C6D-8F3A-937B-B14F-84B6F6BFF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42" name="Rectangle 41">
              <a:extLst>
                <a:ext uri="{FF2B5EF4-FFF2-40B4-BE49-F238E27FC236}">
                  <a16:creationId xmlns:a16="http://schemas.microsoft.com/office/drawing/2014/main" id="{A3B700B7-400E-8D6A-DE95-180C9BFE5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43" name="Rectangle 42">
              <a:extLst>
                <a:ext uri="{FF2B5EF4-FFF2-40B4-BE49-F238E27FC236}">
                  <a16:creationId xmlns:a16="http://schemas.microsoft.com/office/drawing/2014/main" id="{AA72B71A-94EF-F282-77F8-B982DCD35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3496" name="Group 43">
            <a:extLst>
              <a:ext uri="{FF2B5EF4-FFF2-40B4-BE49-F238E27FC236}">
                <a16:creationId xmlns:a16="http://schemas.microsoft.com/office/drawing/2014/main" id="{18FF1037-4485-7539-3535-4E808E0720AB}"/>
              </a:ext>
            </a:extLst>
          </p:cNvPr>
          <p:cNvGrpSpPr>
            <a:grpSpLocks/>
          </p:cNvGrpSpPr>
          <p:nvPr/>
        </p:nvGrpSpPr>
        <p:grpSpPr bwMode="auto">
          <a:xfrm>
            <a:off x="7724776" y="1143000"/>
            <a:ext cx="1260475" cy="1574800"/>
            <a:chOff x="2160" y="1652"/>
            <a:chExt cx="1542" cy="1635"/>
          </a:xfrm>
        </p:grpSpPr>
        <p:sp>
          <p:nvSpPr>
            <p:cNvPr id="63526" name="Text Box 44">
              <a:extLst>
                <a:ext uri="{FF2B5EF4-FFF2-40B4-BE49-F238E27FC236}">
                  <a16:creationId xmlns:a16="http://schemas.microsoft.com/office/drawing/2014/main" id="{587C69B8-1553-1A3F-6D74-F848C4086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27" name="Text Box 45">
              <a:extLst>
                <a:ext uri="{FF2B5EF4-FFF2-40B4-BE49-F238E27FC236}">
                  <a16:creationId xmlns:a16="http://schemas.microsoft.com/office/drawing/2014/main" id="{14C2A04F-EA45-9CCF-8F9B-6E3289632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28" name="Text Box 46">
              <a:extLst>
                <a:ext uri="{FF2B5EF4-FFF2-40B4-BE49-F238E27FC236}">
                  <a16:creationId xmlns:a16="http://schemas.microsoft.com/office/drawing/2014/main" id="{879ACB3D-0C61-3BE1-1857-91D877305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29" name="Text Box 47">
              <a:extLst>
                <a:ext uri="{FF2B5EF4-FFF2-40B4-BE49-F238E27FC236}">
                  <a16:creationId xmlns:a16="http://schemas.microsoft.com/office/drawing/2014/main" id="{6827191F-93C7-99CC-A854-3216DBB57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30" name="Rectangle 48">
              <a:extLst>
                <a:ext uri="{FF2B5EF4-FFF2-40B4-BE49-F238E27FC236}">
                  <a16:creationId xmlns:a16="http://schemas.microsoft.com/office/drawing/2014/main" id="{6CB2414E-4C86-F233-F1F1-136EE43CD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Duration=5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D</a:t>
              </a:r>
            </a:p>
          </p:txBody>
        </p:sp>
        <p:sp>
          <p:nvSpPr>
            <p:cNvPr id="63531" name="Rectangle 49">
              <a:extLst>
                <a:ext uri="{FF2B5EF4-FFF2-40B4-BE49-F238E27FC236}">
                  <a16:creationId xmlns:a16="http://schemas.microsoft.com/office/drawing/2014/main" id="{3A8583E7-1EBF-F25F-4A9C-BDF34902C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32" name="Rectangle 50">
              <a:extLst>
                <a:ext uri="{FF2B5EF4-FFF2-40B4-BE49-F238E27FC236}">
                  <a16:creationId xmlns:a16="http://schemas.microsoft.com/office/drawing/2014/main" id="{7D2CF75F-2AF7-B83B-82D6-BC679BD26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33" name="Rectangle 51">
              <a:extLst>
                <a:ext uri="{FF2B5EF4-FFF2-40B4-BE49-F238E27FC236}">
                  <a16:creationId xmlns:a16="http://schemas.microsoft.com/office/drawing/2014/main" id="{503BA1A4-EE8D-BA48-0227-EDF971112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34" name="Rectangle 52">
              <a:extLst>
                <a:ext uri="{FF2B5EF4-FFF2-40B4-BE49-F238E27FC236}">
                  <a16:creationId xmlns:a16="http://schemas.microsoft.com/office/drawing/2014/main" id="{988D0393-82BF-950D-F8D8-C644231F6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3497" name="Group 53">
            <a:extLst>
              <a:ext uri="{FF2B5EF4-FFF2-40B4-BE49-F238E27FC236}">
                <a16:creationId xmlns:a16="http://schemas.microsoft.com/office/drawing/2014/main" id="{96E880EC-13AF-7B3D-3A0F-881669EB5866}"/>
              </a:ext>
            </a:extLst>
          </p:cNvPr>
          <p:cNvGrpSpPr>
            <a:grpSpLocks/>
          </p:cNvGrpSpPr>
          <p:nvPr/>
        </p:nvGrpSpPr>
        <p:grpSpPr bwMode="auto">
          <a:xfrm>
            <a:off x="4191001" y="3995738"/>
            <a:ext cx="1260475" cy="1574800"/>
            <a:chOff x="2160" y="1652"/>
            <a:chExt cx="1542" cy="1635"/>
          </a:xfrm>
        </p:grpSpPr>
        <p:sp>
          <p:nvSpPr>
            <p:cNvPr id="63517" name="Text Box 54">
              <a:extLst>
                <a:ext uri="{FF2B5EF4-FFF2-40B4-BE49-F238E27FC236}">
                  <a16:creationId xmlns:a16="http://schemas.microsoft.com/office/drawing/2014/main" id="{1DA37404-68C4-5B9E-9EDE-F4615DA4F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18" name="Text Box 55">
              <a:extLst>
                <a:ext uri="{FF2B5EF4-FFF2-40B4-BE49-F238E27FC236}">
                  <a16:creationId xmlns:a16="http://schemas.microsoft.com/office/drawing/2014/main" id="{8C30798E-1D18-2F23-138C-915AD19F0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19" name="Text Box 56">
              <a:extLst>
                <a:ext uri="{FF2B5EF4-FFF2-40B4-BE49-F238E27FC236}">
                  <a16:creationId xmlns:a16="http://schemas.microsoft.com/office/drawing/2014/main" id="{FDC16D65-A0FF-794B-4702-7D6D9B324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20" name="Text Box 57">
              <a:extLst>
                <a:ext uri="{FF2B5EF4-FFF2-40B4-BE49-F238E27FC236}">
                  <a16:creationId xmlns:a16="http://schemas.microsoft.com/office/drawing/2014/main" id="{87439CCA-9DDE-E6B7-0F10-7A9B143F6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21" name="Rectangle 58">
              <a:extLst>
                <a:ext uri="{FF2B5EF4-FFF2-40B4-BE49-F238E27FC236}">
                  <a16:creationId xmlns:a16="http://schemas.microsoft.com/office/drawing/2014/main" id="{80D8980D-5A82-BEE6-43D9-F4576A30A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Duration=8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E</a:t>
              </a:r>
            </a:p>
          </p:txBody>
        </p:sp>
        <p:sp>
          <p:nvSpPr>
            <p:cNvPr id="63522" name="Rectangle 59">
              <a:extLst>
                <a:ext uri="{FF2B5EF4-FFF2-40B4-BE49-F238E27FC236}">
                  <a16:creationId xmlns:a16="http://schemas.microsoft.com/office/drawing/2014/main" id="{A45EA2DC-7102-0D97-C9E7-DA1D1DD84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23" name="Rectangle 60">
              <a:extLst>
                <a:ext uri="{FF2B5EF4-FFF2-40B4-BE49-F238E27FC236}">
                  <a16:creationId xmlns:a16="http://schemas.microsoft.com/office/drawing/2014/main" id="{690C4333-776D-E4A6-C128-8465D67AB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24" name="Rectangle 61">
              <a:extLst>
                <a:ext uri="{FF2B5EF4-FFF2-40B4-BE49-F238E27FC236}">
                  <a16:creationId xmlns:a16="http://schemas.microsoft.com/office/drawing/2014/main" id="{605A00E3-14EE-73C0-61A1-E90AE047B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25" name="Rectangle 62">
              <a:extLst>
                <a:ext uri="{FF2B5EF4-FFF2-40B4-BE49-F238E27FC236}">
                  <a16:creationId xmlns:a16="http://schemas.microsoft.com/office/drawing/2014/main" id="{BAE0771A-B726-B3A5-1030-174F6F65A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3498" name="Group 63">
            <a:extLst>
              <a:ext uri="{FF2B5EF4-FFF2-40B4-BE49-F238E27FC236}">
                <a16:creationId xmlns:a16="http://schemas.microsoft.com/office/drawing/2014/main" id="{70D5200D-9911-7073-CBEC-1BBE8D2A335B}"/>
              </a:ext>
            </a:extLst>
          </p:cNvPr>
          <p:cNvGrpSpPr>
            <a:grpSpLocks/>
          </p:cNvGrpSpPr>
          <p:nvPr/>
        </p:nvGrpSpPr>
        <p:grpSpPr bwMode="auto">
          <a:xfrm>
            <a:off x="6988176" y="3995738"/>
            <a:ext cx="1260475" cy="1574800"/>
            <a:chOff x="2160" y="1652"/>
            <a:chExt cx="1542" cy="1635"/>
          </a:xfrm>
        </p:grpSpPr>
        <p:sp>
          <p:nvSpPr>
            <p:cNvPr id="63508" name="Text Box 64">
              <a:extLst>
                <a:ext uri="{FF2B5EF4-FFF2-40B4-BE49-F238E27FC236}">
                  <a16:creationId xmlns:a16="http://schemas.microsoft.com/office/drawing/2014/main" id="{92BF5E4D-D036-AC92-A619-1978A3249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3509" name="Text Box 65">
              <a:extLst>
                <a:ext uri="{FF2B5EF4-FFF2-40B4-BE49-F238E27FC236}">
                  <a16:creationId xmlns:a16="http://schemas.microsoft.com/office/drawing/2014/main" id="{55044518-321A-DBC1-557C-6146B486A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3510" name="Text Box 66">
              <a:extLst>
                <a:ext uri="{FF2B5EF4-FFF2-40B4-BE49-F238E27FC236}">
                  <a16:creationId xmlns:a16="http://schemas.microsoft.com/office/drawing/2014/main" id="{21EBC8F3-15E8-A3BA-D246-612645B11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3511" name="Text Box 67">
              <a:extLst>
                <a:ext uri="{FF2B5EF4-FFF2-40B4-BE49-F238E27FC236}">
                  <a16:creationId xmlns:a16="http://schemas.microsoft.com/office/drawing/2014/main" id="{3C6EAA7E-3B8D-3DED-F78A-A68DAF5A8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3512" name="Rectangle 68">
              <a:extLst>
                <a:ext uri="{FF2B5EF4-FFF2-40B4-BE49-F238E27FC236}">
                  <a16:creationId xmlns:a16="http://schemas.microsoft.com/office/drawing/2014/main" id="{BA5F2A31-EDD6-DEFE-4F4B-307B39D4A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Duration=8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F</a:t>
              </a:r>
            </a:p>
          </p:txBody>
        </p:sp>
        <p:sp>
          <p:nvSpPr>
            <p:cNvPr id="63513" name="Rectangle 69">
              <a:extLst>
                <a:ext uri="{FF2B5EF4-FFF2-40B4-BE49-F238E27FC236}">
                  <a16:creationId xmlns:a16="http://schemas.microsoft.com/office/drawing/2014/main" id="{3BA16272-4442-8323-02F1-A9CAE705F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14" name="Rectangle 70">
              <a:extLst>
                <a:ext uri="{FF2B5EF4-FFF2-40B4-BE49-F238E27FC236}">
                  <a16:creationId xmlns:a16="http://schemas.microsoft.com/office/drawing/2014/main" id="{0665C9DA-887A-BAD0-EE46-8E395E284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3515" name="Rectangle 71">
              <a:extLst>
                <a:ext uri="{FF2B5EF4-FFF2-40B4-BE49-F238E27FC236}">
                  <a16:creationId xmlns:a16="http://schemas.microsoft.com/office/drawing/2014/main" id="{F92A4A0E-2660-3EDD-89E4-7397FA662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3516" name="Rectangle 72">
              <a:extLst>
                <a:ext uri="{FF2B5EF4-FFF2-40B4-BE49-F238E27FC236}">
                  <a16:creationId xmlns:a16="http://schemas.microsoft.com/office/drawing/2014/main" id="{496CC589-F4E0-D5E1-8749-D390260F8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63499" name="Line 73">
            <a:extLst>
              <a:ext uri="{FF2B5EF4-FFF2-40B4-BE49-F238E27FC236}">
                <a16:creationId xmlns:a16="http://schemas.microsoft.com/office/drawing/2014/main" id="{A0E3F617-DB7C-537B-8872-F8E2EB6F15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3075" y="1743075"/>
            <a:ext cx="1030288" cy="1201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0" name="Line 74">
            <a:extLst>
              <a:ext uri="{FF2B5EF4-FFF2-40B4-BE49-F238E27FC236}">
                <a16:creationId xmlns:a16="http://schemas.microsoft.com/office/drawing/2014/main" id="{F1EF74A2-5D29-2D69-F245-BD04B4E1E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1743075"/>
            <a:ext cx="73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1" name="Line 75">
            <a:extLst>
              <a:ext uri="{FF2B5EF4-FFF2-40B4-BE49-F238E27FC236}">
                <a16:creationId xmlns:a16="http://schemas.microsoft.com/office/drawing/2014/main" id="{D73D7EF6-7D5D-3034-1138-24FDC81BC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5813" y="1743075"/>
            <a:ext cx="5889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2" name="Line 76">
            <a:extLst>
              <a:ext uri="{FF2B5EF4-FFF2-40B4-BE49-F238E27FC236}">
                <a16:creationId xmlns:a16="http://schemas.microsoft.com/office/drawing/2014/main" id="{E178EB64-9884-6438-D99B-9DBAAE2A1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1114" y="1743075"/>
            <a:ext cx="884237" cy="901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3" name="Line 77">
            <a:extLst>
              <a:ext uri="{FF2B5EF4-FFF2-40B4-BE49-F238E27FC236}">
                <a16:creationId xmlns:a16="http://schemas.microsoft.com/office/drawing/2014/main" id="{CE9889FF-6C97-25B3-B42C-24512A54A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3076" y="3395663"/>
            <a:ext cx="1177925" cy="13509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4" name="Line 78">
            <a:extLst>
              <a:ext uri="{FF2B5EF4-FFF2-40B4-BE49-F238E27FC236}">
                <a16:creationId xmlns:a16="http://schemas.microsoft.com/office/drawing/2014/main" id="{FD4C8050-2C0A-78BE-7D91-6C81AC83FE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73650" y="2193925"/>
            <a:ext cx="884238" cy="2103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5" name="Line 79">
            <a:extLst>
              <a:ext uri="{FF2B5EF4-FFF2-40B4-BE49-F238E27FC236}">
                <a16:creationId xmlns:a16="http://schemas.microsoft.com/office/drawing/2014/main" id="{16F3F0A0-006A-3034-13BE-405C780FB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8925" y="4746625"/>
            <a:ext cx="1619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6" name="Line 80">
            <a:extLst>
              <a:ext uri="{FF2B5EF4-FFF2-40B4-BE49-F238E27FC236}">
                <a16:creationId xmlns:a16="http://schemas.microsoft.com/office/drawing/2014/main" id="{4BF37D11-259B-EAB4-98A4-A18499E32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2150" y="3695701"/>
            <a:ext cx="1473200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507" name="Text Box 81">
            <a:extLst>
              <a:ext uri="{FF2B5EF4-FFF2-40B4-BE49-F238E27FC236}">
                <a16:creationId xmlns:a16="http://schemas.microsoft.com/office/drawing/2014/main" id="{A937757F-A57D-C9A7-7CC9-1205692A7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5546726"/>
            <a:ext cx="541496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  <a:latin typeface="Arial Narrow" panose="020B0606020202030204" pitchFamily="34" charset="0"/>
              </a:rPr>
              <a:t>1.</a:t>
            </a:r>
            <a:r>
              <a:rPr lang="zh-CN" altLang="en-US" b="1">
                <a:solidFill>
                  <a:srgbClr val="000000"/>
                </a:solidFill>
                <a:latin typeface="Arial Narrow" panose="020B0606020202030204" pitchFamily="34" charset="0"/>
              </a:rPr>
              <a:t>确定ＣＰ以及ＣＰ的长度？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  <a:latin typeface="Arial Narrow" panose="020B0606020202030204" pitchFamily="34" charset="0"/>
              </a:rPr>
              <a:t>2.</a:t>
            </a:r>
            <a:r>
              <a:rPr lang="zh-CN" altLang="en-US" b="1">
                <a:solidFill>
                  <a:srgbClr val="000000"/>
                </a:solidFill>
                <a:latin typeface="Arial Narrow" panose="020B0606020202030204" pitchFamily="34" charset="0"/>
              </a:rPr>
              <a:t>Ｆ的自由浮动和总浮动？</a:t>
            </a:r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4B1C2531-78B7-9C5D-944D-530E0868C6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097CC9-2A1E-48BC-9D42-ECC69BDA46A3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B14CB67C-E803-0CB6-D480-317C36445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60351"/>
            <a:ext cx="7772400" cy="5762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课堂练习</a:t>
            </a:r>
            <a:r>
              <a:rPr lang="en-US" altLang="zh-CN"/>
              <a:t>-</a:t>
            </a:r>
            <a:r>
              <a:rPr lang="zh-CN" altLang="en-US"/>
              <a:t>答案</a:t>
            </a:r>
          </a:p>
        </p:txBody>
      </p:sp>
      <p:grpSp>
        <p:nvGrpSpPr>
          <p:cNvPr id="64516" name="Group 3">
            <a:extLst>
              <a:ext uri="{FF2B5EF4-FFF2-40B4-BE49-F238E27FC236}">
                <a16:creationId xmlns:a16="http://schemas.microsoft.com/office/drawing/2014/main" id="{F92F4E76-E74F-5DDE-6A3A-1CAB8EA0EB7C}"/>
              </a:ext>
            </a:extLst>
          </p:cNvPr>
          <p:cNvGrpSpPr>
            <a:grpSpLocks/>
          </p:cNvGrpSpPr>
          <p:nvPr/>
        </p:nvGrpSpPr>
        <p:grpSpPr bwMode="auto">
          <a:xfrm>
            <a:off x="9358314" y="1893888"/>
            <a:ext cx="1260475" cy="1573212"/>
            <a:chOff x="2160" y="1652"/>
            <a:chExt cx="1542" cy="1635"/>
          </a:xfrm>
        </p:grpSpPr>
        <p:sp>
          <p:nvSpPr>
            <p:cNvPr id="64617" name="Text Box 4">
              <a:extLst>
                <a:ext uri="{FF2B5EF4-FFF2-40B4-BE49-F238E27FC236}">
                  <a16:creationId xmlns:a16="http://schemas.microsoft.com/office/drawing/2014/main" id="{58678573-EA89-D5AC-5492-4C6B93711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618" name="Text Box 5">
              <a:extLst>
                <a:ext uri="{FF2B5EF4-FFF2-40B4-BE49-F238E27FC236}">
                  <a16:creationId xmlns:a16="http://schemas.microsoft.com/office/drawing/2014/main" id="{4A56AC51-448A-7861-BB3A-997964678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619" name="Text Box 6">
              <a:extLst>
                <a:ext uri="{FF2B5EF4-FFF2-40B4-BE49-F238E27FC236}">
                  <a16:creationId xmlns:a16="http://schemas.microsoft.com/office/drawing/2014/main" id="{21B54FA4-A14C-7DBD-10F9-24F1DEFFB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620" name="Text Box 7">
              <a:extLst>
                <a:ext uri="{FF2B5EF4-FFF2-40B4-BE49-F238E27FC236}">
                  <a16:creationId xmlns:a16="http://schemas.microsoft.com/office/drawing/2014/main" id="{D90219F9-0D2A-E543-8320-3D42785A0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621" name="Rectangle 8">
              <a:extLst>
                <a:ext uri="{FF2B5EF4-FFF2-40B4-BE49-F238E27FC236}">
                  <a16:creationId xmlns:a16="http://schemas.microsoft.com/office/drawing/2014/main" id="{8020DDC7-EDE3-F2AF-C4F0-CF65FCD8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Duration=3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G</a:t>
              </a:r>
            </a:p>
          </p:txBody>
        </p:sp>
        <p:sp>
          <p:nvSpPr>
            <p:cNvPr id="64622" name="Rectangle 9">
              <a:extLst>
                <a:ext uri="{FF2B5EF4-FFF2-40B4-BE49-F238E27FC236}">
                  <a16:creationId xmlns:a16="http://schemas.microsoft.com/office/drawing/2014/main" id="{B0C430D0-E8C1-AC53-00F9-9E9E857A6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623" name="Rectangle 10">
              <a:extLst>
                <a:ext uri="{FF2B5EF4-FFF2-40B4-BE49-F238E27FC236}">
                  <a16:creationId xmlns:a16="http://schemas.microsoft.com/office/drawing/2014/main" id="{8FBAE112-607C-B9A7-67DC-B1F6B495F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624" name="Rectangle 11">
              <a:extLst>
                <a:ext uri="{FF2B5EF4-FFF2-40B4-BE49-F238E27FC236}">
                  <a16:creationId xmlns:a16="http://schemas.microsoft.com/office/drawing/2014/main" id="{70A54780-D917-200E-4426-180DF500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625" name="Rectangle 12">
              <a:extLst>
                <a:ext uri="{FF2B5EF4-FFF2-40B4-BE49-F238E27FC236}">
                  <a16:creationId xmlns:a16="http://schemas.microsoft.com/office/drawing/2014/main" id="{078E477E-A33A-4D9E-102F-5153847F9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4517" name="Group 13">
            <a:extLst>
              <a:ext uri="{FF2B5EF4-FFF2-40B4-BE49-F238E27FC236}">
                <a16:creationId xmlns:a16="http://schemas.microsoft.com/office/drawing/2014/main" id="{1AC6F6D5-5873-BF19-3708-EA32CECA12AB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1971676"/>
            <a:ext cx="1260475" cy="1573213"/>
            <a:chOff x="2160" y="1652"/>
            <a:chExt cx="1542" cy="1635"/>
          </a:xfrm>
        </p:grpSpPr>
        <p:sp>
          <p:nvSpPr>
            <p:cNvPr id="64608" name="Text Box 14">
              <a:extLst>
                <a:ext uri="{FF2B5EF4-FFF2-40B4-BE49-F238E27FC236}">
                  <a16:creationId xmlns:a16="http://schemas.microsoft.com/office/drawing/2014/main" id="{0E7395E8-9234-EEB9-DFBD-4788219A2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609" name="Text Box 15">
              <a:extLst>
                <a:ext uri="{FF2B5EF4-FFF2-40B4-BE49-F238E27FC236}">
                  <a16:creationId xmlns:a16="http://schemas.microsoft.com/office/drawing/2014/main" id="{74B5CD5E-6082-DCF1-2B11-E5A661550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610" name="Text Box 16">
              <a:extLst>
                <a:ext uri="{FF2B5EF4-FFF2-40B4-BE49-F238E27FC236}">
                  <a16:creationId xmlns:a16="http://schemas.microsoft.com/office/drawing/2014/main" id="{810F358F-B0A8-22EE-EC7F-32B867DA4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611" name="Text Box 17">
              <a:extLst>
                <a:ext uri="{FF2B5EF4-FFF2-40B4-BE49-F238E27FC236}">
                  <a16:creationId xmlns:a16="http://schemas.microsoft.com/office/drawing/2014/main" id="{2FA4515A-F3C7-F07B-DCC9-79D801D07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612" name="Rectangle 18">
              <a:extLst>
                <a:ext uri="{FF2B5EF4-FFF2-40B4-BE49-F238E27FC236}">
                  <a16:creationId xmlns:a16="http://schemas.microsoft.com/office/drawing/2014/main" id="{4CE3A7E3-FE2E-8248-11F2-E6C4FD93A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Duration=4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A</a:t>
              </a:r>
            </a:p>
          </p:txBody>
        </p:sp>
        <p:sp>
          <p:nvSpPr>
            <p:cNvPr id="64613" name="Rectangle 19">
              <a:extLst>
                <a:ext uri="{FF2B5EF4-FFF2-40B4-BE49-F238E27FC236}">
                  <a16:creationId xmlns:a16="http://schemas.microsoft.com/office/drawing/2014/main" id="{8E4CB763-C755-A2B6-F265-F6D39CBDF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90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4614" name="Rectangle 20">
              <a:extLst>
                <a:ext uri="{FF2B5EF4-FFF2-40B4-BE49-F238E27FC236}">
                  <a16:creationId xmlns:a16="http://schemas.microsoft.com/office/drawing/2014/main" id="{CD726B72-A458-6A69-E82A-22CEBB410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615" name="Rectangle 21">
              <a:extLst>
                <a:ext uri="{FF2B5EF4-FFF2-40B4-BE49-F238E27FC236}">
                  <a16:creationId xmlns:a16="http://schemas.microsoft.com/office/drawing/2014/main" id="{613A5CD3-9F70-2E07-AB19-50DBF41F2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616" name="Rectangle 22">
              <a:extLst>
                <a:ext uri="{FF2B5EF4-FFF2-40B4-BE49-F238E27FC236}">
                  <a16:creationId xmlns:a16="http://schemas.microsoft.com/office/drawing/2014/main" id="{290A4AAA-A2FC-7576-1949-4656F80D9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4518" name="Group 23">
            <a:extLst>
              <a:ext uri="{FF2B5EF4-FFF2-40B4-BE49-F238E27FC236}">
                <a16:creationId xmlns:a16="http://schemas.microsoft.com/office/drawing/2014/main" id="{15382B1B-91AE-8FB9-92A7-77E76656A658}"/>
              </a:ext>
            </a:extLst>
          </p:cNvPr>
          <p:cNvGrpSpPr>
            <a:grpSpLocks/>
          </p:cNvGrpSpPr>
          <p:nvPr/>
        </p:nvGrpSpPr>
        <p:grpSpPr bwMode="auto">
          <a:xfrm>
            <a:off x="3994151" y="692150"/>
            <a:ext cx="1262063" cy="1574800"/>
            <a:chOff x="2160" y="1652"/>
            <a:chExt cx="1542" cy="1635"/>
          </a:xfrm>
        </p:grpSpPr>
        <p:sp>
          <p:nvSpPr>
            <p:cNvPr id="64599" name="Text Box 24">
              <a:extLst>
                <a:ext uri="{FF2B5EF4-FFF2-40B4-BE49-F238E27FC236}">
                  <a16:creationId xmlns:a16="http://schemas.microsoft.com/office/drawing/2014/main" id="{FF49D7AB-6548-5171-C0FA-925E08888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600" name="Text Box 25">
              <a:extLst>
                <a:ext uri="{FF2B5EF4-FFF2-40B4-BE49-F238E27FC236}">
                  <a16:creationId xmlns:a16="http://schemas.microsoft.com/office/drawing/2014/main" id="{1E98A675-E3C8-7484-15FE-6FFA93F7D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601" name="Text Box 26">
              <a:extLst>
                <a:ext uri="{FF2B5EF4-FFF2-40B4-BE49-F238E27FC236}">
                  <a16:creationId xmlns:a16="http://schemas.microsoft.com/office/drawing/2014/main" id="{294068C3-D80B-988B-008A-74E24B0E6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602" name="Text Box 27">
              <a:extLst>
                <a:ext uri="{FF2B5EF4-FFF2-40B4-BE49-F238E27FC236}">
                  <a16:creationId xmlns:a16="http://schemas.microsoft.com/office/drawing/2014/main" id="{A829112E-D5A6-510B-F908-854F16F50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603" name="Rectangle 28">
              <a:extLst>
                <a:ext uri="{FF2B5EF4-FFF2-40B4-BE49-F238E27FC236}">
                  <a16:creationId xmlns:a16="http://schemas.microsoft.com/office/drawing/2014/main" id="{D761DAA3-0156-0B63-986B-EF6F881F7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Duration=6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B</a:t>
              </a:r>
            </a:p>
          </p:txBody>
        </p:sp>
        <p:sp>
          <p:nvSpPr>
            <p:cNvPr id="64604" name="Rectangle 29">
              <a:extLst>
                <a:ext uri="{FF2B5EF4-FFF2-40B4-BE49-F238E27FC236}">
                  <a16:creationId xmlns:a16="http://schemas.microsoft.com/office/drawing/2014/main" id="{89201803-BC5E-E410-6C75-03DAE926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605" name="Rectangle 30">
              <a:extLst>
                <a:ext uri="{FF2B5EF4-FFF2-40B4-BE49-F238E27FC236}">
                  <a16:creationId xmlns:a16="http://schemas.microsoft.com/office/drawing/2014/main" id="{B8BCB166-98DC-0D54-5503-225508D12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606" name="Rectangle 31">
              <a:extLst>
                <a:ext uri="{FF2B5EF4-FFF2-40B4-BE49-F238E27FC236}">
                  <a16:creationId xmlns:a16="http://schemas.microsoft.com/office/drawing/2014/main" id="{65660500-DD60-6BBD-E8C2-573A850D5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607" name="Rectangle 32">
              <a:extLst>
                <a:ext uri="{FF2B5EF4-FFF2-40B4-BE49-F238E27FC236}">
                  <a16:creationId xmlns:a16="http://schemas.microsoft.com/office/drawing/2014/main" id="{7260DDF1-F5BA-7DC8-C4C0-4A895A12B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4519" name="Group 33">
            <a:extLst>
              <a:ext uri="{FF2B5EF4-FFF2-40B4-BE49-F238E27FC236}">
                <a16:creationId xmlns:a16="http://schemas.microsoft.com/office/drawing/2014/main" id="{959DCB5A-C2B4-1BC6-3C78-2C3FD007E129}"/>
              </a:ext>
            </a:extLst>
          </p:cNvPr>
          <p:cNvGrpSpPr>
            <a:grpSpLocks/>
          </p:cNvGrpSpPr>
          <p:nvPr/>
        </p:nvGrpSpPr>
        <p:grpSpPr bwMode="auto">
          <a:xfrm>
            <a:off x="5908676" y="692150"/>
            <a:ext cx="1260475" cy="1574800"/>
            <a:chOff x="2160" y="1652"/>
            <a:chExt cx="1542" cy="1635"/>
          </a:xfrm>
        </p:grpSpPr>
        <p:sp>
          <p:nvSpPr>
            <p:cNvPr id="64590" name="Text Box 34">
              <a:extLst>
                <a:ext uri="{FF2B5EF4-FFF2-40B4-BE49-F238E27FC236}">
                  <a16:creationId xmlns:a16="http://schemas.microsoft.com/office/drawing/2014/main" id="{C6503F14-53ED-61E9-727D-C51D59416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591" name="Text Box 35">
              <a:extLst>
                <a:ext uri="{FF2B5EF4-FFF2-40B4-BE49-F238E27FC236}">
                  <a16:creationId xmlns:a16="http://schemas.microsoft.com/office/drawing/2014/main" id="{BAA32071-B758-A1A5-5786-E67C176DD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592" name="Text Box 36">
              <a:extLst>
                <a:ext uri="{FF2B5EF4-FFF2-40B4-BE49-F238E27FC236}">
                  <a16:creationId xmlns:a16="http://schemas.microsoft.com/office/drawing/2014/main" id="{1DD3A752-8DCD-B1CE-42CF-7CEE93B12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593" name="Text Box 37">
              <a:extLst>
                <a:ext uri="{FF2B5EF4-FFF2-40B4-BE49-F238E27FC236}">
                  <a16:creationId xmlns:a16="http://schemas.microsoft.com/office/drawing/2014/main" id="{F4784175-AE9F-CFC2-B09F-3DBA309E6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594" name="Rectangle 38">
              <a:extLst>
                <a:ext uri="{FF2B5EF4-FFF2-40B4-BE49-F238E27FC236}">
                  <a16:creationId xmlns:a16="http://schemas.microsoft.com/office/drawing/2014/main" id="{9494A2F3-46D6-613A-EC1F-9E5E718A8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Duration=7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C</a:t>
              </a:r>
            </a:p>
          </p:txBody>
        </p:sp>
        <p:sp>
          <p:nvSpPr>
            <p:cNvPr id="64595" name="Rectangle 39">
              <a:extLst>
                <a:ext uri="{FF2B5EF4-FFF2-40B4-BE49-F238E27FC236}">
                  <a16:creationId xmlns:a16="http://schemas.microsoft.com/office/drawing/2014/main" id="{E691BA4B-6948-E0E6-AFC5-19B66AB88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96" name="Rectangle 40">
              <a:extLst>
                <a:ext uri="{FF2B5EF4-FFF2-40B4-BE49-F238E27FC236}">
                  <a16:creationId xmlns:a16="http://schemas.microsoft.com/office/drawing/2014/main" id="{7606C49C-CC9D-F118-1305-5AF643BD3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97" name="Rectangle 41">
              <a:extLst>
                <a:ext uri="{FF2B5EF4-FFF2-40B4-BE49-F238E27FC236}">
                  <a16:creationId xmlns:a16="http://schemas.microsoft.com/office/drawing/2014/main" id="{D31EE818-E983-C2D6-F11C-8E3AD87E2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598" name="Rectangle 42">
              <a:extLst>
                <a:ext uri="{FF2B5EF4-FFF2-40B4-BE49-F238E27FC236}">
                  <a16:creationId xmlns:a16="http://schemas.microsoft.com/office/drawing/2014/main" id="{0DEB2B1C-2D27-BE1F-5541-E2EDC5A71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4520" name="Group 43">
            <a:extLst>
              <a:ext uri="{FF2B5EF4-FFF2-40B4-BE49-F238E27FC236}">
                <a16:creationId xmlns:a16="http://schemas.microsoft.com/office/drawing/2014/main" id="{5E1B36FC-B73E-1800-07FC-2BCD9370FC38}"/>
              </a:ext>
            </a:extLst>
          </p:cNvPr>
          <p:cNvGrpSpPr>
            <a:grpSpLocks/>
          </p:cNvGrpSpPr>
          <p:nvPr/>
        </p:nvGrpSpPr>
        <p:grpSpPr bwMode="auto">
          <a:xfrm>
            <a:off x="7675564" y="692150"/>
            <a:ext cx="1260475" cy="1574800"/>
            <a:chOff x="2160" y="1652"/>
            <a:chExt cx="1542" cy="1635"/>
          </a:xfrm>
        </p:grpSpPr>
        <p:sp>
          <p:nvSpPr>
            <p:cNvPr id="64581" name="Text Box 44">
              <a:extLst>
                <a:ext uri="{FF2B5EF4-FFF2-40B4-BE49-F238E27FC236}">
                  <a16:creationId xmlns:a16="http://schemas.microsoft.com/office/drawing/2014/main" id="{DD11048A-97B3-71AE-4219-4C2EBC40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582" name="Text Box 45">
              <a:extLst>
                <a:ext uri="{FF2B5EF4-FFF2-40B4-BE49-F238E27FC236}">
                  <a16:creationId xmlns:a16="http://schemas.microsoft.com/office/drawing/2014/main" id="{BDF50516-3CD7-3C36-785B-76F39CB93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583" name="Text Box 46">
              <a:extLst>
                <a:ext uri="{FF2B5EF4-FFF2-40B4-BE49-F238E27FC236}">
                  <a16:creationId xmlns:a16="http://schemas.microsoft.com/office/drawing/2014/main" id="{75DA4B2E-BEC3-0B0E-2162-4D487D302E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584" name="Text Box 47">
              <a:extLst>
                <a:ext uri="{FF2B5EF4-FFF2-40B4-BE49-F238E27FC236}">
                  <a16:creationId xmlns:a16="http://schemas.microsoft.com/office/drawing/2014/main" id="{CCE52BA2-5F3E-A3BF-4FAC-84F9BA06C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585" name="Rectangle 48">
              <a:extLst>
                <a:ext uri="{FF2B5EF4-FFF2-40B4-BE49-F238E27FC236}">
                  <a16:creationId xmlns:a16="http://schemas.microsoft.com/office/drawing/2014/main" id="{4B0BE936-95E9-AD1A-2BB8-F3289AAD8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Duration=5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200">
                  <a:solidFill>
                    <a:srgbClr val="000000"/>
                  </a:solidFill>
                </a:rPr>
                <a:t>Task D</a:t>
              </a:r>
            </a:p>
          </p:txBody>
        </p:sp>
        <p:sp>
          <p:nvSpPr>
            <p:cNvPr id="64586" name="Rectangle 49">
              <a:extLst>
                <a:ext uri="{FF2B5EF4-FFF2-40B4-BE49-F238E27FC236}">
                  <a16:creationId xmlns:a16="http://schemas.microsoft.com/office/drawing/2014/main" id="{30842FA2-B015-245D-354F-C9D662639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87" name="Rectangle 50">
              <a:extLst>
                <a:ext uri="{FF2B5EF4-FFF2-40B4-BE49-F238E27FC236}">
                  <a16:creationId xmlns:a16="http://schemas.microsoft.com/office/drawing/2014/main" id="{945450DA-3E3B-1B01-D066-E31C74BB5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88" name="Rectangle 51">
              <a:extLst>
                <a:ext uri="{FF2B5EF4-FFF2-40B4-BE49-F238E27FC236}">
                  <a16:creationId xmlns:a16="http://schemas.microsoft.com/office/drawing/2014/main" id="{622FB4D3-2342-1D81-3707-6034E556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589" name="Rectangle 52">
              <a:extLst>
                <a:ext uri="{FF2B5EF4-FFF2-40B4-BE49-F238E27FC236}">
                  <a16:creationId xmlns:a16="http://schemas.microsoft.com/office/drawing/2014/main" id="{02AD35B6-1341-070F-5B62-C42A1D0B6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4521" name="Group 53">
            <a:extLst>
              <a:ext uri="{FF2B5EF4-FFF2-40B4-BE49-F238E27FC236}">
                <a16:creationId xmlns:a16="http://schemas.microsoft.com/office/drawing/2014/main" id="{53DF2F73-AEEA-9302-0C26-0C4E525BAEBC}"/>
              </a:ext>
            </a:extLst>
          </p:cNvPr>
          <p:cNvGrpSpPr>
            <a:grpSpLocks/>
          </p:cNvGrpSpPr>
          <p:nvPr/>
        </p:nvGrpSpPr>
        <p:grpSpPr bwMode="auto">
          <a:xfrm>
            <a:off x="4141789" y="3544888"/>
            <a:ext cx="1260475" cy="1574800"/>
            <a:chOff x="2160" y="1652"/>
            <a:chExt cx="1542" cy="1635"/>
          </a:xfrm>
        </p:grpSpPr>
        <p:sp>
          <p:nvSpPr>
            <p:cNvPr id="64572" name="Text Box 54">
              <a:extLst>
                <a:ext uri="{FF2B5EF4-FFF2-40B4-BE49-F238E27FC236}">
                  <a16:creationId xmlns:a16="http://schemas.microsoft.com/office/drawing/2014/main" id="{8DD38CE8-AD37-5191-3131-45F0FDAB1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573" name="Text Box 55">
              <a:extLst>
                <a:ext uri="{FF2B5EF4-FFF2-40B4-BE49-F238E27FC236}">
                  <a16:creationId xmlns:a16="http://schemas.microsoft.com/office/drawing/2014/main" id="{58B27C2F-5B2C-432E-8328-5DE089917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574" name="Text Box 56">
              <a:extLst>
                <a:ext uri="{FF2B5EF4-FFF2-40B4-BE49-F238E27FC236}">
                  <a16:creationId xmlns:a16="http://schemas.microsoft.com/office/drawing/2014/main" id="{40B33058-1C42-B108-BC3D-53C070AA2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575" name="Text Box 57">
              <a:extLst>
                <a:ext uri="{FF2B5EF4-FFF2-40B4-BE49-F238E27FC236}">
                  <a16:creationId xmlns:a16="http://schemas.microsoft.com/office/drawing/2014/main" id="{27FC23DA-FFE1-D377-4874-97C48CD10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576" name="Rectangle 58">
              <a:extLst>
                <a:ext uri="{FF2B5EF4-FFF2-40B4-BE49-F238E27FC236}">
                  <a16:creationId xmlns:a16="http://schemas.microsoft.com/office/drawing/2014/main" id="{A9330955-B417-9770-6872-0537067E3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Duration=8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Task E</a:t>
              </a:r>
            </a:p>
          </p:txBody>
        </p:sp>
        <p:sp>
          <p:nvSpPr>
            <p:cNvPr id="64577" name="Rectangle 59">
              <a:extLst>
                <a:ext uri="{FF2B5EF4-FFF2-40B4-BE49-F238E27FC236}">
                  <a16:creationId xmlns:a16="http://schemas.microsoft.com/office/drawing/2014/main" id="{9FDBF00B-0C10-F33F-AFF9-14CD526D1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78" name="Rectangle 60">
              <a:extLst>
                <a:ext uri="{FF2B5EF4-FFF2-40B4-BE49-F238E27FC236}">
                  <a16:creationId xmlns:a16="http://schemas.microsoft.com/office/drawing/2014/main" id="{AACD887A-EB61-4441-D081-96AC74B3D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79" name="Rectangle 61">
              <a:extLst>
                <a:ext uri="{FF2B5EF4-FFF2-40B4-BE49-F238E27FC236}">
                  <a16:creationId xmlns:a16="http://schemas.microsoft.com/office/drawing/2014/main" id="{1476CE7E-3516-9700-E10B-F498C35AC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580" name="Rectangle 62">
              <a:extLst>
                <a:ext uri="{FF2B5EF4-FFF2-40B4-BE49-F238E27FC236}">
                  <a16:creationId xmlns:a16="http://schemas.microsoft.com/office/drawing/2014/main" id="{C161CD8C-81A0-E9CC-0BF5-8C8AFD3CC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4522" name="Group 63">
            <a:extLst>
              <a:ext uri="{FF2B5EF4-FFF2-40B4-BE49-F238E27FC236}">
                <a16:creationId xmlns:a16="http://schemas.microsoft.com/office/drawing/2014/main" id="{7D804939-6B8A-F5FE-525D-D880F3D6C50C}"/>
              </a:ext>
            </a:extLst>
          </p:cNvPr>
          <p:cNvGrpSpPr>
            <a:grpSpLocks/>
          </p:cNvGrpSpPr>
          <p:nvPr/>
        </p:nvGrpSpPr>
        <p:grpSpPr bwMode="auto">
          <a:xfrm>
            <a:off x="6938964" y="3544888"/>
            <a:ext cx="1260475" cy="1574800"/>
            <a:chOff x="2160" y="1652"/>
            <a:chExt cx="1542" cy="1635"/>
          </a:xfrm>
        </p:grpSpPr>
        <p:sp>
          <p:nvSpPr>
            <p:cNvPr id="64563" name="Text Box 64">
              <a:extLst>
                <a:ext uri="{FF2B5EF4-FFF2-40B4-BE49-F238E27FC236}">
                  <a16:creationId xmlns:a16="http://schemas.microsoft.com/office/drawing/2014/main" id="{8DA04E1A-B5DD-40C7-E863-EFFF423CE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295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LF</a:t>
              </a:r>
            </a:p>
          </p:txBody>
        </p:sp>
        <p:sp>
          <p:nvSpPr>
            <p:cNvPr id="64564" name="Text Box 65">
              <a:extLst>
                <a:ext uri="{FF2B5EF4-FFF2-40B4-BE49-F238E27FC236}">
                  <a16:creationId xmlns:a16="http://schemas.microsoft.com/office/drawing/2014/main" id="{29FDD22C-4045-D1B1-D0EC-98C31E6BD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97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LS</a:t>
              </a:r>
            </a:p>
          </p:txBody>
        </p:sp>
        <p:sp>
          <p:nvSpPr>
            <p:cNvPr id="64565" name="Text Box 66">
              <a:extLst>
                <a:ext uri="{FF2B5EF4-FFF2-40B4-BE49-F238E27FC236}">
                  <a16:creationId xmlns:a16="http://schemas.microsoft.com/office/drawing/2014/main" id="{FF6464FB-FC92-21B1-403A-2165EFB49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667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EF</a:t>
              </a:r>
            </a:p>
          </p:txBody>
        </p:sp>
        <p:sp>
          <p:nvSpPr>
            <p:cNvPr id="64566" name="Text Box 67">
              <a:extLst>
                <a:ext uri="{FF2B5EF4-FFF2-40B4-BE49-F238E27FC236}">
                  <a16:creationId xmlns:a16="http://schemas.microsoft.com/office/drawing/2014/main" id="{81AC61EE-C8B3-B3EF-51C5-3509800DE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52"/>
              <a:ext cx="480" cy="3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700">
                  <a:solidFill>
                    <a:srgbClr val="000000"/>
                  </a:solidFill>
                </a:rPr>
                <a:t>ES</a:t>
              </a:r>
            </a:p>
          </p:txBody>
        </p:sp>
        <p:sp>
          <p:nvSpPr>
            <p:cNvPr id="64567" name="Rectangle 68">
              <a:extLst>
                <a:ext uri="{FF2B5EF4-FFF2-40B4-BE49-F238E27FC236}">
                  <a16:creationId xmlns:a16="http://schemas.microsoft.com/office/drawing/2014/main" id="{191DCBD5-1543-FC6F-6B3B-93A989546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52"/>
              <a:ext cx="1530" cy="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Duration=8</a:t>
              </a:r>
            </a:p>
            <a:p>
              <a:pPr algn="ctr" eaLnBrk="0" fontAlgn="base" hangingPunct="0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zh-CN" sz="1400">
                  <a:solidFill>
                    <a:srgbClr val="000000"/>
                  </a:solidFill>
                </a:rPr>
                <a:t>Task F</a:t>
              </a:r>
            </a:p>
          </p:txBody>
        </p:sp>
        <p:sp>
          <p:nvSpPr>
            <p:cNvPr id="64568" name="Rectangle 69">
              <a:extLst>
                <a:ext uri="{FF2B5EF4-FFF2-40B4-BE49-F238E27FC236}">
                  <a16:creationId xmlns:a16="http://schemas.microsoft.com/office/drawing/2014/main" id="{923E3297-0EBF-9DA3-B034-5EF60257B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69" name="Rectangle 70">
              <a:extLst>
                <a:ext uri="{FF2B5EF4-FFF2-40B4-BE49-F238E27FC236}">
                  <a16:creationId xmlns:a16="http://schemas.microsoft.com/office/drawing/2014/main" id="{19280E7C-FCA1-A32E-0822-564F2EBC9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96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lnSpc>
                  <a:spcPct val="72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0" lang="zh-CN" altLang="en-US" sz="900">
                <a:solidFill>
                  <a:srgbClr val="000000"/>
                </a:solidFill>
              </a:endParaRPr>
            </a:p>
          </p:txBody>
        </p:sp>
        <p:sp>
          <p:nvSpPr>
            <p:cNvPr id="64570" name="Rectangle 71">
              <a:extLst>
                <a:ext uri="{FF2B5EF4-FFF2-40B4-BE49-F238E27FC236}">
                  <a16:creationId xmlns:a16="http://schemas.microsoft.com/office/drawing/2014/main" id="{ABAA1C56-DD6A-F81E-0A29-677E3FC37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4" y="2702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4571" name="Rectangle 72">
              <a:extLst>
                <a:ext uri="{FF2B5EF4-FFF2-40B4-BE49-F238E27FC236}">
                  <a16:creationId xmlns:a16="http://schemas.microsoft.com/office/drawing/2014/main" id="{BF9FE72F-2A1F-C96B-9F1F-B117120F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711"/>
              <a:ext cx="554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64523" name="Line 73">
            <a:extLst>
              <a:ext uri="{FF2B5EF4-FFF2-40B4-BE49-F238E27FC236}">
                <a16:creationId xmlns:a16="http://schemas.microsoft.com/office/drawing/2014/main" id="{2AD45F5F-D79E-4AF9-88A3-6831B2BACA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3864" y="1292225"/>
            <a:ext cx="1030287" cy="1201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24" name="Line 74">
            <a:extLst>
              <a:ext uri="{FF2B5EF4-FFF2-40B4-BE49-F238E27FC236}">
                <a16:creationId xmlns:a16="http://schemas.microsoft.com/office/drawing/2014/main" id="{1FD1A89E-160F-D6B5-C2F3-17C049407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2075" y="1292225"/>
            <a:ext cx="73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25" name="Line 75">
            <a:extLst>
              <a:ext uri="{FF2B5EF4-FFF2-40B4-BE49-F238E27FC236}">
                <a16:creationId xmlns:a16="http://schemas.microsoft.com/office/drawing/2014/main" id="{43D7C7C9-BC55-426B-9DBE-A9239DBCC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1" y="1292225"/>
            <a:ext cx="5889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26" name="Line 76">
            <a:extLst>
              <a:ext uri="{FF2B5EF4-FFF2-40B4-BE49-F238E27FC236}">
                <a16:creationId xmlns:a16="http://schemas.microsoft.com/office/drawing/2014/main" id="{FF5107BE-9DE9-A43D-5915-F661EEAB2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1900" y="1292225"/>
            <a:ext cx="884238" cy="901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27" name="Line 77">
            <a:extLst>
              <a:ext uri="{FF2B5EF4-FFF2-40B4-BE49-F238E27FC236}">
                <a16:creationId xmlns:a16="http://schemas.microsoft.com/office/drawing/2014/main" id="{F6B51F0D-D4BC-7E8C-925B-D32B7816A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3864" y="2944813"/>
            <a:ext cx="1177925" cy="13509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28" name="Line 78">
            <a:extLst>
              <a:ext uri="{FF2B5EF4-FFF2-40B4-BE49-F238E27FC236}">
                <a16:creationId xmlns:a16="http://schemas.microsoft.com/office/drawing/2014/main" id="{2C157533-1205-99DA-CCA2-113751705B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4439" y="1743075"/>
            <a:ext cx="884237" cy="2103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29" name="Line 79">
            <a:extLst>
              <a:ext uri="{FF2B5EF4-FFF2-40B4-BE49-F238E27FC236}">
                <a16:creationId xmlns:a16="http://schemas.microsoft.com/office/drawing/2014/main" id="{B245D433-4497-E967-027F-CCDB123A0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9713" y="4295775"/>
            <a:ext cx="1619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0" name="Line 80">
            <a:extLst>
              <a:ext uri="{FF2B5EF4-FFF2-40B4-BE49-F238E27FC236}">
                <a16:creationId xmlns:a16="http://schemas.microsoft.com/office/drawing/2014/main" id="{2F37CD25-A19A-5903-4203-94CFE166F1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62938" y="3244851"/>
            <a:ext cx="1473200" cy="1050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531" name="Text Box 81">
            <a:extLst>
              <a:ext uri="{FF2B5EF4-FFF2-40B4-BE49-F238E27FC236}">
                <a16:creationId xmlns:a16="http://schemas.microsoft.com/office/drawing/2014/main" id="{0447044A-5751-2126-6F7F-E111C50FD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8" y="221615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64532" name="Text Box 82">
            <a:extLst>
              <a:ext uri="{FF2B5EF4-FFF2-40B4-BE49-F238E27FC236}">
                <a16:creationId xmlns:a16="http://schemas.microsoft.com/office/drawing/2014/main" id="{2B43649B-9001-199B-4EA7-08E2813D4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99695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64533" name="Text Box 83">
            <a:extLst>
              <a:ext uri="{FF2B5EF4-FFF2-40B4-BE49-F238E27FC236}">
                <a16:creationId xmlns:a16="http://schemas.microsoft.com/office/drawing/2014/main" id="{947D853B-C9CF-BD18-22DB-469098BB3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7588" y="996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10</a:t>
            </a:r>
          </a:p>
        </p:txBody>
      </p:sp>
      <p:sp>
        <p:nvSpPr>
          <p:cNvPr id="64534" name="Text Box 84">
            <a:extLst>
              <a:ext uri="{FF2B5EF4-FFF2-40B4-BE49-F238E27FC236}">
                <a16:creationId xmlns:a16="http://schemas.microsoft.com/office/drawing/2014/main" id="{60BF751C-CB98-FF70-E996-D6DC67026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988" y="381635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64535" name="Text Box 85">
            <a:extLst>
              <a:ext uri="{FF2B5EF4-FFF2-40B4-BE49-F238E27FC236}">
                <a16:creationId xmlns:a16="http://schemas.microsoft.com/office/drawing/2014/main" id="{7A80C9B3-F125-9D18-8599-9B9BEF155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3816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12</a:t>
            </a:r>
          </a:p>
        </p:txBody>
      </p:sp>
      <p:sp>
        <p:nvSpPr>
          <p:cNvPr id="64536" name="Text Box 86">
            <a:extLst>
              <a:ext uri="{FF2B5EF4-FFF2-40B4-BE49-F238E27FC236}">
                <a16:creationId xmlns:a16="http://schemas.microsoft.com/office/drawing/2014/main" id="{9A57A3AF-93F1-CD5A-7E90-CD74FFF56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588" y="996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FF0000"/>
                </a:solidFill>
                <a:latin typeface="Arial Narrow" panose="020B0606020202030204" pitchFamily="34" charset="0"/>
              </a:rPr>
              <a:t>12</a:t>
            </a:r>
          </a:p>
        </p:txBody>
      </p:sp>
      <p:sp>
        <p:nvSpPr>
          <p:cNvPr id="64537" name="Text Box 87">
            <a:extLst>
              <a:ext uri="{FF2B5EF4-FFF2-40B4-BE49-F238E27FC236}">
                <a16:creationId xmlns:a16="http://schemas.microsoft.com/office/drawing/2014/main" id="{A8545437-83FD-1A90-11B9-DB582E89B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996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19</a:t>
            </a:r>
          </a:p>
        </p:txBody>
      </p:sp>
      <p:sp>
        <p:nvSpPr>
          <p:cNvPr id="64538" name="Text Box 88">
            <a:extLst>
              <a:ext uri="{FF2B5EF4-FFF2-40B4-BE49-F238E27FC236}">
                <a16:creationId xmlns:a16="http://schemas.microsoft.com/office/drawing/2014/main" id="{C7E04971-E03E-8CF6-44A5-799C4516C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996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19</a:t>
            </a:r>
          </a:p>
        </p:txBody>
      </p:sp>
      <p:sp>
        <p:nvSpPr>
          <p:cNvPr id="64539" name="Text Box 89">
            <a:extLst>
              <a:ext uri="{FF2B5EF4-FFF2-40B4-BE49-F238E27FC236}">
                <a16:creationId xmlns:a16="http://schemas.microsoft.com/office/drawing/2014/main" id="{A48D8340-DE8B-0349-4BDC-7418BC546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5188" y="996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64540" name="Text Box 90">
            <a:extLst>
              <a:ext uri="{FF2B5EF4-FFF2-40B4-BE49-F238E27FC236}">
                <a16:creationId xmlns:a16="http://schemas.microsoft.com/office/drawing/2014/main" id="{A66127C3-1D10-A9A5-811B-AE62FB5B9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188" y="3816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12</a:t>
            </a:r>
          </a:p>
        </p:txBody>
      </p:sp>
      <p:sp>
        <p:nvSpPr>
          <p:cNvPr id="64541" name="Text Box 91">
            <a:extLst>
              <a:ext uri="{FF2B5EF4-FFF2-40B4-BE49-F238E27FC236}">
                <a16:creationId xmlns:a16="http://schemas.microsoft.com/office/drawing/2014/main" id="{C4A8179D-18B8-F0A4-7E73-D8EEB1B95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3816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20</a:t>
            </a:r>
          </a:p>
        </p:txBody>
      </p:sp>
      <p:sp>
        <p:nvSpPr>
          <p:cNvPr id="64542" name="Text Box 92">
            <a:extLst>
              <a:ext uri="{FF2B5EF4-FFF2-40B4-BE49-F238E27FC236}">
                <a16:creationId xmlns:a16="http://schemas.microsoft.com/office/drawing/2014/main" id="{B8D4F9C8-CD83-1A42-4D36-52AA19EE6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9588" y="22161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FF0000"/>
                </a:solidFill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64543" name="Text Box 93">
            <a:extLst>
              <a:ext uri="{FF2B5EF4-FFF2-40B4-BE49-F238E27FC236}">
                <a16:creationId xmlns:a16="http://schemas.microsoft.com/office/drawing/2014/main" id="{96960F4B-A72D-9D5A-1E6E-83D5AD164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7788" y="22161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27</a:t>
            </a:r>
          </a:p>
        </p:txBody>
      </p:sp>
      <p:sp>
        <p:nvSpPr>
          <p:cNvPr id="64544" name="Text Box 94">
            <a:extLst>
              <a:ext uri="{FF2B5EF4-FFF2-40B4-BE49-F238E27FC236}">
                <a16:creationId xmlns:a16="http://schemas.microsoft.com/office/drawing/2014/main" id="{D1C73C2F-C796-5FEC-0BA9-C9901EDF2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7788" y="2901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27</a:t>
            </a:r>
          </a:p>
        </p:txBody>
      </p:sp>
      <p:sp>
        <p:nvSpPr>
          <p:cNvPr id="64545" name="Text Box 95">
            <a:extLst>
              <a:ext uri="{FF2B5EF4-FFF2-40B4-BE49-F238E27FC236}">
                <a16:creationId xmlns:a16="http://schemas.microsoft.com/office/drawing/2014/main" id="{E7E42102-001C-AF4A-E9AE-2F2282C2C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9588" y="29019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64546" name="Text Box 96">
            <a:extLst>
              <a:ext uri="{FF2B5EF4-FFF2-40B4-BE49-F238E27FC236}">
                <a16:creationId xmlns:a16="http://schemas.microsoft.com/office/drawing/2014/main" id="{906190DD-5F05-E2ED-BCE3-027F6211F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1388" y="16827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64547" name="Text Box 97">
            <a:extLst>
              <a:ext uri="{FF2B5EF4-FFF2-40B4-BE49-F238E27FC236}">
                <a16:creationId xmlns:a16="http://schemas.microsoft.com/office/drawing/2014/main" id="{EB58B8C9-7EAC-4A80-D2F0-78FB4745A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4578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64548" name="Text Box 98">
            <a:extLst>
              <a:ext uri="{FF2B5EF4-FFF2-40B4-BE49-F238E27FC236}">
                <a16:creationId xmlns:a16="http://schemas.microsoft.com/office/drawing/2014/main" id="{5D6AB357-8283-F8E5-9BCA-B31A59660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188" y="4578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16</a:t>
            </a:r>
          </a:p>
        </p:txBody>
      </p:sp>
      <p:sp>
        <p:nvSpPr>
          <p:cNvPr id="64549" name="Text Box 99">
            <a:extLst>
              <a:ext uri="{FF2B5EF4-FFF2-40B4-BE49-F238E27FC236}">
                <a16:creationId xmlns:a16="http://schemas.microsoft.com/office/drawing/2014/main" id="{B4A881A4-FF3B-1C0A-4F71-E02E00C5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188" y="16827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19</a:t>
            </a:r>
          </a:p>
        </p:txBody>
      </p:sp>
      <p:sp>
        <p:nvSpPr>
          <p:cNvPr id="64550" name="Text Box 100">
            <a:extLst>
              <a:ext uri="{FF2B5EF4-FFF2-40B4-BE49-F238E27FC236}">
                <a16:creationId xmlns:a16="http://schemas.microsoft.com/office/drawing/2014/main" id="{A2A31F9A-08D8-0658-3B6E-3CD751A5B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6827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19</a:t>
            </a:r>
          </a:p>
        </p:txBody>
      </p:sp>
      <p:sp>
        <p:nvSpPr>
          <p:cNvPr id="64551" name="Text Box 101">
            <a:extLst>
              <a:ext uri="{FF2B5EF4-FFF2-40B4-BE49-F238E27FC236}">
                <a16:creationId xmlns:a16="http://schemas.microsoft.com/office/drawing/2014/main" id="{922DDD22-F90A-2724-ECD4-7795FF188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16827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12</a:t>
            </a:r>
          </a:p>
        </p:txBody>
      </p:sp>
      <p:sp>
        <p:nvSpPr>
          <p:cNvPr id="64552" name="Text Box 102">
            <a:extLst>
              <a:ext uri="{FF2B5EF4-FFF2-40B4-BE49-F238E27FC236}">
                <a16:creationId xmlns:a16="http://schemas.microsoft.com/office/drawing/2014/main" id="{1E2FE74E-D976-B429-3943-C0A240A8E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7588" y="16827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12</a:t>
            </a:r>
          </a:p>
        </p:txBody>
      </p:sp>
      <p:sp>
        <p:nvSpPr>
          <p:cNvPr id="64553" name="Text Box 103">
            <a:extLst>
              <a:ext uri="{FF2B5EF4-FFF2-40B4-BE49-F238E27FC236}">
                <a16:creationId xmlns:a16="http://schemas.microsoft.com/office/drawing/2014/main" id="{1BF937F0-9AE1-2E8E-D5EE-78320297A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588" y="16827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64554" name="Text Box 104">
            <a:extLst>
              <a:ext uri="{FF2B5EF4-FFF2-40B4-BE49-F238E27FC236}">
                <a16:creationId xmlns:a16="http://schemas.microsoft.com/office/drawing/2014/main" id="{C1E4B2ED-53B3-46A1-D487-8162A6954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4578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FF0000"/>
                </a:solidFill>
                <a:latin typeface="Arial Narrow" panose="020B0606020202030204" pitchFamily="34" charset="0"/>
              </a:rPr>
              <a:t>12</a:t>
            </a:r>
          </a:p>
        </p:txBody>
      </p:sp>
      <p:sp>
        <p:nvSpPr>
          <p:cNvPr id="64555" name="Text Box 105">
            <a:extLst>
              <a:ext uri="{FF2B5EF4-FFF2-40B4-BE49-F238E27FC236}">
                <a16:creationId xmlns:a16="http://schemas.microsoft.com/office/drawing/2014/main" id="{1F58F6BF-E96C-31D7-68F2-9C3FE2272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988" y="45783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64556" name="Text Box 106">
            <a:extLst>
              <a:ext uri="{FF2B5EF4-FFF2-40B4-BE49-F238E27FC236}">
                <a16:creationId xmlns:a16="http://schemas.microsoft.com/office/drawing/2014/main" id="{623752DF-DBC6-478B-7DF0-5D365B43B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8" y="29781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64557" name="Text Box 107">
            <a:extLst>
              <a:ext uri="{FF2B5EF4-FFF2-40B4-BE49-F238E27FC236}">
                <a16:creationId xmlns:a16="http://schemas.microsoft.com/office/drawing/2014/main" id="{08F36C20-395D-685F-9EDE-E1D44C86C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588" y="297815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000000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4558" name="Text Box 108">
            <a:extLst>
              <a:ext uri="{FF2B5EF4-FFF2-40B4-BE49-F238E27FC236}">
                <a16:creationId xmlns:a16="http://schemas.microsoft.com/office/drawing/2014/main" id="{F4926971-19FA-7648-8F9D-BF073416E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5373688"/>
            <a:ext cx="3092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FF66FF"/>
                </a:solidFill>
                <a:latin typeface="Arial Narrow" panose="020B0606020202030204" pitchFamily="34" charset="0"/>
              </a:rPr>
              <a:t>CP:A-&gt;E-&gt;C-&gt;D-&gt;G</a:t>
            </a:r>
          </a:p>
        </p:txBody>
      </p:sp>
      <p:sp>
        <p:nvSpPr>
          <p:cNvPr id="64559" name="Text Box 109">
            <a:extLst>
              <a:ext uri="{FF2B5EF4-FFF2-40B4-BE49-F238E27FC236}">
                <a16:creationId xmlns:a16="http://schemas.microsoft.com/office/drawing/2014/main" id="{67EAD902-7548-AD22-E344-22C941CA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5373688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FF66FF"/>
                </a:solidFill>
                <a:latin typeface="Arial Narrow" panose="020B0606020202030204" pitchFamily="34" charset="0"/>
              </a:rPr>
              <a:t>CP Path:27</a:t>
            </a:r>
          </a:p>
        </p:txBody>
      </p:sp>
      <p:sp>
        <p:nvSpPr>
          <p:cNvPr id="64560" name="Text Box 110">
            <a:extLst>
              <a:ext uri="{FF2B5EF4-FFF2-40B4-BE49-F238E27FC236}">
                <a16:creationId xmlns:a16="http://schemas.microsoft.com/office/drawing/2014/main" id="{5CEA12DD-24E1-65AB-47C7-6751B0BAF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1" y="5589589"/>
            <a:ext cx="3744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66FF"/>
                </a:solidFill>
                <a:latin typeface="Arial Narrow" panose="020B0606020202030204" pitchFamily="34" charset="0"/>
              </a:rPr>
              <a:t>自由浮动</a:t>
            </a:r>
            <a:r>
              <a:rPr lang="en-US" altLang="zh-CN" sz="2000" b="1">
                <a:solidFill>
                  <a:srgbClr val="FF66FF"/>
                </a:solidFill>
                <a:latin typeface="Arial Narrow" panose="020B0606020202030204" pitchFamily="34" charset="0"/>
              </a:rPr>
              <a:t>FF(F) = ES(G) - EF(F) = 4</a:t>
            </a:r>
          </a:p>
        </p:txBody>
      </p:sp>
      <p:sp>
        <p:nvSpPr>
          <p:cNvPr id="64561" name="Text Box 111">
            <a:extLst>
              <a:ext uri="{FF2B5EF4-FFF2-40B4-BE49-F238E27FC236}">
                <a16:creationId xmlns:a16="http://schemas.microsoft.com/office/drawing/2014/main" id="{83E17324-BE20-DD5F-12A5-EFB97AFE6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600" y="5084764"/>
            <a:ext cx="2952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66FF"/>
                </a:solidFill>
                <a:latin typeface="Arial Narrow" panose="020B0606020202030204" pitchFamily="34" charset="0"/>
              </a:rPr>
              <a:t>总浮动</a:t>
            </a:r>
            <a:r>
              <a:rPr lang="en-US" altLang="zh-CN" sz="2000" b="1">
                <a:solidFill>
                  <a:srgbClr val="FF66FF"/>
                </a:solidFill>
                <a:latin typeface="Arial Narrow" panose="020B0606020202030204" pitchFamily="34" charset="0"/>
              </a:rPr>
              <a:t>TF(F) = LS – ES = 4</a:t>
            </a:r>
          </a:p>
        </p:txBody>
      </p:sp>
      <p:sp>
        <p:nvSpPr>
          <p:cNvPr id="64562" name="Text Box 112">
            <a:extLst>
              <a:ext uri="{FF2B5EF4-FFF2-40B4-BE49-F238E27FC236}">
                <a16:creationId xmlns:a16="http://schemas.microsoft.com/office/drawing/2014/main" id="{F2CD64C0-68A6-5A6D-C6D9-F957D61F0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508501"/>
            <a:ext cx="16557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66FF"/>
                </a:solidFill>
                <a:latin typeface="Arial Narrow" panose="020B0606020202030204" pitchFamily="34" charset="0"/>
              </a:rPr>
              <a:t>浮动为</a:t>
            </a:r>
            <a:r>
              <a:rPr lang="en-US" altLang="zh-CN" sz="2000" b="1">
                <a:solidFill>
                  <a:srgbClr val="FF66FF"/>
                </a:solidFill>
                <a:latin typeface="Arial Narrow" panose="020B0606020202030204" pitchFamily="34" charset="0"/>
              </a:rPr>
              <a:t>0</a:t>
            </a:r>
            <a:r>
              <a:rPr lang="zh-CN" altLang="en-US" sz="2000" b="1">
                <a:solidFill>
                  <a:srgbClr val="FF66FF"/>
                </a:solidFill>
                <a:latin typeface="Arial Narrow" panose="020B0606020202030204" pitchFamily="34" charset="0"/>
              </a:rPr>
              <a:t>的是关键路径</a:t>
            </a: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6">
            <a:extLst>
              <a:ext uri="{FF2B5EF4-FFF2-40B4-BE49-F238E27FC236}">
                <a16:creationId xmlns:a16="http://schemas.microsoft.com/office/drawing/2014/main" id="{FDCB0CBA-783D-27D4-3D66-6B9A7102D1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8F5DC18-F6CD-4CA7-BFE4-BF41F33C86C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1FA9404-71BA-B6C1-E2EC-12DAAA842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习题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3716405-72CA-F6FF-399B-49F2CFE91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1.</a:t>
            </a:r>
            <a:r>
              <a:rPr lang="zh-CN" altLang="en-US" sz="2000"/>
              <a:t>软件计划是软件开发的早期和重要阶段，此阶段要求交互和配合的是</a:t>
            </a:r>
            <a:r>
              <a:rPr lang="en-US" altLang="zh-CN" sz="2000"/>
              <a:t>_____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A. </a:t>
            </a:r>
            <a:r>
              <a:rPr lang="zh-CN" altLang="en-US" sz="2000"/>
              <a:t>设计人员和用户           	</a:t>
            </a:r>
            <a:r>
              <a:rPr lang="en-US" altLang="zh-CN" sz="2000">
                <a:solidFill>
                  <a:srgbClr val="FF0066"/>
                </a:solidFill>
              </a:rPr>
              <a:t>B.</a:t>
            </a:r>
            <a:r>
              <a:rPr lang="zh-CN" altLang="en-US" sz="2000">
                <a:solidFill>
                  <a:srgbClr val="FF0066"/>
                </a:solidFill>
              </a:rPr>
              <a:t>分析人员和用户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C. </a:t>
            </a:r>
            <a:r>
              <a:rPr lang="zh-CN" altLang="en-US" sz="2000"/>
              <a:t>分析人员和设计人员   	</a:t>
            </a:r>
            <a:r>
              <a:rPr lang="en-US" altLang="zh-CN" sz="2000"/>
              <a:t>D. </a:t>
            </a:r>
            <a:r>
              <a:rPr lang="zh-CN" altLang="en-US" sz="2000"/>
              <a:t>编码人员和用户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2. </a:t>
            </a:r>
            <a:r>
              <a:rPr lang="zh-CN" altLang="en-US" sz="2000"/>
              <a:t>在软件工程项目中，不随参与人数的增加而使生产率成比例增加的主要原因是</a:t>
            </a:r>
            <a:r>
              <a:rPr lang="en-US" altLang="zh-CN" sz="2000"/>
              <a:t>____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A.</a:t>
            </a:r>
            <a:r>
              <a:rPr lang="zh-CN" altLang="en-US" sz="2000"/>
              <a:t>工作阶段的等待时间   	</a:t>
            </a:r>
            <a:r>
              <a:rPr lang="en-US" altLang="zh-CN" sz="2000"/>
              <a:t>B.</a:t>
            </a:r>
            <a:r>
              <a:rPr lang="zh-CN" altLang="en-US" sz="2000"/>
              <a:t>产生原型的复杂性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C.</a:t>
            </a:r>
            <a:r>
              <a:rPr lang="zh-CN" altLang="en-US" sz="2000"/>
              <a:t>参与人员所需电脑数   	</a:t>
            </a:r>
            <a:r>
              <a:rPr lang="en-US" altLang="zh-CN" sz="2000">
                <a:solidFill>
                  <a:srgbClr val="FF0066"/>
                </a:solidFill>
              </a:rPr>
              <a:t>D.</a:t>
            </a:r>
            <a:r>
              <a:rPr lang="zh-CN" altLang="en-US" sz="2000">
                <a:solidFill>
                  <a:srgbClr val="FF0066"/>
                </a:solidFill>
              </a:rPr>
              <a:t>参与人员之间的通信困难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3.</a:t>
            </a:r>
            <a:r>
              <a:rPr lang="zh-CN" altLang="en-US" sz="2000"/>
              <a:t>编写程序的工作量通常占用软件开发总工作量的</a:t>
            </a:r>
            <a:r>
              <a:rPr lang="en-US" altLang="zh-CN" sz="2000"/>
              <a:t>_____</a:t>
            </a:r>
          </a:p>
          <a:p>
            <a:pPr>
              <a:lnSpc>
                <a:spcPct val="14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A. 80%  	B.60%        C. 40%         </a:t>
            </a:r>
            <a:r>
              <a:rPr lang="en-US" altLang="zh-CN" sz="2000">
                <a:solidFill>
                  <a:srgbClr val="FF0066"/>
                </a:solidFill>
              </a:rPr>
              <a:t>D. 20%</a:t>
            </a:r>
            <a:endParaRPr lang="zh-CN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6">
            <a:extLst>
              <a:ext uri="{FF2B5EF4-FFF2-40B4-BE49-F238E27FC236}">
                <a16:creationId xmlns:a16="http://schemas.microsoft.com/office/drawing/2014/main" id="{02AFA4EF-D498-75D2-AA4B-C0C27CE94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B105250-CD30-411B-A742-E120DBC2AC2F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F869D187-1FE2-F622-2EBF-11D0561EB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习题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64A3C8D-B81B-9FD8-95C2-0A160143B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5539"/>
            <a:ext cx="8229600" cy="50053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4.</a:t>
            </a:r>
            <a:r>
              <a:rPr lang="zh-CN" altLang="en-US" sz="2200"/>
              <a:t>描述软件项目进度安排的甘特图能够表示</a:t>
            </a:r>
            <a:r>
              <a:rPr lang="en-US" altLang="zh-CN" sz="2200"/>
              <a:t>_____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A. </a:t>
            </a:r>
            <a:r>
              <a:rPr lang="zh-CN" altLang="en-US" sz="2200"/>
              <a:t>多个任务之间的复杂关系          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B. </a:t>
            </a:r>
            <a:r>
              <a:rPr lang="zh-CN" altLang="en-US" sz="2200"/>
              <a:t>任务之间的相互依赖制约关系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C. </a:t>
            </a:r>
            <a:r>
              <a:rPr lang="zh-CN" altLang="en-US" sz="2200"/>
              <a:t>哪些任务是关键任务  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>
                <a:solidFill>
                  <a:srgbClr val="FF0066"/>
                </a:solidFill>
              </a:rPr>
              <a:t>D. </a:t>
            </a:r>
            <a:r>
              <a:rPr lang="zh-CN" altLang="en-US" sz="2200">
                <a:solidFill>
                  <a:srgbClr val="FF0066"/>
                </a:solidFill>
              </a:rPr>
              <a:t>子任务之间的并行和串行关系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5. </a:t>
            </a:r>
            <a:r>
              <a:rPr lang="zh-CN" altLang="en-US" sz="2200"/>
              <a:t>可行性研究要进行的需求分析和设计应是</a:t>
            </a:r>
            <a:r>
              <a:rPr lang="en-US" altLang="zh-CN" sz="2200"/>
              <a:t>___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A. </a:t>
            </a:r>
            <a:r>
              <a:rPr lang="zh-CN" altLang="en-US" sz="2200"/>
              <a:t>详细的          </a:t>
            </a:r>
            <a:r>
              <a:rPr lang="en-US" altLang="zh-CN" sz="2200"/>
              <a:t>B. </a:t>
            </a:r>
            <a:r>
              <a:rPr lang="zh-CN" altLang="en-US" sz="2200"/>
              <a:t>全面的     </a:t>
            </a:r>
            <a:r>
              <a:rPr lang="en-US" altLang="zh-CN" sz="2200">
                <a:solidFill>
                  <a:srgbClr val="FF0066"/>
                </a:solidFill>
              </a:rPr>
              <a:t>C.  </a:t>
            </a:r>
            <a:r>
              <a:rPr lang="zh-CN" altLang="en-US" sz="2200">
                <a:solidFill>
                  <a:srgbClr val="FF0066"/>
                </a:solidFill>
              </a:rPr>
              <a:t>简化、压缩的</a:t>
            </a:r>
            <a:r>
              <a:rPr lang="zh-CN" altLang="en-US" sz="2200"/>
              <a:t>     </a:t>
            </a:r>
            <a:r>
              <a:rPr lang="en-US" altLang="zh-CN" sz="2200"/>
              <a:t>D. </a:t>
            </a:r>
            <a:r>
              <a:rPr lang="zh-CN" altLang="en-US" sz="2200"/>
              <a:t>彻底的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6FF741CC-F16F-41C7-A148-9348022CE2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DDA4FCF-3CDC-4B1C-85BF-5AC2CBEE0F7B}" type="slidenum">
              <a:rPr lang="en-US" altLang="zh-CN" sz="1200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 sz="12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230B389-5792-0D20-D784-3420407A55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65339" y="1196975"/>
            <a:ext cx="8351837" cy="3581400"/>
          </a:xfrm>
        </p:spPr>
        <p:txBody>
          <a:bodyPr/>
          <a:lstStyle/>
          <a:p>
            <a:pPr eaLnBrk="1" hangingPunct="1"/>
            <a:r>
              <a:rPr lang="zh-CN" altLang="en-US" sz="4800"/>
              <a:t>第二十六章</a:t>
            </a:r>
            <a:r>
              <a:rPr lang="zh-CN" altLang="zh-CN" sz="3600"/>
              <a:t>（对应全版教材的第</a:t>
            </a:r>
            <a:r>
              <a:rPr lang="en-US" altLang="zh-CN" sz="3600"/>
              <a:t>35</a:t>
            </a:r>
            <a:r>
              <a:rPr lang="zh-CN" altLang="zh-CN" sz="3600"/>
              <a:t>章）</a:t>
            </a:r>
            <a:r>
              <a:rPr lang="zh-CN" altLang="en-US" sz="6600"/>
              <a:t> 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 </a:t>
            </a:r>
            <a:r>
              <a:rPr lang="zh-CN" altLang="en-US" sz="6000"/>
              <a:t>风 险 管 理</a:t>
            </a:r>
            <a:endParaRPr lang="en-US" altLang="zh-CN" sz="6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>
            <a:extLst>
              <a:ext uri="{FF2B5EF4-FFF2-40B4-BE49-F238E27FC236}">
                <a16:creationId xmlns:a16="http://schemas.microsoft.com/office/drawing/2014/main" id="{EAAC6BB6-3F0F-8AAE-7362-ED778CBBB7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B561A4B-C59D-4742-93F2-10E0146908D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F1C2E958-5686-6F2C-F71B-5E4151BAC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9" y="260351"/>
            <a:ext cx="6199187" cy="57626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项目风险</a:t>
            </a:r>
          </a:p>
        </p:txBody>
      </p:sp>
      <p:sp>
        <p:nvSpPr>
          <p:cNvPr id="12292" name="Freeform 3">
            <a:extLst>
              <a:ext uri="{FF2B5EF4-FFF2-40B4-BE49-F238E27FC236}">
                <a16:creationId xmlns:a16="http://schemas.microsoft.com/office/drawing/2014/main" id="{BBD9C956-CB58-402C-1E9E-BE2719B0CA5B}"/>
              </a:ext>
            </a:extLst>
          </p:cNvPr>
          <p:cNvSpPr>
            <a:spLocks/>
          </p:cNvSpPr>
          <p:nvPr/>
        </p:nvSpPr>
        <p:spPr bwMode="auto">
          <a:xfrm>
            <a:off x="2106613" y="889000"/>
            <a:ext cx="5105400" cy="3048000"/>
          </a:xfrm>
          <a:custGeom>
            <a:avLst/>
            <a:gdLst>
              <a:gd name="T0" fmla="*/ 2147483646 w 2645"/>
              <a:gd name="T1" fmla="*/ 2147483646 h 1200"/>
              <a:gd name="T2" fmla="*/ 2147483646 w 2645"/>
              <a:gd name="T3" fmla="*/ 2147483646 h 1200"/>
              <a:gd name="T4" fmla="*/ 2147483646 w 2645"/>
              <a:gd name="T5" fmla="*/ 2147483646 h 1200"/>
              <a:gd name="T6" fmla="*/ 2147483646 w 2645"/>
              <a:gd name="T7" fmla="*/ 2147483646 h 1200"/>
              <a:gd name="T8" fmla="*/ 2147483646 w 2645"/>
              <a:gd name="T9" fmla="*/ 2147483646 h 1200"/>
              <a:gd name="T10" fmla="*/ 2147483646 w 2645"/>
              <a:gd name="T11" fmla="*/ 2147483646 h 1200"/>
              <a:gd name="T12" fmla="*/ 2147483646 w 2645"/>
              <a:gd name="T13" fmla="*/ 2147483646 h 1200"/>
              <a:gd name="T14" fmla="*/ 0 w 2645"/>
              <a:gd name="T15" fmla="*/ 2147483646 h 1200"/>
              <a:gd name="T16" fmla="*/ 2147483646 w 2645"/>
              <a:gd name="T17" fmla="*/ 2147483646 h 1200"/>
              <a:gd name="T18" fmla="*/ 2147483646 w 2645"/>
              <a:gd name="T19" fmla="*/ 2147483646 h 1200"/>
              <a:gd name="T20" fmla="*/ 2147483646 w 2645"/>
              <a:gd name="T21" fmla="*/ 2147483646 h 1200"/>
              <a:gd name="T22" fmla="*/ 2147483646 w 2645"/>
              <a:gd name="T23" fmla="*/ 0 h 1200"/>
              <a:gd name="T24" fmla="*/ 2147483646 w 2645"/>
              <a:gd name="T25" fmla="*/ 2147483646 h 1200"/>
              <a:gd name="T26" fmla="*/ 2147483646 w 2645"/>
              <a:gd name="T27" fmla="*/ 2147483646 h 1200"/>
              <a:gd name="T28" fmla="*/ 2147483646 w 2645"/>
              <a:gd name="T29" fmla="*/ 2147483646 h 1200"/>
              <a:gd name="T30" fmla="*/ 2147483646 w 2645"/>
              <a:gd name="T31" fmla="*/ 2147483646 h 1200"/>
              <a:gd name="T32" fmla="*/ 2147483646 w 2645"/>
              <a:gd name="T33" fmla="*/ 2147483646 h 120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2645" h="1200">
                <a:moveTo>
                  <a:pt x="2644" y="851"/>
                </a:moveTo>
                <a:lnTo>
                  <a:pt x="2219" y="933"/>
                </a:lnTo>
                <a:lnTo>
                  <a:pt x="2306" y="1014"/>
                </a:lnTo>
                <a:lnTo>
                  <a:pt x="1816" y="1132"/>
                </a:lnTo>
                <a:lnTo>
                  <a:pt x="1441" y="999"/>
                </a:lnTo>
                <a:lnTo>
                  <a:pt x="894" y="1132"/>
                </a:lnTo>
                <a:lnTo>
                  <a:pt x="389" y="1014"/>
                </a:lnTo>
                <a:lnTo>
                  <a:pt x="0" y="1199"/>
                </a:lnTo>
                <a:lnTo>
                  <a:pt x="144" y="703"/>
                </a:lnTo>
                <a:lnTo>
                  <a:pt x="101" y="37"/>
                </a:lnTo>
                <a:lnTo>
                  <a:pt x="829" y="200"/>
                </a:lnTo>
                <a:lnTo>
                  <a:pt x="1607" y="0"/>
                </a:lnTo>
                <a:lnTo>
                  <a:pt x="2255" y="333"/>
                </a:lnTo>
                <a:lnTo>
                  <a:pt x="2176" y="452"/>
                </a:lnTo>
                <a:lnTo>
                  <a:pt x="2349" y="666"/>
                </a:lnTo>
                <a:lnTo>
                  <a:pt x="2255" y="851"/>
                </a:lnTo>
                <a:lnTo>
                  <a:pt x="2630" y="851"/>
                </a:lnTo>
              </a:path>
            </a:pathLst>
          </a:custGeom>
          <a:solidFill>
            <a:srgbClr val="790015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474A2C83-4065-D7A6-90F2-18322E2C7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9" y="5629276"/>
            <a:ext cx="4173537" cy="487363"/>
          </a:xfrm>
          <a:prstGeom prst="rect">
            <a:avLst/>
          </a:prstGeom>
          <a:solidFill>
            <a:srgbClr val="66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556EF1FC-AC9D-4DFB-EFFD-78CF084DC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6" y="5630864"/>
            <a:ext cx="4170363" cy="4857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295" name="Freeform 6">
            <a:extLst>
              <a:ext uri="{FF2B5EF4-FFF2-40B4-BE49-F238E27FC236}">
                <a16:creationId xmlns:a16="http://schemas.microsoft.com/office/drawing/2014/main" id="{CB2E668B-A483-2BC0-C3C8-02A09C6CE457}"/>
              </a:ext>
            </a:extLst>
          </p:cNvPr>
          <p:cNvSpPr>
            <a:spLocks/>
          </p:cNvSpPr>
          <p:nvPr/>
        </p:nvSpPr>
        <p:spPr bwMode="auto">
          <a:xfrm>
            <a:off x="5405439" y="4573588"/>
            <a:ext cx="4187825" cy="1071562"/>
          </a:xfrm>
          <a:custGeom>
            <a:avLst/>
            <a:gdLst>
              <a:gd name="T0" fmla="*/ 0 w 2638"/>
              <a:gd name="T1" fmla="*/ 2147483646 h 600"/>
              <a:gd name="T2" fmla="*/ 0 w 2638"/>
              <a:gd name="T3" fmla="*/ 2147483646 h 600"/>
              <a:gd name="T4" fmla="*/ 2147483646 w 2638"/>
              <a:gd name="T5" fmla="*/ 0 h 600"/>
              <a:gd name="T6" fmla="*/ 2147483646 w 2638"/>
              <a:gd name="T7" fmla="*/ 0 h 600"/>
              <a:gd name="T8" fmla="*/ 2147483646 w 2638"/>
              <a:gd name="T9" fmla="*/ 2147483646 h 600"/>
              <a:gd name="T10" fmla="*/ 0 w 2638"/>
              <a:gd name="T11" fmla="*/ 2147483646 h 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638" h="600">
                <a:moveTo>
                  <a:pt x="0" y="599"/>
                </a:moveTo>
                <a:lnTo>
                  <a:pt x="0" y="599"/>
                </a:lnTo>
                <a:lnTo>
                  <a:pt x="648" y="0"/>
                </a:lnTo>
                <a:lnTo>
                  <a:pt x="2204" y="0"/>
                </a:lnTo>
                <a:lnTo>
                  <a:pt x="2637" y="599"/>
                </a:lnTo>
                <a:lnTo>
                  <a:pt x="0" y="599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6" name="Freeform 7">
            <a:extLst>
              <a:ext uri="{FF2B5EF4-FFF2-40B4-BE49-F238E27FC236}">
                <a16:creationId xmlns:a16="http://schemas.microsoft.com/office/drawing/2014/main" id="{5412D9E5-85E2-A786-6DCA-56C84F503458}"/>
              </a:ext>
            </a:extLst>
          </p:cNvPr>
          <p:cNvSpPr>
            <a:spLocks/>
          </p:cNvSpPr>
          <p:nvPr/>
        </p:nvSpPr>
        <p:spPr bwMode="auto">
          <a:xfrm>
            <a:off x="5394325" y="4559300"/>
            <a:ext cx="4186238" cy="1073150"/>
          </a:xfrm>
          <a:custGeom>
            <a:avLst/>
            <a:gdLst>
              <a:gd name="T0" fmla="*/ 0 w 2637"/>
              <a:gd name="T1" fmla="*/ 2147483646 h 601"/>
              <a:gd name="T2" fmla="*/ 2147483646 w 2637"/>
              <a:gd name="T3" fmla="*/ 0 h 601"/>
              <a:gd name="T4" fmla="*/ 2147483646 w 2637"/>
              <a:gd name="T5" fmla="*/ 0 h 601"/>
              <a:gd name="T6" fmla="*/ 2147483646 w 2637"/>
              <a:gd name="T7" fmla="*/ 2147483646 h 601"/>
              <a:gd name="T8" fmla="*/ 0 w 2637"/>
              <a:gd name="T9" fmla="*/ 2147483646 h 6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37" h="601">
                <a:moveTo>
                  <a:pt x="0" y="600"/>
                </a:moveTo>
                <a:lnTo>
                  <a:pt x="648" y="0"/>
                </a:lnTo>
                <a:lnTo>
                  <a:pt x="2204" y="0"/>
                </a:lnTo>
                <a:lnTo>
                  <a:pt x="2636" y="600"/>
                </a:lnTo>
                <a:lnTo>
                  <a:pt x="0" y="600"/>
                </a:lnTo>
              </a:path>
            </a:pathLst>
          </a:custGeom>
          <a:solidFill>
            <a:srgbClr val="EF9100"/>
          </a:solidFill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7" name="Freeform 8">
            <a:extLst>
              <a:ext uri="{FF2B5EF4-FFF2-40B4-BE49-F238E27FC236}">
                <a16:creationId xmlns:a16="http://schemas.microsoft.com/office/drawing/2014/main" id="{5814856B-E60D-E96C-A495-A6E8F0CEED0B}"/>
              </a:ext>
            </a:extLst>
          </p:cNvPr>
          <p:cNvSpPr>
            <a:spLocks/>
          </p:cNvSpPr>
          <p:nvPr/>
        </p:nvSpPr>
        <p:spPr bwMode="auto">
          <a:xfrm>
            <a:off x="7097714" y="3265489"/>
            <a:ext cx="985837" cy="1309687"/>
          </a:xfrm>
          <a:custGeom>
            <a:avLst/>
            <a:gdLst>
              <a:gd name="T0" fmla="*/ 2147483646 w 621"/>
              <a:gd name="T1" fmla="*/ 2147483646 h 734"/>
              <a:gd name="T2" fmla="*/ 2147483646 w 621"/>
              <a:gd name="T3" fmla="*/ 2147483646 h 734"/>
              <a:gd name="T4" fmla="*/ 0 w 621"/>
              <a:gd name="T5" fmla="*/ 0 h 734"/>
              <a:gd name="T6" fmla="*/ 2147483646 w 621"/>
              <a:gd name="T7" fmla="*/ 0 h 734"/>
              <a:gd name="T8" fmla="*/ 2147483646 w 621"/>
              <a:gd name="T9" fmla="*/ 2147483646 h 734"/>
              <a:gd name="T10" fmla="*/ 2147483646 w 621"/>
              <a:gd name="T11" fmla="*/ 2147483646 h 73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1" h="734">
                <a:moveTo>
                  <a:pt x="101" y="733"/>
                </a:moveTo>
                <a:lnTo>
                  <a:pt x="101" y="733"/>
                </a:lnTo>
                <a:lnTo>
                  <a:pt x="0" y="0"/>
                </a:lnTo>
                <a:lnTo>
                  <a:pt x="620" y="0"/>
                </a:lnTo>
                <a:lnTo>
                  <a:pt x="533" y="733"/>
                </a:lnTo>
                <a:lnTo>
                  <a:pt x="101" y="733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8" name="Freeform 9">
            <a:extLst>
              <a:ext uri="{FF2B5EF4-FFF2-40B4-BE49-F238E27FC236}">
                <a16:creationId xmlns:a16="http://schemas.microsoft.com/office/drawing/2014/main" id="{2E13AA84-3137-F04B-775C-39685EBC5F3B}"/>
              </a:ext>
            </a:extLst>
          </p:cNvPr>
          <p:cNvSpPr>
            <a:spLocks/>
          </p:cNvSpPr>
          <p:nvPr/>
        </p:nvSpPr>
        <p:spPr bwMode="auto">
          <a:xfrm>
            <a:off x="7086600" y="3252788"/>
            <a:ext cx="984250" cy="1308100"/>
          </a:xfrm>
          <a:custGeom>
            <a:avLst/>
            <a:gdLst>
              <a:gd name="T0" fmla="*/ 2147483646 w 620"/>
              <a:gd name="T1" fmla="*/ 2147483646 h 733"/>
              <a:gd name="T2" fmla="*/ 0 w 620"/>
              <a:gd name="T3" fmla="*/ 0 h 733"/>
              <a:gd name="T4" fmla="*/ 2147483646 w 620"/>
              <a:gd name="T5" fmla="*/ 0 h 733"/>
              <a:gd name="T6" fmla="*/ 2147483646 w 620"/>
              <a:gd name="T7" fmla="*/ 2147483646 h 733"/>
              <a:gd name="T8" fmla="*/ 2147483646 w 620"/>
              <a:gd name="T9" fmla="*/ 2147483646 h 7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20" h="733">
                <a:moveTo>
                  <a:pt x="101" y="732"/>
                </a:moveTo>
                <a:lnTo>
                  <a:pt x="0" y="0"/>
                </a:lnTo>
                <a:lnTo>
                  <a:pt x="619" y="0"/>
                </a:lnTo>
                <a:lnTo>
                  <a:pt x="533" y="732"/>
                </a:lnTo>
                <a:lnTo>
                  <a:pt x="101" y="732"/>
                </a:lnTo>
              </a:path>
            </a:pathLst>
          </a:custGeom>
          <a:solidFill>
            <a:schemeClr val="hlink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9" name="Freeform 10">
            <a:extLst>
              <a:ext uri="{FF2B5EF4-FFF2-40B4-BE49-F238E27FC236}">
                <a16:creationId xmlns:a16="http://schemas.microsoft.com/office/drawing/2014/main" id="{9BD5E6FB-8709-FF9D-779F-EE553B56249A}"/>
              </a:ext>
            </a:extLst>
          </p:cNvPr>
          <p:cNvSpPr>
            <a:spLocks/>
          </p:cNvSpPr>
          <p:nvPr/>
        </p:nvSpPr>
        <p:spPr bwMode="auto">
          <a:xfrm>
            <a:off x="6994525" y="3290888"/>
            <a:ext cx="573088" cy="1693862"/>
          </a:xfrm>
          <a:custGeom>
            <a:avLst/>
            <a:gdLst>
              <a:gd name="T0" fmla="*/ 2147483646 w 361"/>
              <a:gd name="T1" fmla="*/ 0 h 948"/>
              <a:gd name="T2" fmla="*/ 2147483646 w 361"/>
              <a:gd name="T3" fmla="*/ 0 h 948"/>
              <a:gd name="T4" fmla="*/ 0 w 361"/>
              <a:gd name="T5" fmla="*/ 2147483646 h 948"/>
              <a:gd name="T6" fmla="*/ 2147483646 w 361"/>
              <a:gd name="T7" fmla="*/ 2147483646 h 94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948">
                <a:moveTo>
                  <a:pt x="65" y="0"/>
                </a:moveTo>
                <a:lnTo>
                  <a:pt x="65" y="0"/>
                </a:lnTo>
                <a:lnTo>
                  <a:pt x="0" y="599"/>
                </a:lnTo>
                <a:lnTo>
                  <a:pt x="360" y="947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0" name="Freeform 11">
            <a:extLst>
              <a:ext uri="{FF2B5EF4-FFF2-40B4-BE49-F238E27FC236}">
                <a16:creationId xmlns:a16="http://schemas.microsoft.com/office/drawing/2014/main" id="{12D36240-596C-2E9C-CCDA-040B6DB4C91E}"/>
              </a:ext>
            </a:extLst>
          </p:cNvPr>
          <p:cNvSpPr>
            <a:spLocks/>
          </p:cNvSpPr>
          <p:nvPr/>
        </p:nvSpPr>
        <p:spPr bwMode="auto">
          <a:xfrm>
            <a:off x="6983414" y="3279776"/>
            <a:ext cx="573087" cy="1692275"/>
          </a:xfrm>
          <a:custGeom>
            <a:avLst/>
            <a:gdLst>
              <a:gd name="T0" fmla="*/ 2147483646 w 361"/>
              <a:gd name="T1" fmla="*/ 0 h 948"/>
              <a:gd name="T2" fmla="*/ 0 w 361"/>
              <a:gd name="T3" fmla="*/ 2147483646 h 948"/>
              <a:gd name="T4" fmla="*/ 2147483646 w 361"/>
              <a:gd name="T5" fmla="*/ 2147483646 h 9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61" h="948">
                <a:moveTo>
                  <a:pt x="65" y="0"/>
                </a:moveTo>
                <a:lnTo>
                  <a:pt x="0" y="599"/>
                </a:lnTo>
                <a:lnTo>
                  <a:pt x="360" y="947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1" name="Freeform 12">
            <a:extLst>
              <a:ext uri="{FF2B5EF4-FFF2-40B4-BE49-F238E27FC236}">
                <a16:creationId xmlns:a16="http://schemas.microsoft.com/office/drawing/2014/main" id="{440C616B-80DE-119B-80FA-04CCC0BD55DE}"/>
              </a:ext>
            </a:extLst>
          </p:cNvPr>
          <p:cNvSpPr>
            <a:spLocks/>
          </p:cNvSpPr>
          <p:nvPr/>
        </p:nvSpPr>
        <p:spPr bwMode="auto">
          <a:xfrm>
            <a:off x="7635875" y="3265488"/>
            <a:ext cx="469900" cy="1719262"/>
          </a:xfrm>
          <a:custGeom>
            <a:avLst/>
            <a:gdLst>
              <a:gd name="T0" fmla="*/ 2147483646 w 296"/>
              <a:gd name="T1" fmla="*/ 0 h 963"/>
              <a:gd name="T2" fmla="*/ 2147483646 w 296"/>
              <a:gd name="T3" fmla="*/ 0 h 963"/>
              <a:gd name="T4" fmla="*/ 2147483646 w 296"/>
              <a:gd name="T5" fmla="*/ 2147483646 h 963"/>
              <a:gd name="T6" fmla="*/ 0 w 296"/>
              <a:gd name="T7" fmla="*/ 2147483646 h 9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6" h="963">
                <a:moveTo>
                  <a:pt x="281" y="0"/>
                </a:moveTo>
                <a:lnTo>
                  <a:pt x="281" y="0"/>
                </a:lnTo>
                <a:lnTo>
                  <a:pt x="295" y="533"/>
                </a:lnTo>
                <a:lnTo>
                  <a:pt x="0" y="962"/>
                </a:lnTo>
              </a:path>
            </a:pathLst>
          </a:custGeom>
          <a:noFill/>
          <a:ln w="254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2" name="Freeform 13">
            <a:extLst>
              <a:ext uri="{FF2B5EF4-FFF2-40B4-BE49-F238E27FC236}">
                <a16:creationId xmlns:a16="http://schemas.microsoft.com/office/drawing/2014/main" id="{62D9018A-B339-E88C-0806-07B60CEC5B86}"/>
              </a:ext>
            </a:extLst>
          </p:cNvPr>
          <p:cNvSpPr>
            <a:spLocks/>
          </p:cNvSpPr>
          <p:nvPr/>
        </p:nvSpPr>
        <p:spPr bwMode="auto">
          <a:xfrm>
            <a:off x="7623175" y="3252788"/>
            <a:ext cx="471488" cy="1719262"/>
          </a:xfrm>
          <a:custGeom>
            <a:avLst/>
            <a:gdLst>
              <a:gd name="T0" fmla="*/ 2147483646 w 297"/>
              <a:gd name="T1" fmla="*/ 0 h 963"/>
              <a:gd name="T2" fmla="*/ 2147483646 w 297"/>
              <a:gd name="T3" fmla="*/ 2147483646 h 963"/>
              <a:gd name="T4" fmla="*/ 0 w 297"/>
              <a:gd name="T5" fmla="*/ 2147483646 h 96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" h="963">
                <a:moveTo>
                  <a:pt x="281" y="0"/>
                </a:moveTo>
                <a:lnTo>
                  <a:pt x="296" y="533"/>
                </a:lnTo>
                <a:lnTo>
                  <a:pt x="0" y="96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3" name="Oval 14">
            <a:extLst>
              <a:ext uri="{FF2B5EF4-FFF2-40B4-BE49-F238E27FC236}">
                <a16:creationId xmlns:a16="http://schemas.microsoft.com/office/drawing/2014/main" id="{461809E8-5A44-71A4-9139-56A7CC039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9" y="2208214"/>
            <a:ext cx="422275" cy="1081087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04" name="Oval 15">
            <a:extLst>
              <a:ext uri="{FF2B5EF4-FFF2-40B4-BE49-F238E27FC236}">
                <a16:creationId xmlns:a16="http://schemas.microsoft.com/office/drawing/2014/main" id="{AF56B163-8829-365C-5A74-B614409D2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2208213"/>
            <a:ext cx="419100" cy="10795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40304" name="Rectangle 16">
            <a:extLst>
              <a:ext uri="{FF2B5EF4-FFF2-40B4-BE49-F238E27FC236}">
                <a16:creationId xmlns:a16="http://schemas.microsoft.com/office/drawing/2014/main" id="{9E1EB701-7B40-B7F4-EB9B-2E4690300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1" y="1484313"/>
            <a:ext cx="3529013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i="1">
                <a:solidFill>
                  <a:srgbClr val="DADADA"/>
                </a:solidFill>
                <a:latin typeface="Helvetica" panose="020B0604020202020204" pitchFamily="34" charset="0"/>
              </a:rPr>
              <a:t>什么时候会出问题</a:t>
            </a:r>
            <a:r>
              <a:rPr kumimoji="0" lang="en-US" altLang="zh-CN" b="1" i="1">
                <a:solidFill>
                  <a:srgbClr val="DADADA"/>
                </a:solidFill>
                <a:latin typeface="Helvetica" panose="020B0604020202020204" pitchFamily="34" charset="0"/>
              </a:rPr>
              <a:t>?</a:t>
            </a:r>
          </a:p>
        </p:txBody>
      </p:sp>
      <p:sp>
        <p:nvSpPr>
          <p:cNvPr id="140305" name="Rectangle 17">
            <a:extLst>
              <a:ext uri="{FF2B5EF4-FFF2-40B4-BE49-F238E27FC236}">
                <a16:creationId xmlns:a16="http://schemas.microsoft.com/office/drawing/2014/main" id="{B77027A0-7504-2891-64C2-D08EC0815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905000"/>
            <a:ext cx="426720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i="1">
                <a:solidFill>
                  <a:srgbClr val="DADADA"/>
                </a:solidFill>
                <a:latin typeface="Helvetica" panose="020B0604020202020204" pitchFamily="34" charset="0"/>
              </a:rPr>
              <a:t>出现某个问题的概率如何</a:t>
            </a:r>
            <a:r>
              <a:rPr kumimoji="0" lang="en-US" altLang="zh-CN" b="1" i="1">
                <a:solidFill>
                  <a:srgbClr val="DADADA"/>
                </a:solidFill>
                <a:latin typeface="Helvetica" panose="020B0604020202020204" pitchFamily="34" charset="0"/>
              </a:rPr>
              <a:t>?</a:t>
            </a:r>
          </a:p>
        </p:txBody>
      </p:sp>
      <p:sp>
        <p:nvSpPr>
          <p:cNvPr id="140306" name="Rectangle 18">
            <a:extLst>
              <a:ext uri="{FF2B5EF4-FFF2-40B4-BE49-F238E27FC236}">
                <a16:creationId xmlns:a16="http://schemas.microsoft.com/office/drawing/2014/main" id="{EEB63F9F-3D01-C7D5-5A9F-3673AAB68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1" y="2362200"/>
            <a:ext cx="30575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i="1">
                <a:solidFill>
                  <a:srgbClr val="DADADA"/>
                </a:solidFill>
                <a:latin typeface="Helvetica" panose="020B0604020202020204" pitchFamily="34" charset="0"/>
              </a:rPr>
              <a:t>会带来多大损害</a:t>
            </a:r>
            <a:r>
              <a:rPr kumimoji="0" lang="en-US" altLang="zh-CN" b="1" i="1">
                <a:solidFill>
                  <a:srgbClr val="DADADA"/>
                </a:solidFill>
                <a:latin typeface="Helvetica" panose="020B0604020202020204" pitchFamily="34" charset="0"/>
              </a:rPr>
              <a:t>?</a:t>
            </a:r>
          </a:p>
        </p:txBody>
      </p:sp>
      <p:sp>
        <p:nvSpPr>
          <p:cNvPr id="140307" name="Rectangle 19">
            <a:extLst>
              <a:ext uri="{FF2B5EF4-FFF2-40B4-BE49-F238E27FC236}">
                <a16:creationId xmlns:a16="http://schemas.microsoft.com/office/drawing/2014/main" id="{6FC482D0-2DA2-1387-3909-11E7A1C54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895600"/>
            <a:ext cx="253595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b="1" i="1">
                <a:solidFill>
                  <a:srgbClr val="DADADA"/>
                </a:solidFill>
                <a:latin typeface="Helvetica" panose="020B0604020202020204" pitchFamily="34" charset="0"/>
              </a:rPr>
              <a:t>我们可以做什么</a:t>
            </a:r>
            <a:r>
              <a:rPr kumimoji="0" lang="en-US" altLang="zh-CN" b="1" i="1">
                <a:solidFill>
                  <a:srgbClr val="DADADA"/>
                </a:solidFill>
                <a:latin typeface="Helvetica" panose="020B0604020202020204" pitchFamily="34" charset="0"/>
              </a:rPr>
              <a:t>?</a:t>
            </a:r>
          </a:p>
        </p:txBody>
      </p:sp>
      <p:sp>
        <p:nvSpPr>
          <p:cNvPr id="12309" name="Rectangle 20">
            <a:extLst>
              <a:ext uri="{FF2B5EF4-FFF2-40B4-BE49-F238E27FC236}">
                <a16:creationId xmlns:a16="http://schemas.microsoft.com/office/drawing/2014/main" id="{B72CC963-28C4-7038-1A28-7C71840CE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26" y="5272089"/>
            <a:ext cx="1635125" cy="2508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310" name="Rectangle 21">
            <a:extLst>
              <a:ext uri="{FF2B5EF4-FFF2-40B4-BE49-F238E27FC236}">
                <a16:creationId xmlns:a16="http://schemas.microsoft.com/office/drawing/2014/main" id="{40CEDBD8-C07C-8A54-4C3D-5CDC89ECB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4813" y="5273675"/>
            <a:ext cx="1631950" cy="2492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04" grpId="0"/>
      <p:bldP spid="140305" grpId="0"/>
      <p:bldP spid="140306" grpId="0"/>
      <p:bldP spid="14030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>
            <a:extLst>
              <a:ext uri="{FF2B5EF4-FFF2-40B4-BE49-F238E27FC236}">
                <a16:creationId xmlns:a16="http://schemas.microsoft.com/office/drawing/2014/main" id="{2203123F-66CD-0B9F-7C4A-4285D93FC1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57A992-D4A2-43D7-999E-CD5AF560634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2A8BF7E-64A6-5DDC-ACF3-41D0848A4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风险管理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523B1422-4B8A-C6FC-6E02-DD7772EE4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3951"/>
            <a:ext cx="8229600" cy="49688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/>
              <a:t>“</a:t>
            </a:r>
            <a:r>
              <a:rPr lang="zh-CN" altLang="en-US" sz="3200">
                <a:ea typeface="华文仿宋" panose="02010600040101010101" pitchFamily="2" charset="-122"/>
              </a:rPr>
              <a:t>当没有办法消除风险，甚至连试图降低该风险也存在疑问时，这个风险就是</a:t>
            </a:r>
            <a:r>
              <a:rPr lang="zh-CN" altLang="en-US" sz="3200">
                <a:solidFill>
                  <a:srgbClr val="FF0000"/>
                </a:solidFill>
                <a:ea typeface="华文仿宋" panose="02010600040101010101" pitchFamily="2" charset="-122"/>
              </a:rPr>
              <a:t>真正的风险</a:t>
            </a:r>
            <a:r>
              <a:rPr lang="zh-CN" altLang="en-US" sz="3200">
                <a:ea typeface="华文仿宋" panose="02010600040101010101" pitchFamily="2" charset="-122"/>
              </a:rPr>
              <a:t>了。</a:t>
            </a:r>
            <a:r>
              <a:rPr lang="zh-CN" altLang="en-US" sz="3200"/>
              <a:t>”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/>
              <a:t>在弄清楚软件项目中的“</a:t>
            </a:r>
            <a:r>
              <a:rPr lang="zh-CN" altLang="en-US" sz="3200">
                <a:solidFill>
                  <a:srgbClr val="FF0000"/>
                </a:solidFill>
              </a:rPr>
              <a:t>真正的风险</a:t>
            </a:r>
            <a:r>
              <a:rPr lang="zh-CN" altLang="en-US" sz="3200"/>
              <a:t>”之前，</a:t>
            </a:r>
            <a:r>
              <a:rPr lang="zh-CN" altLang="en-US" sz="3200">
                <a:solidFill>
                  <a:srgbClr val="FF0000"/>
                </a:solidFill>
              </a:rPr>
              <a:t>识别</a:t>
            </a:r>
            <a:r>
              <a:rPr lang="zh-CN" altLang="en-US" sz="3200"/>
              <a:t>出所有对管理者及开发者而言</a:t>
            </a:r>
            <a:r>
              <a:rPr lang="zh-CN" altLang="en-US" sz="3200">
                <a:solidFill>
                  <a:srgbClr val="FF0000"/>
                </a:solidFill>
              </a:rPr>
              <a:t>显而易见的风险</a:t>
            </a:r>
            <a:r>
              <a:rPr lang="zh-CN" altLang="en-US" sz="3200"/>
              <a:t>是很重要的。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B3A2DA5B-8CBD-9B92-2A94-BF32B62223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381A00F-DA53-4682-84A2-6990C82A29D0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B683A90-7357-F479-71BC-FF0B2EC48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6FAD813-29BE-7A6E-DAFB-D18CEF004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26.1 </a:t>
            </a:r>
            <a:r>
              <a:rPr lang="zh-CN" altLang="en-US">
                <a:solidFill>
                  <a:srgbClr val="FF0000"/>
                </a:solidFill>
              </a:rPr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26.2 </a:t>
            </a:r>
            <a:r>
              <a:rPr lang="zh-CN" altLang="en-US"/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26.3 </a:t>
            </a:r>
            <a:r>
              <a:rPr lang="zh-CN" altLang="en-US"/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26.4 </a:t>
            </a:r>
            <a:r>
              <a:rPr lang="zh-CN" altLang="en-US"/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26.5 </a:t>
            </a:r>
            <a:r>
              <a:rPr lang="zh-CN" altLang="en-US"/>
              <a:t>风险求精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26.6 </a:t>
            </a:r>
            <a:r>
              <a:rPr lang="zh-CN" altLang="en-US"/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26.7 RMMM</a:t>
            </a:r>
            <a:r>
              <a:rPr lang="zh-CN" altLang="en-US"/>
              <a:t>计划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>
            <a:extLst>
              <a:ext uri="{FF2B5EF4-FFF2-40B4-BE49-F238E27FC236}">
                <a16:creationId xmlns:a16="http://schemas.microsoft.com/office/drawing/2014/main" id="{A8F33C11-ACE0-FE0F-9992-545D247ED0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F2FCC72-EE34-471C-AD54-D46F27D435CA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911ABCF-3D9A-1F7A-4532-EE653CF54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被动风险策略和主动风险策略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5486EDAA-6F39-F3C9-D102-3D4DFB591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763588"/>
            <a:ext cx="8229600" cy="54737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40000"/>
              </a:spcBef>
            </a:pPr>
            <a:r>
              <a:rPr lang="zh-CN" altLang="en-US" sz="2200">
                <a:solidFill>
                  <a:schemeClr val="accent2"/>
                </a:solidFill>
              </a:rPr>
              <a:t>被动风险</a:t>
            </a:r>
            <a:r>
              <a:rPr lang="zh-CN" altLang="en-US" sz="2200"/>
              <a:t>策略：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/>
              <a:t>被戏称为“</a:t>
            </a:r>
            <a:r>
              <a:rPr lang="zh-CN" altLang="en-US" sz="1800">
                <a:solidFill>
                  <a:srgbClr val="FF0000"/>
                </a:solidFill>
              </a:rPr>
              <a:t>印第安纳</a:t>
            </a:r>
            <a:r>
              <a:rPr lang="en-US" altLang="zh-CN" sz="1800">
                <a:solidFill>
                  <a:srgbClr val="FF0000"/>
                </a:solidFill>
              </a:rPr>
              <a:t>·</a:t>
            </a:r>
            <a:r>
              <a:rPr lang="zh-CN" altLang="en-US" sz="1800">
                <a:solidFill>
                  <a:srgbClr val="FF0000"/>
                </a:solidFill>
              </a:rPr>
              <a:t>琼斯学派的风险管理</a:t>
            </a:r>
            <a:r>
              <a:rPr lang="zh-CN" altLang="en-US" sz="1800"/>
              <a:t>”，印地安纳</a:t>
            </a:r>
            <a:r>
              <a:rPr lang="en-US" altLang="zh-CN" sz="1800"/>
              <a:t>·</a:t>
            </a:r>
            <a:r>
              <a:rPr lang="zh-CN" altLang="en-US" sz="1800"/>
              <a:t>琼斯在以其名字为片名的电影中，每当面临无法克服的困难时。总是一成不变地说；“</a:t>
            </a:r>
            <a:r>
              <a:rPr lang="zh-CN" altLang="en-US" sz="1800">
                <a:ea typeface="华文新魏" panose="02010800040101010101" pitchFamily="2" charset="-122"/>
              </a:rPr>
              <a:t>不要担心，我会想出办法来的</a:t>
            </a:r>
            <a:r>
              <a:rPr lang="zh-CN" altLang="en-US" sz="1800"/>
              <a:t>！”印地安纳</a:t>
            </a:r>
            <a:r>
              <a:rPr lang="en-US" altLang="zh-CN" sz="1800"/>
              <a:t>·</a:t>
            </a:r>
            <a:r>
              <a:rPr lang="zh-CN" altLang="en-US" sz="1800"/>
              <a:t>琼斯从不担心任何问题，直到风险发生，再做出</a:t>
            </a:r>
            <a:r>
              <a:rPr lang="zh-CN" altLang="en-US" sz="1800">
                <a:solidFill>
                  <a:srgbClr val="FF0000"/>
                </a:solidFill>
              </a:rPr>
              <a:t>英雄式</a:t>
            </a:r>
            <a:r>
              <a:rPr lang="zh-CN" altLang="en-US" sz="1800"/>
              <a:t>的反应。</a:t>
            </a:r>
            <a:r>
              <a:rPr lang="zh-CN" altLang="en-US" sz="1800" i="1">
                <a:solidFill>
                  <a:srgbClr val="FF0000"/>
                </a:solidFill>
                <a:ea typeface="微软雅黑" panose="020B0503020204020204" pitchFamily="34" charset="-122"/>
              </a:rPr>
              <a:t>车到山前必有路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被动风险策略</a:t>
            </a:r>
            <a:r>
              <a:rPr lang="zh-CN" altLang="en-US" sz="1800"/>
              <a:t>针对可能发生的风险来监测项目，</a:t>
            </a:r>
            <a:r>
              <a:rPr lang="zh-CN" altLang="en-US" sz="1800">
                <a:solidFill>
                  <a:srgbClr val="FF0000"/>
                </a:solidFill>
              </a:rPr>
              <a:t>直到风险发生时，才会抽出资源来处理它们</a:t>
            </a:r>
            <a:r>
              <a:rPr lang="zh-CN" altLang="en-US" sz="1800"/>
              <a:t>。对风险不闻不问，直至出现问题。这时，项目团队赶紧采取行动，试图迅速解决问题。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/>
              <a:t>缓解措施：为预期的救火行为 </a:t>
            </a:r>
            <a:r>
              <a:rPr lang="en-US" altLang="zh-CN" sz="1800"/>
              <a:t>(</a:t>
            </a:r>
            <a:r>
              <a:rPr lang="zh-CN" altLang="en-US" sz="1800"/>
              <a:t>救火模式</a:t>
            </a:r>
            <a:r>
              <a:rPr lang="en-US" altLang="zh-CN" sz="1800"/>
              <a:t>)</a:t>
            </a:r>
            <a:r>
              <a:rPr lang="zh-CN" altLang="en-US" sz="1800">
                <a:solidFill>
                  <a:srgbClr val="FF0000"/>
                </a:solidFill>
              </a:rPr>
              <a:t>安排额外资源；</a:t>
            </a:r>
            <a:endParaRPr lang="en-US" altLang="zh-CN" sz="1800"/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/>
              <a:t>纠正措施：运用资源去解决问题；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/>
              <a:t>危机管理：在危险发生在</a:t>
            </a:r>
            <a:r>
              <a:rPr lang="zh-CN" altLang="en-US" sz="1800">
                <a:solidFill>
                  <a:srgbClr val="FF0000"/>
                </a:solidFill>
              </a:rPr>
              <a:t>控制之外</a:t>
            </a:r>
            <a:r>
              <a:rPr lang="zh-CN" altLang="en-US" sz="1800"/>
              <a:t>时（很可能），项目将处于危机状态；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9950FB80-5546-07A0-5B3B-F4798FA742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1830FC-E00A-4B19-ABE6-0FCEA76B760B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A85C884-5848-ACE5-8BBE-B9463A33F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风险策略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05AE9CAF-380B-CB4D-C9AD-9D4B210B1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836613"/>
            <a:ext cx="8229600" cy="52562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>
                <a:solidFill>
                  <a:schemeClr val="accent2"/>
                </a:solidFill>
              </a:rPr>
              <a:t>主动风险</a:t>
            </a:r>
            <a:r>
              <a:rPr lang="zh-CN" altLang="en-US"/>
              <a:t>策略：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在</a:t>
            </a:r>
            <a:r>
              <a:rPr lang="zh-CN" altLang="en-US" sz="2200">
                <a:solidFill>
                  <a:srgbClr val="FF0000"/>
                </a:solidFill>
              </a:rPr>
              <a:t>技术工作开始之前</a:t>
            </a:r>
            <a:r>
              <a:rPr lang="zh-CN" altLang="en-US" sz="2200"/>
              <a:t>，就开始</a:t>
            </a:r>
            <a:r>
              <a:rPr lang="zh-CN" altLang="en-US" sz="2200">
                <a:solidFill>
                  <a:srgbClr val="FF0000"/>
                </a:solidFill>
              </a:rPr>
              <a:t>识别出潜在的风险</a:t>
            </a:r>
            <a:r>
              <a:rPr lang="zh-CN" altLang="en-US" sz="2200"/>
              <a:t>，</a:t>
            </a:r>
            <a:r>
              <a:rPr lang="zh-CN" altLang="en-US" sz="2200">
                <a:solidFill>
                  <a:srgbClr val="FF0000"/>
                </a:solidFill>
              </a:rPr>
              <a:t>评估</a:t>
            </a:r>
            <a:r>
              <a:rPr lang="zh-CN" altLang="en-US" sz="2200"/>
              <a:t>它们</a:t>
            </a:r>
            <a:r>
              <a:rPr lang="zh-CN" altLang="en-US" sz="2200">
                <a:solidFill>
                  <a:srgbClr val="FF0000"/>
                </a:solidFill>
              </a:rPr>
              <a:t>发生的概率</a:t>
            </a:r>
            <a:r>
              <a:rPr lang="zh-CN" altLang="en-US" sz="2200"/>
              <a:t>及影响，并按</a:t>
            </a:r>
            <a:r>
              <a:rPr lang="zh-CN" altLang="en-US" sz="2200">
                <a:solidFill>
                  <a:srgbClr val="FF0000"/>
                </a:solidFill>
              </a:rPr>
              <a:t>重要性排序</a:t>
            </a:r>
            <a:r>
              <a:rPr lang="zh-CN" altLang="en-US" sz="2200"/>
              <a:t>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然后，软件项目团队</a:t>
            </a:r>
            <a:r>
              <a:rPr lang="zh-CN" altLang="en-US" sz="2200">
                <a:solidFill>
                  <a:srgbClr val="FF0000"/>
                </a:solidFill>
              </a:rPr>
              <a:t>制定一个计划</a:t>
            </a:r>
            <a:r>
              <a:rPr lang="zh-CN" altLang="en-US" sz="2200"/>
              <a:t>来管理风险。计划的主要目标是</a:t>
            </a:r>
            <a:r>
              <a:rPr lang="zh-CN" altLang="en-US" sz="2200">
                <a:solidFill>
                  <a:srgbClr val="FF0000"/>
                </a:solidFill>
              </a:rPr>
              <a:t>回避风险</a:t>
            </a:r>
            <a:r>
              <a:rPr lang="zh-CN" altLang="en-US" sz="2200"/>
              <a:t>，但不是所有的风险都能够回避，所以，项目团队必须制定一个</a:t>
            </a:r>
            <a:r>
              <a:rPr lang="zh-CN" altLang="en-US" sz="2200">
                <a:solidFill>
                  <a:srgbClr val="FF0000"/>
                </a:solidFill>
              </a:rPr>
              <a:t>应急计划</a:t>
            </a:r>
            <a:r>
              <a:rPr lang="zh-CN" altLang="en-US" sz="2200"/>
              <a:t>，使其在必要时能够以</a:t>
            </a:r>
            <a:r>
              <a:rPr lang="zh-CN" altLang="en-US" sz="2200">
                <a:solidFill>
                  <a:srgbClr val="FF0000"/>
                </a:solidFill>
              </a:rPr>
              <a:t>可控和有效</a:t>
            </a:r>
            <a:r>
              <a:rPr lang="zh-CN" altLang="en-US" sz="2200"/>
              <a:t>的方式做出反应。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有正式的风险分析。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风险影响一般可控。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F6718FAE-9155-9AC8-BDA7-DF22CDA22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17BCDD5-37E9-49C5-9E29-0E4FB52FF432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05FD6F3-F346-96E5-8C02-F7A6712FD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25D9BDFA-79CF-03B6-03BB-22A1339E5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/>
              <a:t>26.1 </a:t>
            </a:r>
            <a:r>
              <a:rPr lang="zh-CN" altLang="en-US"/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26.2 </a:t>
            </a:r>
            <a:r>
              <a:rPr lang="zh-CN" altLang="en-US">
                <a:solidFill>
                  <a:srgbClr val="FF0000"/>
                </a:solidFill>
              </a:rPr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26.3 </a:t>
            </a:r>
            <a:r>
              <a:rPr lang="zh-CN" altLang="en-US"/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26.4 </a:t>
            </a:r>
            <a:r>
              <a:rPr lang="zh-CN" altLang="en-US"/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26.5 </a:t>
            </a:r>
            <a:r>
              <a:rPr lang="zh-CN" altLang="en-US"/>
              <a:t>风险求精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26.6 </a:t>
            </a:r>
            <a:r>
              <a:rPr lang="zh-CN" altLang="en-US"/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26.7 RMMM</a:t>
            </a:r>
            <a:r>
              <a:rPr lang="zh-CN" altLang="en-US"/>
              <a:t>计划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5E52EBD1-D9FA-132C-BC20-91340F697A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20C606A-0C32-46A8-A15E-31678A14E25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7A0ACDC-0E05-3625-F057-8D490F0CF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软件风险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E6083B6E-E273-2289-8753-A77EF2D7A1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具有</a:t>
            </a:r>
            <a:r>
              <a:rPr lang="zh-CN" altLang="en-US">
                <a:solidFill>
                  <a:schemeClr val="tx2"/>
                </a:solidFill>
              </a:rPr>
              <a:t>负面后果</a:t>
            </a:r>
            <a:r>
              <a:rPr lang="zh-CN" altLang="en-US"/>
              <a:t>、人们不希望发生的事件，包含</a:t>
            </a:r>
            <a:r>
              <a:rPr lang="zh-CN" altLang="en-US">
                <a:solidFill>
                  <a:srgbClr val="FF0000"/>
                </a:solidFill>
              </a:rPr>
              <a:t>两个特性</a:t>
            </a:r>
            <a:r>
              <a:rPr lang="zh-CN" altLang="en-US"/>
              <a:t>：</a:t>
            </a:r>
          </a:p>
          <a:p>
            <a:pPr lvl="1">
              <a:lnSpc>
                <a:spcPct val="150000"/>
              </a:lnSpc>
            </a:pPr>
            <a:r>
              <a:rPr lang="zh-CN" altLang="en-US" sz="2200">
                <a:solidFill>
                  <a:schemeClr val="accent2"/>
                </a:solidFill>
              </a:rPr>
              <a:t>不确定性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可能发生，也可能不发生</a:t>
            </a:r>
            <a:r>
              <a:rPr lang="zh-CN" altLang="en-US" sz="2200"/>
              <a:t>：</a:t>
            </a:r>
          </a:p>
          <a:p>
            <a:pPr lvl="2">
              <a:lnSpc>
                <a:spcPct val="150000"/>
              </a:lnSpc>
            </a:pPr>
            <a:r>
              <a:rPr lang="zh-CN" altLang="en-US" sz="2000"/>
              <a:t>事件发生的概率称为</a:t>
            </a:r>
            <a:r>
              <a:rPr lang="zh-CN" altLang="en-US" sz="2000">
                <a:solidFill>
                  <a:schemeClr val="accent2"/>
                </a:solidFill>
              </a:rPr>
              <a:t>风险概率</a:t>
            </a:r>
            <a:r>
              <a:rPr lang="zh-CN" altLang="en-US" sz="2000"/>
              <a:t>，当概率为</a:t>
            </a:r>
            <a:r>
              <a:rPr lang="en-US" altLang="zh-CN" sz="2000"/>
              <a:t>1</a:t>
            </a:r>
            <a:r>
              <a:rPr lang="zh-CN" altLang="en-US" sz="2000"/>
              <a:t>时，风险变成了必然发生的问题，不再称为风险。</a:t>
            </a:r>
          </a:p>
          <a:p>
            <a:pPr lvl="1">
              <a:lnSpc>
                <a:spcPct val="150000"/>
              </a:lnSpc>
            </a:pPr>
            <a:r>
              <a:rPr lang="zh-CN" altLang="en-US" sz="2200">
                <a:solidFill>
                  <a:schemeClr val="accent2"/>
                </a:solidFill>
              </a:rPr>
              <a:t>损失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具有负面后果，是不希望发生的事：</a:t>
            </a:r>
          </a:p>
          <a:p>
            <a:pPr lvl="2">
              <a:lnSpc>
                <a:spcPct val="150000"/>
              </a:lnSpc>
            </a:pPr>
            <a:r>
              <a:rPr lang="zh-CN" altLang="en-US" sz="2000">
                <a:latin typeface="宋体" panose="02010600030101010101" pitchFamily="2" charset="-122"/>
              </a:rPr>
              <a:t>与风险有关的损失称为</a:t>
            </a:r>
            <a:r>
              <a:rPr lang="zh-CN" altLang="en-US" sz="2000">
                <a:solidFill>
                  <a:schemeClr val="accent2"/>
                </a:solidFill>
                <a:latin typeface="宋体" panose="02010600030101010101" pitchFamily="2" charset="-122"/>
              </a:rPr>
              <a:t>风险影响。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</a:rPr>
              <a:t>进行风险分析时，重要的是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量化</a:t>
            </a:r>
            <a:r>
              <a:rPr lang="zh-CN" altLang="en-US">
                <a:latin typeface="宋体" panose="02010600030101010101" pitchFamily="2" charset="-122"/>
              </a:rPr>
              <a:t>每个风险的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不确定性</a:t>
            </a:r>
            <a:r>
              <a:rPr lang="zh-CN" altLang="en-US">
                <a:latin typeface="宋体" panose="02010600030101010101" pitchFamily="2" charset="-122"/>
              </a:rPr>
              <a:t>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损失程度：</a:t>
            </a:r>
          </a:p>
          <a:p>
            <a:pPr lvl="1">
              <a:lnSpc>
                <a:spcPct val="150000"/>
              </a:lnSpc>
            </a:pPr>
            <a:r>
              <a:rPr lang="zh-CN" altLang="en-US" sz="2200">
                <a:latin typeface="宋体" panose="02010600030101010101" pitchFamily="2" charset="-122"/>
              </a:rPr>
              <a:t>常要考虑</a:t>
            </a:r>
            <a:r>
              <a:rPr lang="zh-CN" altLang="en-US" sz="2200">
                <a:solidFill>
                  <a:schemeClr val="accent2"/>
                </a:solidFill>
                <a:latin typeface="宋体" panose="02010600030101010101" pitchFamily="2" charset="-122"/>
              </a:rPr>
              <a:t>风险控制</a:t>
            </a:r>
            <a:r>
              <a:rPr lang="zh-CN" altLang="en-US" sz="2200">
                <a:latin typeface="宋体" panose="02010600030101010101" pitchFamily="2" charset="-122"/>
              </a:rPr>
              <a:t>：降低或消除风险所采取的行动。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9E227F9A-1BF3-0BE3-7ADC-25192D6A38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61BE98-4294-439E-89F8-5D757658E8C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714E67D-9BE2-EBB2-A432-FCDE1FD66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软件风险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7E9C6A8B-B9BA-711B-28CD-5FA1AB66D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836614"/>
            <a:ext cx="8229600" cy="53292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/>
              <a:t>软件风险的类型：</a:t>
            </a:r>
          </a:p>
          <a:p>
            <a:pPr lvl="1">
              <a:lnSpc>
                <a:spcPct val="150000"/>
              </a:lnSpc>
            </a:pPr>
            <a:r>
              <a:rPr lang="zh-CN" altLang="en-US" sz="2000">
                <a:solidFill>
                  <a:srgbClr val="FF0066"/>
                </a:solidFill>
              </a:rPr>
              <a:t>项目风险</a:t>
            </a:r>
            <a:r>
              <a:rPr lang="zh-CN" altLang="en-US" sz="2000"/>
              <a:t>：威胁到项目计划，具体包括以下风险：</a:t>
            </a:r>
          </a:p>
          <a:p>
            <a:pPr lvl="2">
              <a:lnSpc>
                <a:spcPct val="150000"/>
              </a:lnSpc>
            </a:pPr>
            <a:r>
              <a:rPr lang="zh-CN" altLang="en-US" sz="1800"/>
              <a:t>预算、进度、人员、资源、利益相关方、需求、项目复杂度、规模及结构不确定性；</a:t>
            </a:r>
            <a:endParaRPr lang="en-US" altLang="zh-CN" sz="1800"/>
          </a:p>
          <a:p>
            <a:pPr lvl="1">
              <a:lnSpc>
                <a:spcPct val="150000"/>
              </a:lnSpc>
            </a:pPr>
            <a:r>
              <a:rPr lang="zh-CN" altLang="en-US" sz="2000">
                <a:solidFill>
                  <a:srgbClr val="FF0066"/>
                </a:solidFill>
              </a:rPr>
              <a:t>技术风险</a:t>
            </a:r>
            <a:r>
              <a:rPr lang="zh-CN" altLang="en-US" sz="2000"/>
              <a:t>：威胁到软件的质量及交付时间，具体包括以下风险：</a:t>
            </a:r>
          </a:p>
          <a:p>
            <a:pPr lvl="2">
              <a:lnSpc>
                <a:spcPct val="150000"/>
              </a:lnSpc>
            </a:pPr>
            <a:r>
              <a:rPr lang="zh-CN" altLang="en-US" sz="1800"/>
              <a:t>设计、实现、接口、验证和维护，规格说明中的歧义性、技术的不确定性、技术陈旧以及“前沿”技术；</a:t>
            </a:r>
            <a:endParaRPr lang="en-US" altLang="zh-CN" sz="1800"/>
          </a:p>
          <a:p>
            <a:pPr lvl="1">
              <a:lnSpc>
                <a:spcPct val="150000"/>
              </a:lnSpc>
            </a:pPr>
            <a:r>
              <a:rPr lang="zh-CN" altLang="en-US" sz="2000">
                <a:solidFill>
                  <a:srgbClr val="FF0066"/>
                </a:solidFill>
              </a:rPr>
              <a:t>商业风险</a:t>
            </a:r>
            <a:r>
              <a:rPr lang="zh-CN" altLang="en-US" sz="2000"/>
              <a:t>：威胁到软件的生存能力，具体包括以下风险：</a:t>
            </a:r>
          </a:p>
          <a:p>
            <a:pPr lvl="2">
              <a:lnSpc>
                <a:spcPct val="150000"/>
              </a:lnSpc>
            </a:pPr>
            <a:r>
              <a:rPr lang="zh-CN" altLang="en-US" sz="1800">
                <a:solidFill>
                  <a:srgbClr val="FF0000"/>
                </a:solidFill>
              </a:rPr>
              <a:t>市场 </a:t>
            </a:r>
            <a:r>
              <a:rPr lang="en-US" altLang="zh-CN" sz="1800"/>
              <a:t>(</a:t>
            </a:r>
            <a:r>
              <a:rPr lang="zh-CN" altLang="en-US" sz="1800"/>
              <a:t>开发没有人需要的产品</a:t>
            </a:r>
            <a:r>
              <a:rPr lang="en-US" altLang="zh-CN" sz="1800"/>
              <a:t>)</a:t>
            </a:r>
            <a:r>
              <a:rPr lang="zh-CN" altLang="en-US" sz="1800"/>
              <a:t>、</a:t>
            </a:r>
            <a:r>
              <a:rPr lang="zh-CN" altLang="en-US" sz="1800">
                <a:solidFill>
                  <a:srgbClr val="FF0000"/>
                </a:solidFill>
              </a:rPr>
              <a:t>策略 </a:t>
            </a:r>
            <a:r>
              <a:rPr lang="en-US" altLang="zh-CN" sz="1800"/>
              <a:t>(</a:t>
            </a:r>
            <a:r>
              <a:rPr lang="zh-CN" altLang="en-US" sz="1800"/>
              <a:t>产品不符合公司的整体商业策略</a:t>
            </a:r>
            <a:r>
              <a:rPr lang="en-US" altLang="zh-CN" sz="1800"/>
              <a:t>)</a:t>
            </a:r>
            <a:r>
              <a:rPr lang="zh-CN" altLang="en-US" sz="1800"/>
              <a:t>、</a:t>
            </a:r>
            <a:r>
              <a:rPr lang="zh-CN" altLang="en-US" sz="1800">
                <a:solidFill>
                  <a:srgbClr val="FF0000"/>
                </a:solidFill>
              </a:rPr>
              <a:t>销售 </a:t>
            </a:r>
            <a:r>
              <a:rPr lang="en-US" altLang="zh-CN" sz="1800"/>
              <a:t>(</a:t>
            </a:r>
            <a:r>
              <a:rPr lang="zh-CN" altLang="en-US" sz="1800"/>
              <a:t>销售人员不知道如何去销售的产品</a:t>
            </a:r>
            <a:r>
              <a:rPr lang="en-US" altLang="zh-CN" sz="1800"/>
              <a:t>)</a:t>
            </a:r>
            <a:r>
              <a:rPr lang="zh-CN" altLang="en-US" sz="1800"/>
              <a:t>、</a:t>
            </a:r>
            <a:r>
              <a:rPr lang="zh-CN" altLang="en-US" sz="1800">
                <a:solidFill>
                  <a:srgbClr val="FF0000"/>
                </a:solidFill>
              </a:rPr>
              <a:t>管理 </a:t>
            </a:r>
            <a:r>
              <a:rPr lang="en-US" altLang="zh-CN" sz="1800"/>
              <a:t>(</a:t>
            </a:r>
            <a:r>
              <a:rPr lang="zh-CN" altLang="en-US" sz="1800"/>
              <a:t>重点的转移、人员的变动以及失去高层支持</a:t>
            </a:r>
            <a:r>
              <a:rPr lang="en-US" altLang="zh-CN" sz="1800"/>
              <a:t>)</a:t>
            </a:r>
            <a:r>
              <a:rPr lang="zh-CN" altLang="en-US" sz="1800"/>
              <a:t>、</a:t>
            </a:r>
            <a:r>
              <a:rPr lang="zh-CN" altLang="en-US" sz="1800">
                <a:solidFill>
                  <a:srgbClr val="FF0000"/>
                </a:solidFill>
              </a:rPr>
              <a:t>预算 </a:t>
            </a:r>
            <a:r>
              <a:rPr lang="en-US" altLang="zh-CN" sz="1800"/>
              <a:t>(</a:t>
            </a:r>
            <a:r>
              <a:rPr lang="zh-CN" altLang="en-US" sz="1800"/>
              <a:t>没有得到预算或人员的保证</a:t>
            </a:r>
            <a:r>
              <a:rPr lang="en-US" altLang="zh-CN" sz="18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89C27A41-E259-9E8B-9BAF-4660BB7676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FE7E16-8B48-4BB4-B127-62D37C4D541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2AEBAEF-6002-CA75-04C5-AF773DDB3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风险类型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9C39B0D6-E223-E884-F8D6-A39076626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/>
              <a:t>另一种风险分类方法：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>
                <a:solidFill>
                  <a:schemeClr val="accent2"/>
                </a:solidFill>
              </a:rPr>
              <a:t>已知风险</a:t>
            </a:r>
            <a:r>
              <a:rPr lang="zh-CN" altLang="en-US" sz="2100"/>
              <a:t>：通过</a:t>
            </a:r>
            <a:r>
              <a:rPr lang="zh-CN" altLang="en-US" sz="2100">
                <a:solidFill>
                  <a:srgbClr val="FF0000"/>
                </a:solidFill>
              </a:rPr>
              <a:t>仔细评估</a:t>
            </a:r>
            <a:r>
              <a:rPr lang="zh-CN" altLang="en-US" sz="2100"/>
              <a:t>项目</a:t>
            </a:r>
            <a:r>
              <a:rPr lang="zh-CN" altLang="en-US" sz="2100">
                <a:solidFill>
                  <a:srgbClr val="FF0000"/>
                </a:solidFill>
              </a:rPr>
              <a:t>计划</a:t>
            </a:r>
            <a:r>
              <a:rPr lang="zh-CN" altLang="en-US" sz="2100"/>
              <a:t>、开发项目的</a:t>
            </a:r>
            <a:r>
              <a:rPr lang="zh-CN" altLang="en-US" sz="2100">
                <a:solidFill>
                  <a:srgbClr val="FF0000"/>
                </a:solidFill>
              </a:rPr>
              <a:t>商业及技术环境</a:t>
            </a:r>
            <a:r>
              <a:rPr lang="zh-CN" altLang="en-US" sz="2100"/>
              <a:t>、以及其他</a:t>
            </a:r>
            <a:r>
              <a:rPr lang="zh-CN" altLang="en-US" sz="2100">
                <a:solidFill>
                  <a:srgbClr val="FF0000"/>
                </a:solidFill>
              </a:rPr>
              <a:t>可靠的信息来源</a:t>
            </a:r>
            <a:r>
              <a:rPr lang="zh-CN" altLang="en-US" sz="2100"/>
              <a:t>之后</a:t>
            </a:r>
            <a:r>
              <a:rPr lang="zh-CN" altLang="en-US" sz="2100">
                <a:solidFill>
                  <a:srgbClr val="FF0000"/>
                </a:solidFill>
              </a:rPr>
              <a:t>可以发现的风险</a:t>
            </a:r>
            <a:r>
              <a:rPr lang="zh-CN" altLang="en-US" sz="2100"/>
              <a:t>，例如：不现实的交付时间、没有文档化需求、没有文档化软件范围、恶劣的开发环境；</a:t>
            </a:r>
            <a:endParaRPr lang="zh-CN" altLang="en-US" sz="210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>
                <a:solidFill>
                  <a:schemeClr val="accent2"/>
                </a:solidFill>
              </a:rPr>
              <a:t>可预测风险</a:t>
            </a:r>
            <a:r>
              <a:rPr lang="zh-CN" altLang="en-US" sz="2100"/>
              <a:t>：能够从过去项目的</a:t>
            </a:r>
            <a:r>
              <a:rPr lang="zh-CN" altLang="en-US" sz="2100">
                <a:solidFill>
                  <a:srgbClr val="FF0000"/>
                </a:solidFill>
              </a:rPr>
              <a:t>经验中推断</a:t>
            </a:r>
            <a:r>
              <a:rPr lang="zh-CN" altLang="en-US" sz="2100"/>
              <a:t>出来，例如：人员变动、与客户之间欠缺沟通、由于正在进行维护而使开发人员精力分散；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100">
                <a:solidFill>
                  <a:schemeClr val="accent2"/>
                </a:solidFill>
                <a:latin typeface="宋体" panose="02010600030101010101" pitchFamily="2" charset="-122"/>
              </a:rPr>
              <a:t>不可预测风险</a:t>
            </a:r>
            <a:r>
              <a:rPr lang="zh-CN" altLang="en-US" sz="2100">
                <a:latin typeface="宋体" panose="02010600030101010101" pitchFamily="2" charset="-122"/>
              </a:rPr>
              <a:t>：可能会出现，但很难事先识别出它们来。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10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>
            <a:extLst>
              <a:ext uri="{FF2B5EF4-FFF2-40B4-BE49-F238E27FC236}">
                <a16:creationId xmlns:a16="http://schemas.microsoft.com/office/drawing/2014/main" id="{C36224C1-310E-BE1D-32C9-56CAEC96C8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7896198-FBA1-45FD-87FF-07A5214381C1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2B29F10B-ECFF-9E42-F237-35F0A894A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风险管理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EF614AFE-4C5C-B933-5DA8-6DF3ADAB7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9" y="1052513"/>
            <a:ext cx="8353425" cy="50784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实施有效风险管理框架的七项原则：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保持全面观点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在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整个系统和商业环境</a:t>
            </a:r>
            <a:r>
              <a:rPr lang="zh-CN" altLang="en-US" sz="2200">
                <a:latin typeface="宋体" panose="02010600030101010101" pitchFamily="2" charset="-122"/>
              </a:rPr>
              <a:t>下考虑软件风险以及该软件要解决的业务问题</a:t>
            </a:r>
            <a:r>
              <a:rPr lang="zh-CN" altLang="en-US" sz="2200"/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采用长远观点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考虑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将来</a:t>
            </a:r>
            <a:r>
              <a:rPr lang="zh-CN" altLang="en-US" sz="2200">
                <a:latin typeface="宋体" panose="02010600030101010101" pitchFamily="2" charset="-122"/>
              </a:rPr>
              <a:t>可能发生的风险，并制定应急计划使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将来发生的事件成为可管理</a:t>
            </a:r>
            <a:r>
              <a:rPr lang="zh-CN" altLang="en-US" sz="2200">
                <a:latin typeface="宋体" panose="02010600030101010101" pitchFamily="2" charset="-122"/>
              </a:rPr>
              <a:t>的；</a:t>
            </a:r>
            <a:endParaRPr lang="zh-CN" altLang="en-US" sz="2200"/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鼓励广泛交流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如果有人以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正式的方式</a:t>
            </a:r>
            <a:r>
              <a:rPr lang="zh-CN" altLang="en-US" sz="2200">
                <a:latin typeface="宋体" panose="02010600030101010101" pitchFamily="2" charset="-122"/>
              </a:rPr>
              <a:t>提出潜在的风险，要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重视</a:t>
            </a:r>
            <a:r>
              <a:rPr lang="zh-CN" altLang="en-US" sz="2200">
                <a:latin typeface="宋体" panose="02010600030101010101" pitchFamily="2" charset="-122"/>
              </a:rPr>
              <a:t>它；如果以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非正式的方式</a:t>
            </a:r>
            <a:r>
              <a:rPr lang="zh-CN" altLang="en-US" sz="2200">
                <a:latin typeface="宋体" panose="02010600030101010101" pitchFamily="2" charset="-122"/>
              </a:rPr>
              <a:t>提出一个风险，要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考虑</a:t>
            </a:r>
            <a:r>
              <a:rPr lang="zh-CN" altLang="en-US" sz="2200">
                <a:latin typeface="宋体" panose="02010600030101010101" pitchFamily="2" charset="-122"/>
              </a:rPr>
              <a:t>它。任何时刻都要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鼓励</a:t>
            </a:r>
            <a:r>
              <a:rPr lang="zh-CN" altLang="en-US" sz="2200">
                <a:latin typeface="宋体" panose="02010600030101010101" pitchFamily="2" charset="-122"/>
              </a:rPr>
              <a:t>利益相关者和用户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提出风险；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2CAC7C57-B9B9-CCCF-93C0-81D0362240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F49B17E-93E8-4453-8976-E8A1D0E41A0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385E463-C517-2868-697A-C1F58E89A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实施有效风险管理框架的七项原则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4AAB5901-5488-1268-59AB-F8332DE1B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6" y="1341439"/>
            <a:ext cx="8435975" cy="4789487"/>
          </a:xfrm>
        </p:spPr>
        <p:txBody>
          <a:bodyPr/>
          <a:lstStyle/>
          <a:p>
            <a:pPr lvl="1"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结合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考虑风险时必须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与软件过程相结合；</a:t>
            </a:r>
            <a:r>
              <a:rPr lang="zh-CN" altLang="en-US" sz="2200"/>
              <a:t> 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强调持续的过程</a:t>
            </a:r>
            <a:r>
              <a:rPr lang="zh-CN" altLang="en-US" sz="2200"/>
              <a:t>：在整个软件过程中，团队必须保持警惕。随着信息量的增加，要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修改</a:t>
            </a:r>
            <a:r>
              <a:rPr lang="zh-CN" altLang="en-US" sz="2200"/>
              <a:t>已识别的风险；随着知识的积累，要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加入</a:t>
            </a:r>
            <a:r>
              <a:rPr lang="zh-CN" altLang="en-US" sz="2200"/>
              <a:t>新的风险；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开发共享的产品</a:t>
            </a:r>
            <a:r>
              <a:rPr lang="zh-CN" altLang="en-US" sz="2200"/>
              <a:t>：如果所有利益相关者</a:t>
            </a:r>
            <a:r>
              <a:rPr lang="zh-CN" altLang="en-US" sz="2200">
                <a:solidFill>
                  <a:srgbClr val="FF0000"/>
                </a:solidFill>
              </a:rPr>
              <a:t>共享相同版本</a:t>
            </a:r>
            <a:r>
              <a:rPr lang="zh-CN" altLang="en-US" sz="2200"/>
              <a:t>的软件产品，将更容易进行风险识别和评估；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鼓励协同工作</a:t>
            </a:r>
            <a:r>
              <a:rPr lang="zh-CN" altLang="en-US" sz="2200"/>
              <a:t>：</a:t>
            </a:r>
            <a:r>
              <a:rPr lang="zh-CN" altLang="en-US" sz="2200">
                <a:latin typeface="宋体" panose="02010600030101010101" pitchFamily="2" charset="-122"/>
              </a:rPr>
              <a:t>汇聚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所有利益相关者</a:t>
            </a:r>
            <a:r>
              <a:rPr lang="zh-CN" altLang="en-US" sz="2200">
                <a:latin typeface="宋体" panose="02010600030101010101" pitchFamily="2" charset="-122"/>
              </a:rPr>
              <a:t>的智慧、技能和知识；</a:t>
            </a:r>
            <a:endParaRPr lang="zh-CN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E921F806-AD3E-AC21-58F8-78F6D1626E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EB7743-9678-4E57-AB79-512580F0C1FC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8CBCCDB-FBC5-75B8-248B-09F0AE395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558800"/>
          </a:xfrm>
        </p:spPr>
        <p:txBody>
          <a:bodyPr/>
          <a:lstStyle/>
          <a:p>
            <a:r>
              <a:rPr lang="zh-CN" altLang="en-US"/>
              <a:t>风险管理的作用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2018FFD9-2AEB-EB93-DFC8-2004A6B5C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31900"/>
            <a:ext cx="8229600" cy="47180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/>
              <a:t>风险管理的</a:t>
            </a:r>
            <a:r>
              <a:rPr lang="en-US" altLang="zh-CN" sz="3200"/>
              <a:t>4</a:t>
            </a:r>
            <a:r>
              <a:rPr lang="zh-CN" altLang="en-US" sz="3200"/>
              <a:t>个主要作用：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提高项目的</a:t>
            </a:r>
            <a:r>
              <a:rPr lang="zh-CN" altLang="en-US" sz="2800">
                <a:solidFill>
                  <a:srgbClr val="FF0000"/>
                </a:solidFill>
              </a:rPr>
              <a:t>成功率；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保证风险发生时的</a:t>
            </a:r>
            <a:r>
              <a:rPr lang="zh-CN" altLang="en-US" sz="2800">
                <a:solidFill>
                  <a:srgbClr val="FF0000"/>
                </a:solidFill>
              </a:rPr>
              <a:t>及时反应；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增加团队的</a:t>
            </a:r>
            <a:r>
              <a:rPr lang="zh-CN" altLang="en-US" sz="2800">
                <a:solidFill>
                  <a:srgbClr val="FF0000"/>
                </a:solidFill>
              </a:rPr>
              <a:t>健壮性</a:t>
            </a:r>
            <a:r>
              <a:rPr lang="zh-CN" altLang="en-US" sz="2800"/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帮助项目经理</a:t>
            </a:r>
            <a:r>
              <a:rPr lang="zh-CN" altLang="en-US" sz="2800">
                <a:solidFill>
                  <a:srgbClr val="FF0000"/>
                </a:solidFill>
              </a:rPr>
              <a:t>抓住工作重点；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2C8FD34F-814E-CF82-CF7F-10D094A5A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8B58B0-80B1-4B64-A4D9-6853998D3F1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E498CFF-FABA-2DD3-E685-20E0FEA00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E5E82DF-43C2-87AB-4616-A5523BB0E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/>
              <a:t>26.1 </a:t>
            </a:r>
            <a:r>
              <a:rPr lang="zh-CN" altLang="en-US"/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26.2 </a:t>
            </a:r>
            <a:r>
              <a:rPr lang="zh-CN" altLang="en-US"/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26.3 </a:t>
            </a:r>
            <a:r>
              <a:rPr lang="zh-CN" altLang="en-US">
                <a:solidFill>
                  <a:srgbClr val="FF0000"/>
                </a:solidFill>
              </a:rPr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26.4 </a:t>
            </a:r>
            <a:r>
              <a:rPr lang="zh-CN" altLang="en-US"/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26.5 </a:t>
            </a:r>
            <a:r>
              <a:rPr lang="zh-CN" altLang="en-US"/>
              <a:t>风险求精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26.6 </a:t>
            </a:r>
            <a:r>
              <a:rPr lang="zh-CN" altLang="en-US"/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26.7 RMMM</a:t>
            </a:r>
            <a:r>
              <a:rPr lang="zh-CN" altLang="en-US"/>
              <a:t>计划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EB7B45A8-286D-F273-15A2-8FE0160F6A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24D99E-A1DE-438E-BA0D-9439872E560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4ED5228-206C-2753-106D-3CCEBA766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9AC018DD-285C-E477-77CE-AC882C0B7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268413"/>
            <a:ext cx="8229600" cy="48625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风险识别</a:t>
            </a:r>
            <a:r>
              <a:rPr lang="zh-CN" altLang="en-US" sz="2200"/>
              <a:t>试图</a:t>
            </a:r>
            <a:r>
              <a:rPr lang="zh-CN" altLang="en-US" sz="2200">
                <a:solidFill>
                  <a:srgbClr val="FF0000"/>
                </a:solidFill>
              </a:rPr>
              <a:t>系统化</a:t>
            </a:r>
            <a:r>
              <a:rPr lang="zh-CN" altLang="en-US" sz="2200"/>
              <a:t>地指出对</a:t>
            </a:r>
            <a:r>
              <a:rPr lang="zh-CN" altLang="en-US" sz="2200">
                <a:solidFill>
                  <a:srgbClr val="FF0000"/>
                </a:solidFill>
              </a:rPr>
              <a:t>项目计划 </a:t>
            </a:r>
            <a:r>
              <a:rPr lang="en-US" altLang="zh-CN" sz="2200"/>
              <a:t>(</a:t>
            </a:r>
            <a:r>
              <a:rPr lang="zh-CN" altLang="en-US" sz="2200"/>
              <a:t>估算、进度、资源分配等</a:t>
            </a:r>
            <a:r>
              <a:rPr lang="en-US" altLang="zh-CN" sz="2200"/>
              <a:t>)</a:t>
            </a:r>
            <a:r>
              <a:rPr lang="zh-CN" altLang="en-US" sz="2200"/>
              <a:t>的</a:t>
            </a:r>
            <a:r>
              <a:rPr lang="zh-CN" altLang="en-US" sz="2200">
                <a:solidFill>
                  <a:srgbClr val="FF0000"/>
                </a:solidFill>
              </a:rPr>
              <a:t>威胁</a:t>
            </a:r>
            <a:r>
              <a:rPr lang="zh-CN" altLang="en-US" sz="2200"/>
              <a:t>。识别出已知风险和可预测风险后，项目管理者首先要做的是在可能时</a:t>
            </a:r>
            <a:r>
              <a:rPr lang="zh-CN" altLang="en-US" sz="2200">
                <a:solidFill>
                  <a:srgbClr val="FF0000"/>
                </a:solidFill>
              </a:rPr>
              <a:t>回避</a:t>
            </a:r>
            <a:r>
              <a:rPr lang="zh-CN" altLang="en-US" sz="2200"/>
              <a:t>这些风险，在必要时</a:t>
            </a:r>
            <a:r>
              <a:rPr lang="zh-CN" altLang="en-US" sz="2200">
                <a:solidFill>
                  <a:srgbClr val="FF0000"/>
                </a:solidFill>
              </a:rPr>
              <a:t>控制</a:t>
            </a:r>
            <a:r>
              <a:rPr lang="zh-CN" altLang="en-US" sz="2200"/>
              <a:t>这些风险。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每一类风险又可以分为两个不同的类型：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一般风险</a:t>
            </a:r>
            <a:r>
              <a:rPr lang="zh-CN" altLang="en-US" sz="2000"/>
              <a:t>对每一个软件项目而言都是潜在的威胁。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产品特定的风险</a:t>
            </a:r>
            <a:r>
              <a:rPr lang="zh-CN" altLang="en-US" sz="2000"/>
              <a:t>只有那些对当前项目</a:t>
            </a:r>
            <a:r>
              <a:rPr lang="zh-CN" altLang="en-US" sz="2000">
                <a:solidFill>
                  <a:srgbClr val="FF0000"/>
                </a:solidFill>
              </a:rPr>
              <a:t>特定的技术</a:t>
            </a:r>
            <a:r>
              <a:rPr lang="zh-CN" altLang="en-US" sz="2000"/>
              <a:t>、</a:t>
            </a:r>
            <a:r>
              <a:rPr lang="zh-CN" altLang="en-US" sz="2000">
                <a:solidFill>
                  <a:srgbClr val="FF0000"/>
                </a:solidFill>
              </a:rPr>
              <a:t>人员</a:t>
            </a:r>
            <a:r>
              <a:rPr lang="zh-CN" altLang="en-US" sz="2000"/>
              <a:t>及</a:t>
            </a:r>
            <a:r>
              <a:rPr lang="zh-CN" altLang="en-US" sz="2000">
                <a:solidFill>
                  <a:srgbClr val="FF0000"/>
                </a:solidFill>
              </a:rPr>
              <a:t>环境</a:t>
            </a:r>
            <a:r>
              <a:rPr lang="zh-CN" altLang="en-US" sz="2000"/>
              <a:t>非常了解的人才能识别出来。为了识别产品特定的风险，必须检查项目</a:t>
            </a:r>
            <a:r>
              <a:rPr lang="zh-CN" altLang="en-US" sz="2000">
                <a:solidFill>
                  <a:srgbClr val="FF0000"/>
                </a:solidFill>
              </a:rPr>
              <a:t>计划</a:t>
            </a:r>
            <a:r>
              <a:rPr lang="zh-CN" altLang="en-US" sz="2000"/>
              <a:t>及软件</a:t>
            </a:r>
            <a:r>
              <a:rPr lang="zh-CN" altLang="en-US" sz="2000">
                <a:solidFill>
                  <a:srgbClr val="FF0000"/>
                </a:solidFill>
              </a:rPr>
              <a:t>范围说明</a:t>
            </a:r>
            <a:r>
              <a:rPr lang="zh-CN" altLang="en-US" sz="20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1F72B5EF-56A2-7426-CC21-B16F365959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F5F402-908C-47FD-A0B6-2C13FEB4645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1C72C22-CB9A-4ACB-D627-D614A3C4A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12C119CD-DB9D-4599-344A-5662E07BD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9288" y="836613"/>
            <a:ext cx="8424862" cy="52943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40000"/>
              </a:spcBef>
            </a:pPr>
            <a:r>
              <a:rPr lang="zh-CN" altLang="en-US" sz="2100"/>
              <a:t>识别方法：</a:t>
            </a:r>
            <a:r>
              <a:rPr lang="zh-CN" altLang="en-US" sz="2100">
                <a:solidFill>
                  <a:srgbClr val="FF0000"/>
                </a:solidFill>
              </a:rPr>
              <a:t>建立风险条目检查表，</a:t>
            </a:r>
            <a:r>
              <a:rPr lang="zh-CN" altLang="en-US" sz="2100"/>
              <a:t>该检查表可用于风险识别，并且主要用来</a:t>
            </a:r>
            <a:r>
              <a:rPr lang="zh-CN" altLang="en-US" sz="2100">
                <a:solidFill>
                  <a:srgbClr val="FF0000"/>
                </a:solidFill>
              </a:rPr>
              <a:t>识别</a:t>
            </a:r>
            <a:r>
              <a:rPr lang="zh-CN" altLang="en-US" sz="2100"/>
              <a:t>下列几种类型中的一些</a:t>
            </a:r>
            <a:r>
              <a:rPr lang="zh-CN" altLang="en-US" sz="2100">
                <a:solidFill>
                  <a:srgbClr val="FF0000"/>
                </a:solidFill>
              </a:rPr>
              <a:t>已知风险</a:t>
            </a:r>
            <a:r>
              <a:rPr lang="zh-CN" altLang="en-US" sz="2100"/>
              <a:t>和</a:t>
            </a:r>
            <a:r>
              <a:rPr lang="zh-CN" altLang="en-US" sz="2100">
                <a:solidFill>
                  <a:srgbClr val="FF0000"/>
                </a:solidFill>
              </a:rPr>
              <a:t>可预测风险</a:t>
            </a:r>
            <a:r>
              <a:rPr lang="zh-CN" altLang="en-US" sz="2100"/>
              <a:t>：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产品规模</a:t>
            </a:r>
            <a:r>
              <a:rPr lang="zh-CN" altLang="en-US" sz="1800"/>
              <a:t>。与要</a:t>
            </a:r>
            <a:r>
              <a:rPr lang="zh-CN" altLang="en-US" sz="1800">
                <a:solidFill>
                  <a:srgbClr val="FF0000"/>
                </a:solidFill>
              </a:rPr>
              <a:t>开发或要修改</a:t>
            </a:r>
            <a:r>
              <a:rPr lang="zh-CN" altLang="en-US" sz="1800"/>
              <a:t>的软件的</a:t>
            </a:r>
            <a:r>
              <a:rPr lang="zh-CN" altLang="en-US" sz="1800">
                <a:solidFill>
                  <a:srgbClr val="FF0000"/>
                </a:solidFill>
              </a:rPr>
              <a:t>总体规模</a:t>
            </a:r>
            <a:r>
              <a:rPr lang="zh-CN" altLang="en-US" sz="1800"/>
              <a:t>相关的风险。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商业影响</a:t>
            </a:r>
            <a:r>
              <a:rPr lang="zh-CN" altLang="en-US" sz="1800"/>
              <a:t>。与管理者或市场所施加的</a:t>
            </a:r>
            <a:r>
              <a:rPr lang="zh-CN" altLang="en-US" sz="1800">
                <a:solidFill>
                  <a:srgbClr val="FF0000"/>
                </a:solidFill>
              </a:rPr>
              <a:t>约束</a:t>
            </a:r>
            <a:r>
              <a:rPr lang="zh-CN" altLang="en-US" sz="1800"/>
              <a:t>相关的风险。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客户特性</a:t>
            </a:r>
            <a:r>
              <a:rPr lang="zh-CN" altLang="en-US" sz="1800"/>
              <a:t>。与客户的</a:t>
            </a:r>
            <a:r>
              <a:rPr lang="zh-CN" altLang="en-US" sz="1800">
                <a:solidFill>
                  <a:srgbClr val="FF0000"/>
                </a:solidFill>
              </a:rPr>
              <a:t>素质</a:t>
            </a:r>
            <a:r>
              <a:rPr lang="zh-CN" altLang="en-US" sz="1800"/>
              <a:t>以及开发者和客户定期</a:t>
            </a:r>
            <a:r>
              <a:rPr lang="zh-CN" altLang="en-US" sz="1800">
                <a:solidFill>
                  <a:srgbClr val="FF0000"/>
                </a:solidFill>
              </a:rPr>
              <a:t>沟通的能力</a:t>
            </a:r>
            <a:r>
              <a:rPr lang="zh-CN" altLang="en-US" sz="1800"/>
              <a:t>相关的风险。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过程定义</a:t>
            </a:r>
            <a:r>
              <a:rPr lang="zh-CN" altLang="en-US" sz="1800"/>
              <a:t>。与软件过程</a:t>
            </a:r>
            <a:r>
              <a:rPr lang="zh-CN" altLang="en-US" sz="1800">
                <a:solidFill>
                  <a:srgbClr val="FF0000"/>
                </a:solidFill>
              </a:rPr>
              <a:t>定义的程度</a:t>
            </a:r>
            <a:r>
              <a:rPr lang="zh-CN" altLang="en-US" sz="1800"/>
              <a:t>以及该过程被开发组织</a:t>
            </a:r>
            <a:r>
              <a:rPr lang="zh-CN" altLang="en-US" sz="1800">
                <a:solidFill>
                  <a:srgbClr val="FF0000"/>
                </a:solidFill>
              </a:rPr>
              <a:t>遵守的程度</a:t>
            </a:r>
            <a:r>
              <a:rPr lang="zh-CN" altLang="en-US" sz="1800"/>
              <a:t>相关的风险。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开发环境</a:t>
            </a:r>
            <a:r>
              <a:rPr lang="zh-CN" altLang="en-US" sz="1800"/>
              <a:t>。与用来开发产品的</a:t>
            </a:r>
            <a:r>
              <a:rPr lang="zh-CN" altLang="en-US" sz="1800">
                <a:solidFill>
                  <a:srgbClr val="FF0000"/>
                </a:solidFill>
              </a:rPr>
              <a:t>工具的可得性</a:t>
            </a:r>
            <a:r>
              <a:rPr lang="zh-CN" altLang="en-US" sz="1800"/>
              <a:t>及</a:t>
            </a:r>
            <a:r>
              <a:rPr lang="zh-CN" altLang="en-US" sz="1800">
                <a:solidFill>
                  <a:srgbClr val="FF0000"/>
                </a:solidFill>
              </a:rPr>
              <a:t>质量相关</a:t>
            </a:r>
            <a:r>
              <a:rPr lang="zh-CN" altLang="en-US" sz="1800"/>
              <a:t>的风险。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开发技术</a:t>
            </a:r>
            <a:r>
              <a:rPr lang="zh-CN" altLang="en-US" sz="1800"/>
              <a:t>。与待开发软件的</a:t>
            </a:r>
            <a:r>
              <a:rPr lang="zh-CN" altLang="en-US" sz="1800">
                <a:solidFill>
                  <a:srgbClr val="FF0000"/>
                </a:solidFill>
              </a:rPr>
              <a:t>复杂性</a:t>
            </a:r>
            <a:r>
              <a:rPr lang="zh-CN" altLang="en-US" sz="1800"/>
              <a:t>及系统包含技术“</a:t>
            </a:r>
            <a:r>
              <a:rPr lang="zh-CN" altLang="en-US" sz="1800">
                <a:solidFill>
                  <a:srgbClr val="FF0000"/>
                </a:solidFill>
              </a:rPr>
              <a:t>新奇性</a:t>
            </a:r>
            <a:r>
              <a:rPr lang="en-US" altLang="zh-CN" sz="1800"/>
              <a:t>”</a:t>
            </a:r>
            <a:r>
              <a:rPr lang="zh-CN" altLang="en-US" sz="1800"/>
              <a:t>相关的风险。</a:t>
            </a:r>
          </a:p>
          <a:p>
            <a:pPr lvl="1">
              <a:lnSpc>
                <a:spcPct val="150000"/>
              </a:lnSpc>
              <a:spcBef>
                <a:spcPct val="40000"/>
              </a:spcBef>
            </a:pPr>
            <a:r>
              <a:rPr lang="zh-CN" altLang="en-US" sz="1800">
                <a:solidFill>
                  <a:srgbClr val="FF0000"/>
                </a:solidFill>
              </a:rPr>
              <a:t>人员才干及经验</a:t>
            </a:r>
            <a:r>
              <a:rPr lang="zh-CN" altLang="en-US" sz="1800"/>
              <a:t>。与软件工程师的总体技术</a:t>
            </a:r>
            <a:r>
              <a:rPr lang="zh-CN" altLang="en-US" sz="1800">
                <a:solidFill>
                  <a:srgbClr val="FF0000"/>
                </a:solidFill>
              </a:rPr>
              <a:t>水平</a:t>
            </a:r>
            <a:r>
              <a:rPr lang="zh-CN" altLang="en-US" sz="1800"/>
              <a:t>及项目</a:t>
            </a:r>
            <a:r>
              <a:rPr lang="zh-CN" altLang="en-US" sz="1800">
                <a:solidFill>
                  <a:srgbClr val="FF0000"/>
                </a:solidFill>
              </a:rPr>
              <a:t>经验</a:t>
            </a:r>
            <a:r>
              <a:rPr lang="zh-CN" altLang="en-US" sz="1800"/>
              <a:t>相关的风险。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CE2542DC-67AC-4B3C-88CF-2DB65443A0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B8B479E-5EF3-4AA2-9A6F-7E7C944F7B5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1FAC3B8-FF81-8CB3-3B38-E31557ECF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1BA1399A-6575-0B58-D4C6-F81C23DDF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5538"/>
            <a:ext cx="8229600" cy="48625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</a:rPr>
              <a:t>与规模相关的风险：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对于估算出的产品规模的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信任程度</a:t>
            </a:r>
            <a:r>
              <a:rPr lang="zh-CN" altLang="en-US" sz="2100">
                <a:latin typeface="宋体" panose="02010600030101010101" pitchFamily="2" charset="-122"/>
              </a:rPr>
              <a:t>如何；</a:t>
            </a:r>
            <a:r>
              <a:rPr lang="zh-CN" altLang="en-US" sz="2100"/>
              <a:t> 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是否以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程序</a:t>
            </a:r>
            <a:r>
              <a:rPr lang="zh-CN" altLang="en-US" sz="2100">
                <a:latin typeface="宋体" panose="02010600030101010101" pitchFamily="2" charset="-122"/>
              </a:rPr>
              <a:t>、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文件</a:t>
            </a:r>
            <a:r>
              <a:rPr lang="zh-CN" altLang="en-US" sz="2100">
                <a:latin typeface="宋体" panose="02010600030101010101" pitchFamily="2" charset="-122"/>
              </a:rPr>
              <a:t>或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事务处理</a:t>
            </a:r>
            <a:r>
              <a:rPr lang="zh-CN" altLang="en-US" sz="2100">
                <a:latin typeface="宋体" panose="02010600030101010101" pitchFamily="2" charset="-122"/>
              </a:rPr>
              <a:t>的数目来估算产品规模；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产品规模与以前产品的规模的平均值的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偏差</a:t>
            </a:r>
            <a:r>
              <a:rPr lang="zh-CN" altLang="en-US" sz="2100">
                <a:latin typeface="宋体" panose="02010600030101010101" pitchFamily="2" charset="-122"/>
              </a:rPr>
              <a:t>百分比是多少；</a:t>
            </a:r>
            <a:r>
              <a:rPr lang="zh-CN" altLang="en-US" sz="2100"/>
              <a:t> 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产品创建或使用的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数据库</a:t>
            </a:r>
            <a:r>
              <a:rPr lang="zh-CN" altLang="en-US" sz="2100">
                <a:latin typeface="宋体" panose="02010600030101010101" pitchFamily="2" charset="-122"/>
              </a:rPr>
              <a:t>大小如何；</a:t>
            </a:r>
            <a:r>
              <a:rPr lang="zh-CN" altLang="en-US" sz="2100"/>
              <a:t> 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产品的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需求改变</a:t>
            </a:r>
            <a:r>
              <a:rPr lang="zh-CN" altLang="en-US" sz="2100">
                <a:latin typeface="宋体" panose="02010600030101010101" pitchFamily="2" charset="-122"/>
              </a:rPr>
              <a:t>多少？交付之前有多少？交付之后有多少？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复用</a:t>
            </a:r>
            <a:r>
              <a:rPr lang="zh-CN" altLang="en-US" sz="2100">
                <a:latin typeface="宋体" panose="02010600030101010101" pitchFamily="2" charset="-122"/>
              </a:rPr>
              <a:t>的软件有多少？</a:t>
            </a:r>
            <a:r>
              <a:rPr lang="zh-CN" altLang="en-US" sz="21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CA74CCC9-9B3B-5325-1A6C-D6E629605B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246DF56-5DD6-4E1B-AF58-F6C51B8082B8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CCEFDAF-0361-16C1-B14C-51B4323C9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F9325816-25F8-15CB-B0E6-475A3EE34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871538"/>
            <a:ext cx="8229600" cy="53657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25000"/>
              </a:spcBef>
            </a:pPr>
            <a:r>
              <a:rPr lang="zh-CN" altLang="en-US" sz="2300">
                <a:latin typeface="宋体" panose="02010600030101010101" pitchFamily="2" charset="-122"/>
              </a:rPr>
              <a:t>客户相关风险：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以前是否曾与这个客户合作过；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客户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是否清楚需要什么</a:t>
            </a:r>
            <a:r>
              <a:rPr lang="zh-CN" altLang="en-US" sz="21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他能否花时间把需求写出来；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客户是否同意召开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正式的需求收集会议</a:t>
            </a:r>
            <a:r>
              <a:rPr lang="zh-CN" altLang="en-US" sz="2100">
                <a:latin typeface="宋体" panose="02010600030101010101" pitchFamily="2" charset="-122"/>
              </a:rPr>
              <a:t>，以确定项目范围；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客户是否愿意建立与开发者之间的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快速通信渠道</a:t>
            </a:r>
            <a:r>
              <a:rPr lang="zh-CN" altLang="en-US" sz="21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客户是否愿意参加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评审</a:t>
            </a:r>
            <a:r>
              <a:rPr lang="zh-CN" altLang="en-US" sz="2100">
                <a:latin typeface="宋体" panose="02010600030101010101" pitchFamily="2" charset="-122"/>
              </a:rPr>
              <a:t>工作；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客户是否具有该产品领域的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技术素养</a:t>
            </a:r>
            <a:r>
              <a:rPr lang="zh-CN" altLang="en-US" sz="21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25000"/>
              </a:spcBef>
            </a:pPr>
            <a:r>
              <a:rPr lang="zh-CN" altLang="en-US" sz="2100">
                <a:latin typeface="宋体" panose="02010600030101010101" pitchFamily="2" charset="-122"/>
              </a:rPr>
              <a:t>客户是否</a:t>
            </a:r>
            <a:r>
              <a:rPr lang="zh-CN" altLang="en-US" sz="2100">
                <a:solidFill>
                  <a:srgbClr val="FF0000"/>
                </a:solidFill>
                <a:latin typeface="宋体" panose="02010600030101010101" pitchFamily="2" charset="-122"/>
              </a:rPr>
              <a:t>了解软件过程</a:t>
            </a:r>
            <a:r>
              <a:rPr lang="zh-CN" altLang="en-US" sz="2100">
                <a:latin typeface="宋体" panose="0201060003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A3E95E29-3AB0-53AB-1813-B1AB7B6082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A329030-B6C7-4584-BCBC-AD2AA49CBC5C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4C42C61-5B9E-EAD9-1626-FF663CF89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4CB2E04A-CE02-4CA9-CBC3-026416BFE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45000"/>
              </a:spcBef>
            </a:pPr>
            <a:r>
              <a:rPr lang="zh-CN" altLang="en-US">
                <a:latin typeface="宋体" panose="02010600030101010101" pitchFamily="2" charset="-122"/>
              </a:rPr>
              <a:t>过程风险：</a:t>
            </a: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是否已经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拟定</a:t>
            </a:r>
            <a:r>
              <a:rPr lang="zh-CN" altLang="en-US" sz="2000">
                <a:latin typeface="宋体" panose="02010600030101010101" pitchFamily="2" charset="-122"/>
              </a:rPr>
              <a:t>了成文的、用于本项目开发的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软件过程说明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开发人员是否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同意</a:t>
            </a:r>
            <a:r>
              <a:rPr lang="zh-CN" altLang="en-US" sz="2000">
                <a:latin typeface="宋体" panose="02010600030101010101" pitchFamily="2" charset="-122"/>
              </a:rPr>
              <a:t>按照文档所写的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软件过程进行开发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  <a:endParaRPr lang="zh-CN" altLang="en-US" sz="200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是否定期对需求、设计和编码进行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正式技术评审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  <a:endParaRPr lang="zh-CN" altLang="en-US" sz="200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是否使用方便易用的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规格说明</a:t>
            </a:r>
            <a:r>
              <a:rPr lang="zh-CN" altLang="en-US" sz="2000">
                <a:latin typeface="宋体" panose="02010600030101010101" pitchFamily="2" charset="-122"/>
              </a:rPr>
              <a:t>技术辅助客户与开发者间的通信； </a:t>
            </a: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是否</a:t>
            </a:r>
            <a:r>
              <a:rPr lang="en-US" altLang="zh-CN" sz="2000">
                <a:latin typeface="宋体" panose="02010600030101010101" pitchFamily="2" charset="-122"/>
              </a:rPr>
              <a:t>90</a:t>
            </a:r>
            <a:r>
              <a:rPr lang="zh-CN" altLang="en-US" sz="2000">
                <a:latin typeface="宋体" panose="02010600030101010101" pitchFamily="2" charset="-122"/>
              </a:rPr>
              <a:t>％以上的代码都是使用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高级语言</a:t>
            </a:r>
            <a:r>
              <a:rPr lang="zh-CN" altLang="en-US" sz="2000">
                <a:latin typeface="宋体" panose="02010600030101010101" pitchFamily="2" charset="-122"/>
              </a:rPr>
              <a:t>编写的；</a:t>
            </a:r>
            <a:r>
              <a:rPr lang="zh-CN" altLang="en-US" sz="2000"/>
              <a:t> 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是否定义及使用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特定的规则</a:t>
            </a:r>
            <a:r>
              <a:rPr lang="zh-CN" altLang="en-US" sz="2000">
                <a:latin typeface="宋体" panose="02010600030101010101" pitchFamily="2" charset="-122"/>
              </a:rPr>
              <a:t>进行代码编写；</a:t>
            </a:r>
            <a:r>
              <a:rPr lang="zh-CN" altLang="en-US" sz="2000"/>
              <a:t> </a:t>
            </a:r>
            <a:r>
              <a:rPr lang="zh-CN" altLang="en-US" sz="2000">
                <a:latin typeface="宋体" panose="02010600030101010101" pitchFamily="2" charset="-122"/>
              </a:rPr>
              <a:t> </a:t>
            </a:r>
          </a:p>
          <a:p>
            <a:pPr lvl="1">
              <a:lnSpc>
                <a:spcPct val="150000"/>
              </a:lnSpc>
              <a:spcBef>
                <a:spcPct val="45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是否收集所有软件项目的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质量度量值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B172D029-2C43-A69D-DB23-BC0CF1C19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35FC57-DE4B-4675-9DAE-C533BBF5224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AAF0C97-092B-7C75-5020-725A84885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F9045EDF-88BA-B03E-F6CE-E6B295703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技术风险：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该技术对于你的公司而言是新的吗；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待开发软件是否需使用新的或未经证实的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硬件接口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待开发软件是否需使用开发商提供的未经证实的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软件产品接口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需求是否要求开发某些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程序构件</a:t>
            </a:r>
            <a:r>
              <a:rPr lang="zh-CN" altLang="en-US" sz="2000">
                <a:latin typeface="宋体" panose="02010600030101010101" pitchFamily="2" charset="-122"/>
              </a:rPr>
              <a:t>，这些构件与你的公司以前开发的构件完全不同；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需求中是否要求使用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非传统</a:t>
            </a:r>
            <a:r>
              <a:rPr lang="zh-CN" altLang="en-US" sz="2000">
                <a:latin typeface="宋体" panose="02010600030101010101" pitchFamily="2" charset="-122"/>
              </a:rPr>
              <a:t>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软件开发方法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>
                <a:latin typeface="宋体" panose="02010600030101010101" pitchFamily="2" charset="-122"/>
              </a:rPr>
              <a:t>需求中是否有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过分的</a:t>
            </a:r>
            <a:r>
              <a:rPr lang="zh-CN" altLang="en-US" sz="2000">
                <a:latin typeface="宋体" panose="02010600030101010101" pitchFamily="2" charset="-122"/>
              </a:rPr>
              <a:t>对产品性能的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约束</a:t>
            </a:r>
            <a:r>
              <a:rPr lang="zh-CN" altLang="en-US" sz="2000">
                <a:latin typeface="宋体" panose="0201060003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AAAD2519-6BC8-4E1E-5C2D-AD2EAE1FA1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14FAC-293F-45FF-82CB-E317CED57310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B98E182-3FA7-EF36-7E99-1F3C170D8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943078A9-94B5-3FB3-6667-DFA7DFDB1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开发环境风险：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是否有可用的软件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项目管理工具</a:t>
            </a:r>
            <a:r>
              <a:rPr lang="zh-CN" altLang="en-US" sz="22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是否有可用的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分析及设计工具</a:t>
            </a:r>
            <a:r>
              <a:rPr lang="zh-CN" altLang="en-US" sz="22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是否有可用的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编译器</a:t>
            </a:r>
            <a:r>
              <a:rPr lang="zh-CN" altLang="en-US" sz="2200">
                <a:latin typeface="宋体" panose="02010600030101010101" pitchFamily="2" charset="-122"/>
              </a:rPr>
              <a:t>或代码生成器；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是否有可用的软件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配置管理工具</a:t>
            </a:r>
            <a:r>
              <a:rPr lang="zh-CN" altLang="en-US" sz="22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项目组的成员是否接受过每个所使用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工具的培训</a:t>
            </a:r>
            <a:r>
              <a:rPr lang="zh-CN" altLang="en-US" sz="2200">
                <a:latin typeface="宋体" panose="02010600030101010101" pitchFamily="2" charset="-122"/>
              </a:rPr>
              <a:t>；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工具的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联机帮助</a:t>
            </a:r>
            <a:r>
              <a:rPr lang="zh-CN" altLang="en-US" sz="2200">
                <a:latin typeface="宋体" panose="02010600030101010101" pitchFamily="2" charset="-122"/>
              </a:rPr>
              <a:t>及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文档</a:t>
            </a:r>
            <a:r>
              <a:rPr lang="zh-CN" altLang="en-US" sz="2200">
                <a:latin typeface="宋体" panose="02010600030101010101" pitchFamily="2" charset="-122"/>
              </a:rPr>
              <a:t>是否适当；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5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5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5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5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FBA03420-C4C9-4CEC-648A-8BAEC0B990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1C6732-1E12-40B0-BD31-8B324CBD3333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EF0DECD-9766-C8B3-B3F7-77C0CA207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风险识别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FC0A2113-7E59-C206-F6B9-4F9352902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latin typeface="宋体" panose="02010600030101010101" pitchFamily="2" charset="-122"/>
              </a:rPr>
              <a:t>与人员数目及经验相关的风险：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是否有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足够的人员</a:t>
            </a:r>
            <a:r>
              <a:rPr lang="zh-CN" altLang="en-US" sz="2200">
                <a:latin typeface="宋体" panose="02010600030101010101" pitchFamily="2" charset="-122"/>
              </a:rPr>
              <a:t>可用；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人员在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技术上</a:t>
            </a:r>
            <a:r>
              <a:rPr lang="zh-CN" altLang="en-US" sz="2200">
                <a:latin typeface="宋体" panose="02010600030101010101" pitchFamily="2" charset="-122"/>
              </a:rPr>
              <a:t>是否配套；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开发人员是否能够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自始至终</a:t>
            </a:r>
            <a:r>
              <a:rPr lang="zh-CN" altLang="en-US" sz="2200">
                <a:latin typeface="宋体" panose="02010600030101010101" pitchFamily="2" charset="-122"/>
              </a:rPr>
              <a:t>地参加整个项目的工作；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开发人员对自己的工作是否有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正确的期望</a:t>
            </a:r>
            <a:r>
              <a:rPr lang="zh-CN" altLang="en-US" sz="2200">
                <a:latin typeface="宋体" panose="02010600030101010101" pitchFamily="2" charset="-122"/>
              </a:rPr>
              <a:t>；</a:t>
            </a:r>
            <a:endParaRPr lang="zh-CN" altLang="en-US" sz="220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开发人员是否接受过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必要的培训</a:t>
            </a:r>
            <a:r>
              <a:rPr lang="zh-CN" altLang="en-US" sz="2200">
                <a:latin typeface="宋体" panose="02010600030101010101" pitchFamily="2" charset="-122"/>
              </a:rPr>
              <a:t>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latin typeface="宋体" panose="02010600030101010101" pitchFamily="2" charset="-122"/>
              </a:rPr>
              <a:t>开发人员的流动是否仍能保证</a:t>
            </a:r>
            <a:r>
              <a:rPr lang="zh-CN" altLang="en-US" sz="2200">
                <a:solidFill>
                  <a:srgbClr val="FF0000"/>
                </a:solidFill>
                <a:latin typeface="宋体" panose="02010600030101010101" pitchFamily="2" charset="-122"/>
              </a:rPr>
              <a:t>工作的连续性</a:t>
            </a:r>
            <a:r>
              <a:rPr lang="zh-CN" altLang="en-US" sz="2200">
                <a:latin typeface="宋体" panose="02010600030101010101" pitchFamily="2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0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0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969F3AA9-14BE-2F9C-B152-38112BEEB5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CEF199-3108-4F36-AD3D-24137D42A7B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A0F1F1C-B087-C13A-907C-A4D101538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风险因素和驱动因子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C0674A-680B-2FA2-3E0D-3D761D969C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557338"/>
            <a:ext cx="8712200" cy="43926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项目管理者应该要</a:t>
            </a:r>
            <a:r>
              <a:rPr lang="zh-CN" altLang="en-US">
                <a:solidFill>
                  <a:srgbClr val="FF0000"/>
                </a:solidFill>
              </a:rPr>
              <a:t>识别</a:t>
            </a:r>
            <a:r>
              <a:rPr lang="zh-CN" altLang="en-US"/>
              <a:t>影响软件风险因素的</a:t>
            </a:r>
            <a:r>
              <a:rPr lang="zh-CN" altLang="en-US">
                <a:solidFill>
                  <a:srgbClr val="FF0000"/>
                </a:solidFill>
              </a:rPr>
              <a:t>风险驱动因子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风险因素</a:t>
            </a:r>
            <a:r>
              <a:rPr lang="zh-CN" altLang="en-US"/>
              <a:t>包括：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chemeClr val="accent2"/>
                </a:solidFill>
              </a:rPr>
              <a:t>性能</a:t>
            </a:r>
            <a:r>
              <a:rPr lang="zh-CN" altLang="en-US" sz="2200"/>
              <a:t>风险：产品能够</a:t>
            </a:r>
            <a:r>
              <a:rPr lang="zh-CN" altLang="en-US" sz="2200">
                <a:solidFill>
                  <a:srgbClr val="FF0000"/>
                </a:solidFill>
              </a:rPr>
              <a:t>满足需求</a:t>
            </a:r>
            <a:r>
              <a:rPr lang="zh-CN" altLang="en-US" sz="2200"/>
              <a:t>且</a:t>
            </a:r>
            <a:r>
              <a:rPr lang="zh-CN" altLang="en-US" sz="2200">
                <a:solidFill>
                  <a:srgbClr val="FF0000"/>
                </a:solidFill>
              </a:rPr>
              <a:t>符合其使用目的</a:t>
            </a:r>
            <a:r>
              <a:rPr lang="zh-CN" altLang="en-US" sz="2200"/>
              <a:t>不确定程度；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chemeClr val="accent2"/>
                </a:solidFill>
              </a:rPr>
              <a:t>成本</a:t>
            </a:r>
            <a:r>
              <a:rPr lang="zh-CN" altLang="en-US" sz="2200"/>
              <a:t>风险：能够</a:t>
            </a:r>
            <a:r>
              <a:rPr lang="zh-CN" altLang="en-US" sz="2200">
                <a:solidFill>
                  <a:srgbClr val="FF0000"/>
                </a:solidFill>
              </a:rPr>
              <a:t>维持项目预算</a:t>
            </a:r>
            <a:r>
              <a:rPr lang="zh-CN" altLang="en-US" sz="2200"/>
              <a:t>的不确定程度；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chemeClr val="accent2"/>
                </a:solidFill>
              </a:rPr>
              <a:t>支持</a:t>
            </a:r>
            <a:r>
              <a:rPr lang="zh-CN" altLang="en-US" sz="2200"/>
              <a:t>风险：开发的软件</a:t>
            </a:r>
            <a:r>
              <a:rPr lang="zh-CN" altLang="en-US" sz="2200">
                <a:solidFill>
                  <a:srgbClr val="FF0000"/>
                </a:solidFill>
              </a:rPr>
              <a:t>易于纠错</a:t>
            </a:r>
            <a:r>
              <a:rPr lang="zh-CN" altLang="en-US" sz="2200"/>
              <a:t>、</a:t>
            </a:r>
            <a:r>
              <a:rPr lang="zh-CN" altLang="en-US" sz="2200">
                <a:solidFill>
                  <a:srgbClr val="FF0000"/>
                </a:solidFill>
              </a:rPr>
              <a:t>修改</a:t>
            </a:r>
            <a:r>
              <a:rPr lang="zh-CN" altLang="en-US" sz="2200"/>
              <a:t>及</a:t>
            </a:r>
            <a:r>
              <a:rPr lang="zh-CN" altLang="en-US" sz="2200">
                <a:solidFill>
                  <a:srgbClr val="FF0000"/>
                </a:solidFill>
              </a:rPr>
              <a:t>升级</a:t>
            </a:r>
            <a:r>
              <a:rPr lang="zh-CN" altLang="en-US" sz="2200"/>
              <a:t>的不确定程度；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chemeClr val="accent2"/>
                </a:solidFill>
              </a:rPr>
              <a:t>进度</a:t>
            </a:r>
            <a:r>
              <a:rPr lang="zh-CN" altLang="en-US" sz="2200"/>
              <a:t>风险：能够</a:t>
            </a:r>
            <a:r>
              <a:rPr lang="zh-CN" altLang="en-US" sz="2200">
                <a:solidFill>
                  <a:srgbClr val="FF0000"/>
                </a:solidFill>
              </a:rPr>
              <a:t>维持项目进度</a:t>
            </a:r>
            <a:r>
              <a:rPr lang="zh-CN" altLang="en-US" sz="2200"/>
              <a:t>且按时交付产品的不确定程度。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6F90BF5D-9BC0-5ADF-751C-F979875919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E6122D5-1329-4576-BF09-73F24C91547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A0C0B73-8077-C646-8C4B-C1EE49BFE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风险因素和驱动因子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D28A7FC5-8258-E87B-4DFD-9E87DD9E8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57339"/>
            <a:ext cx="8229600" cy="45735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风险驱动因子：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可导致软件项目</a:t>
            </a:r>
            <a:r>
              <a:rPr lang="zh-CN" altLang="en-US">
                <a:solidFill>
                  <a:srgbClr val="FF0000"/>
                </a:solidFill>
              </a:rPr>
              <a:t>不确定性程度改变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事物</a:t>
            </a:r>
            <a:r>
              <a:rPr lang="zh-CN" altLang="en-US"/>
              <a:t>，如未识别出的软件错误，开发成员变动等。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/>
              <a:t>风险驱动因子对于风险因素的影响可分成四类：</a:t>
            </a:r>
            <a:r>
              <a:rPr lang="zh-CN" altLang="en-US" sz="2800">
                <a:solidFill>
                  <a:schemeClr val="accent2"/>
                </a:solidFill>
              </a:rPr>
              <a:t>可忽略的</a:t>
            </a:r>
            <a:r>
              <a:rPr lang="zh-CN" altLang="en-US" sz="2800"/>
              <a:t>、</a:t>
            </a:r>
            <a:r>
              <a:rPr lang="zh-CN" altLang="en-US" sz="2800">
                <a:solidFill>
                  <a:schemeClr val="accent2"/>
                </a:solidFill>
              </a:rPr>
              <a:t>轻微的</a:t>
            </a:r>
            <a:r>
              <a:rPr lang="zh-CN" altLang="en-US" sz="2800"/>
              <a:t>、</a:t>
            </a:r>
            <a:r>
              <a:rPr lang="zh-CN" altLang="en-US" sz="2800">
                <a:solidFill>
                  <a:schemeClr val="accent2"/>
                </a:solidFill>
              </a:rPr>
              <a:t>严重的</a:t>
            </a:r>
            <a:r>
              <a:rPr lang="zh-CN" altLang="en-US" sz="2800"/>
              <a:t>或</a:t>
            </a:r>
            <a:r>
              <a:rPr lang="zh-CN" altLang="en-US" sz="2800">
                <a:solidFill>
                  <a:schemeClr val="accent2"/>
                </a:solidFill>
              </a:rPr>
              <a:t>灾难的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56D9B026-AF75-5625-F3CA-4FC4C446E2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7BC30A-81F1-4FC3-994D-9C29334A592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FC67B1F-26EE-0406-7A85-A11590874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对四类风险的评估</a:t>
            </a:r>
          </a:p>
        </p:txBody>
      </p:sp>
      <p:pic>
        <p:nvPicPr>
          <p:cNvPr id="36868" name="Picture 3">
            <a:extLst>
              <a:ext uri="{FF2B5EF4-FFF2-40B4-BE49-F238E27FC236}">
                <a16:creationId xmlns:a16="http://schemas.microsoft.com/office/drawing/2014/main" id="{366307D3-D8AC-49D8-3826-6493A6FCEB26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1450" y="969964"/>
            <a:ext cx="6337300" cy="5741987"/>
          </a:xfr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BB1FBD40-2FDC-F975-2D23-1D173EEC6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E7F5845-5728-4F21-B2AD-A957963E5E08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7871F9D-6BE9-0DFE-4755-F41ED6ED9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8FB33B3-C5CB-3C54-0FE9-4802B4911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/>
              <a:t>26.1 </a:t>
            </a:r>
            <a:r>
              <a:rPr lang="zh-CN" altLang="en-US"/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26.2 </a:t>
            </a:r>
            <a:r>
              <a:rPr lang="zh-CN" altLang="en-US"/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26.3 </a:t>
            </a:r>
            <a:r>
              <a:rPr lang="zh-CN" altLang="en-US"/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26.4 </a:t>
            </a:r>
            <a:r>
              <a:rPr lang="zh-CN" altLang="en-US">
                <a:solidFill>
                  <a:srgbClr val="FF0000"/>
                </a:solidFill>
              </a:rPr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26.5 </a:t>
            </a:r>
            <a:r>
              <a:rPr lang="zh-CN" altLang="en-US"/>
              <a:t>风险求精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26.6 </a:t>
            </a:r>
            <a:r>
              <a:rPr lang="zh-CN" altLang="en-US"/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26.7 RMMM</a:t>
            </a:r>
            <a:r>
              <a:rPr lang="zh-CN" altLang="en-US"/>
              <a:t>计划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C67EFBB6-314A-C15D-B9E4-0B71B2EB03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50F4EF7-09F3-4435-A6C5-C1FDB00E8099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E0F1720-3F40-7BAF-B089-1765A7350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风险预测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A1861DB5-0758-D6FF-234A-49AC02DF0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1" y="1052513"/>
            <a:ext cx="8435975" cy="50784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风险预测又称</a:t>
            </a:r>
            <a:r>
              <a:rPr lang="zh-CN" altLang="en-US" sz="2200">
                <a:solidFill>
                  <a:srgbClr val="FF0000"/>
                </a:solidFill>
              </a:rPr>
              <a:t>风险估计</a:t>
            </a:r>
            <a:r>
              <a:rPr lang="zh-CN" altLang="en-US" sz="2200"/>
              <a:t>，试图从两个方面评估每一个风险：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000"/>
              <a:t>风险发生的</a:t>
            </a:r>
            <a:r>
              <a:rPr lang="zh-CN" altLang="en-US" sz="2000">
                <a:solidFill>
                  <a:schemeClr val="accent2"/>
                </a:solidFill>
              </a:rPr>
              <a:t>可能性</a:t>
            </a:r>
            <a:r>
              <a:rPr lang="zh-CN" altLang="en-US" sz="2000"/>
              <a:t>或概率；</a:t>
            </a:r>
            <a:endParaRPr lang="zh-CN" altLang="en-US" sz="2000">
              <a:solidFill>
                <a:schemeClr val="accent2"/>
              </a:solidFill>
            </a:endParaRP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000"/>
              <a:t>风险相关问题产生的</a:t>
            </a:r>
            <a:r>
              <a:rPr lang="zh-CN" altLang="en-US" sz="2000">
                <a:solidFill>
                  <a:schemeClr val="accent2"/>
                </a:solidFill>
              </a:rPr>
              <a:t>后果；</a:t>
            </a:r>
            <a:endParaRPr lang="zh-CN" altLang="en-US" sz="2000"/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项目计划人员、管理人员及技术人员都要进行以下</a:t>
            </a:r>
            <a:r>
              <a:rPr lang="en-US" altLang="zh-CN" sz="2200"/>
              <a:t>4</a:t>
            </a:r>
            <a:r>
              <a:rPr lang="zh-CN" altLang="en-US" sz="2200"/>
              <a:t>步</a:t>
            </a:r>
            <a:r>
              <a:rPr lang="zh-CN" altLang="en-US" sz="2200">
                <a:solidFill>
                  <a:srgbClr val="FF0000"/>
                </a:solidFill>
              </a:rPr>
              <a:t>风险预测活动</a:t>
            </a:r>
            <a:r>
              <a:rPr lang="zh-CN" altLang="en-US" sz="2200"/>
              <a:t>：</a:t>
            </a:r>
            <a:endParaRPr lang="en-US" altLang="zh-CN" sz="2200"/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en-US" altLang="zh-CN" sz="2000"/>
              <a:t>1. </a:t>
            </a:r>
            <a:r>
              <a:rPr lang="zh-CN" altLang="en-US" sz="2000"/>
              <a:t>建立一个尺度，以反映风险发生的</a:t>
            </a:r>
            <a:r>
              <a:rPr lang="zh-CN" altLang="en-US" sz="2000">
                <a:solidFill>
                  <a:srgbClr val="FF0000"/>
                </a:solidFill>
              </a:rPr>
              <a:t>可能性</a:t>
            </a:r>
            <a:r>
              <a:rPr lang="zh-CN" altLang="en-US" sz="2000"/>
              <a:t>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en-US" altLang="zh-CN" sz="2000"/>
              <a:t>2. </a:t>
            </a:r>
            <a:r>
              <a:rPr lang="zh-CN" altLang="en-US" sz="2000"/>
              <a:t>描述风险产生的</a:t>
            </a:r>
            <a:r>
              <a:rPr lang="zh-CN" altLang="en-US" sz="2000">
                <a:solidFill>
                  <a:srgbClr val="FF0000"/>
                </a:solidFill>
              </a:rPr>
              <a:t>后果</a:t>
            </a:r>
            <a:r>
              <a:rPr lang="zh-CN" altLang="en-US" sz="2000"/>
              <a:t>。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en-US" altLang="zh-CN" sz="2000"/>
              <a:t>3. </a:t>
            </a:r>
            <a:r>
              <a:rPr lang="zh-CN" altLang="en-US" sz="2000"/>
              <a:t>估算风险对项目及产品的</a:t>
            </a:r>
            <a:r>
              <a:rPr lang="zh-CN" altLang="en-US" sz="2000">
                <a:solidFill>
                  <a:srgbClr val="FF0000"/>
                </a:solidFill>
              </a:rPr>
              <a:t>影响</a:t>
            </a:r>
            <a:r>
              <a:rPr lang="zh-CN" altLang="en-US" sz="2000"/>
              <a:t>。（定性）</a:t>
            </a:r>
            <a:endParaRPr lang="en-US" altLang="zh-CN" sz="2000"/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en-US" altLang="zh-CN" sz="2000"/>
              <a:t>4. </a:t>
            </a:r>
            <a:r>
              <a:rPr lang="zh-CN" altLang="en-US" sz="2000"/>
              <a:t>标明风险预测的整体</a:t>
            </a:r>
            <a:r>
              <a:rPr lang="zh-CN" altLang="en-US" sz="2000">
                <a:solidFill>
                  <a:srgbClr val="FF0000"/>
                </a:solidFill>
              </a:rPr>
              <a:t>精确度</a:t>
            </a:r>
            <a:r>
              <a:rPr lang="zh-CN" altLang="en-US" sz="2000"/>
              <a:t>，以免产生误解。（定量）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210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91762173-540A-0AB0-1CF2-56393C05DB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801EA55-186F-406B-B621-59CBCEDA3728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8E11EC7-70D6-3981-11F4-FDE4B89F1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风险预测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75EE6ED-4356-8E1F-B205-3037AC22B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3950"/>
            <a:ext cx="8229600" cy="4897438"/>
          </a:xfrm>
        </p:spPr>
        <p:txBody>
          <a:bodyPr/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3200"/>
              <a:t>按此上述</a:t>
            </a:r>
            <a:r>
              <a:rPr lang="en-US" altLang="zh-CN" sz="3200"/>
              <a:t>4</a:t>
            </a:r>
            <a:r>
              <a:rPr lang="zh-CN" altLang="en-US" sz="3200"/>
              <a:t>个步骤进行风险预测，目的是使我们可以按照</a:t>
            </a:r>
            <a:r>
              <a:rPr lang="zh-CN" altLang="en-US" sz="3200">
                <a:solidFill>
                  <a:srgbClr val="FF0000"/>
                </a:solidFill>
              </a:rPr>
              <a:t>优先级</a:t>
            </a:r>
            <a:r>
              <a:rPr lang="zh-CN" altLang="en-US" sz="3200"/>
              <a:t>来考虑风险。</a:t>
            </a:r>
          </a:p>
          <a:p>
            <a:pPr lvl="1"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/>
              <a:t>任何软件团队都不可能以</a:t>
            </a:r>
            <a:r>
              <a:rPr lang="zh-CN" altLang="en-US" sz="2800">
                <a:solidFill>
                  <a:srgbClr val="FF0000"/>
                </a:solidFill>
              </a:rPr>
              <a:t>同样的严格程度</a:t>
            </a:r>
            <a:r>
              <a:rPr lang="zh-CN" altLang="en-US" sz="2800"/>
              <a:t>来为每个可能的风险</a:t>
            </a:r>
            <a:r>
              <a:rPr lang="zh-CN" altLang="en-US" sz="2800">
                <a:solidFill>
                  <a:srgbClr val="FF0000"/>
                </a:solidFill>
              </a:rPr>
              <a:t>分配资源</a:t>
            </a:r>
            <a:r>
              <a:rPr lang="zh-CN" altLang="en-US" sz="2800"/>
              <a:t>，通过将</a:t>
            </a:r>
            <a:r>
              <a:rPr lang="zh-CN" altLang="en-US" sz="2800">
                <a:solidFill>
                  <a:srgbClr val="FF0000"/>
                </a:solidFill>
              </a:rPr>
              <a:t>风险按优先级排序</a:t>
            </a:r>
            <a:r>
              <a:rPr lang="zh-CN" altLang="en-US" sz="2800"/>
              <a:t>，软件团队可以</a:t>
            </a:r>
            <a:r>
              <a:rPr lang="zh-CN" altLang="en-US" sz="2800">
                <a:solidFill>
                  <a:srgbClr val="FF0000"/>
                </a:solidFill>
              </a:rPr>
              <a:t>把资源分配给那些具有最大影响的风险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4DA47CD0-13C1-2E82-4304-6012D74E4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4F911B9-473F-4260-B774-D048E19C66DA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52BFCD4-B731-E41A-DC51-AEA6596CE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建立风险表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319115FA-BBC9-0090-64F3-BABB7BE827AF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24114" y="1125538"/>
            <a:ext cx="7138987" cy="5078412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1AB32F3A-2AA7-E9C3-9F68-9D465AD1B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BD2EA3-FA13-4F99-8B43-DD379282259A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F9E3582-F247-679E-275F-9DC76C157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建立风险表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80BC3C56-A51C-41A6-2459-5BA081403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96975"/>
            <a:ext cx="8229600" cy="49339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完成了风险表的前</a:t>
            </a:r>
            <a:r>
              <a:rPr lang="en-US" altLang="zh-CN" sz="2000"/>
              <a:t>4</a:t>
            </a:r>
            <a:r>
              <a:rPr lang="zh-CN" altLang="en-US" sz="2000"/>
              <a:t>列内容之后，就可以按照</a:t>
            </a:r>
            <a:r>
              <a:rPr lang="zh-CN" altLang="en-US" sz="2000">
                <a:solidFill>
                  <a:srgbClr val="FF0000"/>
                </a:solidFill>
              </a:rPr>
              <a:t>概率和影响</a:t>
            </a:r>
            <a:r>
              <a:rPr lang="zh-CN" altLang="en-US" sz="2000"/>
              <a:t>值来进行排序。</a:t>
            </a:r>
            <a:r>
              <a:rPr lang="zh-CN" altLang="en-US" sz="2000">
                <a:solidFill>
                  <a:srgbClr val="FF0000"/>
                </a:solidFill>
              </a:rPr>
              <a:t>高概率</a:t>
            </a:r>
            <a:r>
              <a:rPr lang="zh-CN" altLang="en-US" sz="2000"/>
              <a:t>、</a:t>
            </a:r>
            <a:r>
              <a:rPr lang="zh-CN" altLang="en-US" sz="2000">
                <a:solidFill>
                  <a:srgbClr val="FF0000"/>
                </a:solidFill>
              </a:rPr>
              <a:t>高影响</a:t>
            </a:r>
            <a:r>
              <a:rPr lang="zh-CN" altLang="en-US" sz="2000"/>
              <a:t>的风险放在表的上方，而低概率风险则移到表的下方。这样就完成了</a:t>
            </a:r>
            <a:r>
              <a:rPr lang="zh-CN" altLang="en-US" sz="2000">
                <a:solidFill>
                  <a:srgbClr val="FF0000"/>
                </a:solidFill>
              </a:rPr>
              <a:t>第一次风险排序</a:t>
            </a:r>
            <a:r>
              <a:rPr lang="zh-CN" altLang="en-US" sz="2000"/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项目管理者研究排序后的表，然后</a:t>
            </a:r>
            <a:r>
              <a:rPr lang="zh-CN" altLang="en-US" sz="2000">
                <a:solidFill>
                  <a:srgbClr val="FF0000"/>
                </a:solidFill>
              </a:rPr>
              <a:t>定义一条中截线</a:t>
            </a:r>
            <a:r>
              <a:rPr lang="zh-CN" altLang="en-US" sz="2000"/>
              <a:t>。该中截线表示：只有那些在中截线之上的风险才会得到进一步关注，而在中截线之下的风险则需要重新评估以进行</a:t>
            </a:r>
            <a:r>
              <a:rPr lang="zh-CN" altLang="en-US" sz="2000">
                <a:solidFill>
                  <a:srgbClr val="FF0000"/>
                </a:solidFill>
              </a:rPr>
              <a:t>第二次排序</a:t>
            </a:r>
            <a:r>
              <a:rPr lang="zh-CN" altLang="en-US" sz="2000"/>
              <a:t>。从管理关注的角度来看：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/>
              <a:t>一个具有</a:t>
            </a:r>
            <a:r>
              <a:rPr lang="zh-CN" altLang="en-US" sz="1800">
                <a:solidFill>
                  <a:srgbClr val="FF0000"/>
                </a:solidFill>
              </a:rPr>
              <a:t>高影响</a:t>
            </a:r>
            <a:r>
              <a:rPr lang="zh-CN" altLang="en-US" sz="1800"/>
              <a:t>但发生</a:t>
            </a:r>
            <a:r>
              <a:rPr lang="zh-CN" altLang="en-US" sz="1800">
                <a:solidFill>
                  <a:srgbClr val="FF0000"/>
                </a:solidFill>
              </a:rPr>
              <a:t>概率很低</a:t>
            </a:r>
            <a:r>
              <a:rPr lang="zh-CN" altLang="en-US" sz="1800"/>
              <a:t>的风险因素不应该耗费太多的管理时间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/>
              <a:t>而</a:t>
            </a:r>
            <a:r>
              <a:rPr lang="zh-CN" altLang="en-US" sz="1800">
                <a:solidFill>
                  <a:srgbClr val="FF0000"/>
                </a:solidFill>
              </a:rPr>
              <a:t>高影响且发生概率为中到高</a:t>
            </a:r>
            <a:r>
              <a:rPr lang="zh-CN" altLang="en-US" sz="1800"/>
              <a:t>的风险，以及</a:t>
            </a:r>
            <a:r>
              <a:rPr lang="zh-CN" altLang="en-US" sz="1800">
                <a:solidFill>
                  <a:srgbClr val="FF0000"/>
                </a:solidFill>
              </a:rPr>
              <a:t>低影响且高概率</a:t>
            </a:r>
            <a:r>
              <a:rPr lang="zh-CN" altLang="en-US" sz="1800"/>
              <a:t>的风险，应该首先列入随后的风险分析步骤中。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0DC1473E-C001-CCC8-3988-23646B516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2731F49-79D8-46D9-9558-16404BBC91D5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481C673-C5B0-27F0-7F00-ECC36EF8A8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评估风险影响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D17B52CF-5BE3-6516-F5FC-C071CCE82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lang="zh-CN" altLang="en-US" sz="2000">
                <a:solidFill>
                  <a:srgbClr val="FF0000"/>
                </a:solidFill>
              </a:rPr>
              <a:t>风险显露度</a:t>
            </a:r>
            <a:r>
              <a:rPr lang="zh-CN" altLang="en-US" sz="2000"/>
              <a:t> </a:t>
            </a:r>
            <a:r>
              <a:rPr lang="en-US" altLang="zh-CN" sz="2000"/>
              <a:t>(risk exposure, RE)</a:t>
            </a:r>
            <a:r>
              <a:rPr lang="zh-CN" altLang="en-US" sz="2000"/>
              <a:t>：</a:t>
            </a:r>
            <a:endParaRPr lang="en-US" altLang="zh-CN" sz="2000"/>
          </a:p>
          <a:p>
            <a:pPr algn="ctr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RE = P * C</a:t>
            </a:r>
          </a:p>
          <a:p>
            <a:pPr lvl="1">
              <a:lnSpc>
                <a:spcPct val="135000"/>
              </a:lnSpc>
            </a:pPr>
            <a:r>
              <a:rPr lang="zh-CN" altLang="en-US" sz="1800"/>
              <a:t>其中</a:t>
            </a:r>
            <a:r>
              <a:rPr lang="en-US" altLang="zh-CN" sz="1800"/>
              <a:t>P</a:t>
            </a:r>
            <a:r>
              <a:rPr lang="zh-CN" altLang="en-US" sz="1800"/>
              <a:t>是风险发生的概率，</a:t>
            </a:r>
            <a:r>
              <a:rPr lang="en-US" altLang="zh-CN" sz="1800"/>
              <a:t>C</a:t>
            </a:r>
            <a:r>
              <a:rPr lang="zh-CN" altLang="en-US" sz="1800"/>
              <a:t>是风险发生时带来的项目成本；</a:t>
            </a:r>
          </a:p>
          <a:p>
            <a:pPr>
              <a:lnSpc>
                <a:spcPct val="135000"/>
              </a:lnSpc>
            </a:pPr>
            <a:r>
              <a:rPr lang="zh-CN" altLang="en-US" sz="2000"/>
              <a:t>例如，假设软件团队按如下方式定义了项目风险：</a:t>
            </a:r>
          </a:p>
          <a:p>
            <a:pPr lvl="1">
              <a:lnSpc>
                <a:spcPct val="135000"/>
              </a:lnSpc>
            </a:pPr>
            <a:r>
              <a:rPr lang="zh-CN" altLang="en-US" sz="1800">
                <a:solidFill>
                  <a:srgbClr val="FF0000"/>
                </a:solidFill>
              </a:rPr>
              <a:t>风险识别</a:t>
            </a:r>
            <a:r>
              <a:rPr lang="zh-CN" altLang="en-US" sz="1800"/>
              <a:t>。计划</a:t>
            </a:r>
            <a:r>
              <a:rPr lang="zh-CN" altLang="en-US" sz="1800">
                <a:solidFill>
                  <a:srgbClr val="FF0000"/>
                </a:solidFill>
              </a:rPr>
              <a:t>可复用</a:t>
            </a:r>
            <a:r>
              <a:rPr lang="zh-CN" altLang="en-US" sz="1800"/>
              <a:t>的软件构件中只有</a:t>
            </a:r>
            <a:r>
              <a:rPr lang="en-US" altLang="zh-CN" sz="1800">
                <a:solidFill>
                  <a:srgbClr val="FF0000"/>
                </a:solidFill>
              </a:rPr>
              <a:t>70%</a:t>
            </a:r>
            <a:r>
              <a:rPr lang="zh-CN" altLang="en-US" sz="1800"/>
              <a:t>将集成到应用系统中，其他功能必须定制开发。</a:t>
            </a:r>
          </a:p>
          <a:p>
            <a:pPr lvl="1">
              <a:lnSpc>
                <a:spcPct val="135000"/>
              </a:lnSpc>
            </a:pPr>
            <a:r>
              <a:rPr lang="zh-CN" altLang="en-US" sz="1800">
                <a:solidFill>
                  <a:srgbClr val="FF0000"/>
                </a:solidFill>
              </a:rPr>
              <a:t>风险概率</a:t>
            </a:r>
            <a:r>
              <a:rPr lang="zh-CN" altLang="en-US" sz="1800"/>
              <a:t>。</a:t>
            </a:r>
            <a:r>
              <a:rPr lang="en-US" altLang="zh-CN" sz="1800"/>
              <a:t>80%</a:t>
            </a:r>
            <a:endParaRPr lang="zh-CN" altLang="en-US" sz="1800"/>
          </a:p>
          <a:p>
            <a:pPr lvl="1">
              <a:lnSpc>
                <a:spcPct val="135000"/>
              </a:lnSpc>
            </a:pPr>
            <a:r>
              <a:rPr lang="zh-CN" altLang="en-US" sz="1800">
                <a:solidFill>
                  <a:srgbClr val="FF0000"/>
                </a:solidFill>
              </a:rPr>
              <a:t>风险影响</a:t>
            </a:r>
            <a:r>
              <a:rPr lang="zh-CN" altLang="en-US" sz="1800"/>
              <a:t>。计划了</a:t>
            </a:r>
            <a:r>
              <a:rPr lang="en-US" altLang="zh-CN" sz="1800"/>
              <a:t>60</a:t>
            </a:r>
            <a:r>
              <a:rPr lang="zh-CN" altLang="en-US" sz="1800"/>
              <a:t>个可复用的软件构件，如果只能利用</a:t>
            </a:r>
            <a:r>
              <a:rPr lang="en-US" altLang="zh-CN" sz="1800"/>
              <a:t>70%</a:t>
            </a:r>
            <a:r>
              <a:rPr lang="zh-CN" altLang="en-US" sz="1800"/>
              <a:t>，则</a:t>
            </a:r>
            <a:r>
              <a:rPr lang="en-US" altLang="zh-CN" sz="1800"/>
              <a:t>18</a:t>
            </a:r>
            <a:r>
              <a:rPr lang="zh-CN" altLang="en-US" sz="1800"/>
              <a:t>个构件必须从头开发。平均每个构件的程序行数是</a:t>
            </a:r>
            <a:r>
              <a:rPr lang="en-US" altLang="zh-CN" sz="1800"/>
              <a:t>100 LOC</a:t>
            </a:r>
            <a:r>
              <a:rPr lang="zh-CN" altLang="en-US" sz="1800"/>
              <a:t>，本地数据表明每个</a:t>
            </a:r>
            <a:r>
              <a:rPr lang="en-US" altLang="zh-CN" sz="1800"/>
              <a:t>LOC</a:t>
            </a:r>
            <a:r>
              <a:rPr lang="zh-CN" altLang="en-US" sz="1800"/>
              <a:t>的软件工程成本是</a:t>
            </a:r>
            <a:r>
              <a:rPr lang="en-US" altLang="zh-CN" sz="1800"/>
              <a:t>$14.0</a:t>
            </a:r>
            <a:r>
              <a:rPr lang="zh-CN" altLang="en-US" sz="1800"/>
              <a:t>，开发构件的总成本将是 </a:t>
            </a:r>
            <a:r>
              <a:rPr lang="en-US" altLang="zh-CN" sz="1800"/>
              <a:t>C = 18 * 100 * 14 = $25200</a:t>
            </a:r>
          </a:p>
          <a:p>
            <a:pPr lvl="1">
              <a:lnSpc>
                <a:spcPct val="135000"/>
              </a:lnSpc>
            </a:pPr>
            <a:r>
              <a:rPr lang="zh-CN" altLang="en-US" sz="1800">
                <a:solidFill>
                  <a:srgbClr val="FF0000"/>
                </a:solidFill>
              </a:rPr>
              <a:t>风险显露度</a:t>
            </a:r>
            <a:r>
              <a:rPr lang="zh-CN" altLang="en-US" sz="1800"/>
              <a:t>。</a:t>
            </a:r>
            <a:r>
              <a:rPr lang="en-US" altLang="zh-CN" sz="1800"/>
              <a:t>RE = 0.8 * $25200 = $20200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DCE35AA4-A650-B49D-232B-4BFF851694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D652266-FC8B-4B4F-8573-93C7ACB50BD0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A641AD2-7E37-CCDD-B4FC-DE7A6BDF0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评估风险影响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A64BC95-6583-AF2E-3B1F-C1FF3EB0C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96975"/>
            <a:ext cx="8229600" cy="4573588"/>
          </a:xfrm>
        </p:spPr>
        <p:txBody>
          <a:bodyPr/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/>
              <a:t>项目团队应该</a:t>
            </a:r>
            <a:r>
              <a:rPr lang="zh-CN" altLang="en-US" sz="2800">
                <a:solidFill>
                  <a:srgbClr val="FF0000"/>
                </a:solidFill>
              </a:rPr>
              <a:t>定期复查风险表</a:t>
            </a:r>
            <a:r>
              <a:rPr lang="zh-CN" altLang="en-US" sz="2800"/>
              <a:t>，重新</a:t>
            </a:r>
            <a:r>
              <a:rPr lang="zh-CN" altLang="en-US" sz="2800">
                <a:solidFill>
                  <a:srgbClr val="FF0000"/>
                </a:solidFill>
              </a:rPr>
              <a:t>评估每一个风险</a:t>
            </a:r>
            <a:r>
              <a:rPr lang="zh-CN" altLang="en-US" sz="2800"/>
              <a:t>，以确定</a:t>
            </a:r>
            <a:r>
              <a:rPr lang="zh-CN" altLang="en-US" sz="2800">
                <a:solidFill>
                  <a:srgbClr val="FF0000"/>
                </a:solidFill>
              </a:rPr>
              <a:t>新环境</a:t>
            </a:r>
            <a:r>
              <a:rPr lang="zh-CN" altLang="en-US" sz="2800"/>
              <a:t>是否引起其概率和影响发生改变。</a:t>
            </a:r>
          </a:p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/>
              <a:t>这样可能需要在风险表中</a:t>
            </a:r>
            <a:r>
              <a:rPr lang="zh-CN" altLang="en-US" sz="2800">
                <a:solidFill>
                  <a:srgbClr val="FF0000"/>
                </a:solidFill>
              </a:rPr>
              <a:t>添加</a:t>
            </a:r>
            <a:r>
              <a:rPr lang="zh-CN" altLang="en-US" sz="2800"/>
              <a:t>一些新的风险，</a:t>
            </a:r>
            <a:r>
              <a:rPr lang="zh-CN" altLang="en-US" sz="2800">
                <a:solidFill>
                  <a:srgbClr val="FF0000"/>
                </a:solidFill>
              </a:rPr>
              <a:t>删除</a:t>
            </a:r>
            <a:r>
              <a:rPr lang="zh-CN" altLang="en-US" sz="2800"/>
              <a:t>一些不再有影响的风险，或</a:t>
            </a:r>
            <a:r>
              <a:rPr lang="zh-CN" altLang="en-US" sz="2800">
                <a:solidFill>
                  <a:srgbClr val="FF0000"/>
                </a:solidFill>
              </a:rPr>
              <a:t>改变</a:t>
            </a:r>
            <a:r>
              <a:rPr lang="zh-CN" altLang="en-US" sz="2800"/>
              <a:t>一些风险的相对位置。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2AC0DFF6-C6B7-6C60-5A59-59E1CDB4AF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0294B-330E-4C10-90F5-6366EBACBD1E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47BAB3A-B934-EA01-C388-AE145EFB0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566D970-ED97-0244-CF51-89FEA06E5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/>
              <a:t>26.1 </a:t>
            </a:r>
            <a:r>
              <a:rPr lang="zh-CN" altLang="en-US"/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26.2 </a:t>
            </a:r>
            <a:r>
              <a:rPr lang="zh-CN" altLang="en-US"/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26.3 </a:t>
            </a:r>
            <a:r>
              <a:rPr lang="zh-CN" altLang="en-US"/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26.4 </a:t>
            </a:r>
            <a:r>
              <a:rPr lang="zh-CN" altLang="en-US"/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26.5 </a:t>
            </a:r>
            <a:r>
              <a:rPr lang="zh-CN" altLang="en-US">
                <a:solidFill>
                  <a:srgbClr val="FF0000"/>
                </a:solidFill>
              </a:rPr>
              <a:t>风险细化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26.6 </a:t>
            </a:r>
            <a:r>
              <a:rPr lang="zh-CN" altLang="en-US"/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26.7 RMMM</a:t>
            </a:r>
            <a:r>
              <a:rPr lang="zh-CN" altLang="en-US"/>
              <a:t>计划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8002D15E-1452-7FB2-EBF0-AC3C7FF63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C91FBD3-B2C7-43F0-B9B7-6CA3D0241C5F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2E36BEA-ECA0-AE00-E3C5-C05428EBF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风险细化</a:t>
            </a: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4AA0BF82-E2E4-1B9E-03CC-DF8E2658D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/>
              <a:t>在项目计划的</a:t>
            </a:r>
            <a:r>
              <a:rPr lang="zh-CN" altLang="en-US" sz="2100">
                <a:solidFill>
                  <a:srgbClr val="FF0000"/>
                </a:solidFill>
              </a:rPr>
              <a:t>早期</a:t>
            </a:r>
            <a:r>
              <a:rPr lang="zh-CN" altLang="en-US" sz="2100"/>
              <a:t>，风险很可能只是一个</a:t>
            </a:r>
            <a:r>
              <a:rPr lang="zh-CN" altLang="en-US" sz="2100">
                <a:solidFill>
                  <a:srgbClr val="FF0000"/>
                </a:solidFill>
              </a:rPr>
              <a:t>大概的描述</a:t>
            </a:r>
            <a:r>
              <a:rPr lang="zh-CN" altLang="en-US" sz="2100"/>
              <a:t>。随着时间的推移，对项目和风险的了解加深，可以将风险精化为一组更</a:t>
            </a:r>
            <a:r>
              <a:rPr lang="zh-CN" altLang="en-US" sz="2100">
                <a:solidFill>
                  <a:srgbClr val="FF0000"/>
                </a:solidFill>
              </a:rPr>
              <a:t>详细的风险</a:t>
            </a:r>
            <a:r>
              <a:rPr lang="zh-CN" altLang="en-US" sz="2100"/>
              <a:t>，在某种程度上，这些风险更易于缓解、监测和管理。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/>
              <a:t>风险求精的</a:t>
            </a:r>
            <a:r>
              <a:rPr lang="zh-CN" altLang="en-US" sz="2100">
                <a:solidFill>
                  <a:srgbClr val="FF0000"/>
                </a:solidFill>
              </a:rPr>
              <a:t>实现方法</a:t>
            </a:r>
            <a:r>
              <a:rPr lang="zh-CN" altLang="en-US" sz="2100"/>
              <a:t>之一是按</a:t>
            </a:r>
            <a:r>
              <a:rPr lang="zh-CN" altLang="en-US" sz="2100">
                <a:solidFill>
                  <a:srgbClr val="FF0000"/>
                </a:solidFill>
              </a:rPr>
              <a:t>条件</a:t>
            </a:r>
            <a:r>
              <a:rPr lang="en-US" altLang="zh-CN" sz="2100">
                <a:solidFill>
                  <a:srgbClr val="FF0000"/>
                </a:solidFill>
              </a:rPr>
              <a:t>-</a:t>
            </a:r>
            <a:r>
              <a:rPr lang="zh-CN" altLang="en-US" sz="2100">
                <a:solidFill>
                  <a:srgbClr val="FF0000"/>
                </a:solidFill>
              </a:rPr>
              <a:t>转化</a:t>
            </a:r>
            <a:r>
              <a:rPr lang="en-US" altLang="zh-CN" sz="2100">
                <a:solidFill>
                  <a:srgbClr val="FF0000"/>
                </a:solidFill>
              </a:rPr>
              <a:t>-</a:t>
            </a:r>
            <a:r>
              <a:rPr lang="zh-CN" altLang="en-US" sz="2100">
                <a:solidFill>
                  <a:srgbClr val="FF0000"/>
                </a:solidFill>
              </a:rPr>
              <a:t>结果</a:t>
            </a:r>
            <a:r>
              <a:rPr lang="en-US" altLang="zh-CN" sz="2100"/>
              <a:t>(condition-transition-consequence, CTC)</a:t>
            </a:r>
            <a:r>
              <a:rPr lang="zh-CN" altLang="en-US" sz="2100"/>
              <a:t>格式来表示，即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/>
              <a:t>给定</a:t>
            </a:r>
            <a:r>
              <a:rPr lang="en-US" altLang="zh-CN" sz="2100"/>
              <a:t>&lt;</a:t>
            </a:r>
            <a:r>
              <a:rPr lang="zh-CN" altLang="en-US" sz="2100"/>
              <a:t>条件</a:t>
            </a:r>
            <a:r>
              <a:rPr lang="en-US" altLang="zh-CN" sz="2100"/>
              <a:t>&gt;</a:t>
            </a:r>
            <a:r>
              <a:rPr lang="zh-CN" altLang="en-US" sz="2100"/>
              <a:t>，则</a:t>
            </a:r>
            <a:r>
              <a:rPr lang="en-US" altLang="zh-CN" sz="2100"/>
              <a:t>(</a:t>
            </a:r>
            <a:r>
              <a:rPr lang="zh-CN" altLang="en-US" sz="2100"/>
              <a:t>可能</a:t>
            </a:r>
            <a:r>
              <a:rPr lang="en-US" altLang="zh-CN" sz="2100"/>
              <a:t>)</a:t>
            </a:r>
            <a:r>
              <a:rPr lang="zh-CN" altLang="en-US" sz="2100"/>
              <a:t>将导致：</a:t>
            </a:r>
            <a:r>
              <a:rPr lang="en-US" altLang="zh-CN" sz="2100"/>
              <a:t>&lt;</a:t>
            </a:r>
            <a:r>
              <a:rPr lang="zh-CN" altLang="en-US" sz="2100"/>
              <a:t>结果</a:t>
            </a:r>
            <a:r>
              <a:rPr lang="en-US" altLang="zh-CN" sz="2100"/>
              <a:t>&gt;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100"/>
              <a:t>[</a:t>
            </a:r>
            <a:r>
              <a:rPr lang="zh-CN" altLang="en-US" sz="2100"/>
              <a:t>例子</a:t>
            </a:r>
            <a:r>
              <a:rPr lang="en-US" altLang="zh-CN" sz="2100"/>
              <a:t>] </a:t>
            </a:r>
            <a:r>
              <a:rPr lang="zh-CN" altLang="en-US" sz="2100">
                <a:latin typeface="华文仿宋" panose="02010600040101010101" pitchFamily="2" charset="-122"/>
                <a:ea typeface="华文仿宋" panose="02010600040101010101" pitchFamily="2" charset="-122"/>
              </a:rPr>
              <a:t>给定条件：所有可复用软件构件必须符合特定设计标淮，但是某些并不符合。则有结论：</a:t>
            </a:r>
            <a:r>
              <a:rPr lang="en-US" altLang="zh-CN" sz="2100">
                <a:latin typeface="华文仿宋" panose="02010600040101010101" pitchFamily="2" charset="-122"/>
                <a:ea typeface="华文仿宋" panose="02010600040101010101" pitchFamily="2" charset="-122"/>
              </a:rPr>
              <a:t>(</a:t>
            </a:r>
            <a:r>
              <a:rPr lang="zh-CN" altLang="en-US" sz="2100">
                <a:latin typeface="华文仿宋" panose="02010600040101010101" pitchFamily="2" charset="-122"/>
                <a:ea typeface="华文仿宋" panose="02010600040101010101" pitchFamily="2" charset="-122"/>
              </a:rPr>
              <a:t>可能</a:t>
            </a:r>
            <a:r>
              <a:rPr lang="en-US" altLang="zh-CN" sz="2100">
                <a:latin typeface="华文仿宋" panose="02010600040101010101" pitchFamily="2" charset="-122"/>
                <a:ea typeface="华文仿宋" panose="02010600040101010101" pitchFamily="2" charset="-122"/>
              </a:rPr>
              <a:t>)</a:t>
            </a:r>
            <a:r>
              <a:rPr lang="zh-CN" altLang="en-US" sz="2100">
                <a:latin typeface="华文仿宋" panose="02010600040101010101" pitchFamily="2" charset="-122"/>
                <a:ea typeface="华文仿宋" panose="02010600040101010101" pitchFamily="2" charset="-122"/>
              </a:rPr>
              <a:t>仅</a:t>
            </a:r>
            <a:r>
              <a:rPr lang="en-US" altLang="zh-CN" sz="2100">
                <a:latin typeface="华文仿宋" panose="02010600040101010101" pitchFamily="2" charset="-122"/>
                <a:ea typeface="华文仿宋" panose="02010600040101010101" pitchFamily="2" charset="-122"/>
              </a:rPr>
              <a:t>70%</a:t>
            </a:r>
            <a:r>
              <a:rPr lang="zh-CN" altLang="en-US" sz="2100">
                <a:latin typeface="华文仿宋" panose="02010600040101010101" pitchFamily="2" charset="-122"/>
                <a:ea typeface="华文仿宋" panose="02010600040101010101" pitchFamily="2" charset="-122"/>
              </a:rPr>
              <a:t>的计划可复用构件将集成到最终的系统中，需定制开发剩余</a:t>
            </a:r>
            <a:r>
              <a:rPr lang="en-US" altLang="zh-CN" sz="2100">
                <a:latin typeface="华文仿宋" panose="02010600040101010101" pitchFamily="2" charset="-122"/>
                <a:ea typeface="华文仿宋" panose="02010600040101010101" pitchFamily="2" charset="-122"/>
              </a:rPr>
              <a:t>30%</a:t>
            </a:r>
            <a:r>
              <a:rPr lang="zh-CN" altLang="en-US" sz="2100">
                <a:latin typeface="华文仿宋" panose="02010600040101010101" pitchFamily="2" charset="-122"/>
                <a:ea typeface="华文仿宋" panose="02010600040101010101" pitchFamily="2" charset="-122"/>
              </a:rPr>
              <a:t>的构件。</a:t>
            </a:r>
            <a:endParaRPr lang="en-US" altLang="zh-CN" sz="210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0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0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10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6">
            <a:extLst>
              <a:ext uri="{FF2B5EF4-FFF2-40B4-BE49-F238E27FC236}">
                <a16:creationId xmlns:a16="http://schemas.microsoft.com/office/drawing/2014/main" id="{DE1E2F97-CC8A-2ACC-7780-9334725587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FD3EAC-379A-41D4-9A0B-FF204D1E790B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1AA6917-C83B-048A-D02A-AE2BDD685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风险求精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2AC78872-BE02-2F4E-24B7-C77E61858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96975"/>
            <a:ext cx="8229600" cy="49339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可按如下方式对一般条件</a:t>
            </a:r>
            <a:r>
              <a:rPr lang="zh-CN" altLang="en-US" sz="2200">
                <a:solidFill>
                  <a:srgbClr val="FF0000"/>
                </a:solidFill>
              </a:rPr>
              <a:t>进行求精</a:t>
            </a:r>
            <a:r>
              <a:rPr lang="zh-CN" altLang="en-US" sz="2200"/>
              <a:t> </a:t>
            </a:r>
            <a:r>
              <a:rPr lang="en-US" altLang="zh-CN" sz="2200"/>
              <a:t>(</a:t>
            </a:r>
            <a:r>
              <a:rPr lang="zh-CN" altLang="en-US" sz="2200"/>
              <a:t>分析产生风险的原因</a:t>
            </a:r>
            <a:r>
              <a:rPr lang="en-US" altLang="zh-CN" sz="2200"/>
              <a:t>)</a:t>
            </a:r>
            <a:r>
              <a:rPr lang="zh-CN" altLang="en-US" sz="2200"/>
              <a:t>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子条件</a:t>
            </a:r>
            <a:r>
              <a:rPr lang="en-US" altLang="zh-CN" sz="2000"/>
              <a:t>1</a:t>
            </a:r>
            <a:r>
              <a:rPr lang="zh-CN" altLang="en-US" sz="2000"/>
              <a:t>：某些可复用构件是由</a:t>
            </a:r>
            <a:r>
              <a:rPr lang="zh-CN" altLang="en-US" sz="2000">
                <a:solidFill>
                  <a:srgbClr val="FF0000"/>
                </a:solidFill>
              </a:rPr>
              <a:t>第三方开发</a:t>
            </a:r>
            <a:r>
              <a:rPr lang="zh-CN" altLang="en-US" sz="2000"/>
              <a:t>的，没有其内部设计标准相关资料。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子条件</a:t>
            </a:r>
            <a:r>
              <a:rPr lang="en-US" altLang="zh-CN" sz="2000"/>
              <a:t>2</a:t>
            </a:r>
            <a:r>
              <a:rPr lang="zh-CN" altLang="en-US" sz="2000"/>
              <a:t>：构件</a:t>
            </a:r>
            <a:r>
              <a:rPr lang="zh-CN" altLang="en-US" sz="2000">
                <a:solidFill>
                  <a:srgbClr val="FF0000"/>
                </a:solidFill>
              </a:rPr>
              <a:t>接口的设计标准尚未确定</a:t>
            </a:r>
            <a:r>
              <a:rPr lang="zh-CN" altLang="en-US" sz="2000"/>
              <a:t>，有可能和某些现有的软件可复用构件不一致。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/>
              <a:t>子条件</a:t>
            </a:r>
            <a:r>
              <a:rPr lang="en-US" altLang="zh-CN" sz="2000"/>
              <a:t>3</a:t>
            </a:r>
            <a:r>
              <a:rPr lang="zh-CN" altLang="en-US" sz="2000"/>
              <a:t>：某些可复用构件是采用</a:t>
            </a:r>
            <a:r>
              <a:rPr lang="zh-CN" altLang="en-US" sz="2000">
                <a:solidFill>
                  <a:srgbClr val="FF0000"/>
                </a:solidFill>
              </a:rPr>
              <a:t>不支持目标环境的语言</a:t>
            </a:r>
            <a:r>
              <a:rPr lang="zh-CN" altLang="en-US" sz="2000"/>
              <a:t>开发的。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这些子条件的</a:t>
            </a:r>
            <a:r>
              <a:rPr lang="zh-CN" altLang="en-US" sz="2200">
                <a:solidFill>
                  <a:srgbClr val="FF0000"/>
                </a:solidFill>
              </a:rPr>
              <a:t>结论是相同的 </a:t>
            </a:r>
            <a:r>
              <a:rPr lang="en-US" altLang="zh-CN" sz="2200"/>
              <a:t>(</a:t>
            </a:r>
            <a:r>
              <a:rPr lang="zh-CN" altLang="en-US" sz="2200"/>
              <a:t>即必须定制开发</a:t>
            </a:r>
            <a:r>
              <a:rPr lang="en-US" altLang="zh-CN" sz="2200"/>
              <a:t>30%</a:t>
            </a:r>
            <a:r>
              <a:rPr lang="zh-CN" altLang="en-US" sz="2200"/>
              <a:t>的软件构件</a:t>
            </a:r>
            <a:r>
              <a:rPr lang="en-US" altLang="zh-CN" sz="2200"/>
              <a:t>)</a:t>
            </a:r>
            <a:r>
              <a:rPr lang="zh-CN" altLang="en-US" sz="2200"/>
              <a:t>，但求精可以帮助我们</a:t>
            </a:r>
            <a:r>
              <a:rPr lang="zh-CN" altLang="en-US" sz="2200">
                <a:solidFill>
                  <a:srgbClr val="FF0000"/>
                </a:solidFill>
              </a:rPr>
              <a:t>排除重大风险</a:t>
            </a:r>
            <a:r>
              <a:rPr lang="zh-CN" altLang="en-US" sz="22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218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>
            <a:extLst>
              <a:ext uri="{FF2B5EF4-FFF2-40B4-BE49-F238E27FC236}">
                <a16:creationId xmlns:a16="http://schemas.microsoft.com/office/drawing/2014/main" id="{2FA17DA2-685B-6081-00B0-78B3B67F6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9E5950F-4D4D-4D53-979C-BF26AA9F4E06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62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CD2D124-14BC-71F9-23FD-999407726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13CE7551-AF62-36A6-8043-76F9821B3C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/>
              <a:t>26.1 </a:t>
            </a:r>
            <a:r>
              <a:rPr lang="zh-CN" altLang="en-US"/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26.2 </a:t>
            </a:r>
            <a:r>
              <a:rPr lang="zh-CN" altLang="en-US"/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26.3 </a:t>
            </a:r>
            <a:r>
              <a:rPr lang="zh-CN" altLang="en-US"/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26.4 </a:t>
            </a:r>
            <a:r>
              <a:rPr lang="zh-CN" altLang="en-US"/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26.5 </a:t>
            </a:r>
            <a:r>
              <a:rPr lang="zh-CN" altLang="en-US"/>
              <a:t>风险求精</a:t>
            </a:r>
          </a:p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26.6 </a:t>
            </a:r>
            <a:r>
              <a:rPr lang="zh-CN" altLang="en-US">
                <a:solidFill>
                  <a:srgbClr val="FF0000"/>
                </a:solidFill>
              </a:rPr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26.7 RMMM</a:t>
            </a:r>
            <a:r>
              <a:rPr lang="zh-CN" altLang="en-US"/>
              <a:t>计划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6">
            <a:extLst>
              <a:ext uri="{FF2B5EF4-FFF2-40B4-BE49-F238E27FC236}">
                <a16:creationId xmlns:a16="http://schemas.microsoft.com/office/drawing/2014/main" id="{2EDDBBCB-2964-7863-F59C-131BE201C5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10740F6-9872-479D-B457-0C268AEE80DA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327C8D4-1CF3-741E-4D6B-3466DF3EC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风险缓解、监测和管理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603B0A8C-15AF-C7F6-0B99-711942ACA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87438"/>
            <a:ext cx="8229600" cy="5078412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风险回避</a:t>
            </a:r>
            <a:r>
              <a:rPr lang="zh-CN" altLang="en-US" sz="2000"/>
              <a:t>：通过建立一个</a:t>
            </a:r>
            <a:r>
              <a:rPr lang="zh-CN" altLang="en-US" sz="2000">
                <a:solidFill>
                  <a:srgbClr val="FF0000"/>
                </a:solidFill>
              </a:rPr>
              <a:t>风险缓解计划</a:t>
            </a:r>
            <a:r>
              <a:rPr lang="zh-CN" altLang="en-US" sz="2000"/>
              <a:t>来回避风险。</a:t>
            </a:r>
          </a:p>
          <a:p>
            <a:pPr>
              <a:lnSpc>
                <a:spcPct val="13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频繁的人员变动</a:t>
            </a:r>
            <a:r>
              <a:rPr lang="zh-CN" altLang="en-US" sz="2000"/>
              <a:t>将对项目成本及进度产生严重的影响，可能的缓解措施如下：</a:t>
            </a:r>
          </a:p>
          <a:p>
            <a:pPr lvl="1">
              <a:lnSpc>
                <a:spcPct val="130000"/>
              </a:lnSpc>
            </a:pPr>
            <a:r>
              <a:rPr lang="zh-CN" altLang="en-US" sz="1800"/>
              <a:t>与现有人员一起</a:t>
            </a:r>
            <a:r>
              <a:rPr lang="zh-CN" altLang="en-US" sz="1800">
                <a:solidFill>
                  <a:srgbClr val="FF0000"/>
                </a:solidFill>
              </a:rPr>
              <a:t>探讨</a:t>
            </a:r>
            <a:r>
              <a:rPr lang="zh-CN" altLang="en-US" sz="1800"/>
              <a:t>人员</a:t>
            </a:r>
            <a:r>
              <a:rPr lang="zh-CN" altLang="en-US" sz="1800">
                <a:solidFill>
                  <a:srgbClr val="FF0000"/>
                </a:solidFill>
              </a:rPr>
              <a:t>变动的起因 </a:t>
            </a:r>
            <a:r>
              <a:rPr lang="en-US" altLang="zh-CN" sz="1800"/>
              <a:t>(</a:t>
            </a:r>
            <a:r>
              <a:rPr lang="zh-CN" altLang="en-US" sz="1800"/>
              <a:t>如恶劣的工作条件、报酬低、竞争激烈的劳动力市场</a:t>
            </a:r>
            <a:r>
              <a:rPr lang="en-US" altLang="zh-CN" sz="1800"/>
              <a:t>)</a:t>
            </a:r>
            <a:r>
              <a:rPr lang="zh-CN" altLang="en-US" sz="1800"/>
              <a:t>；</a:t>
            </a:r>
          </a:p>
          <a:p>
            <a:pPr lvl="1">
              <a:lnSpc>
                <a:spcPct val="130000"/>
              </a:lnSpc>
            </a:pPr>
            <a:r>
              <a:rPr lang="zh-CN" altLang="en-US" sz="1800"/>
              <a:t>在项目开始之前采取行动，设法</a:t>
            </a:r>
            <a:r>
              <a:rPr lang="zh-CN" altLang="en-US" sz="1800">
                <a:solidFill>
                  <a:srgbClr val="FF0000"/>
                </a:solidFill>
              </a:rPr>
              <a:t>缓解</a:t>
            </a:r>
            <a:r>
              <a:rPr lang="zh-CN" altLang="en-US" sz="1800"/>
              <a:t>那些我们</a:t>
            </a:r>
            <a:r>
              <a:rPr lang="zh-CN" altLang="en-US" sz="1800">
                <a:solidFill>
                  <a:srgbClr val="FF0000"/>
                </a:solidFill>
              </a:rPr>
              <a:t>能够控制的起因</a:t>
            </a:r>
            <a:r>
              <a:rPr lang="zh-CN" altLang="en-US" sz="1800"/>
              <a:t>。</a:t>
            </a:r>
          </a:p>
          <a:p>
            <a:pPr lvl="1">
              <a:lnSpc>
                <a:spcPct val="130000"/>
              </a:lnSpc>
            </a:pPr>
            <a:r>
              <a:rPr lang="zh-CN" altLang="en-US" sz="1800"/>
              <a:t>项目启动之后，假设会发生人员变动，当人员离开时，</a:t>
            </a:r>
            <a:r>
              <a:rPr lang="zh-CN" altLang="en-US" sz="1800">
                <a:solidFill>
                  <a:srgbClr val="FF0000"/>
                </a:solidFill>
              </a:rPr>
              <a:t>找到能够保证工作连续性的方法</a:t>
            </a:r>
            <a:r>
              <a:rPr lang="zh-CN" altLang="en-US" sz="1800"/>
              <a:t>。</a:t>
            </a:r>
          </a:p>
          <a:p>
            <a:pPr lvl="1">
              <a:lnSpc>
                <a:spcPct val="130000"/>
              </a:lnSpc>
            </a:pPr>
            <a:r>
              <a:rPr lang="zh-CN" altLang="en-US" sz="1800"/>
              <a:t>组织项目团队，使得每一个开发活动的</a:t>
            </a:r>
            <a:r>
              <a:rPr lang="zh-CN" altLang="en-US" sz="1800">
                <a:solidFill>
                  <a:srgbClr val="FF0000"/>
                </a:solidFill>
              </a:rPr>
              <a:t>信息能被广泛传播和交流</a:t>
            </a:r>
            <a:r>
              <a:rPr lang="zh-CN" altLang="en-US" sz="1800"/>
              <a:t>。</a:t>
            </a:r>
            <a:endParaRPr lang="en-US" altLang="zh-CN" sz="1800"/>
          </a:p>
          <a:p>
            <a:pPr lvl="1">
              <a:lnSpc>
                <a:spcPct val="130000"/>
              </a:lnSpc>
            </a:pPr>
            <a:r>
              <a:rPr lang="zh-CN" altLang="en-US" sz="1800"/>
              <a:t>制定</a:t>
            </a:r>
            <a:r>
              <a:rPr lang="zh-CN" altLang="en-US" sz="1800">
                <a:solidFill>
                  <a:srgbClr val="FF0000"/>
                </a:solidFill>
              </a:rPr>
              <a:t>工作产品标准</a:t>
            </a:r>
            <a:r>
              <a:rPr lang="zh-CN" altLang="en-US" sz="1800"/>
              <a:t>，并建立相应机制</a:t>
            </a:r>
            <a:r>
              <a:rPr lang="zh-CN" altLang="en-US" sz="1800">
                <a:solidFill>
                  <a:srgbClr val="FF0000"/>
                </a:solidFill>
              </a:rPr>
              <a:t>确保及时创建所有模型和文档</a:t>
            </a:r>
            <a:r>
              <a:rPr lang="zh-CN" altLang="en-US" sz="1800"/>
              <a:t>。</a:t>
            </a:r>
            <a:endParaRPr lang="zh-CN" altLang="en-US" sz="1800">
              <a:solidFill>
                <a:srgbClr val="FF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sz="1800">
                <a:solidFill>
                  <a:srgbClr val="FF0000"/>
                </a:solidFill>
              </a:rPr>
              <a:t>同等对待</a:t>
            </a:r>
            <a:r>
              <a:rPr lang="zh-CN" altLang="en-US" sz="1800"/>
              <a:t>所有工作的</a:t>
            </a:r>
            <a:r>
              <a:rPr lang="zh-CN" altLang="en-US" sz="1800">
                <a:solidFill>
                  <a:srgbClr val="FF0000"/>
                </a:solidFill>
              </a:rPr>
              <a:t>评审 </a:t>
            </a:r>
            <a:r>
              <a:rPr lang="en-US" altLang="zh-CN" sz="1800"/>
              <a:t>(</a:t>
            </a:r>
            <a:r>
              <a:rPr lang="zh-CN" altLang="en-US" sz="1800"/>
              <a:t>使得不止一个人能够“跟上进度”</a:t>
            </a:r>
            <a:r>
              <a:rPr lang="en-US" altLang="zh-CN" sz="1800"/>
              <a:t>)</a:t>
            </a:r>
            <a:r>
              <a:rPr lang="zh-CN" altLang="en-US" sz="1800"/>
              <a:t>。</a:t>
            </a:r>
          </a:p>
          <a:p>
            <a:pPr lvl="1">
              <a:lnSpc>
                <a:spcPct val="130000"/>
              </a:lnSpc>
            </a:pPr>
            <a:r>
              <a:rPr lang="zh-CN" altLang="en-US" sz="1800"/>
              <a:t>给每一个关键人员指定一个</a:t>
            </a:r>
            <a:r>
              <a:rPr lang="zh-CN" altLang="en-US" sz="1800">
                <a:solidFill>
                  <a:srgbClr val="FF0000"/>
                </a:solidFill>
              </a:rPr>
              <a:t>后备人员</a:t>
            </a:r>
            <a:r>
              <a:rPr lang="zh-CN" altLang="en-US" sz="18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844702BD-CFB0-3445-90CF-04B8000C29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7D147E7-5432-49F8-A455-61E2073E25FA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33DC50D-CC9D-61BD-FE70-01711C461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风险缓解、监测和管理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7DDB7B9F-5E2E-1D81-B292-5C1BCE2B1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052513"/>
            <a:ext cx="8362950" cy="50784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>
                <a:solidFill>
                  <a:srgbClr val="FF0000"/>
                </a:solidFill>
              </a:rPr>
              <a:t>风险监测</a:t>
            </a:r>
            <a:r>
              <a:rPr lang="zh-CN" altLang="en-US">
                <a:latin typeface="宋体" panose="02010600030101010101" pitchFamily="2" charset="-122"/>
              </a:rPr>
              <a:t>：监测那些可以表明风险正在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变高</a:t>
            </a:r>
            <a:r>
              <a:rPr lang="zh-CN" altLang="en-US">
                <a:latin typeface="宋体" panose="02010600030101010101" pitchFamily="2" charset="-122"/>
              </a:rPr>
              <a:t>或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变低</a:t>
            </a:r>
            <a:r>
              <a:rPr lang="zh-CN" altLang="en-US">
                <a:latin typeface="宋体" panose="02010600030101010101" pitchFamily="2" charset="-122"/>
              </a:rPr>
              <a:t>的因素</a:t>
            </a:r>
            <a:endParaRPr lang="zh-CN" altLang="en-US"/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>
                <a:solidFill>
                  <a:srgbClr val="FF0000"/>
                </a:solidFill>
              </a:rPr>
              <a:t>频繁的人员变动</a:t>
            </a:r>
            <a:r>
              <a:rPr lang="zh-CN" altLang="en-US"/>
              <a:t>风险应该监测：</a:t>
            </a:r>
            <a:endParaRPr lang="en-US" altLang="zh-CN"/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团队成员对项目压力的普遍</a:t>
            </a:r>
            <a:r>
              <a:rPr lang="zh-CN" altLang="en-US" sz="2200">
                <a:solidFill>
                  <a:srgbClr val="FF0000"/>
                </a:solidFill>
              </a:rPr>
              <a:t>态度；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团队的</a:t>
            </a:r>
            <a:r>
              <a:rPr lang="zh-CN" altLang="en-US" sz="2200">
                <a:solidFill>
                  <a:srgbClr val="FF0000"/>
                </a:solidFill>
              </a:rPr>
              <a:t>凝聚力；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团队成员彼此之间的</a:t>
            </a:r>
            <a:r>
              <a:rPr lang="zh-CN" altLang="en-US" sz="2200">
                <a:solidFill>
                  <a:srgbClr val="FF0000"/>
                </a:solidFill>
              </a:rPr>
              <a:t>关系；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与报酬和利益相关的</a:t>
            </a:r>
            <a:r>
              <a:rPr lang="zh-CN" altLang="en-US" sz="2200">
                <a:solidFill>
                  <a:srgbClr val="FF0000"/>
                </a:solidFill>
              </a:rPr>
              <a:t>潜在问题；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在公司内以及公司外工作的</a:t>
            </a:r>
            <a:r>
              <a:rPr lang="zh-CN" altLang="en-US" sz="2200">
                <a:solidFill>
                  <a:srgbClr val="FF0000"/>
                </a:solidFill>
              </a:rPr>
              <a:t>可能性；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2200"/>
              <a:t>风险</a:t>
            </a:r>
            <a:r>
              <a:rPr lang="zh-CN" altLang="en-US" sz="2200">
                <a:solidFill>
                  <a:srgbClr val="FF0000"/>
                </a:solidFill>
              </a:rPr>
              <a:t>缓解步骤的效力。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220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>
            <a:extLst>
              <a:ext uri="{FF2B5EF4-FFF2-40B4-BE49-F238E27FC236}">
                <a16:creationId xmlns:a16="http://schemas.microsoft.com/office/drawing/2014/main" id="{D67EAD6C-0B11-DA59-4DCC-10F57098E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E2483C6-4324-4545-B513-2261BCE3E36E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14F3C33-F01D-B6F5-F738-C86160054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风险缓解、监测和管理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49283C28-00BF-0203-7DA1-C7AF4BA84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风险管理及应急计划</a:t>
            </a:r>
            <a:r>
              <a:rPr lang="zh-CN" altLang="en-US"/>
              <a:t>：风险发生时的</a:t>
            </a:r>
            <a:r>
              <a:rPr lang="zh-CN" altLang="en-US">
                <a:solidFill>
                  <a:srgbClr val="FF0000"/>
                </a:solidFill>
              </a:rPr>
              <a:t>应对措施</a:t>
            </a:r>
            <a:r>
              <a:rPr lang="zh-CN" altLang="en-US"/>
              <a:t>，是以</a:t>
            </a:r>
            <a:r>
              <a:rPr lang="zh-CN" altLang="en-US">
                <a:solidFill>
                  <a:srgbClr val="FF0000"/>
                </a:solidFill>
              </a:rPr>
              <a:t>缓解工作已经失败</a:t>
            </a:r>
            <a:r>
              <a:rPr lang="zh-CN" altLang="en-US"/>
              <a:t>、而且</a:t>
            </a:r>
            <a:r>
              <a:rPr lang="zh-CN" altLang="en-US">
                <a:solidFill>
                  <a:srgbClr val="FF0000"/>
                </a:solidFill>
              </a:rPr>
              <a:t>风险已经发生</a:t>
            </a:r>
            <a:r>
              <a:rPr lang="zh-CN" altLang="en-US"/>
              <a:t>为先决条件。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频繁人员变动的应对：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根据缓解措施：已有</a:t>
            </a:r>
            <a:r>
              <a:rPr lang="zh-CN" altLang="en-US" sz="2200">
                <a:solidFill>
                  <a:srgbClr val="FF0000"/>
                </a:solidFill>
              </a:rPr>
              <a:t>后备人员</a:t>
            </a:r>
            <a:r>
              <a:rPr lang="zh-CN" altLang="en-US" sz="2200"/>
              <a:t>，信息已经</a:t>
            </a:r>
            <a:r>
              <a:rPr lang="zh-CN" altLang="en-US" sz="2200">
                <a:solidFill>
                  <a:srgbClr val="FF0000"/>
                </a:solidFill>
              </a:rPr>
              <a:t>文档化</a:t>
            </a:r>
            <a:r>
              <a:rPr lang="zh-CN" altLang="en-US" sz="2200"/>
              <a:t>，有关知识已经在团队中广泛进行了交流。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>
                <a:solidFill>
                  <a:srgbClr val="FF0000"/>
                </a:solidFill>
              </a:rPr>
              <a:t>重新调整资源</a:t>
            </a:r>
            <a:r>
              <a:rPr lang="zh-CN" altLang="en-US" sz="2200"/>
              <a:t>（人员、进度安排），从而使得新加入团队的成员能够赶上进度。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/>
              <a:t>安排拟离职人员的</a:t>
            </a:r>
            <a:r>
              <a:rPr lang="zh-CN" altLang="en-US" sz="2200">
                <a:solidFill>
                  <a:srgbClr val="FF0000"/>
                </a:solidFill>
              </a:rPr>
              <a:t>交接。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>
            <a:extLst>
              <a:ext uri="{FF2B5EF4-FFF2-40B4-BE49-F238E27FC236}">
                <a16:creationId xmlns:a16="http://schemas.microsoft.com/office/drawing/2014/main" id="{A8B2BBBC-F9E6-AD6F-8304-05546EE8F7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D16193-B99F-490A-8A40-5B2183DE1BF6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F2C9CF1-C64E-07EC-C0BA-6C9C50B16A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风险缓解、监测和管理</a:t>
            </a: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702394D7-6BBF-9BB0-1696-69FC6A713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对于大型项目，可以识别出</a:t>
            </a:r>
            <a:r>
              <a:rPr lang="en-US" altLang="zh-CN"/>
              <a:t>30</a:t>
            </a:r>
            <a:r>
              <a:rPr lang="zh-CN" altLang="en-US"/>
              <a:t>或</a:t>
            </a:r>
            <a:r>
              <a:rPr lang="en-US" altLang="zh-CN"/>
              <a:t>40</a:t>
            </a:r>
            <a:r>
              <a:rPr lang="zh-CN" altLang="en-US"/>
              <a:t>种风险。如果为每一个风险制定</a:t>
            </a:r>
            <a:r>
              <a:rPr lang="en-US" altLang="zh-CN"/>
              <a:t>3-7</a:t>
            </a:r>
            <a:r>
              <a:rPr lang="zh-CN" altLang="en-US"/>
              <a:t>个风险缓解步骤，则</a:t>
            </a:r>
            <a:r>
              <a:rPr lang="zh-CN" altLang="en-US">
                <a:solidFill>
                  <a:srgbClr val="FF0000"/>
                </a:solidFill>
              </a:rPr>
              <a:t>风险管理</a:t>
            </a:r>
            <a:r>
              <a:rPr lang="zh-CN" altLang="en-US"/>
              <a:t>本身就可能变成一个“</a:t>
            </a:r>
            <a:r>
              <a:rPr lang="zh-CN" altLang="en-US">
                <a:solidFill>
                  <a:srgbClr val="FF0000"/>
                </a:solidFill>
              </a:rPr>
              <a:t>项目</a:t>
            </a:r>
            <a:r>
              <a:rPr lang="zh-CN" altLang="en-US"/>
              <a:t>”！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因此，项目管理者可以将</a:t>
            </a:r>
            <a:r>
              <a:rPr lang="en-US" altLang="zh-CN">
                <a:solidFill>
                  <a:srgbClr val="FF0000"/>
                </a:solidFill>
              </a:rPr>
              <a:t>80-20</a:t>
            </a:r>
            <a:r>
              <a:rPr lang="zh-CN" altLang="en-US">
                <a:solidFill>
                  <a:srgbClr val="FF0000"/>
                </a:solidFill>
              </a:rPr>
              <a:t>法则</a:t>
            </a:r>
            <a:r>
              <a:rPr lang="zh-CN" altLang="en-US"/>
              <a:t>用于软件风险上：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/>
              <a:t>经验表明，整个项目的</a:t>
            </a:r>
            <a:r>
              <a:rPr lang="en-US" altLang="zh-CN" sz="2100"/>
              <a:t>80%</a:t>
            </a:r>
            <a:r>
              <a:rPr lang="zh-CN" altLang="en-US" sz="2100"/>
              <a:t>风险 </a:t>
            </a:r>
            <a:r>
              <a:rPr lang="en-US" altLang="zh-CN" sz="2100"/>
              <a:t>(</a:t>
            </a:r>
            <a:r>
              <a:rPr lang="zh-CN" altLang="en-US" sz="2100"/>
              <a:t>即可能导致项目失败的</a:t>
            </a:r>
            <a:r>
              <a:rPr lang="en-US" altLang="zh-CN" sz="2100"/>
              <a:t>80%</a:t>
            </a:r>
            <a:r>
              <a:rPr lang="zh-CN" altLang="en-US" sz="2100"/>
              <a:t>的潜在因素</a:t>
            </a:r>
            <a:r>
              <a:rPr lang="en-US" altLang="zh-CN" sz="2100"/>
              <a:t>)</a:t>
            </a:r>
            <a:r>
              <a:rPr lang="zh-CN" altLang="en-US" sz="2100"/>
              <a:t>可能是由只占</a:t>
            </a:r>
            <a:r>
              <a:rPr lang="en-US" altLang="zh-CN" sz="2100">
                <a:solidFill>
                  <a:srgbClr val="FF0000"/>
                </a:solidFill>
              </a:rPr>
              <a:t>20%</a:t>
            </a:r>
            <a:r>
              <a:rPr lang="zh-CN" altLang="en-US" sz="2100">
                <a:solidFill>
                  <a:srgbClr val="FF0000"/>
                </a:solidFill>
              </a:rPr>
              <a:t>的已经识别出的风险</a:t>
            </a:r>
            <a:r>
              <a:rPr lang="zh-CN" altLang="en-US" sz="2100"/>
              <a:t>所引发。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100"/>
              <a:t>早期风险分析步骤中所做的工作能够帮助项目管理者</a:t>
            </a:r>
            <a:r>
              <a:rPr lang="zh-CN" altLang="en-US" sz="2100">
                <a:solidFill>
                  <a:srgbClr val="FF0000"/>
                </a:solidFill>
              </a:rPr>
              <a:t>确定哪些风险在这</a:t>
            </a:r>
            <a:r>
              <a:rPr lang="en-US" altLang="zh-CN" sz="2100">
                <a:solidFill>
                  <a:srgbClr val="FF0000"/>
                </a:solidFill>
              </a:rPr>
              <a:t>20%</a:t>
            </a:r>
            <a:r>
              <a:rPr lang="zh-CN" altLang="en-US" sz="2100">
                <a:solidFill>
                  <a:srgbClr val="FF0000"/>
                </a:solidFill>
              </a:rPr>
              <a:t>中 </a:t>
            </a:r>
            <a:r>
              <a:rPr lang="en-US" altLang="zh-CN" sz="2100"/>
              <a:t>(</a:t>
            </a:r>
            <a:r>
              <a:rPr lang="zh-CN" altLang="en-US" sz="2100"/>
              <a:t>如</a:t>
            </a:r>
            <a:r>
              <a:rPr lang="zh-CN" altLang="en-US" sz="2100">
                <a:solidFill>
                  <a:srgbClr val="FF0000"/>
                </a:solidFill>
              </a:rPr>
              <a:t>风险显露度高的风险</a:t>
            </a:r>
            <a:r>
              <a:rPr lang="en-US" altLang="zh-CN" sz="2100"/>
              <a:t>)</a:t>
            </a:r>
            <a:r>
              <a:rPr lang="zh-CN" altLang="en-US" sz="210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6">
            <a:extLst>
              <a:ext uri="{FF2B5EF4-FFF2-40B4-BE49-F238E27FC236}">
                <a16:creationId xmlns:a16="http://schemas.microsoft.com/office/drawing/2014/main" id="{D40542E7-2450-1D76-3BF7-D8DD1B0B35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5844769-7F45-4453-8CF3-49962C71BA94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1EEA04EB-6A66-80DB-38F0-9C072D84E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6BA2B48-A0AD-ACEA-C26F-F02A20B0B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zh-CN"/>
              <a:t>26.1 </a:t>
            </a:r>
            <a:r>
              <a:rPr lang="zh-CN" altLang="en-US"/>
              <a:t>被动风险策略和主动风险策略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26.2 </a:t>
            </a:r>
            <a:r>
              <a:rPr lang="zh-CN" altLang="en-US"/>
              <a:t>软件风险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26.3 </a:t>
            </a:r>
            <a:r>
              <a:rPr lang="zh-CN" altLang="en-US"/>
              <a:t>风险识别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26.4 </a:t>
            </a:r>
            <a:r>
              <a:rPr lang="zh-CN" altLang="en-US"/>
              <a:t>风险预测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26.5 </a:t>
            </a:r>
            <a:r>
              <a:rPr lang="zh-CN" altLang="en-US"/>
              <a:t>风险求精</a:t>
            </a:r>
          </a:p>
          <a:p>
            <a:pPr>
              <a:lnSpc>
                <a:spcPct val="160000"/>
              </a:lnSpc>
            </a:pPr>
            <a:r>
              <a:rPr lang="en-US" altLang="zh-CN"/>
              <a:t>26.6 </a:t>
            </a:r>
            <a:r>
              <a:rPr lang="zh-CN" altLang="en-US"/>
              <a:t>风险缓解、监测和管理</a:t>
            </a:r>
          </a:p>
          <a:p>
            <a:pPr>
              <a:lnSpc>
                <a:spcPct val="160000"/>
              </a:lnSpc>
            </a:pPr>
            <a:r>
              <a:rPr lang="en-US" altLang="zh-CN">
                <a:solidFill>
                  <a:srgbClr val="FF0000"/>
                </a:solidFill>
              </a:rPr>
              <a:t>26.7 RMMM</a:t>
            </a:r>
            <a:r>
              <a:rPr lang="zh-CN" altLang="en-US">
                <a:solidFill>
                  <a:srgbClr val="FF0000"/>
                </a:solidFill>
              </a:rPr>
              <a:t>计划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>
            <a:extLst>
              <a:ext uri="{FF2B5EF4-FFF2-40B4-BE49-F238E27FC236}">
                <a16:creationId xmlns:a16="http://schemas.microsoft.com/office/drawing/2014/main" id="{0E76D93A-E997-D8D7-D990-DB46C64A15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4758CD-4192-4C25-AE90-3BF7D15F80F8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68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47C5F19-6235-58D3-051C-1CC48A99C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558800"/>
          </a:xfrm>
        </p:spPr>
        <p:txBody>
          <a:bodyPr/>
          <a:lstStyle/>
          <a:p>
            <a:r>
              <a:rPr lang="en-US" altLang="zh-CN"/>
              <a:t>RMMM</a:t>
            </a:r>
            <a:r>
              <a:rPr lang="zh-CN" altLang="en-US"/>
              <a:t>计划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5193FF5E-33FA-470C-C626-CF393ACFA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000"/>
              <a:t>风险缓解、监测和管理计划</a:t>
            </a:r>
            <a:r>
              <a:rPr lang="en-US" altLang="zh-CN" sz="2000">
                <a:solidFill>
                  <a:srgbClr val="FF0000"/>
                </a:solidFill>
              </a:rPr>
              <a:t>RMMM</a:t>
            </a:r>
            <a:r>
              <a:rPr lang="en-US" altLang="zh-CN" sz="2000"/>
              <a:t> (Risk Mitigation, Monitoring and Management Plan)</a:t>
            </a:r>
            <a:r>
              <a:rPr lang="zh-CN" altLang="en-US" sz="2000"/>
              <a:t>计划将所有风险分析工作</a:t>
            </a:r>
            <a:r>
              <a:rPr lang="zh-CN" altLang="en-US" sz="2000">
                <a:solidFill>
                  <a:srgbClr val="FF0000"/>
                </a:solidFill>
              </a:rPr>
              <a:t>文档化</a:t>
            </a:r>
            <a:r>
              <a:rPr lang="zh-CN" altLang="en-US" sz="2000"/>
              <a:t>，项目管理者还可将其作为整个项目计划的一部分：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1800"/>
              <a:t>缓解：我们能够规避风险吗？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1800"/>
              <a:t>监测：哪些因素能够显示风险在变化？</a:t>
            </a:r>
          </a:p>
          <a:p>
            <a:pPr lvl="1">
              <a:lnSpc>
                <a:spcPct val="150000"/>
              </a:lnSpc>
              <a:spcBef>
                <a:spcPct val="30000"/>
              </a:spcBef>
            </a:pPr>
            <a:r>
              <a:rPr lang="zh-CN" altLang="en-US" sz="1800"/>
              <a:t>管理：风险发生时，如何应对？</a:t>
            </a:r>
          </a:p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000"/>
              <a:t>有些软件团队并不建立正式的</a:t>
            </a:r>
            <a:r>
              <a:rPr lang="en-US" altLang="zh-CN" sz="2000"/>
              <a:t>RMMM</a:t>
            </a:r>
            <a:r>
              <a:rPr lang="zh-CN" altLang="en-US" sz="2000"/>
              <a:t>文档，而是将每个风险分别使用</a:t>
            </a:r>
            <a:r>
              <a:rPr lang="zh-CN" altLang="en-US" sz="2000">
                <a:solidFill>
                  <a:srgbClr val="FF0000"/>
                </a:solidFill>
              </a:rPr>
              <a:t>风险信息表单 </a:t>
            </a:r>
            <a:r>
              <a:rPr lang="en-US" altLang="zh-CN" sz="2000"/>
              <a:t>(risk information sheet, </a:t>
            </a:r>
            <a:r>
              <a:rPr lang="en-US" altLang="zh-CN" sz="2000">
                <a:solidFill>
                  <a:srgbClr val="FF0000"/>
                </a:solidFill>
              </a:rPr>
              <a:t>RIS</a:t>
            </a:r>
            <a:r>
              <a:rPr lang="en-US" altLang="zh-CN" sz="2000"/>
              <a:t>)</a:t>
            </a:r>
            <a:r>
              <a:rPr lang="zh-CN" altLang="en-US" sz="2000"/>
              <a:t>进行文档化。在大多数情况下，</a:t>
            </a:r>
            <a:r>
              <a:rPr lang="en-US" altLang="zh-CN" sz="2000"/>
              <a:t>RIS</a:t>
            </a:r>
            <a:r>
              <a:rPr lang="zh-CN" altLang="en-US" sz="2000"/>
              <a:t>采用</a:t>
            </a:r>
            <a:r>
              <a:rPr lang="zh-CN" altLang="en-US" sz="2000">
                <a:solidFill>
                  <a:srgbClr val="FF0000"/>
                </a:solidFill>
              </a:rPr>
              <a:t>数据库系统</a:t>
            </a:r>
            <a:r>
              <a:rPr lang="zh-CN" altLang="en-US" sz="2000"/>
              <a:t>进行维护，这样容易完成创建、信息输入、优先级排序、查找以及其他分析。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6">
            <a:extLst>
              <a:ext uri="{FF2B5EF4-FFF2-40B4-BE49-F238E27FC236}">
                <a16:creationId xmlns:a16="http://schemas.microsoft.com/office/drawing/2014/main" id="{94D93EF5-C70E-5E42-0919-5B459964C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C5CFB31-022D-4F9F-8337-5F93DD6641F3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69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CBFDD932-6DA5-98E4-8D5C-3E343D250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风险信息表单</a:t>
            </a:r>
          </a:p>
        </p:txBody>
      </p:sp>
      <p:pic>
        <p:nvPicPr>
          <p:cNvPr id="55300" name="Picture 4">
            <a:extLst>
              <a:ext uri="{FF2B5EF4-FFF2-40B4-BE49-F238E27FC236}">
                <a16:creationId xmlns:a16="http://schemas.microsoft.com/office/drawing/2014/main" id="{F60C9C9D-BBF4-8C23-5E46-6F15F3ACB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4" y="882650"/>
            <a:ext cx="5076825" cy="558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>
            <a:extLst>
              <a:ext uri="{FF2B5EF4-FFF2-40B4-BE49-F238E27FC236}">
                <a16:creationId xmlns:a16="http://schemas.microsoft.com/office/drawing/2014/main" id="{1CF85AE8-EA67-43FE-26C0-B0536C4CD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B4D8017-6302-446C-A883-EE3B6B284576}" type="slidenum">
              <a:rPr lang="en-US" altLang="zh-CN" sz="1200">
                <a:solidFill>
                  <a:srgbClr val="000000"/>
                </a:solidFill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70</a:t>
            </a:fld>
            <a:endParaRPr lang="en-US" altLang="zh-CN" sz="1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A5DB0910-6436-8BCE-F506-3C83BD6E5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RMMM</a:t>
            </a:r>
            <a:r>
              <a:rPr lang="zh-CN" altLang="en-US"/>
              <a:t>计划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5F913CBF-152A-892F-6A20-EFA5F9333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981075"/>
            <a:ext cx="8229600" cy="500538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风险缓解是一种问题规避活动</a:t>
            </a:r>
            <a:r>
              <a:rPr lang="zh-CN" altLang="en-US"/>
              <a:t>，而</a:t>
            </a:r>
            <a:r>
              <a:rPr lang="zh-CN" altLang="en-US">
                <a:solidFill>
                  <a:srgbClr val="FF0000"/>
                </a:solidFill>
              </a:rPr>
              <a:t>风险监测则是一种项目跟踪活动</a:t>
            </a:r>
            <a:r>
              <a:rPr lang="zh-CN" altLang="en-US"/>
              <a:t>，这种</a:t>
            </a:r>
            <a:r>
              <a:rPr lang="zh-CN" altLang="en-US">
                <a:solidFill>
                  <a:srgbClr val="FF0000"/>
                </a:solidFill>
              </a:rPr>
              <a:t>监测活动</a:t>
            </a:r>
            <a:r>
              <a:rPr lang="zh-CN" altLang="en-US"/>
              <a:t>有三个主要</a:t>
            </a:r>
            <a:r>
              <a:rPr lang="zh-CN" altLang="en-US">
                <a:solidFill>
                  <a:srgbClr val="FF0000"/>
                </a:solidFill>
              </a:rPr>
              <a:t>目的</a:t>
            </a:r>
            <a:r>
              <a:rPr lang="zh-CN" altLang="en-US"/>
              <a:t>：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/>
              <a:t>(1) </a:t>
            </a:r>
            <a:r>
              <a:rPr lang="zh-CN" altLang="en-US" sz="2000"/>
              <a:t>评估所预测的</a:t>
            </a:r>
            <a:r>
              <a:rPr lang="zh-CN" altLang="en-US" sz="2000">
                <a:solidFill>
                  <a:srgbClr val="FF0000"/>
                </a:solidFill>
              </a:rPr>
              <a:t>风险是否真正发生</a:t>
            </a:r>
            <a:r>
              <a:rPr lang="zh-CN" altLang="en-US" sz="2000"/>
              <a:t>了；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/>
              <a:t>(2) </a:t>
            </a:r>
            <a:r>
              <a:rPr lang="zh-CN" altLang="en-US" sz="2000"/>
              <a:t>保证正确地</a:t>
            </a:r>
            <a:r>
              <a:rPr lang="zh-CN" altLang="en-US" sz="2000">
                <a:solidFill>
                  <a:srgbClr val="FF0000"/>
                </a:solidFill>
              </a:rPr>
              <a:t>实施</a:t>
            </a:r>
            <a:r>
              <a:rPr lang="zh-CN" altLang="en-US" sz="2000"/>
              <a:t>了各风险的</a:t>
            </a:r>
            <a:r>
              <a:rPr lang="zh-CN" altLang="en-US" sz="2000">
                <a:solidFill>
                  <a:srgbClr val="FF0000"/>
                </a:solidFill>
              </a:rPr>
              <a:t>缓解步骤；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/>
              <a:t>(3) </a:t>
            </a:r>
            <a:r>
              <a:rPr lang="zh-CN" altLang="en-US" sz="2000">
                <a:solidFill>
                  <a:srgbClr val="FF0000"/>
                </a:solidFill>
              </a:rPr>
              <a:t>收集</a:t>
            </a:r>
            <a:r>
              <a:rPr lang="zh-CN" altLang="en-US" sz="2000"/>
              <a:t>能够用于今后风险分析的</a:t>
            </a:r>
            <a:r>
              <a:rPr lang="zh-CN" altLang="en-US" sz="2000">
                <a:solidFill>
                  <a:srgbClr val="FF0000"/>
                </a:solidFill>
              </a:rPr>
              <a:t>信息；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/>
              <a:t>在很多情况下，项目中发生的问题可以追溯到不止一个风险，所以风险监测的另一个任务就是试图</a:t>
            </a:r>
            <a:r>
              <a:rPr lang="zh-CN" altLang="en-US">
                <a:solidFill>
                  <a:srgbClr val="FF0000"/>
                </a:solidFill>
              </a:rPr>
              <a:t>找到“起源” </a:t>
            </a:r>
            <a:r>
              <a:rPr lang="en-US" altLang="zh-CN"/>
              <a:t>(</a:t>
            </a:r>
            <a:r>
              <a:rPr lang="zh-CN" altLang="en-US"/>
              <a:t>在整个项目中是哪些风险引起了哪些问题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4">
  <a:themeElements>
    <a:clrScheme name="模板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模板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模板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主题4">
  <a:themeElements>
    <a:clrScheme name="模板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模板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模板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5782</Words>
  <Application>Microsoft Office PowerPoint</Application>
  <PresentationFormat>宽屏</PresentationFormat>
  <Paragraphs>662</Paragraphs>
  <Slides>70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90" baseType="lpstr">
      <vt:lpstr>等线</vt:lpstr>
      <vt:lpstr>等线 Light</vt:lpstr>
      <vt:lpstr>方正舒体</vt:lpstr>
      <vt:lpstr>黑体</vt:lpstr>
      <vt:lpstr>华文仿宋</vt:lpstr>
      <vt:lpstr>华文新魏</vt:lpstr>
      <vt:lpstr>楷体</vt:lpstr>
      <vt:lpstr>宋体</vt:lpstr>
      <vt:lpstr>微软雅黑</vt:lpstr>
      <vt:lpstr>Arial</vt:lpstr>
      <vt:lpstr>Arial Narrow</vt:lpstr>
      <vt:lpstr>Calibri</vt:lpstr>
      <vt:lpstr>Garamond</vt:lpstr>
      <vt:lpstr>Helvetica</vt:lpstr>
      <vt:lpstr>Times New Roman</vt:lpstr>
      <vt:lpstr>Wingdings</vt:lpstr>
      <vt:lpstr>Office 主题​​</vt:lpstr>
      <vt:lpstr>1_主题4</vt:lpstr>
      <vt:lpstr>2_主题4</vt:lpstr>
      <vt:lpstr>Microsoft Word Document</vt:lpstr>
      <vt:lpstr>软件项目估算</vt:lpstr>
      <vt:lpstr>软件项目估算</vt:lpstr>
      <vt:lpstr>可能的“捷径”</vt:lpstr>
      <vt:lpstr>软件项目估算</vt:lpstr>
      <vt:lpstr>定义任务网络</vt:lpstr>
      <vt:lpstr>定义任务网络</vt:lpstr>
      <vt:lpstr>关键路径法(Critical Path Method，CPM）</vt:lpstr>
      <vt:lpstr>网络图中任务进度时间参数说明</vt:lpstr>
      <vt:lpstr>关键路径法</vt:lpstr>
      <vt:lpstr>CPM估计</vt:lpstr>
      <vt:lpstr>进度时间参数</vt:lpstr>
      <vt:lpstr>任务滞后Lag</vt:lpstr>
      <vt:lpstr>进度时间参数</vt:lpstr>
      <vt:lpstr>关键路径（Critical Path）</vt:lpstr>
      <vt:lpstr>Simple Example of Determining the Critical Path</vt:lpstr>
      <vt:lpstr>Determining the Critical Path for Project X</vt:lpstr>
      <vt:lpstr>关键路径的其他说明</vt:lpstr>
      <vt:lpstr>正推法</vt:lpstr>
      <vt:lpstr>正推法实例</vt:lpstr>
      <vt:lpstr>逆推法</vt:lpstr>
      <vt:lpstr>逆推图示</vt:lpstr>
      <vt:lpstr>课堂练习</vt:lpstr>
      <vt:lpstr>课堂练习</vt:lpstr>
      <vt:lpstr>课堂练习-答案</vt:lpstr>
      <vt:lpstr>习题</vt:lpstr>
      <vt:lpstr>习题</vt:lpstr>
      <vt:lpstr>第二十六章（对应全版教材的第35章）    风 险 管 理</vt:lpstr>
      <vt:lpstr>项目风险</vt:lpstr>
      <vt:lpstr>风险管理</vt:lpstr>
      <vt:lpstr>本章内容</vt:lpstr>
      <vt:lpstr>被动风险策略和主动风险策略</vt:lpstr>
      <vt:lpstr>风险策略</vt:lpstr>
      <vt:lpstr>本章内容</vt:lpstr>
      <vt:lpstr>软件风险</vt:lpstr>
      <vt:lpstr>软件风险</vt:lpstr>
      <vt:lpstr>风险类型</vt:lpstr>
      <vt:lpstr>风险管理</vt:lpstr>
      <vt:lpstr>实施有效风险管理框架的七项原则</vt:lpstr>
      <vt:lpstr>风险管理的作用</vt:lpstr>
      <vt:lpstr>本章内容</vt:lpstr>
      <vt:lpstr>风险识别</vt:lpstr>
      <vt:lpstr>风险识别</vt:lpstr>
      <vt:lpstr>风险识别</vt:lpstr>
      <vt:lpstr>风险识别</vt:lpstr>
      <vt:lpstr>风险识别</vt:lpstr>
      <vt:lpstr>风险识别</vt:lpstr>
      <vt:lpstr>风险识别</vt:lpstr>
      <vt:lpstr>风险识别</vt:lpstr>
      <vt:lpstr>风险因素和驱动因子</vt:lpstr>
      <vt:lpstr>风险因素和驱动因子</vt:lpstr>
      <vt:lpstr>对四类风险的评估</vt:lpstr>
      <vt:lpstr>本章内容</vt:lpstr>
      <vt:lpstr>风险预测</vt:lpstr>
      <vt:lpstr>风险预测</vt:lpstr>
      <vt:lpstr>建立风险表</vt:lpstr>
      <vt:lpstr>建立风险表</vt:lpstr>
      <vt:lpstr>评估风险影响</vt:lpstr>
      <vt:lpstr>评估风险影响</vt:lpstr>
      <vt:lpstr>本章内容</vt:lpstr>
      <vt:lpstr>风险细化</vt:lpstr>
      <vt:lpstr>风险求精</vt:lpstr>
      <vt:lpstr>本章内容</vt:lpstr>
      <vt:lpstr>风险缓解、监测和管理</vt:lpstr>
      <vt:lpstr>风险缓解、监测和管理</vt:lpstr>
      <vt:lpstr>风险缓解、监测和管理</vt:lpstr>
      <vt:lpstr>风险缓解、监测和管理</vt:lpstr>
      <vt:lpstr>本章内容</vt:lpstr>
      <vt:lpstr>RMMM计划</vt:lpstr>
      <vt:lpstr>风险信息表单</vt:lpstr>
      <vt:lpstr>RMMM计划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Xintian Liang</dc:creator>
  <cp:lastModifiedBy>Xintian Liang</cp:lastModifiedBy>
  <cp:revision>1</cp:revision>
  <dcterms:created xsi:type="dcterms:W3CDTF">2024-12-18T08:41:35Z</dcterms:created>
  <dcterms:modified xsi:type="dcterms:W3CDTF">2024-12-18T08:49:10Z</dcterms:modified>
</cp:coreProperties>
</file>