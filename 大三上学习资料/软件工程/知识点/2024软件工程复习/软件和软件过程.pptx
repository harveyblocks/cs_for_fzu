
<file path=[Content_Types].xml><?xml version="1.0" encoding="utf-8"?>
<Types xmlns="http://schemas.openxmlformats.org/package/2006/content-types">
  <Default Extension="bin" ContentType="application/vnd.ms-office.activeX"/>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activeX/activeX1.xml" ContentType="application/vnd.ms-office.activeX+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activeX/activeX2.xml" ContentType="application/vnd.ms-office.activeX+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activeX/activeX3.xml" ContentType="application/vnd.ms-office.activeX+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4" r:id="rId3"/>
    <p:sldMasterId id="2147483688" r:id="rId4"/>
  </p:sldMasterIdLst>
  <p:notesMasterIdLst>
    <p:notesMasterId r:id="rId82"/>
  </p:notesMasterIdLst>
  <p:sldIdLst>
    <p:sldId id="273" r:id="rId5"/>
    <p:sldId id="293" r:id="rId6"/>
    <p:sldId id="294" r:id="rId7"/>
    <p:sldId id="297" r:id="rId8"/>
    <p:sldId id="286" r:id="rId9"/>
    <p:sldId id="342" r:id="rId10"/>
    <p:sldId id="343" r:id="rId11"/>
    <p:sldId id="344" r:id="rId12"/>
    <p:sldId id="290" r:id="rId13"/>
    <p:sldId id="291" r:id="rId14"/>
    <p:sldId id="345" r:id="rId15"/>
    <p:sldId id="296" r:id="rId16"/>
    <p:sldId id="346" r:id="rId17"/>
    <p:sldId id="298" r:id="rId18"/>
    <p:sldId id="302" r:id="rId19"/>
    <p:sldId id="300" r:id="rId20"/>
    <p:sldId id="301" r:id="rId21"/>
    <p:sldId id="357" r:id="rId22"/>
    <p:sldId id="358" r:id="rId23"/>
    <p:sldId id="359" r:id="rId24"/>
    <p:sldId id="356" r:id="rId25"/>
    <p:sldId id="360" r:id="rId26"/>
    <p:sldId id="361" r:id="rId27"/>
    <p:sldId id="362" r:id="rId28"/>
    <p:sldId id="363" r:id="rId29"/>
    <p:sldId id="364" r:id="rId30"/>
    <p:sldId id="365" r:id="rId31"/>
    <p:sldId id="377" r:id="rId32"/>
    <p:sldId id="378" r:id="rId33"/>
    <p:sldId id="303" r:id="rId34"/>
    <p:sldId id="379" r:id="rId35"/>
    <p:sldId id="304" r:id="rId36"/>
    <p:sldId id="305" r:id="rId37"/>
    <p:sldId id="280" r:id="rId38"/>
    <p:sldId id="380" r:id="rId39"/>
    <p:sldId id="266" r:id="rId40"/>
    <p:sldId id="268" r:id="rId41"/>
    <p:sldId id="282" r:id="rId42"/>
    <p:sldId id="283" r:id="rId43"/>
    <p:sldId id="284" r:id="rId44"/>
    <p:sldId id="306" r:id="rId45"/>
    <p:sldId id="307" r:id="rId46"/>
    <p:sldId id="308" r:id="rId47"/>
    <p:sldId id="287" r:id="rId48"/>
    <p:sldId id="381" r:id="rId49"/>
    <p:sldId id="261" r:id="rId50"/>
    <p:sldId id="311" r:id="rId51"/>
    <p:sldId id="288" r:id="rId52"/>
    <p:sldId id="312" r:id="rId53"/>
    <p:sldId id="289" r:id="rId54"/>
    <p:sldId id="313" r:id="rId55"/>
    <p:sldId id="382" r:id="rId56"/>
    <p:sldId id="314" r:id="rId57"/>
    <p:sldId id="383" r:id="rId58"/>
    <p:sldId id="315" r:id="rId59"/>
    <p:sldId id="316" r:id="rId60"/>
    <p:sldId id="317" r:id="rId61"/>
    <p:sldId id="318" r:id="rId62"/>
    <p:sldId id="319" r:id="rId63"/>
    <p:sldId id="292" r:id="rId64"/>
    <p:sldId id="384" r:id="rId65"/>
    <p:sldId id="385" r:id="rId66"/>
    <p:sldId id="320" r:id="rId67"/>
    <p:sldId id="386" r:id="rId68"/>
    <p:sldId id="325" r:id="rId69"/>
    <p:sldId id="326" r:id="rId70"/>
    <p:sldId id="387" r:id="rId71"/>
    <p:sldId id="388" r:id="rId72"/>
    <p:sldId id="328" r:id="rId73"/>
    <p:sldId id="389" r:id="rId74"/>
    <p:sldId id="390" r:id="rId75"/>
    <p:sldId id="391" r:id="rId76"/>
    <p:sldId id="392" r:id="rId77"/>
    <p:sldId id="393" r:id="rId78"/>
    <p:sldId id="394" r:id="rId79"/>
    <p:sldId id="395" r:id="rId80"/>
    <p:sldId id="396" r:id="rId8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3" d="100"/>
          <a:sy n="83" d="100"/>
        </p:scale>
        <p:origin x="40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viewProps" Target="viewProps.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slide" Target="slides/slide76.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61" Type="http://schemas.openxmlformats.org/officeDocument/2006/relationships/slide" Target="slides/slide57.xml"/><Relationship Id="rId82" Type="http://schemas.openxmlformats.org/officeDocument/2006/relationships/notesMaster" Target="notesMasters/notesMaster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D27CDB6E-AE6D-11CF-96B8-444553540000}" ax:persistence="persistStorage" r:id="rId1"/>
</file>

<file path=ppt/activeX/activeX2.xml><?xml version="1.0" encoding="utf-8"?>
<ax:ocx xmlns:ax="http://schemas.microsoft.com/office/2006/activeX" xmlns:r="http://schemas.openxmlformats.org/officeDocument/2006/relationships" ax:classid="{D27CDB6E-AE6D-11CF-96B8-444553540000}" ax:persistence="persistStorage" r:id="rId1"/>
</file>

<file path=ppt/activeX/activeX3.xml><?xml version="1.0" encoding="utf-8"?>
<ax:ocx xmlns:ax="http://schemas.microsoft.com/office/2006/activeX" xmlns:r="http://schemas.openxmlformats.org/officeDocument/2006/relationships" ax:classid="{D27CDB6E-AE6D-11CF-96B8-444553540000}" ax:persistence="persistStorage" r:id="rId1"/>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B2488B-0186-4492-9643-A5139BFE1C24}" type="datetimeFigureOut">
              <a:rPr lang="zh-CN" altLang="en-US" smtClean="0"/>
              <a:t>2024/12/18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A0409A-BAAD-4BBD-849D-12A1EBB6FFFC}" type="slidenum">
              <a:rPr lang="zh-CN" altLang="en-US" smtClean="0"/>
              <a:t>‹#›</a:t>
            </a:fld>
            <a:endParaRPr lang="zh-CN" altLang="en-US"/>
          </a:p>
        </p:txBody>
      </p:sp>
    </p:spTree>
    <p:extLst>
      <p:ext uri="{BB962C8B-B14F-4D97-AF65-F5344CB8AC3E}">
        <p14:creationId xmlns:p14="http://schemas.microsoft.com/office/powerpoint/2010/main" val="8851268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645CCE96-79E6-8913-ECED-4C3D588381D2}"/>
              </a:ext>
            </a:extLst>
          </p:cNvPr>
          <p:cNvSpPr>
            <a:spLocks noChangeArrowheads="1" noTextEdit="1"/>
          </p:cNvSpPr>
          <p:nvPr>
            <p:ph type="sldImg"/>
          </p:nvPr>
        </p:nvSpPr>
        <p:spPr>
          <a:ln/>
        </p:spPr>
      </p:sp>
      <p:sp>
        <p:nvSpPr>
          <p:cNvPr id="15363" name="Rectangle 3">
            <a:extLst>
              <a:ext uri="{FF2B5EF4-FFF2-40B4-BE49-F238E27FC236}">
                <a16:creationId xmlns:a16="http://schemas.microsoft.com/office/drawing/2014/main" id="{844AC6B1-0EBF-8055-85E5-672FD37F3DC0}"/>
              </a:ext>
            </a:extLst>
          </p:cNvPr>
          <p:cNvSpPr>
            <a:spLocks noChangeArrowheads="1"/>
          </p:cNvSpPr>
          <p:nvPr>
            <p:ph type="body" idx="1"/>
          </p:nvPr>
        </p:nvSpPr>
        <p:spPr>
          <a:xfrm>
            <a:off x="685800" y="4343400"/>
            <a:ext cx="5486400" cy="41148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793D69B5-1171-2EC7-5F18-9AECCA3B8BB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6B9BFE3-4421-4A98-96D2-D5AF031F1A33}" type="slidenum">
              <a:rPr kumimoji="1"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21</a:t>
            </a:fld>
            <a:endParaRPr kumimoji="1"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8195" name="Rectangle 2">
            <a:extLst>
              <a:ext uri="{FF2B5EF4-FFF2-40B4-BE49-F238E27FC236}">
                <a16:creationId xmlns:a16="http://schemas.microsoft.com/office/drawing/2014/main" id="{7776D67B-3AAD-3856-999F-5C191C1233CF}"/>
              </a:ext>
            </a:extLst>
          </p:cNvPr>
          <p:cNvSpPr>
            <a:spLocks noChangeArrowheads="1" noTextEdit="1"/>
          </p:cNvSpPr>
          <p:nvPr>
            <p:ph type="sldImg"/>
          </p:nvPr>
        </p:nvSpPr>
        <p:spPr>
          <a:ln/>
        </p:spPr>
      </p:sp>
      <p:sp>
        <p:nvSpPr>
          <p:cNvPr id="8196" name="Rectangle 3">
            <a:extLst>
              <a:ext uri="{FF2B5EF4-FFF2-40B4-BE49-F238E27FC236}">
                <a16:creationId xmlns:a16="http://schemas.microsoft.com/office/drawing/2014/main" id="{2CDB5F02-7FD8-7259-7DC4-BDC1A084D21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a:latin typeface="Times New Roman" panose="02020603050405020304" pitchFamily="18"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2.xml"/><Relationship Id="rId1" Type="http://schemas.openxmlformats.org/officeDocument/2006/relationships/control" Target="../activeX/activeX1.xml"/><Relationship Id="rId5" Type="http://schemas.openxmlformats.org/officeDocument/2006/relationships/image" Target="../media/image3.wmf"/><Relationship Id="rId4"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3.xml"/><Relationship Id="rId1" Type="http://schemas.openxmlformats.org/officeDocument/2006/relationships/control" Target="../activeX/activeX2.xml"/><Relationship Id="rId5" Type="http://schemas.openxmlformats.org/officeDocument/2006/relationships/image" Target="../media/image4.wmf"/><Relationship Id="rId4"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4.xml"/><Relationship Id="rId1" Type="http://schemas.openxmlformats.org/officeDocument/2006/relationships/control" Target="../activeX/activeX3.xml"/><Relationship Id="rId5" Type="http://schemas.openxmlformats.org/officeDocument/2006/relationships/image" Target="../media/image4.wmf"/><Relationship Id="rId4" Type="http://schemas.openxmlformats.org/officeDocument/2006/relationships/image" Target="../media/image2.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1A2AA0D-6E49-965C-9475-8CE6E6A6C83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CE3B205-AAC5-600E-CF0C-C69473F4B5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C8335EF4-1C9C-A5E7-5813-4C10C62BE86A}"/>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630BED0F-EE8B-C23D-818C-2B40494B300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2113124-4B3A-A022-B9E7-3959CA1F5606}"/>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25677172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815CBE-81DE-D3DE-1B3D-AFC96DF79A3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9CB5DE2-CFED-D495-3546-5353C28E85C1}"/>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ADDBE65-08B7-DB72-2E83-97B9E8F1B924}"/>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A094C86A-5A75-7001-4752-26093835E48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CEABD726-B4FB-A3BE-6347-80AD7079816D}"/>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3696467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D52321-2861-B837-64DA-22E96E546FA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FEB2BDC8-4F1E-6E14-5237-466614B662A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FB6C0ED8-7D85-E5AB-DF6D-A9C99168B30D}"/>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D36C9784-EDC8-D611-DEE1-2D79A36D991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037A0F2-4925-956C-3C53-DF9792B6B123}"/>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37422349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2D3FE72-C025-AB83-6B54-5A2DCD87B1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5A8E705-A4FC-3CA7-1151-A40F70DBF552}"/>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6635C44D-2309-8BC3-093F-1D50181EC6A9}"/>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DAF0659-65A9-C348-CC25-3FCEE4E41099}"/>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9ED1EF40-7371-5CAB-0980-3D74FBB3FD8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E13520D-BC92-821F-231B-A694461649D9}"/>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21891155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4FDE0C-A82A-7089-17C5-58A36B31743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E699DDE-A982-2CD1-A073-617B69D360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93B0916B-2BB7-2935-A6A7-A608FF64E925}"/>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01E3E31B-56ED-CEED-C071-7387A8402B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6B2B439-A578-969D-DEB6-5525017A6D24}"/>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26DDC19-3223-0698-BF9C-3E71F2D95141}"/>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8" name="页脚占位符 7">
            <a:extLst>
              <a:ext uri="{FF2B5EF4-FFF2-40B4-BE49-F238E27FC236}">
                <a16:creationId xmlns:a16="http://schemas.microsoft.com/office/drawing/2014/main" id="{9D21EAB9-E794-29B0-4E34-33D34BB3209B}"/>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2DE530BA-6E40-99F2-684B-C3FD8E4ED632}"/>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3686117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39F255-4E53-5718-9450-E0957ED7C2AA}"/>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532AF970-A4D7-8A56-9DEE-E1F8683A7598}"/>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4" name="页脚占位符 3">
            <a:extLst>
              <a:ext uri="{FF2B5EF4-FFF2-40B4-BE49-F238E27FC236}">
                <a16:creationId xmlns:a16="http://schemas.microsoft.com/office/drawing/2014/main" id="{A49EA21A-55DC-363E-01A9-7E1FA17A055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9525E73F-1009-5F1C-D8CD-1E3A7307BF25}"/>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17140694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E1DDE37-B5AD-4C99-7F3B-339A1D667A88}"/>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3" name="页脚占位符 2">
            <a:extLst>
              <a:ext uri="{FF2B5EF4-FFF2-40B4-BE49-F238E27FC236}">
                <a16:creationId xmlns:a16="http://schemas.microsoft.com/office/drawing/2014/main" id="{DB4F153A-FBA5-B74E-F9E9-A45C4B708A2B}"/>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604DDACD-38CD-F385-C3A6-DB10D065D310}"/>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37534793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72CA56-76BB-6D1F-0A5F-C8F84D44033F}"/>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F989C90-DE4B-A4D2-2AAC-64BC080BBCE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241D8A9-64FE-469C-060B-BFC432E24E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226A059-DDBA-27D0-4AB5-2DA20EE57E8D}"/>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ED22657F-5FBF-CA62-8EEC-5DD61EB324C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15456EB0-12A9-884E-E178-79A772B0D89D}"/>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32597531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5DA219C-7123-B8DD-6870-458491D6B427}"/>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2E85FED-C792-7077-20BF-A6735BBAF7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84398304-9BE2-96A9-190A-20B836D1BE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93C1F44-6F01-F9CC-3873-CBA8F0226CB3}"/>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6" name="页脚占位符 5">
            <a:extLst>
              <a:ext uri="{FF2B5EF4-FFF2-40B4-BE49-F238E27FC236}">
                <a16:creationId xmlns:a16="http://schemas.microsoft.com/office/drawing/2014/main" id="{71486086-24C7-87B1-7CB5-AB22E4EABD3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7FDDF92-E7FB-8529-82B5-0942E00AF48E}"/>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2967284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0CA0460-EB12-7E57-81CF-AD285802057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4CDA7F4A-2AD2-0508-B737-425705E964D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0C6919F-1C78-68C2-5D03-5E7555D33A5F}"/>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36148573-2CD4-6C94-1891-434D6E697E98}"/>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708EDF96-2250-5C14-B559-24B3772A6D8D}"/>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2986751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C7D8F25D-038E-2993-C3BB-25B9D99018AB}"/>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29BC1D9-EBBA-C244-2599-B163284A7838}"/>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0013FF8D-41EE-CA6D-13CB-4E993B4EDEEC}"/>
              </a:ext>
            </a:extLst>
          </p:cNvPr>
          <p:cNvSpPr>
            <a:spLocks noGrp="1"/>
          </p:cNvSpPr>
          <p:nvPr>
            <p:ph type="dt" sz="half" idx="10"/>
          </p:nvPr>
        </p:nvSpPr>
        <p:spPr/>
        <p:txBody>
          <a:bodyPr/>
          <a:lstStyle/>
          <a:p>
            <a:fld id="{A0331022-7643-4B4F-83BA-565B56EC1DC9}"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C3096B77-DCB3-772E-FD5F-8FA2877D860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F7E2ACC-19A7-9308-9B8E-E71FA564270A}"/>
              </a:ext>
            </a:extLst>
          </p:cNvPr>
          <p:cNvSpPr>
            <a:spLocks noGrp="1"/>
          </p:cNvSpPr>
          <p:nvPr>
            <p:ph type="sldNum" sz="quarter" idx="12"/>
          </p:nvPr>
        </p:nvSpPr>
        <p:spPr/>
        <p:txBody>
          <a:body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1952991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FECB9D19-A304-2D88-A91B-4578DE768BD4}"/>
              </a:ext>
            </a:extLst>
          </p:cNvPr>
          <p:cNvSpPr>
            <a:spLocks noChangeArrowheads="1"/>
          </p:cNvSpPr>
          <p:nvPr/>
        </p:nvSpPr>
        <p:spPr bwMode="auto">
          <a:xfrm>
            <a:off x="812800" y="1219200"/>
            <a:ext cx="10566400" cy="914400"/>
          </a:xfrm>
          <a:custGeom>
            <a:avLst/>
            <a:gdLst>
              <a:gd name="T0" fmla="*/ 0 w 1000"/>
              <a:gd name="T1" fmla="*/ 914400 h 1000"/>
              <a:gd name="T2" fmla="*/ 0 w 1000"/>
              <a:gd name="T3" fmla="*/ 0 h 1000"/>
              <a:gd name="T4" fmla="*/ 79248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3" name="Line 8">
            <a:extLst>
              <a:ext uri="{FF2B5EF4-FFF2-40B4-BE49-F238E27FC236}">
                <a16:creationId xmlns:a16="http://schemas.microsoft.com/office/drawing/2014/main" id="{1EF713E6-1DCA-281D-E930-8216FA3E155F}"/>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4" name="Picture 9">
            <a:extLst>
              <a:ext uri="{FF2B5EF4-FFF2-40B4-BE49-F238E27FC236}">
                <a16:creationId xmlns:a16="http://schemas.microsoft.com/office/drawing/2014/main" id="{F6CDEDB5-5131-7742-F664-98A05BDC03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433494FF-BBD3-200B-DEDB-ACA85467E7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zh-CN" altLang="en-US"/>
              <a:t>单击此处编辑母版标题样式</a:t>
            </a:r>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zh-CN" altLang="en-US"/>
              <a:t>单击此处编辑母版副标题样式</a:t>
            </a:r>
          </a:p>
        </p:txBody>
      </p:sp>
      <p:sp>
        <p:nvSpPr>
          <p:cNvPr id="7" name="Rectangle 4">
            <a:extLst>
              <a:ext uri="{FF2B5EF4-FFF2-40B4-BE49-F238E27FC236}">
                <a16:creationId xmlns:a16="http://schemas.microsoft.com/office/drawing/2014/main" id="{2F50D4B5-BBE9-4FB6-2E37-A804ED86F77B}"/>
              </a:ext>
            </a:extLst>
          </p:cNvPr>
          <p:cNvSpPr>
            <a:spLocks noGrp="1" noChangeArrowheads="1"/>
          </p:cNvSpPr>
          <p:nvPr>
            <p:ph type="dt" sz="half" idx="10"/>
          </p:nvPr>
        </p:nvSpPr>
        <p:spPr/>
        <p:txBody>
          <a:bodyPr/>
          <a:lstStyle>
            <a:lvl1pPr>
              <a:defRPr/>
            </a:lvl1pPr>
          </a:lstStyle>
          <a:p>
            <a:pPr>
              <a:defRPr/>
            </a:pPr>
            <a:fld id="{732CFC7F-9949-41AD-AD6B-8DEFAEBE265C}"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C281AE05-59F6-BAFA-0164-842561FA8451}"/>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8F6524D9-4C21-7BAB-CFCF-BAE740C2091E}"/>
              </a:ext>
            </a:extLst>
          </p:cNvPr>
          <p:cNvSpPr>
            <a:spLocks noGrp="1" noChangeArrowheads="1"/>
          </p:cNvSpPr>
          <p:nvPr>
            <p:ph type="sldNum" sz="quarter" idx="12"/>
          </p:nvPr>
        </p:nvSpPr>
        <p:spPr>
          <a:xfrm>
            <a:off x="4978400" y="6284913"/>
            <a:ext cx="2844800" cy="457200"/>
          </a:xfrm>
        </p:spPr>
        <p:txBody>
          <a:bodyPr/>
          <a:lstStyle>
            <a:lvl1pPr>
              <a:defRPr sz="1200" smtClean="0">
                <a:latin typeface="Garamond" panose="02020404030301010803" pitchFamily="18" charset="0"/>
              </a:defRPr>
            </a:lvl1pPr>
          </a:lstStyle>
          <a:p>
            <a:pPr>
              <a:defRPr/>
            </a:pPr>
            <a:fld id="{67EAEB76-4A66-4ED9-8736-78CEDCE3B82C}" type="slidenum">
              <a:rPr lang="en-US" altLang="zh-CN"/>
              <a:pPr>
                <a:defRPr/>
              </a:pPr>
              <a:t>‹#›</a:t>
            </a:fld>
            <a:endParaRPr lang="en-US" altLang="zh-CN"/>
          </a:p>
        </p:txBody>
      </p:sp>
    </p:spTree>
    <p:controls>
      <mc:AlternateContent xmlns:mc="http://schemas.openxmlformats.org/markup-compatibility/2006">
        <mc:Choice xmlns:v="urn:schemas-microsoft-com:vml" Requires="v">
          <p:control r:id="rId1" imgW="933450" imgH="219075"/>
        </mc:Choice>
        <mc:Fallback>
          <p:control r:id="rId1" imgW="933450" imgH="219075">
            <p:pic>
              <p:nvPicPr>
                <p:cNvPr id="6" name="ShockwaveFlash1">
                  <a:extLst>
                    <a:ext uri="{FF2B5EF4-FFF2-40B4-BE49-F238E27FC236}">
                      <a16:creationId xmlns:a16="http://schemas.microsoft.com/office/drawing/2014/main" id="{7A91E91E-3E6E-39D4-A47C-2D1FF95D0A8E}"/>
                    </a:ext>
                  </a:extLst>
                </p:cNvPr>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8567618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C887059-EFED-36C2-394D-6496B325D64D}"/>
              </a:ext>
            </a:extLst>
          </p:cNvPr>
          <p:cNvSpPr>
            <a:spLocks noGrp="1" noChangeArrowheads="1"/>
          </p:cNvSpPr>
          <p:nvPr>
            <p:ph type="dt" sz="half" idx="10"/>
          </p:nvPr>
        </p:nvSpPr>
        <p:spPr>
          <a:ln/>
        </p:spPr>
        <p:txBody>
          <a:bodyPr/>
          <a:lstStyle>
            <a:lvl1pPr>
              <a:defRPr/>
            </a:lvl1pPr>
          </a:lstStyle>
          <a:p>
            <a:pPr>
              <a:defRPr/>
            </a:pPr>
            <a:fld id="{C226E4F1-7E8C-4A05-AE1F-E11238AF55D0}"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DFA022FC-37E9-D4A8-798D-632CE361AB5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FC4F978-E174-6015-BE86-768DAF5380D8}"/>
              </a:ext>
            </a:extLst>
          </p:cNvPr>
          <p:cNvSpPr>
            <a:spLocks noGrp="1" noChangeArrowheads="1"/>
          </p:cNvSpPr>
          <p:nvPr>
            <p:ph type="sldNum" sz="quarter" idx="12"/>
          </p:nvPr>
        </p:nvSpPr>
        <p:spPr>
          <a:ln/>
        </p:spPr>
        <p:txBody>
          <a:bodyPr/>
          <a:lstStyle>
            <a:lvl1pPr>
              <a:defRPr/>
            </a:lvl1pPr>
          </a:lstStyle>
          <a:p>
            <a:pPr>
              <a:defRPr/>
            </a:pPr>
            <a:fld id="{B3354748-7A91-4C68-8442-638E7D0C73AA}" type="slidenum">
              <a:rPr lang="en-US" altLang="zh-CN"/>
              <a:pPr>
                <a:defRPr/>
              </a:pPr>
              <a:t>‹#›</a:t>
            </a:fld>
            <a:endParaRPr lang="en-US" altLang="zh-CN"/>
          </a:p>
        </p:txBody>
      </p:sp>
    </p:spTree>
    <p:extLst>
      <p:ext uri="{BB962C8B-B14F-4D97-AF65-F5344CB8AC3E}">
        <p14:creationId xmlns:p14="http://schemas.microsoft.com/office/powerpoint/2010/main" val="18044971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D17CF211-2CF9-3DD7-926A-9F647FF1D29B}"/>
              </a:ext>
            </a:extLst>
          </p:cNvPr>
          <p:cNvSpPr>
            <a:spLocks noGrp="1" noChangeArrowheads="1"/>
          </p:cNvSpPr>
          <p:nvPr>
            <p:ph type="dt" sz="half" idx="10"/>
          </p:nvPr>
        </p:nvSpPr>
        <p:spPr>
          <a:ln/>
        </p:spPr>
        <p:txBody>
          <a:bodyPr/>
          <a:lstStyle>
            <a:lvl1pPr>
              <a:defRPr/>
            </a:lvl1pPr>
          </a:lstStyle>
          <a:p>
            <a:pPr>
              <a:defRPr/>
            </a:pPr>
            <a:fld id="{61D17121-0AD4-4D02-8CD8-A16D9FA47016}"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30C721AC-654F-59B9-019F-F445C374B26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26364C3-5A60-262A-D002-50FC9D791647}"/>
              </a:ext>
            </a:extLst>
          </p:cNvPr>
          <p:cNvSpPr>
            <a:spLocks noGrp="1" noChangeArrowheads="1"/>
          </p:cNvSpPr>
          <p:nvPr>
            <p:ph type="sldNum" sz="quarter" idx="12"/>
          </p:nvPr>
        </p:nvSpPr>
        <p:spPr>
          <a:ln/>
        </p:spPr>
        <p:txBody>
          <a:bodyPr/>
          <a:lstStyle>
            <a:lvl1pPr>
              <a:defRPr/>
            </a:lvl1pPr>
          </a:lstStyle>
          <a:p>
            <a:pPr>
              <a:defRPr/>
            </a:pPr>
            <a:fld id="{712927D7-81F3-4136-871F-126F010410C4}" type="slidenum">
              <a:rPr lang="en-US" altLang="zh-CN"/>
              <a:pPr>
                <a:defRPr/>
              </a:pPr>
              <a:t>‹#›</a:t>
            </a:fld>
            <a:endParaRPr lang="en-US" altLang="zh-CN"/>
          </a:p>
        </p:txBody>
      </p:sp>
    </p:spTree>
    <p:extLst>
      <p:ext uri="{BB962C8B-B14F-4D97-AF65-F5344CB8AC3E}">
        <p14:creationId xmlns:p14="http://schemas.microsoft.com/office/powerpoint/2010/main" val="39632363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6618899-216A-0385-C914-395B13194B3F}"/>
              </a:ext>
            </a:extLst>
          </p:cNvPr>
          <p:cNvSpPr>
            <a:spLocks noGrp="1" noChangeArrowheads="1"/>
          </p:cNvSpPr>
          <p:nvPr>
            <p:ph type="dt" sz="half" idx="10"/>
          </p:nvPr>
        </p:nvSpPr>
        <p:spPr>
          <a:ln/>
        </p:spPr>
        <p:txBody>
          <a:bodyPr/>
          <a:lstStyle>
            <a:lvl1pPr>
              <a:defRPr/>
            </a:lvl1pPr>
          </a:lstStyle>
          <a:p>
            <a:pPr>
              <a:defRPr/>
            </a:pPr>
            <a:fld id="{994D2020-CA11-4725-A77F-EC60C84C69DD}"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43D316EB-2780-E2BB-001F-BFECD5434E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77CEBF3-F950-3B64-42E1-B9FD9E784465}"/>
              </a:ext>
            </a:extLst>
          </p:cNvPr>
          <p:cNvSpPr>
            <a:spLocks noGrp="1" noChangeArrowheads="1"/>
          </p:cNvSpPr>
          <p:nvPr>
            <p:ph type="sldNum" sz="quarter" idx="12"/>
          </p:nvPr>
        </p:nvSpPr>
        <p:spPr>
          <a:ln/>
        </p:spPr>
        <p:txBody>
          <a:bodyPr/>
          <a:lstStyle>
            <a:lvl1pPr>
              <a:defRPr/>
            </a:lvl1pPr>
          </a:lstStyle>
          <a:p>
            <a:pPr>
              <a:defRPr/>
            </a:pPr>
            <a:fld id="{0E4F69EF-26D2-4B66-BBBA-5F7CFAC7B1E8}" type="slidenum">
              <a:rPr lang="en-US" altLang="zh-CN"/>
              <a:pPr>
                <a:defRPr/>
              </a:pPr>
              <a:t>‹#›</a:t>
            </a:fld>
            <a:endParaRPr lang="en-US" altLang="zh-CN"/>
          </a:p>
        </p:txBody>
      </p:sp>
    </p:spTree>
    <p:extLst>
      <p:ext uri="{BB962C8B-B14F-4D97-AF65-F5344CB8AC3E}">
        <p14:creationId xmlns:p14="http://schemas.microsoft.com/office/powerpoint/2010/main" val="23106578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347792C-7B93-E329-D968-28B8670EC6AA}"/>
              </a:ext>
            </a:extLst>
          </p:cNvPr>
          <p:cNvSpPr>
            <a:spLocks noGrp="1" noChangeArrowheads="1"/>
          </p:cNvSpPr>
          <p:nvPr>
            <p:ph type="dt" sz="half" idx="10"/>
          </p:nvPr>
        </p:nvSpPr>
        <p:spPr>
          <a:ln/>
        </p:spPr>
        <p:txBody>
          <a:bodyPr/>
          <a:lstStyle>
            <a:lvl1pPr>
              <a:defRPr/>
            </a:lvl1pPr>
          </a:lstStyle>
          <a:p>
            <a:pPr>
              <a:defRPr/>
            </a:pPr>
            <a:fld id="{3CB2BB1B-A82A-4631-BFAB-2921D5EB8CB9}"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95CB19AB-BA71-911E-8C87-E11AAD02684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F478E228-BD29-1B08-22A3-04D63FC8D8C5}"/>
              </a:ext>
            </a:extLst>
          </p:cNvPr>
          <p:cNvSpPr>
            <a:spLocks noGrp="1" noChangeArrowheads="1"/>
          </p:cNvSpPr>
          <p:nvPr>
            <p:ph type="sldNum" sz="quarter" idx="12"/>
          </p:nvPr>
        </p:nvSpPr>
        <p:spPr>
          <a:ln/>
        </p:spPr>
        <p:txBody>
          <a:bodyPr/>
          <a:lstStyle>
            <a:lvl1pPr>
              <a:defRPr/>
            </a:lvl1pPr>
          </a:lstStyle>
          <a:p>
            <a:pPr>
              <a:defRPr/>
            </a:pPr>
            <a:fld id="{F2EF20A4-20DF-4ACB-87EE-F04351DADFD8}" type="slidenum">
              <a:rPr lang="en-US" altLang="zh-CN"/>
              <a:pPr>
                <a:defRPr/>
              </a:pPr>
              <a:t>‹#›</a:t>
            </a:fld>
            <a:endParaRPr lang="en-US" altLang="zh-CN"/>
          </a:p>
        </p:txBody>
      </p:sp>
    </p:spTree>
    <p:extLst>
      <p:ext uri="{BB962C8B-B14F-4D97-AF65-F5344CB8AC3E}">
        <p14:creationId xmlns:p14="http://schemas.microsoft.com/office/powerpoint/2010/main" val="398889082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4FDE55A9-67E0-42CD-7B6A-C6C46DB06F00}"/>
              </a:ext>
            </a:extLst>
          </p:cNvPr>
          <p:cNvSpPr>
            <a:spLocks noGrp="1" noChangeArrowheads="1"/>
          </p:cNvSpPr>
          <p:nvPr>
            <p:ph type="dt" sz="half" idx="10"/>
          </p:nvPr>
        </p:nvSpPr>
        <p:spPr>
          <a:ln/>
        </p:spPr>
        <p:txBody>
          <a:bodyPr/>
          <a:lstStyle>
            <a:lvl1pPr>
              <a:defRPr/>
            </a:lvl1pPr>
          </a:lstStyle>
          <a:p>
            <a:pPr>
              <a:defRPr/>
            </a:pPr>
            <a:fld id="{B9182DC9-AF06-4BB5-BEAC-F2897C563DAF}"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4C4D457D-717F-3E6B-9D08-3E2BAE763FB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A1E10AAB-DCAF-EAB9-5EE5-DF42D5BD0A5C}"/>
              </a:ext>
            </a:extLst>
          </p:cNvPr>
          <p:cNvSpPr>
            <a:spLocks noGrp="1" noChangeArrowheads="1"/>
          </p:cNvSpPr>
          <p:nvPr>
            <p:ph type="sldNum" sz="quarter" idx="12"/>
          </p:nvPr>
        </p:nvSpPr>
        <p:spPr>
          <a:ln/>
        </p:spPr>
        <p:txBody>
          <a:bodyPr/>
          <a:lstStyle>
            <a:lvl1pPr>
              <a:defRPr/>
            </a:lvl1pPr>
          </a:lstStyle>
          <a:p>
            <a:pPr>
              <a:defRPr/>
            </a:pPr>
            <a:fld id="{A9CB22EF-8315-4712-8F47-72716F3019D0}" type="slidenum">
              <a:rPr lang="en-US" altLang="zh-CN"/>
              <a:pPr>
                <a:defRPr/>
              </a:pPr>
              <a:t>‹#›</a:t>
            </a:fld>
            <a:endParaRPr lang="en-US" altLang="zh-CN"/>
          </a:p>
        </p:txBody>
      </p:sp>
    </p:spTree>
    <p:extLst>
      <p:ext uri="{BB962C8B-B14F-4D97-AF65-F5344CB8AC3E}">
        <p14:creationId xmlns:p14="http://schemas.microsoft.com/office/powerpoint/2010/main" val="35421681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F0C96F3A-DC3B-419E-F2C7-3C7A5A736E8C}"/>
              </a:ext>
            </a:extLst>
          </p:cNvPr>
          <p:cNvSpPr>
            <a:spLocks noGrp="1" noChangeArrowheads="1"/>
          </p:cNvSpPr>
          <p:nvPr>
            <p:ph type="dt" sz="half" idx="10"/>
          </p:nvPr>
        </p:nvSpPr>
        <p:spPr>
          <a:ln/>
        </p:spPr>
        <p:txBody>
          <a:bodyPr/>
          <a:lstStyle>
            <a:lvl1pPr>
              <a:defRPr/>
            </a:lvl1pPr>
          </a:lstStyle>
          <a:p>
            <a:pPr>
              <a:defRPr/>
            </a:pPr>
            <a:fld id="{AA37CC1D-8870-4F1B-85BB-B1D747C674EE}"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B695B6DB-F71A-0D57-CC8F-FD167D2D9C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F6E8189-0A40-A134-2EEC-77435E3CFDBC}"/>
              </a:ext>
            </a:extLst>
          </p:cNvPr>
          <p:cNvSpPr>
            <a:spLocks noGrp="1" noChangeArrowheads="1"/>
          </p:cNvSpPr>
          <p:nvPr>
            <p:ph type="sldNum" sz="quarter" idx="12"/>
          </p:nvPr>
        </p:nvSpPr>
        <p:spPr>
          <a:ln/>
        </p:spPr>
        <p:txBody>
          <a:bodyPr/>
          <a:lstStyle>
            <a:lvl1pPr>
              <a:defRPr/>
            </a:lvl1pPr>
          </a:lstStyle>
          <a:p>
            <a:pPr>
              <a:defRPr/>
            </a:pPr>
            <a:fld id="{77876722-8E95-4D5C-B80E-83DD6C9E6731}" type="slidenum">
              <a:rPr lang="en-US" altLang="zh-CN"/>
              <a:pPr>
                <a:defRPr/>
              </a:pPr>
              <a:t>‹#›</a:t>
            </a:fld>
            <a:endParaRPr lang="en-US" altLang="zh-CN"/>
          </a:p>
        </p:txBody>
      </p:sp>
    </p:spTree>
    <p:extLst>
      <p:ext uri="{BB962C8B-B14F-4D97-AF65-F5344CB8AC3E}">
        <p14:creationId xmlns:p14="http://schemas.microsoft.com/office/powerpoint/2010/main" val="30877880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443D353B-8F74-A550-625E-E6A7FEC0D24C}"/>
              </a:ext>
            </a:extLst>
          </p:cNvPr>
          <p:cNvSpPr>
            <a:spLocks noGrp="1" noChangeArrowheads="1"/>
          </p:cNvSpPr>
          <p:nvPr>
            <p:ph type="dt" sz="half" idx="10"/>
          </p:nvPr>
        </p:nvSpPr>
        <p:spPr>
          <a:ln/>
        </p:spPr>
        <p:txBody>
          <a:bodyPr/>
          <a:lstStyle>
            <a:lvl1pPr>
              <a:defRPr/>
            </a:lvl1pPr>
          </a:lstStyle>
          <a:p>
            <a:pPr>
              <a:defRPr/>
            </a:pPr>
            <a:fld id="{EE2E1505-23DC-47C5-B225-15A15297B648}"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3180B990-F244-5507-D267-AB392806FBE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5416E13-BE1B-2ED1-9545-ABB4F84CFE4F}"/>
              </a:ext>
            </a:extLst>
          </p:cNvPr>
          <p:cNvSpPr>
            <a:spLocks noGrp="1" noChangeArrowheads="1"/>
          </p:cNvSpPr>
          <p:nvPr>
            <p:ph type="sldNum" sz="quarter" idx="12"/>
          </p:nvPr>
        </p:nvSpPr>
        <p:spPr>
          <a:ln/>
        </p:spPr>
        <p:txBody>
          <a:bodyPr/>
          <a:lstStyle>
            <a:lvl1pPr>
              <a:defRPr/>
            </a:lvl1pPr>
          </a:lstStyle>
          <a:p>
            <a:pPr>
              <a:defRPr/>
            </a:pPr>
            <a:fld id="{FC186069-E030-4E87-94D5-74AE0078529B}" type="slidenum">
              <a:rPr lang="en-US" altLang="zh-CN"/>
              <a:pPr>
                <a:defRPr/>
              </a:pPr>
              <a:t>‹#›</a:t>
            </a:fld>
            <a:endParaRPr lang="en-US" altLang="zh-CN"/>
          </a:p>
        </p:txBody>
      </p:sp>
    </p:spTree>
    <p:extLst>
      <p:ext uri="{BB962C8B-B14F-4D97-AF65-F5344CB8AC3E}">
        <p14:creationId xmlns:p14="http://schemas.microsoft.com/office/powerpoint/2010/main" val="37824277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C1A96A4D-875D-E916-C09A-7DEE06FC9D40}"/>
              </a:ext>
            </a:extLst>
          </p:cNvPr>
          <p:cNvSpPr>
            <a:spLocks noGrp="1" noChangeArrowheads="1"/>
          </p:cNvSpPr>
          <p:nvPr>
            <p:ph type="dt" sz="half" idx="10"/>
          </p:nvPr>
        </p:nvSpPr>
        <p:spPr>
          <a:ln/>
        </p:spPr>
        <p:txBody>
          <a:bodyPr/>
          <a:lstStyle>
            <a:lvl1pPr>
              <a:defRPr/>
            </a:lvl1pPr>
          </a:lstStyle>
          <a:p>
            <a:pPr>
              <a:defRPr/>
            </a:pPr>
            <a:fld id="{F9616783-EEAC-483A-9131-4D154DE4D26D}"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3F49BDAA-B780-BEFD-9057-E22EA3890D9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A500E13-6913-702E-DCF6-B97DDEC4EDA5}"/>
              </a:ext>
            </a:extLst>
          </p:cNvPr>
          <p:cNvSpPr>
            <a:spLocks noGrp="1" noChangeArrowheads="1"/>
          </p:cNvSpPr>
          <p:nvPr>
            <p:ph type="sldNum" sz="quarter" idx="12"/>
          </p:nvPr>
        </p:nvSpPr>
        <p:spPr>
          <a:ln/>
        </p:spPr>
        <p:txBody>
          <a:bodyPr/>
          <a:lstStyle>
            <a:lvl1pPr>
              <a:defRPr/>
            </a:lvl1pPr>
          </a:lstStyle>
          <a:p>
            <a:pPr>
              <a:defRPr/>
            </a:pPr>
            <a:fld id="{DD975621-0210-4883-B220-F440B150765E}" type="slidenum">
              <a:rPr lang="en-US" altLang="zh-CN"/>
              <a:pPr>
                <a:defRPr/>
              </a:pPr>
              <a:t>‹#›</a:t>
            </a:fld>
            <a:endParaRPr lang="en-US" altLang="zh-CN"/>
          </a:p>
        </p:txBody>
      </p:sp>
    </p:spTree>
    <p:extLst>
      <p:ext uri="{BB962C8B-B14F-4D97-AF65-F5344CB8AC3E}">
        <p14:creationId xmlns:p14="http://schemas.microsoft.com/office/powerpoint/2010/main" val="218070095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A7CAADD-0683-C390-89D4-7F161509EFC1}"/>
              </a:ext>
            </a:extLst>
          </p:cNvPr>
          <p:cNvSpPr>
            <a:spLocks noGrp="1" noChangeArrowheads="1"/>
          </p:cNvSpPr>
          <p:nvPr>
            <p:ph type="dt" sz="half" idx="10"/>
          </p:nvPr>
        </p:nvSpPr>
        <p:spPr>
          <a:ln/>
        </p:spPr>
        <p:txBody>
          <a:bodyPr/>
          <a:lstStyle>
            <a:lvl1pPr>
              <a:defRPr/>
            </a:lvl1pPr>
          </a:lstStyle>
          <a:p>
            <a:pPr>
              <a:defRPr/>
            </a:pPr>
            <a:fld id="{5FBBEF2F-A7B9-4D55-BD62-EEC20A21B09A}"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3BCA4211-02A0-6ECC-E121-4C94B8FCF9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9D3EA8C-E4A8-6F9C-FEF4-BC5ECC537900}"/>
              </a:ext>
            </a:extLst>
          </p:cNvPr>
          <p:cNvSpPr>
            <a:spLocks noGrp="1" noChangeArrowheads="1"/>
          </p:cNvSpPr>
          <p:nvPr>
            <p:ph type="sldNum" sz="quarter" idx="12"/>
          </p:nvPr>
        </p:nvSpPr>
        <p:spPr>
          <a:ln/>
        </p:spPr>
        <p:txBody>
          <a:bodyPr/>
          <a:lstStyle>
            <a:lvl1pPr>
              <a:defRPr/>
            </a:lvl1pPr>
          </a:lstStyle>
          <a:p>
            <a:pPr>
              <a:defRPr/>
            </a:pPr>
            <a:fld id="{3AA63EA6-2B88-473E-9514-EBC8AEB1C4F3}" type="slidenum">
              <a:rPr lang="en-US" altLang="zh-CN"/>
              <a:pPr>
                <a:defRPr/>
              </a:pPr>
              <a:t>‹#›</a:t>
            </a:fld>
            <a:endParaRPr lang="en-US" altLang="zh-CN"/>
          </a:p>
        </p:txBody>
      </p:sp>
    </p:spTree>
    <p:extLst>
      <p:ext uri="{BB962C8B-B14F-4D97-AF65-F5344CB8AC3E}">
        <p14:creationId xmlns:p14="http://schemas.microsoft.com/office/powerpoint/2010/main" val="22143196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79ED4E26-865C-5523-2630-538D0DE0112C}"/>
              </a:ext>
            </a:extLst>
          </p:cNvPr>
          <p:cNvSpPr>
            <a:spLocks noGrp="1" noChangeArrowheads="1"/>
          </p:cNvSpPr>
          <p:nvPr>
            <p:ph type="dt" sz="half" idx="10"/>
          </p:nvPr>
        </p:nvSpPr>
        <p:spPr>
          <a:ln/>
        </p:spPr>
        <p:txBody>
          <a:bodyPr/>
          <a:lstStyle>
            <a:lvl1pPr>
              <a:defRPr/>
            </a:lvl1pPr>
          </a:lstStyle>
          <a:p>
            <a:pPr>
              <a:defRPr/>
            </a:pPr>
            <a:fld id="{A2D83476-B3A9-4A70-842A-D75FCDFE2C92}"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C688D295-C1BD-08E0-41F2-2FDFC8F9B1C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0FAA672-91FA-1452-2DF4-9A9A34F72D24}"/>
              </a:ext>
            </a:extLst>
          </p:cNvPr>
          <p:cNvSpPr>
            <a:spLocks noGrp="1" noChangeArrowheads="1"/>
          </p:cNvSpPr>
          <p:nvPr>
            <p:ph type="sldNum" sz="quarter" idx="12"/>
          </p:nvPr>
        </p:nvSpPr>
        <p:spPr>
          <a:ln/>
        </p:spPr>
        <p:txBody>
          <a:bodyPr/>
          <a:lstStyle>
            <a:lvl1pPr>
              <a:defRPr/>
            </a:lvl1pPr>
          </a:lstStyle>
          <a:p>
            <a:pPr>
              <a:defRPr/>
            </a:pPr>
            <a:fld id="{1E021303-A39B-4999-AAE1-2FC77D5050EE}" type="slidenum">
              <a:rPr lang="en-US" altLang="zh-CN"/>
              <a:pPr>
                <a:defRPr/>
              </a:pPr>
              <a:t>‹#›</a:t>
            </a:fld>
            <a:endParaRPr lang="en-US" altLang="zh-CN"/>
          </a:p>
        </p:txBody>
      </p:sp>
    </p:spTree>
    <p:extLst>
      <p:ext uri="{BB962C8B-B14F-4D97-AF65-F5344CB8AC3E}">
        <p14:creationId xmlns:p14="http://schemas.microsoft.com/office/powerpoint/2010/main" val="35605461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19FA03D2-285A-DB33-4D7D-848C49B4FD69}"/>
              </a:ext>
            </a:extLst>
          </p:cNvPr>
          <p:cNvSpPr>
            <a:spLocks noGrp="1" noChangeArrowheads="1"/>
          </p:cNvSpPr>
          <p:nvPr>
            <p:ph type="dt" sz="half" idx="10"/>
          </p:nvPr>
        </p:nvSpPr>
        <p:spPr>
          <a:ln/>
        </p:spPr>
        <p:txBody>
          <a:bodyPr/>
          <a:lstStyle>
            <a:lvl1pPr>
              <a:defRPr/>
            </a:lvl1pPr>
          </a:lstStyle>
          <a:p>
            <a:pPr>
              <a:defRPr/>
            </a:pPr>
            <a:fld id="{F575C39E-05AB-439F-8F4D-20C9A550C781}"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66AC7C28-8E30-1AD4-D023-AFCE8AE376B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8E09D773-7C69-1785-DE01-F90802D17412}"/>
              </a:ext>
            </a:extLst>
          </p:cNvPr>
          <p:cNvSpPr>
            <a:spLocks noGrp="1" noChangeArrowheads="1"/>
          </p:cNvSpPr>
          <p:nvPr>
            <p:ph type="sldNum" sz="quarter" idx="12"/>
          </p:nvPr>
        </p:nvSpPr>
        <p:spPr>
          <a:ln/>
        </p:spPr>
        <p:txBody>
          <a:bodyPr/>
          <a:lstStyle>
            <a:lvl1pPr>
              <a:defRPr/>
            </a:lvl1pPr>
          </a:lstStyle>
          <a:p>
            <a:pPr>
              <a:defRPr/>
            </a:pPr>
            <a:fld id="{5BFB6EC9-D5B4-4599-A60E-594FE53F7B57}" type="slidenum">
              <a:rPr lang="en-US" altLang="zh-CN"/>
              <a:pPr>
                <a:defRPr/>
              </a:pPr>
              <a:t>‹#›</a:t>
            </a:fld>
            <a:endParaRPr lang="en-US" altLang="zh-CN"/>
          </a:p>
        </p:txBody>
      </p:sp>
    </p:spTree>
    <p:extLst>
      <p:ext uri="{BB962C8B-B14F-4D97-AF65-F5344CB8AC3E}">
        <p14:creationId xmlns:p14="http://schemas.microsoft.com/office/powerpoint/2010/main" val="18520736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052513"/>
            <a:ext cx="5384800" cy="50784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052513"/>
            <a:ext cx="5384800" cy="50784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5AA9E4F7-1DED-32CA-CDCA-3F8EDDBF3118}"/>
              </a:ext>
            </a:extLst>
          </p:cNvPr>
          <p:cNvSpPr>
            <a:spLocks noGrp="1" noChangeArrowheads="1"/>
          </p:cNvSpPr>
          <p:nvPr>
            <p:ph type="dt" sz="half" idx="10"/>
          </p:nvPr>
        </p:nvSpPr>
        <p:spPr>
          <a:ln/>
        </p:spPr>
        <p:txBody>
          <a:bodyPr/>
          <a:lstStyle>
            <a:lvl1pPr>
              <a:defRPr/>
            </a:lvl1pPr>
          </a:lstStyle>
          <a:p>
            <a:pPr>
              <a:defRPr/>
            </a:pPr>
            <a:fld id="{ADBCDF22-AAAC-4B2E-B052-6FA08F2929B2}"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53BB90E6-4D0C-205A-2C53-BBB40FAA614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568253C-A110-C81F-D999-D7CD401D88B6}"/>
              </a:ext>
            </a:extLst>
          </p:cNvPr>
          <p:cNvSpPr>
            <a:spLocks noGrp="1" noChangeArrowheads="1"/>
          </p:cNvSpPr>
          <p:nvPr>
            <p:ph type="sldNum" sz="quarter" idx="12"/>
          </p:nvPr>
        </p:nvSpPr>
        <p:spPr>
          <a:ln/>
        </p:spPr>
        <p:txBody>
          <a:bodyPr/>
          <a:lstStyle>
            <a:lvl1pPr>
              <a:defRPr/>
            </a:lvl1pPr>
          </a:lstStyle>
          <a:p>
            <a:pPr>
              <a:defRPr/>
            </a:pPr>
            <a:fld id="{7FD20C3E-2558-439D-99D2-273FF340BBA8}" type="slidenum">
              <a:rPr lang="en-US" altLang="zh-CN"/>
              <a:pPr>
                <a:defRPr/>
              </a:pPr>
              <a:t>‹#›</a:t>
            </a:fld>
            <a:endParaRPr lang="en-US" altLang="zh-CN"/>
          </a:p>
        </p:txBody>
      </p:sp>
    </p:spTree>
    <p:extLst>
      <p:ext uri="{BB962C8B-B14F-4D97-AF65-F5344CB8AC3E}">
        <p14:creationId xmlns:p14="http://schemas.microsoft.com/office/powerpoint/2010/main" val="38701237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7DD4E2C5-6022-705E-C659-E26331E131CB}"/>
              </a:ext>
            </a:extLst>
          </p:cNvPr>
          <p:cNvSpPr>
            <a:spLocks noChangeArrowheads="1"/>
          </p:cNvSpPr>
          <p:nvPr/>
        </p:nvSpPr>
        <p:spPr bwMode="auto">
          <a:xfrm>
            <a:off x="812800" y="1219200"/>
            <a:ext cx="10566400" cy="9144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p:spPr>
        <p:txBody>
          <a:bodyPr/>
          <a:lstStyle/>
          <a:p>
            <a:pPr eaLnBrk="1" hangingPunct="1">
              <a:defRPr/>
            </a:pPr>
            <a:endParaRPr lang="zh-CN" altLang="en-US" sz="1800">
              <a:effectLst>
                <a:outerShdw blurRad="38100" dist="38100" dir="2700000" algn="tl">
                  <a:srgbClr val="000000">
                    <a:alpha val="43137"/>
                  </a:srgbClr>
                </a:outerShdw>
              </a:effectLst>
              <a:latin typeface="Arial" pitchFamily="34" charset="0"/>
            </a:endParaRPr>
          </a:p>
        </p:txBody>
      </p:sp>
      <p:sp>
        <p:nvSpPr>
          <p:cNvPr id="3" name="Line 8">
            <a:extLst>
              <a:ext uri="{FF2B5EF4-FFF2-40B4-BE49-F238E27FC236}">
                <a16:creationId xmlns:a16="http://schemas.microsoft.com/office/drawing/2014/main" id="{BC2431EF-F18B-BC1A-AF95-3EE377FB730C}"/>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ffectLst/>
        </p:spPr>
        <p:txBody>
          <a:bodyPr/>
          <a:lstStyle/>
          <a:p>
            <a:pPr eaLnBrk="1" hangingPunct="1">
              <a:defRPr/>
            </a:pPr>
            <a:endParaRPr lang="zh-CN" altLang="en-US" sz="1800">
              <a:effectLst>
                <a:outerShdw blurRad="38100" dist="38100" dir="2700000" algn="tl">
                  <a:srgbClr val="000000">
                    <a:alpha val="43137"/>
                  </a:srgbClr>
                </a:outerShdw>
              </a:effectLst>
              <a:latin typeface="Arial" pitchFamily="34" charset="0"/>
            </a:endParaRPr>
          </a:p>
        </p:txBody>
      </p:sp>
      <p:pic>
        <p:nvPicPr>
          <p:cNvPr id="4" name="Picture 9">
            <a:extLst>
              <a:ext uri="{FF2B5EF4-FFF2-40B4-BE49-F238E27FC236}">
                <a16:creationId xmlns:a16="http://schemas.microsoft.com/office/drawing/2014/main" id="{7A2D0F99-A9F9-7DF6-54A2-A8B3564971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CBC06185-FF49-2A04-E439-700AE47D952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zh-CN" altLang="en-US"/>
              <a:t>单击此处编辑母版标题样式</a:t>
            </a:r>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zh-CN" altLang="en-US"/>
              <a:t>单击此处编辑母版副标题样式</a:t>
            </a:r>
          </a:p>
        </p:txBody>
      </p:sp>
      <p:sp>
        <p:nvSpPr>
          <p:cNvPr id="7" name="Rectangle 4">
            <a:extLst>
              <a:ext uri="{FF2B5EF4-FFF2-40B4-BE49-F238E27FC236}">
                <a16:creationId xmlns:a16="http://schemas.microsoft.com/office/drawing/2014/main" id="{A0F72994-C58E-5E03-1C35-021F2446019E}"/>
              </a:ext>
            </a:extLst>
          </p:cNvPr>
          <p:cNvSpPr>
            <a:spLocks noGrp="1" noChangeArrowheads="1"/>
          </p:cNvSpPr>
          <p:nvPr>
            <p:ph type="dt" sz="half" idx="10"/>
          </p:nvPr>
        </p:nvSpPr>
        <p:spPr/>
        <p:txBody>
          <a:bodyPr/>
          <a:lstStyle>
            <a:lvl1pPr>
              <a:defRPr/>
            </a:lvl1pPr>
          </a:lstStyle>
          <a:p>
            <a:pPr>
              <a:defRPr/>
            </a:pPr>
            <a:fld id="{60F1E756-8A70-489C-9E5F-49EC16D39B7B}"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A509A393-2F96-864E-079A-1E921B10F14B}"/>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8141343-BF44-7694-4DB7-971B867CA081}"/>
              </a:ext>
            </a:extLst>
          </p:cNvPr>
          <p:cNvSpPr>
            <a:spLocks noGrp="1" noChangeArrowheads="1"/>
          </p:cNvSpPr>
          <p:nvPr>
            <p:ph type="sldNum" sz="quarter" idx="12"/>
          </p:nvPr>
        </p:nvSpPr>
        <p:spPr>
          <a:xfrm>
            <a:off x="8737600" y="6243638"/>
            <a:ext cx="2844800" cy="457200"/>
          </a:xfrm>
        </p:spPr>
        <p:txBody>
          <a:bodyPr/>
          <a:lstStyle>
            <a:lvl1pPr algn="r">
              <a:defRPr sz="1200">
                <a:latin typeface="Garamond" panose="02020404030301010803" pitchFamily="18" charset="0"/>
              </a:defRPr>
            </a:lvl1pPr>
          </a:lstStyle>
          <a:p>
            <a:fld id="{60D74EC0-0CF8-4096-9D9F-7CAB70BE9501}" type="slidenum">
              <a:rPr lang="en-US" altLang="zh-CN"/>
              <a:pPr/>
              <a:t>‹#›</a:t>
            </a:fld>
            <a:endParaRPr lang="en-US" altLang="zh-CN"/>
          </a:p>
        </p:txBody>
      </p:sp>
    </p:spTree>
    <p:controls>
      <mc:AlternateContent xmlns:mc="http://schemas.openxmlformats.org/markup-compatibility/2006">
        <mc:Choice xmlns:v="urn:schemas-microsoft-com:vml" Requires="v">
          <p:control r:id="rId1" imgW="936720" imgH="216000"/>
        </mc:Choice>
        <mc:Fallback>
          <p:control r:id="rId1" imgW="936720" imgH="216000">
            <p:pic>
              <p:nvPicPr>
                <p:cNvPr id="6" name="ShockwaveFlash1">
                  <a:extLst>
                    <a:ext uri="{FF2B5EF4-FFF2-40B4-BE49-F238E27FC236}">
                      <a16:creationId xmlns:a16="http://schemas.microsoft.com/office/drawing/2014/main" id="{F8C3F962-C1FC-0A0C-DA65-4B5EFBB41789}"/>
                    </a:ext>
                  </a:extLst>
                </p:cNvPr>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275607943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378D87EA-443F-9D49-6F2A-1671C456AD3F}"/>
              </a:ext>
            </a:extLst>
          </p:cNvPr>
          <p:cNvSpPr>
            <a:spLocks noGrp="1" noChangeArrowheads="1"/>
          </p:cNvSpPr>
          <p:nvPr>
            <p:ph type="dt" sz="half" idx="10"/>
          </p:nvPr>
        </p:nvSpPr>
        <p:spPr>
          <a:ln/>
        </p:spPr>
        <p:txBody>
          <a:bodyPr/>
          <a:lstStyle>
            <a:lvl1pPr>
              <a:defRPr/>
            </a:lvl1pPr>
          </a:lstStyle>
          <a:p>
            <a:pPr>
              <a:defRPr/>
            </a:pPr>
            <a:fld id="{806687E7-38B7-42B8-A16E-2C727F9548CF}"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29E02CE7-7259-64DA-7D05-1CD5FCB61D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9AA951A1-8A65-BF9F-2F32-F4B2E1B8B1C5}"/>
              </a:ext>
            </a:extLst>
          </p:cNvPr>
          <p:cNvSpPr>
            <a:spLocks noGrp="1" noChangeArrowheads="1"/>
          </p:cNvSpPr>
          <p:nvPr>
            <p:ph type="sldNum" sz="quarter" idx="12"/>
          </p:nvPr>
        </p:nvSpPr>
        <p:spPr>
          <a:ln/>
        </p:spPr>
        <p:txBody>
          <a:bodyPr/>
          <a:lstStyle>
            <a:lvl1pPr>
              <a:defRPr/>
            </a:lvl1pPr>
          </a:lstStyle>
          <a:p>
            <a:fld id="{EAB03094-B98C-4FAC-9C20-EE5429720F17}" type="slidenum">
              <a:rPr lang="en-US" altLang="zh-CN"/>
              <a:pPr/>
              <a:t>‹#›</a:t>
            </a:fld>
            <a:endParaRPr lang="en-US" altLang="zh-CN"/>
          </a:p>
        </p:txBody>
      </p:sp>
    </p:spTree>
    <p:extLst>
      <p:ext uri="{BB962C8B-B14F-4D97-AF65-F5344CB8AC3E}">
        <p14:creationId xmlns:p14="http://schemas.microsoft.com/office/powerpoint/2010/main" val="60161011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C441E47-2D8C-FB76-7643-D560F2212EF8}"/>
              </a:ext>
            </a:extLst>
          </p:cNvPr>
          <p:cNvSpPr>
            <a:spLocks noGrp="1" noChangeArrowheads="1"/>
          </p:cNvSpPr>
          <p:nvPr>
            <p:ph type="dt" sz="half" idx="10"/>
          </p:nvPr>
        </p:nvSpPr>
        <p:spPr>
          <a:ln/>
        </p:spPr>
        <p:txBody>
          <a:bodyPr/>
          <a:lstStyle>
            <a:lvl1pPr>
              <a:defRPr/>
            </a:lvl1pPr>
          </a:lstStyle>
          <a:p>
            <a:pPr>
              <a:defRPr/>
            </a:pPr>
            <a:fld id="{A42EA893-CA5F-4840-8858-E9891C51E323}"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EBE49ED1-0641-BEC2-EE0D-F2405D750EA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C948911-CDCE-4B4E-3BFA-41C487504BA5}"/>
              </a:ext>
            </a:extLst>
          </p:cNvPr>
          <p:cNvSpPr>
            <a:spLocks noGrp="1" noChangeArrowheads="1"/>
          </p:cNvSpPr>
          <p:nvPr>
            <p:ph type="sldNum" sz="quarter" idx="12"/>
          </p:nvPr>
        </p:nvSpPr>
        <p:spPr>
          <a:ln/>
        </p:spPr>
        <p:txBody>
          <a:bodyPr/>
          <a:lstStyle>
            <a:lvl1pPr>
              <a:defRPr/>
            </a:lvl1pPr>
          </a:lstStyle>
          <a:p>
            <a:fld id="{0239F8FD-D0F4-42F1-84E8-BFDDDC996213}" type="slidenum">
              <a:rPr lang="en-US" altLang="zh-CN"/>
              <a:pPr/>
              <a:t>‹#›</a:t>
            </a:fld>
            <a:endParaRPr lang="en-US" altLang="zh-CN"/>
          </a:p>
        </p:txBody>
      </p:sp>
    </p:spTree>
    <p:extLst>
      <p:ext uri="{BB962C8B-B14F-4D97-AF65-F5344CB8AC3E}">
        <p14:creationId xmlns:p14="http://schemas.microsoft.com/office/powerpoint/2010/main" val="226403412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9CE1CF0B-7A80-F35B-6F98-5B18C2E6885C}"/>
              </a:ext>
            </a:extLst>
          </p:cNvPr>
          <p:cNvSpPr>
            <a:spLocks noGrp="1" noChangeArrowheads="1"/>
          </p:cNvSpPr>
          <p:nvPr>
            <p:ph type="dt" sz="half" idx="10"/>
          </p:nvPr>
        </p:nvSpPr>
        <p:spPr>
          <a:ln/>
        </p:spPr>
        <p:txBody>
          <a:bodyPr/>
          <a:lstStyle>
            <a:lvl1pPr>
              <a:defRPr/>
            </a:lvl1pPr>
          </a:lstStyle>
          <a:p>
            <a:pPr>
              <a:defRPr/>
            </a:pPr>
            <a:fld id="{A18B6F7D-C18F-46F8-8558-D56DB29625E4}"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DB4A1D3C-2A54-E5B9-519D-85CEE8851D7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D1DCAC1-F3A4-2061-E34F-62BD315CD629}"/>
              </a:ext>
            </a:extLst>
          </p:cNvPr>
          <p:cNvSpPr>
            <a:spLocks noGrp="1" noChangeArrowheads="1"/>
          </p:cNvSpPr>
          <p:nvPr>
            <p:ph type="sldNum" sz="quarter" idx="12"/>
          </p:nvPr>
        </p:nvSpPr>
        <p:spPr>
          <a:ln/>
        </p:spPr>
        <p:txBody>
          <a:bodyPr/>
          <a:lstStyle>
            <a:lvl1pPr>
              <a:defRPr/>
            </a:lvl1pPr>
          </a:lstStyle>
          <a:p>
            <a:fld id="{AB3A0C7F-A91C-4446-9AB6-823B3C62ED88}" type="slidenum">
              <a:rPr lang="en-US" altLang="zh-CN"/>
              <a:pPr/>
              <a:t>‹#›</a:t>
            </a:fld>
            <a:endParaRPr lang="en-US" altLang="zh-CN"/>
          </a:p>
        </p:txBody>
      </p:sp>
    </p:spTree>
    <p:extLst>
      <p:ext uri="{BB962C8B-B14F-4D97-AF65-F5344CB8AC3E}">
        <p14:creationId xmlns:p14="http://schemas.microsoft.com/office/powerpoint/2010/main" val="2313738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18B5659C-96D9-20AC-C0D3-2F09961BD4C2}"/>
              </a:ext>
            </a:extLst>
          </p:cNvPr>
          <p:cNvSpPr>
            <a:spLocks noGrp="1" noChangeArrowheads="1"/>
          </p:cNvSpPr>
          <p:nvPr>
            <p:ph type="dt" sz="half" idx="10"/>
          </p:nvPr>
        </p:nvSpPr>
        <p:spPr>
          <a:ln/>
        </p:spPr>
        <p:txBody>
          <a:bodyPr/>
          <a:lstStyle>
            <a:lvl1pPr>
              <a:defRPr/>
            </a:lvl1pPr>
          </a:lstStyle>
          <a:p>
            <a:pPr>
              <a:defRPr/>
            </a:pPr>
            <a:fld id="{DCF861DE-D0C8-492B-B53A-0D56E26E36C1}"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E6E513C2-A14D-6BB1-463A-1D64B281196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2427621A-6398-28E9-E737-39B8BD51ACB6}"/>
              </a:ext>
            </a:extLst>
          </p:cNvPr>
          <p:cNvSpPr>
            <a:spLocks noGrp="1" noChangeArrowheads="1"/>
          </p:cNvSpPr>
          <p:nvPr>
            <p:ph type="sldNum" sz="quarter" idx="12"/>
          </p:nvPr>
        </p:nvSpPr>
        <p:spPr>
          <a:ln/>
        </p:spPr>
        <p:txBody>
          <a:bodyPr/>
          <a:lstStyle>
            <a:lvl1pPr>
              <a:defRPr/>
            </a:lvl1pPr>
          </a:lstStyle>
          <a:p>
            <a:fld id="{A73158E4-5036-4440-BCE6-C1590703C30F}" type="slidenum">
              <a:rPr lang="en-US" altLang="zh-CN"/>
              <a:pPr/>
              <a:t>‹#›</a:t>
            </a:fld>
            <a:endParaRPr lang="en-US" altLang="zh-CN"/>
          </a:p>
        </p:txBody>
      </p:sp>
    </p:spTree>
    <p:extLst>
      <p:ext uri="{BB962C8B-B14F-4D97-AF65-F5344CB8AC3E}">
        <p14:creationId xmlns:p14="http://schemas.microsoft.com/office/powerpoint/2010/main" val="20565646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15A282E4-2B2A-5DA6-4D46-66631C4AF848}"/>
              </a:ext>
            </a:extLst>
          </p:cNvPr>
          <p:cNvSpPr>
            <a:spLocks noGrp="1" noChangeArrowheads="1"/>
          </p:cNvSpPr>
          <p:nvPr>
            <p:ph type="dt" sz="half" idx="10"/>
          </p:nvPr>
        </p:nvSpPr>
        <p:spPr>
          <a:ln/>
        </p:spPr>
        <p:txBody>
          <a:bodyPr/>
          <a:lstStyle>
            <a:lvl1pPr>
              <a:defRPr/>
            </a:lvl1pPr>
          </a:lstStyle>
          <a:p>
            <a:pPr>
              <a:defRPr/>
            </a:pPr>
            <a:fld id="{E92B85FF-664F-4EF0-9DB2-7B8AAF8580B5}"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2839BF30-BD8F-F7BE-DB89-D9637252845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56994B08-9C39-1592-D6FC-10FC7110F795}"/>
              </a:ext>
            </a:extLst>
          </p:cNvPr>
          <p:cNvSpPr>
            <a:spLocks noGrp="1" noChangeArrowheads="1"/>
          </p:cNvSpPr>
          <p:nvPr>
            <p:ph type="sldNum" sz="quarter" idx="12"/>
          </p:nvPr>
        </p:nvSpPr>
        <p:spPr>
          <a:ln/>
        </p:spPr>
        <p:txBody>
          <a:bodyPr/>
          <a:lstStyle>
            <a:lvl1pPr>
              <a:defRPr/>
            </a:lvl1pPr>
          </a:lstStyle>
          <a:p>
            <a:fld id="{011CFBD6-77D6-44EE-B094-BA869FF542BD}" type="slidenum">
              <a:rPr lang="en-US" altLang="zh-CN"/>
              <a:pPr/>
              <a:t>‹#›</a:t>
            </a:fld>
            <a:endParaRPr lang="en-US" altLang="zh-CN"/>
          </a:p>
        </p:txBody>
      </p:sp>
    </p:spTree>
    <p:extLst>
      <p:ext uri="{BB962C8B-B14F-4D97-AF65-F5344CB8AC3E}">
        <p14:creationId xmlns:p14="http://schemas.microsoft.com/office/powerpoint/2010/main" val="115740206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6ADE5B65-0E3B-D56C-8B08-87610EFA371B}"/>
              </a:ext>
            </a:extLst>
          </p:cNvPr>
          <p:cNvSpPr>
            <a:spLocks noGrp="1" noChangeArrowheads="1"/>
          </p:cNvSpPr>
          <p:nvPr>
            <p:ph type="dt" sz="half" idx="10"/>
          </p:nvPr>
        </p:nvSpPr>
        <p:spPr>
          <a:ln/>
        </p:spPr>
        <p:txBody>
          <a:bodyPr/>
          <a:lstStyle>
            <a:lvl1pPr>
              <a:defRPr/>
            </a:lvl1pPr>
          </a:lstStyle>
          <a:p>
            <a:pPr>
              <a:defRPr/>
            </a:pPr>
            <a:fld id="{BF74346F-1866-4377-A52D-6216010855BA}"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5BE430BC-F260-C207-4280-853ABD5336C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C18393BE-1BAE-50F6-9241-BF1C0D2CD4E5}"/>
              </a:ext>
            </a:extLst>
          </p:cNvPr>
          <p:cNvSpPr>
            <a:spLocks noGrp="1" noChangeArrowheads="1"/>
          </p:cNvSpPr>
          <p:nvPr>
            <p:ph type="sldNum" sz="quarter" idx="12"/>
          </p:nvPr>
        </p:nvSpPr>
        <p:spPr>
          <a:ln/>
        </p:spPr>
        <p:txBody>
          <a:bodyPr/>
          <a:lstStyle>
            <a:lvl1pPr>
              <a:defRPr/>
            </a:lvl1pPr>
          </a:lstStyle>
          <a:p>
            <a:fld id="{0BE2B650-8E69-4F97-B5F3-394DD052A485}" type="slidenum">
              <a:rPr lang="en-US" altLang="zh-CN"/>
              <a:pPr/>
              <a:t>‹#›</a:t>
            </a:fld>
            <a:endParaRPr lang="en-US" altLang="zh-CN"/>
          </a:p>
        </p:txBody>
      </p:sp>
    </p:spTree>
    <p:extLst>
      <p:ext uri="{BB962C8B-B14F-4D97-AF65-F5344CB8AC3E}">
        <p14:creationId xmlns:p14="http://schemas.microsoft.com/office/powerpoint/2010/main" val="165544670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D1277DB-6A2F-A3EC-817F-2606142EA532}"/>
              </a:ext>
            </a:extLst>
          </p:cNvPr>
          <p:cNvSpPr>
            <a:spLocks noGrp="1" noChangeArrowheads="1"/>
          </p:cNvSpPr>
          <p:nvPr>
            <p:ph type="dt" sz="half" idx="10"/>
          </p:nvPr>
        </p:nvSpPr>
        <p:spPr>
          <a:ln/>
        </p:spPr>
        <p:txBody>
          <a:bodyPr/>
          <a:lstStyle>
            <a:lvl1pPr>
              <a:defRPr/>
            </a:lvl1pPr>
          </a:lstStyle>
          <a:p>
            <a:pPr>
              <a:defRPr/>
            </a:pPr>
            <a:fld id="{2D7F610D-ED96-4D0B-928F-82B3F7E5537C}"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08F60702-E409-E6CC-1F33-102D762BF6A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F36EAE1-09D7-FA33-F1AD-8FD89F0F152C}"/>
              </a:ext>
            </a:extLst>
          </p:cNvPr>
          <p:cNvSpPr>
            <a:spLocks noGrp="1" noChangeArrowheads="1"/>
          </p:cNvSpPr>
          <p:nvPr>
            <p:ph type="sldNum" sz="quarter" idx="12"/>
          </p:nvPr>
        </p:nvSpPr>
        <p:spPr>
          <a:ln/>
        </p:spPr>
        <p:txBody>
          <a:bodyPr/>
          <a:lstStyle>
            <a:lvl1pPr>
              <a:defRPr/>
            </a:lvl1pPr>
          </a:lstStyle>
          <a:p>
            <a:fld id="{9257F4DB-AAC3-4CC6-B3CE-DB7500D01105}" type="slidenum">
              <a:rPr lang="en-US" altLang="zh-CN"/>
              <a:pPr/>
              <a:t>‹#›</a:t>
            </a:fld>
            <a:endParaRPr lang="en-US" altLang="zh-CN"/>
          </a:p>
        </p:txBody>
      </p:sp>
    </p:spTree>
    <p:extLst>
      <p:ext uri="{BB962C8B-B14F-4D97-AF65-F5344CB8AC3E}">
        <p14:creationId xmlns:p14="http://schemas.microsoft.com/office/powerpoint/2010/main" val="11054649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FFFA8235-8323-4D65-717E-4E042A1A4E53}"/>
              </a:ext>
            </a:extLst>
          </p:cNvPr>
          <p:cNvSpPr>
            <a:spLocks noGrp="1" noChangeArrowheads="1"/>
          </p:cNvSpPr>
          <p:nvPr>
            <p:ph type="dt" sz="half" idx="10"/>
          </p:nvPr>
        </p:nvSpPr>
        <p:spPr>
          <a:ln/>
        </p:spPr>
        <p:txBody>
          <a:bodyPr/>
          <a:lstStyle>
            <a:lvl1pPr>
              <a:defRPr/>
            </a:lvl1pPr>
          </a:lstStyle>
          <a:p>
            <a:pPr>
              <a:defRPr/>
            </a:pPr>
            <a:fld id="{A9405342-379B-4ABA-BD58-10BBE2EABB36}"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86ACDD28-E9B0-7A59-623B-6D2C20F79D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E82531D5-C5E2-09E4-0259-2D5432AE2365}"/>
              </a:ext>
            </a:extLst>
          </p:cNvPr>
          <p:cNvSpPr>
            <a:spLocks noGrp="1" noChangeArrowheads="1"/>
          </p:cNvSpPr>
          <p:nvPr>
            <p:ph type="sldNum" sz="quarter" idx="12"/>
          </p:nvPr>
        </p:nvSpPr>
        <p:spPr>
          <a:ln/>
        </p:spPr>
        <p:txBody>
          <a:bodyPr/>
          <a:lstStyle>
            <a:lvl1pPr>
              <a:defRPr/>
            </a:lvl1pPr>
          </a:lstStyle>
          <a:p>
            <a:fld id="{7A5BC902-30CB-4231-8D3A-E7D0706AE55D}" type="slidenum">
              <a:rPr lang="en-US" altLang="zh-CN"/>
              <a:pPr/>
              <a:t>‹#›</a:t>
            </a:fld>
            <a:endParaRPr lang="en-US" altLang="zh-CN"/>
          </a:p>
        </p:txBody>
      </p:sp>
    </p:spTree>
    <p:extLst>
      <p:ext uri="{BB962C8B-B14F-4D97-AF65-F5344CB8AC3E}">
        <p14:creationId xmlns:p14="http://schemas.microsoft.com/office/powerpoint/2010/main" val="400919931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D3AB10B3-6DC9-D190-44D8-F5AFB30FE8DF}"/>
              </a:ext>
            </a:extLst>
          </p:cNvPr>
          <p:cNvSpPr>
            <a:spLocks noGrp="1" noChangeArrowheads="1"/>
          </p:cNvSpPr>
          <p:nvPr>
            <p:ph type="dt" sz="half" idx="10"/>
          </p:nvPr>
        </p:nvSpPr>
        <p:spPr>
          <a:ln/>
        </p:spPr>
        <p:txBody>
          <a:bodyPr/>
          <a:lstStyle>
            <a:lvl1pPr>
              <a:defRPr/>
            </a:lvl1pPr>
          </a:lstStyle>
          <a:p>
            <a:pPr>
              <a:defRPr/>
            </a:pPr>
            <a:fld id="{8AE5D0C6-2B8C-4632-9D8A-A3CB0040306E}"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E289D904-9E9B-A7DB-706B-8259DF3DB18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128F03B2-6782-C245-D521-C6ED593E589B}"/>
              </a:ext>
            </a:extLst>
          </p:cNvPr>
          <p:cNvSpPr>
            <a:spLocks noGrp="1" noChangeArrowheads="1"/>
          </p:cNvSpPr>
          <p:nvPr>
            <p:ph type="sldNum" sz="quarter" idx="12"/>
          </p:nvPr>
        </p:nvSpPr>
        <p:spPr>
          <a:ln/>
        </p:spPr>
        <p:txBody>
          <a:bodyPr/>
          <a:lstStyle>
            <a:lvl1pPr>
              <a:defRPr/>
            </a:lvl1pPr>
          </a:lstStyle>
          <a:p>
            <a:fld id="{DBE9620B-8426-4CA7-AE1C-15B4322F9493}" type="slidenum">
              <a:rPr lang="en-US" altLang="zh-CN"/>
              <a:pPr/>
              <a:t>‹#›</a:t>
            </a:fld>
            <a:endParaRPr lang="en-US" altLang="zh-CN"/>
          </a:p>
        </p:txBody>
      </p:sp>
    </p:spTree>
    <p:extLst>
      <p:ext uri="{BB962C8B-B14F-4D97-AF65-F5344CB8AC3E}">
        <p14:creationId xmlns:p14="http://schemas.microsoft.com/office/powerpoint/2010/main" val="429190713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BA3C1956-617A-159E-4E84-586D32914351}"/>
              </a:ext>
            </a:extLst>
          </p:cNvPr>
          <p:cNvSpPr>
            <a:spLocks noGrp="1" noChangeArrowheads="1"/>
          </p:cNvSpPr>
          <p:nvPr>
            <p:ph type="dt" sz="half" idx="10"/>
          </p:nvPr>
        </p:nvSpPr>
        <p:spPr>
          <a:ln/>
        </p:spPr>
        <p:txBody>
          <a:bodyPr/>
          <a:lstStyle>
            <a:lvl1pPr>
              <a:defRPr/>
            </a:lvl1pPr>
          </a:lstStyle>
          <a:p>
            <a:pPr>
              <a:defRPr/>
            </a:pPr>
            <a:fld id="{74CB01BF-4C46-40BC-8DAD-8BA44C7B76FC}"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61C067CD-9221-BDCD-EEC0-4F69BD2F388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66AD691-489E-2544-1F9C-01348C27E3C1}"/>
              </a:ext>
            </a:extLst>
          </p:cNvPr>
          <p:cNvSpPr>
            <a:spLocks noGrp="1" noChangeArrowheads="1"/>
          </p:cNvSpPr>
          <p:nvPr>
            <p:ph type="sldNum" sz="quarter" idx="12"/>
          </p:nvPr>
        </p:nvSpPr>
        <p:spPr>
          <a:ln/>
        </p:spPr>
        <p:txBody>
          <a:bodyPr/>
          <a:lstStyle>
            <a:lvl1pPr>
              <a:defRPr/>
            </a:lvl1pPr>
          </a:lstStyle>
          <a:p>
            <a:fld id="{967887B4-8159-4B8E-A2B9-E536D9C4DA75}" type="slidenum">
              <a:rPr lang="en-US" altLang="zh-CN"/>
              <a:pPr/>
              <a:t>‹#›</a:t>
            </a:fld>
            <a:endParaRPr lang="en-US" altLang="zh-CN"/>
          </a:p>
        </p:txBody>
      </p:sp>
    </p:spTree>
    <p:extLst>
      <p:ext uri="{BB962C8B-B14F-4D97-AF65-F5344CB8AC3E}">
        <p14:creationId xmlns:p14="http://schemas.microsoft.com/office/powerpoint/2010/main" val="305344595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B024D749-B335-BD3E-CF78-9ABA332724EE}"/>
              </a:ext>
            </a:extLst>
          </p:cNvPr>
          <p:cNvSpPr>
            <a:spLocks noGrp="1" noChangeArrowheads="1"/>
          </p:cNvSpPr>
          <p:nvPr>
            <p:ph type="dt" sz="half" idx="10"/>
          </p:nvPr>
        </p:nvSpPr>
        <p:spPr>
          <a:ln/>
        </p:spPr>
        <p:txBody>
          <a:bodyPr/>
          <a:lstStyle>
            <a:lvl1pPr>
              <a:defRPr/>
            </a:lvl1pPr>
          </a:lstStyle>
          <a:p>
            <a:pPr>
              <a:defRPr/>
            </a:pPr>
            <a:fld id="{BC05B5AF-9634-4DA5-8A36-F9075A6527A4}"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F440961F-7EDA-BB36-F0BA-2EF80C3973F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2D1A6B42-3053-0E1D-71BD-85B6108CF6C3}"/>
              </a:ext>
            </a:extLst>
          </p:cNvPr>
          <p:cNvSpPr>
            <a:spLocks noGrp="1" noChangeArrowheads="1"/>
          </p:cNvSpPr>
          <p:nvPr>
            <p:ph type="sldNum" sz="quarter" idx="12"/>
          </p:nvPr>
        </p:nvSpPr>
        <p:spPr>
          <a:ln/>
        </p:spPr>
        <p:txBody>
          <a:bodyPr/>
          <a:lstStyle>
            <a:lvl1pPr>
              <a:defRPr/>
            </a:lvl1pPr>
          </a:lstStyle>
          <a:p>
            <a:fld id="{E44FA2F5-3AA2-445D-8C56-154AC789668A}" type="slidenum">
              <a:rPr lang="en-US" altLang="zh-CN"/>
              <a:pPr/>
              <a:t>‹#›</a:t>
            </a:fld>
            <a:endParaRPr lang="en-US" altLang="zh-CN"/>
          </a:p>
        </p:txBody>
      </p:sp>
    </p:spTree>
    <p:extLst>
      <p:ext uri="{BB962C8B-B14F-4D97-AF65-F5344CB8AC3E}">
        <p14:creationId xmlns:p14="http://schemas.microsoft.com/office/powerpoint/2010/main" val="3116135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052513"/>
            <a:ext cx="5384800" cy="50784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052513"/>
            <a:ext cx="5384800" cy="50784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471634F9-F676-E2AB-D5E1-4A2ADCFE8547}"/>
              </a:ext>
            </a:extLst>
          </p:cNvPr>
          <p:cNvSpPr>
            <a:spLocks noGrp="1" noChangeArrowheads="1"/>
          </p:cNvSpPr>
          <p:nvPr>
            <p:ph type="dt" sz="half" idx="10"/>
          </p:nvPr>
        </p:nvSpPr>
        <p:spPr>
          <a:ln/>
        </p:spPr>
        <p:txBody>
          <a:bodyPr/>
          <a:lstStyle>
            <a:lvl1pPr>
              <a:defRPr/>
            </a:lvl1pPr>
          </a:lstStyle>
          <a:p>
            <a:pPr>
              <a:defRPr/>
            </a:pPr>
            <a:fld id="{F8574A81-E601-4C52-8D41-296EA9FE9404}"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2CE17470-C78A-F2BE-F489-EE87D3A8653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B7ED69B-730C-2B55-1AA1-7AE2D428F7BF}"/>
              </a:ext>
            </a:extLst>
          </p:cNvPr>
          <p:cNvSpPr>
            <a:spLocks noGrp="1" noChangeArrowheads="1"/>
          </p:cNvSpPr>
          <p:nvPr>
            <p:ph type="sldNum" sz="quarter" idx="12"/>
          </p:nvPr>
        </p:nvSpPr>
        <p:spPr>
          <a:ln/>
        </p:spPr>
        <p:txBody>
          <a:bodyPr/>
          <a:lstStyle>
            <a:lvl1pPr>
              <a:defRPr/>
            </a:lvl1pPr>
          </a:lstStyle>
          <a:p>
            <a:fld id="{5280126F-F7F0-456A-B4C4-15E3A66A1108}" type="slidenum">
              <a:rPr lang="en-US" altLang="zh-CN"/>
              <a:pPr/>
              <a:t>‹#›</a:t>
            </a:fld>
            <a:endParaRPr lang="en-US" altLang="zh-CN"/>
          </a:p>
        </p:txBody>
      </p:sp>
    </p:spTree>
    <p:extLst>
      <p:ext uri="{BB962C8B-B14F-4D97-AF65-F5344CB8AC3E}">
        <p14:creationId xmlns:p14="http://schemas.microsoft.com/office/powerpoint/2010/main" val="1725180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2" name="Freeform 7">
            <a:extLst>
              <a:ext uri="{FF2B5EF4-FFF2-40B4-BE49-F238E27FC236}">
                <a16:creationId xmlns:a16="http://schemas.microsoft.com/office/drawing/2014/main" id="{989FAA10-5985-C5A0-8FD1-57786056DA22}"/>
              </a:ext>
            </a:extLst>
          </p:cNvPr>
          <p:cNvSpPr>
            <a:spLocks noChangeArrowheads="1"/>
          </p:cNvSpPr>
          <p:nvPr/>
        </p:nvSpPr>
        <p:spPr bwMode="auto">
          <a:xfrm>
            <a:off x="812800" y="1219200"/>
            <a:ext cx="10566400" cy="914400"/>
          </a:xfrm>
          <a:custGeom>
            <a:avLst/>
            <a:gdLst>
              <a:gd name="T0" fmla="*/ 0 w 1000"/>
              <a:gd name="T1" fmla="*/ 914400 h 1000"/>
              <a:gd name="T2" fmla="*/ 0 w 1000"/>
              <a:gd name="T3" fmla="*/ 0 h 1000"/>
              <a:gd name="T4" fmla="*/ 79248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3" name="Line 8">
            <a:extLst>
              <a:ext uri="{FF2B5EF4-FFF2-40B4-BE49-F238E27FC236}">
                <a16:creationId xmlns:a16="http://schemas.microsoft.com/office/drawing/2014/main" id="{70458852-E817-91A5-948D-D0D78E3E575F}"/>
              </a:ext>
            </a:extLst>
          </p:cNvPr>
          <p:cNvSpPr>
            <a:spLocks noChangeShapeType="1"/>
          </p:cNvSpPr>
          <p:nvPr/>
        </p:nvSpPr>
        <p:spPr bwMode="auto">
          <a:xfrm>
            <a:off x="2641601" y="3962400"/>
            <a:ext cx="8682567"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4" name="Picture 9">
            <a:extLst>
              <a:ext uri="{FF2B5EF4-FFF2-40B4-BE49-F238E27FC236}">
                <a16:creationId xmlns:a16="http://schemas.microsoft.com/office/drawing/2014/main" id="{608C2A23-0C96-2860-A18C-6375C8D517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0">
            <a:extLst>
              <a:ext uri="{FF2B5EF4-FFF2-40B4-BE49-F238E27FC236}">
                <a16:creationId xmlns:a16="http://schemas.microsoft.com/office/drawing/2014/main" id="{29B757A6-214C-D007-B198-250D8E2E908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8" name="Rectangle 2"/>
          <p:cNvSpPr>
            <a:spLocks noGrp="1" noChangeArrowheads="1"/>
          </p:cNvSpPr>
          <p:nvPr>
            <p:ph type="ctrTitle"/>
          </p:nvPr>
        </p:nvSpPr>
        <p:spPr>
          <a:xfrm>
            <a:off x="1219201" y="1524000"/>
            <a:ext cx="10164233" cy="1752600"/>
          </a:xfrm>
        </p:spPr>
        <p:txBody>
          <a:bodyPr/>
          <a:lstStyle>
            <a:lvl1pPr>
              <a:defRPr sz="3800"/>
            </a:lvl1pPr>
          </a:lstStyle>
          <a:p>
            <a:r>
              <a:rPr lang="zh-CN" altLang="en-US"/>
              <a:t>单击此处编辑母版标题样式</a:t>
            </a:r>
          </a:p>
        </p:txBody>
      </p:sp>
      <p:sp>
        <p:nvSpPr>
          <p:cNvPr id="9219" name="Rectangle 3"/>
          <p:cNvSpPr>
            <a:spLocks noGrp="1" noChangeArrowheads="1"/>
          </p:cNvSpPr>
          <p:nvPr>
            <p:ph type="subTitle" idx="1"/>
          </p:nvPr>
        </p:nvSpPr>
        <p:spPr>
          <a:xfrm>
            <a:off x="2641600" y="3962400"/>
            <a:ext cx="8737600" cy="1752600"/>
          </a:xfrm>
        </p:spPr>
        <p:txBody>
          <a:bodyPr/>
          <a:lstStyle>
            <a:lvl1pPr marL="0" indent="0">
              <a:buFont typeface="Wingdings" pitchFamily="2" charset="2"/>
              <a:buNone/>
              <a:defRPr sz="2800"/>
            </a:lvl1pPr>
          </a:lstStyle>
          <a:p>
            <a:r>
              <a:rPr lang="zh-CN" altLang="en-US"/>
              <a:t>单击此处编辑母版副标题样式</a:t>
            </a:r>
          </a:p>
        </p:txBody>
      </p:sp>
      <p:sp>
        <p:nvSpPr>
          <p:cNvPr id="7" name="Rectangle 4">
            <a:extLst>
              <a:ext uri="{FF2B5EF4-FFF2-40B4-BE49-F238E27FC236}">
                <a16:creationId xmlns:a16="http://schemas.microsoft.com/office/drawing/2014/main" id="{7307DAB0-C402-CAB8-08D3-EA3E682ED672}"/>
              </a:ext>
            </a:extLst>
          </p:cNvPr>
          <p:cNvSpPr>
            <a:spLocks noGrp="1" noChangeArrowheads="1"/>
          </p:cNvSpPr>
          <p:nvPr>
            <p:ph type="dt" sz="half" idx="10"/>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lvl1pPr>
          </a:lstStyle>
          <a:p>
            <a:pPr>
              <a:defRPr/>
            </a:pPr>
            <a:fld id="{3ADE3F83-E096-4F3D-89E9-DA6C5C8A726A}"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8B222A18-DD25-3C8C-226C-7DF11C2269FC}"/>
              </a:ext>
            </a:extLst>
          </p:cNvPr>
          <p:cNvSpPr>
            <a:spLocks noGrp="1" noChangeArrowheads="1"/>
          </p:cNvSpPr>
          <p:nvPr>
            <p:ph type="ftr" sz="quarter" idx="11"/>
          </p:nvPr>
        </p:nvSpPr>
        <p:spPr>
          <a:xfrm>
            <a:off x="4165600" y="6243638"/>
            <a:ext cx="3860800" cy="457200"/>
          </a:xfrm>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80CF2EFD-B205-F7AC-B14C-DC6E30F933B5}"/>
              </a:ext>
            </a:extLst>
          </p:cNvPr>
          <p:cNvSpPr>
            <a:spLocks noGrp="1" noChangeArrowheads="1"/>
          </p:cNvSpPr>
          <p:nvPr>
            <p:ph type="sldNum" sz="quarter" idx="12"/>
          </p:nvPr>
        </p:nvSpPr>
        <p:spPr>
          <a:xfrm>
            <a:off x="8737600" y="6243638"/>
            <a:ext cx="2844800" cy="457200"/>
          </a:xfrm>
        </p:spPr>
        <p:txBody>
          <a:bodyPr/>
          <a:lstStyle>
            <a:lvl1pPr algn="r">
              <a:defRPr sz="1200">
                <a:latin typeface="Garamond" panose="02020404030301010803" pitchFamily="18" charset="0"/>
              </a:defRPr>
            </a:lvl1pPr>
          </a:lstStyle>
          <a:p>
            <a:fld id="{579EAA38-1FC4-4E7F-9448-F47EA1A31F2C}" type="slidenum">
              <a:rPr lang="en-US" altLang="zh-CN"/>
              <a:pPr/>
              <a:t>‹#›</a:t>
            </a:fld>
            <a:endParaRPr lang="en-US" altLang="zh-CN"/>
          </a:p>
        </p:txBody>
      </p:sp>
    </p:spTree>
    <p:controls>
      <mc:AlternateContent xmlns:mc="http://schemas.openxmlformats.org/markup-compatibility/2006">
        <mc:Choice xmlns:v="urn:schemas-microsoft-com:vml" Requires="v">
          <p:control r:id="rId1" imgW="936720" imgH="216000"/>
        </mc:Choice>
        <mc:Fallback>
          <p:control r:id="rId1" imgW="936720" imgH="216000">
            <p:pic>
              <p:nvPicPr>
                <p:cNvPr id="6" name="ShockwaveFlash1">
                  <a:extLst>
                    <a:ext uri="{FF2B5EF4-FFF2-40B4-BE49-F238E27FC236}">
                      <a16:creationId xmlns:a16="http://schemas.microsoft.com/office/drawing/2014/main" id="{EC6303D2-B381-0309-DB53-52FCCCFC70C8}"/>
                    </a:ext>
                  </a:extLst>
                </p:cNvPr>
                <p:cNvPicPr preferRelativeResize="0">
                  <a:picLocks noChangeArrowheads="1" noChangeShapeType="1"/>
                </p:cNvPicPr>
                <p:nvPr/>
              </p:nvPicPr>
              <p:blipFill>
                <a:blip r:embed="rId5">
                  <a:extLst>
                    <a:ext uri="{28A0092B-C50C-407E-A947-70E740481C1C}">
                      <a14:useLocalDpi xmlns:a14="http://schemas.microsoft.com/office/drawing/2010/main" val="0"/>
                    </a:ext>
                  </a:extLst>
                </a:blip>
                <a:srcRect/>
                <a:stretch>
                  <a:fillRect/>
                </a:stretch>
              </p:blipFill>
              <p:spPr bwMode="auto">
                <a:xfrm>
                  <a:off x="8398934" y="6524625"/>
                  <a:ext cx="1248833" cy="215900"/>
                </a:xfrm>
                <a:prstGeom prst="rect">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no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ontrol>
        </mc:Fallback>
      </mc:AlternateContent>
    </p:controls>
    <p:extLst>
      <p:ext uri="{BB962C8B-B14F-4D97-AF65-F5344CB8AC3E}">
        <p14:creationId xmlns:p14="http://schemas.microsoft.com/office/powerpoint/2010/main" val="40159155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14E4136-B95F-347D-EC74-50D7CBD46BF4}"/>
              </a:ext>
            </a:extLst>
          </p:cNvPr>
          <p:cNvSpPr>
            <a:spLocks noGrp="1" noChangeArrowheads="1"/>
          </p:cNvSpPr>
          <p:nvPr>
            <p:ph type="dt" sz="half" idx="10"/>
          </p:nvPr>
        </p:nvSpPr>
        <p:spPr>
          <a:ln/>
        </p:spPr>
        <p:txBody>
          <a:bodyPr/>
          <a:lstStyle>
            <a:lvl1pPr>
              <a:defRPr/>
            </a:lvl1pPr>
          </a:lstStyle>
          <a:p>
            <a:pPr>
              <a:defRPr/>
            </a:pPr>
            <a:fld id="{E61587AA-A8D2-4795-95E8-F8C9A19DD60E}"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BDC7C957-E4CE-A517-1098-83C545CD93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BAA62DF5-BD16-99DA-5BCE-686FDD04D8C6}"/>
              </a:ext>
            </a:extLst>
          </p:cNvPr>
          <p:cNvSpPr>
            <a:spLocks noGrp="1" noChangeArrowheads="1"/>
          </p:cNvSpPr>
          <p:nvPr>
            <p:ph type="sldNum" sz="quarter" idx="12"/>
          </p:nvPr>
        </p:nvSpPr>
        <p:spPr>
          <a:ln/>
        </p:spPr>
        <p:txBody>
          <a:bodyPr/>
          <a:lstStyle>
            <a:lvl1pPr>
              <a:defRPr/>
            </a:lvl1pPr>
          </a:lstStyle>
          <a:p>
            <a:fld id="{8FC8F39E-90C2-4896-87B7-AC99B5E322D3}" type="slidenum">
              <a:rPr lang="en-US" altLang="zh-CN"/>
              <a:pPr/>
              <a:t>‹#›</a:t>
            </a:fld>
            <a:endParaRPr lang="en-US" altLang="zh-CN"/>
          </a:p>
        </p:txBody>
      </p:sp>
    </p:spTree>
    <p:extLst>
      <p:ext uri="{BB962C8B-B14F-4D97-AF65-F5344CB8AC3E}">
        <p14:creationId xmlns:p14="http://schemas.microsoft.com/office/powerpoint/2010/main" val="57277318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E890C224-BF2E-98C7-1331-D0B6735C3131}"/>
              </a:ext>
            </a:extLst>
          </p:cNvPr>
          <p:cNvSpPr>
            <a:spLocks noGrp="1" noChangeArrowheads="1"/>
          </p:cNvSpPr>
          <p:nvPr>
            <p:ph type="dt" sz="half" idx="10"/>
          </p:nvPr>
        </p:nvSpPr>
        <p:spPr>
          <a:ln/>
        </p:spPr>
        <p:txBody>
          <a:bodyPr/>
          <a:lstStyle>
            <a:lvl1pPr>
              <a:defRPr/>
            </a:lvl1pPr>
          </a:lstStyle>
          <a:p>
            <a:pPr>
              <a:defRPr/>
            </a:pPr>
            <a:fld id="{318B189E-9449-4C2B-89E7-46A5441694F4}"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B386E307-0A5D-C7DA-290E-FB69A814EEC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018CF3B-D071-5542-BF73-59364016AC30}"/>
              </a:ext>
            </a:extLst>
          </p:cNvPr>
          <p:cNvSpPr>
            <a:spLocks noGrp="1" noChangeArrowheads="1"/>
          </p:cNvSpPr>
          <p:nvPr>
            <p:ph type="sldNum" sz="quarter" idx="12"/>
          </p:nvPr>
        </p:nvSpPr>
        <p:spPr>
          <a:ln/>
        </p:spPr>
        <p:txBody>
          <a:bodyPr/>
          <a:lstStyle>
            <a:lvl1pPr>
              <a:defRPr/>
            </a:lvl1pPr>
          </a:lstStyle>
          <a:p>
            <a:fld id="{4300B41A-0D3A-4FAC-ACE7-BAC82FF2482D}" type="slidenum">
              <a:rPr lang="en-US" altLang="zh-CN"/>
              <a:pPr/>
              <a:t>‹#›</a:t>
            </a:fld>
            <a:endParaRPr lang="en-US" altLang="zh-CN"/>
          </a:p>
        </p:txBody>
      </p:sp>
    </p:spTree>
    <p:extLst>
      <p:ext uri="{BB962C8B-B14F-4D97-AF65-F5344CB8AC3E}">
        <p14:creationId xmlns:p14="http://schemas.microsoft.com/office/powerpoint/2010/main" val="88929939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052513"/>
            <a:ext cx="5384800" cy="50784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F0AC6D3D-8ACE-61FB-15AA-4BAF874DD8A5}"/>
              </a:ext>
            </a:extLst>
          </p:cNvPr>
          <p:cNvSpPr>
            <a:spLocks noGrp="1" noChangeArrowheads="1"/>
          </p:cNvSpPr>
          <p:nvPr>
            <p:ph type="dt" sz="half" idx="10"/>
          </p:nvPr>
        </p:nvSpPr>
        <p:spPr>
          <a:ln/>
        </p:spPr>
        <p:txBody>
          <a:bodyPr/>
          <a:lstStyle>
            <a:lvl1pPr>
              <a:defRPr/>
            </a:lvl1pPr>
          </a:lstStyle>
          <a:p>
            <a:pPr>
              <a:defRPr/>
            </a:pPr>
            <a:fld id="{04E61317-37A7-4EE4-BACA-2C64D834182A}"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6E74ABAE-F46C-C751-35A6-368048F057C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2BEB6911-4472-B9E8-EF5D-5A69E9BBFE76}"/>
              </a:ext>
            </a:extLst>
          </p:cNvPr>
          <p:cNvSpPr>
            <a:spLocks noGrp="1" noChangeArrowheads="1"/>
          </p:cNvSpPr>
          <p:nvPr>
            <p:ph type="sldNum" sz="quarter" idx="12"/>
          </p:nvPr>
        </p:nvSpPr>
        <p:spPr>
          <a:ln/>
        </p:spPr>
        <p:txBody>
          <a:bodyPr/>
          <a:lstStyle>
            <a:lvl1pPr>
              <a:defRPr/>
            </a:lvl1pPr>
          </a:lstStyle>
          <a:p>
            <a:fld id="{3F2A24E1-8B80-4AC2-B2F2-D745243614E2}" type="slidenum">
              <a:rPr lang="en-US" altLang="zh-CN"/>
              <a:pPr/>
              <a:t>‹#›</a:t>
            </a:fld>
            <a:endParaRPr lang="en-US" altLang="zh-CN"/>
          </a:p>
        </p:txBody>
      </p:sp>
    </p:spTree>
    <p:extLst>
      <p:ext uri="{BB962C8B-B14F-4D97-AF65-F5344CB8AC3E}">
        <p14:creationId xmlns:p14="http://schemas.microsoft.com/office/powerpoint/2010/main" val="234213451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0AE3BF3-8FF5-1F48-7794-801055389427}"/>
              </a:ext>
            </a:extLst>
          </p:cNvPr>
          <p:cNvSpPr>
            <a:spLocks noGrp="1" noChangeArrowheads="1"/>
          </p:cNvSpPr>
          <p:nvPr>
            <p:ph type="dt" sz="half" idx="10"/>
          </p:nvPr>
        </p:nvSpPr>
        <p:spPr>
          <a:ln/>
        </p:spPr>
        <p:txBody>
          <a:bodyPr/>
          <a:lstStyle>
            <a:lvl1pPr>
              <a:defRPr/>
            </a:lvl1pPr>
          </a:lstStyle>
          <a:p>
            <a:pPr>
              <a:defRPr/>
            </a:pPr>
            <a:fld id="{B9627ED4-3CD4-4A5D-8AC9-14E7B8511F19}" type="datetime1">
              <a:rPr lang="zh-CN" altLang="en-US"/>
              <a:pPr>
                <a:defRPr/>
              </a:pPr>
              <a:t>2024/12/18</a:t>
            </a:fld>
            <a:endParaRPr lang="en-US" altLang="zh-CN"/>
          </a:p>
        </p:txBody>
      </p:sp>
      <p:sp>
        <p:nvSpPr>
          <p:cNvPr id="8" name="Rectangle 5">
            <a:extLst>
              <a:ext uri="{FF2B5EF4-FFF2-40B4-BE49-F238E27FC236}">
                <a16:creationId xmlns:a16="http://schemas.microsoft.com/office/drawing/2014/main" id="{91B78AEF-F29A-8228-E8CB-7218D9DACA2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E0211448-DA63-46A6-C1D5-365DF392F7AA}"/>
              </a:ext>
            </a:extLst>
          </p:cNvPr>
          <p:cNvSpPr>
            <a:spLocks noGrp="1" noChangeArrowheads="1"/>
          </p:cNvSpPr>
          <p:nvPr>
            <p:ph type="sldNum" sz="quarter" idx="12"/>
          </p:nvPr>
        </p:nvSpPr>
        <p:spPr>
          <a:ln/>
        </p:spPr>
        <p:txBody>
          <a:bodyPr/>
          <a:lstStyle>
            <a:lvl1pPr>
              <a:defRPr/>
            </a:lvl1pPr>
          </a:lstStyle>
          <a:p>
            <a:fld id="{6A47FBD9-214C-41EB-B783-86F3905BC808}" type="slidenum">
              <a:rPr lang="en-US" altLang="zh-CN"/>
              <a:pPr/>
              <a:t>‹#›</a:t>
            </a:fld>
            <a:endParaRPr lang="en-US" altLang="zh-CN"/>
          </a:p>
        </p:txBody>
      </p:sp>
    </p:spTree>
    <p:extLst>
      <p:ext uri="{BB962C8B-B14F-4D97-AF65-F5344CB8AC3E}">
        <p14:creationId xmlns:p14="http://schemas.microsoft.com/office/powerpoint/2010/main" val="33206258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063D256C-68A9-2DE8-327C-CD6C95369653}"/>
              </a:ext>
            </a:extLst>
          </p:cNvPr>
          <p:cNvSpPr>
            <a:spLocks noGrp="1" noChangeArrowheads="1"/>
          </p:cNvSpPr>
          <p:nvPr>
            <p:ph type="dt" sz="half" idx="10"/>
          </p:nvPr>
        </p:nvSpPr>
        <p:spPr>
          <a:ln/>
        </p:spPr>
        <p:txBody>
          <a:bodyPr/>
          <a:lstStyle>
            <a:lvl1pPr>
              <a:defRPr/>
            </a:lvl1pPr>
          </a:lstStyle>
          <a:p>
            <a:pPr>
              <a:defRPr/>
            </a:pPr>
            <a:fld id="{C07674AE-2087-4342-B13F-ADB8F4AF17A2}"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63BB19C4-DE91-9BF5-560E-6BF66981D74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D8D03ED5-51F8-A818-3AD1-F092D80712D4}"/>
              </a:ext>
            </a:extLst>
          </p:cNvPr>
          <p:cNvSpPr>
            <a:spLocks noGrp="1" noChangeArrowheads="1"/>
          </p:cNvSpPr>
          <p:nvPr>
            <p:ph type="sldNum" sz="quarter" idx="12"/>
          </p:nvPr>
        </p:nvSpPr>
        <p:spPr>
          <a:ln/>
        </p:spPr>
        <p:txBody>
          <a:bodyPr/>
          <a:lstStyle>
            <a:lvl1pPr>
              <a:defRPr/>
            </a:lvl1pPr>
          </a:lstStyle>
          <a:p>
            <a:fld id="{4C9D643C-C74B-455F-A739-0D78DBD09C21}" type="slidenum">
              <a:rPr lang="en-US" altLang="zh-CN"/>
              <a:pPr/>
              <a:t>‹#›</a:t>
            </a:fld>
            <a:endParaRPr lang="en-US" altLang="zh-CN"/>
          </a:p>
        </p:txBody>
      </p:sp>
    </p:spTree>
    <p:extLst>
      <p:ext uri="{BB962C8B-B14F-4D97-AF65-F5344CB8AC3E}">
        <p14:creationId xmlns:p14="http://schemas.microsoft.com/office/powerpoint/2010/main" val="42473028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2F3B7564-2BAC-DDB2-3EF3-D9A0A927C6F0}"/>
              </a:ext>
            </a:extLst>
          </p:cNvPr>
          <p:cNvSpPr>
            <a:spLocks noGrp="1" noChangeArrowheads="1"/>
          </p:cNvSpPr>
          <p:nvPr>
            <p:ph type="dt" sz="half" idx="10"/>
          </p:nvPr>
        </p:nvSpPr>
        <p:spPr>
          <a:ln/>
        </p:spPr>
        <p:txBody>
          <a:bodyPr/>
          <a:lstStyle>
            <a:lvl1pPr>
              <a:defRPr/>
            </a:lvl1pPr>
          </a:lstStyle>
          <a:p>
            <a:pPr>
              <a:defRPr/>
            </a:pPr>
            <a:fld id="{CE4635FB-E5A6-40B7-855E-A45FEDFD27A1}" type="datetime1">
              <a:rPr lang="zh-CN" altLang="en-US"/>
              <a:pPr>
                <a:defRPr/>
              </a:pPr>
              <a:t>2024/12/18</a:t>
            </a:fld>
            <a:endParaRPr lang="en-US" altLang="zh-CN"/>
          </a:p>
        </p:txBody>
      </p:sp>
      <p:sp>
        <p:nvSpPr>
          <p:cNvPr id="3" name="Rectangle 5">
            <a:extLst>
              <a:ext uri="{FF2B5EF4-FFF2-40B4-BE49-F238E27FC236}">
                <a16:creationId xmlns:a16="http://schemas.microsoft.com/office/drawing/2014/main" id="{F0EAD1B2-78E2-7835-FD06-BBE2767A538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AAC8E8C2-3860-7553-868F-5E37F873301D}"/>
              </a:ext>
            </a:extLst>
          </p:cNvPr>
          <p:cNvSpPr>
            <a:spLocks noGrp="1" noChangeArrowheads="1"/>
          </p:cNvSpPr>
          <p:nvPr>
            <p:ph type="sldNum" sz="quarter" idx="12"/>
          </p:nvPr>
        </p:nvSpPr>
        <p:spPr>
          <a:ln/>
        </p:spPr>
        <p:txBody>
          <a:bodyPr/>
          <a:lstStyle>
            <a:lvl1pPr>
              <a:defRPr/>
            </a:lvl1pPr>
          </a:lstStyle>
          <a:p>
            <a:fld id="{FE7997E3-66F8-42A6-8337-A576587FE781}" type="slidenum">
              <a:rPr lang="en-US" altLang="zh-CN"/>
              <a:pPr/>
              <a:t>‹#›</a:t>
            </a:fld>
            <a:endParaRPr lang="en-US" altLang="zh-CN"/>
          </a:p>
        </p:txBody>
      </p:sp>
    </p:spTree>
    <p:extLst>
      <p:ext uri="{BB962C8B-B14F-4D97-AF65-F5344CB8AC3E}">
        <p14:creationId xmlns:p14="http://schemas.microsoft.com/office/powerpoint/2010/main" val="406407978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86F8E0C2-D1C4-99FA-8440-34091C75E4B1}"/>
              </a:ext>
            </a:extLst>
          </p:cNvPr>
          <p:cNvSpPr>
            <a:spLocks noGrp="1" noChangeArrowheads="1"/>
          </p:cNvSpPr>
          <p:nvPr>
            <p:ph type="dt" sz="half" idx="10"/>
          </p:nvPr>
        </p:nvSpPr>
        <p:spPr>
          <a:ln/>
        </p:spPr>
        <p:txBody>
          <a:bodyPr/>
          <a:lstStyle>
            <a:lvl1pPr>
              <a:defRPr/>
            </a:lvl1pPr>
          </a:lstStyle>
          <a:p>
            <a:pPr>
              <a:defRPr/>
            </a:pPr>
            <a:fld id="{6E7B1F47-935A-42EA-996D-14CBD06375E6}"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BAEBE14C-E8B1-C839-B3A6-82C5A242E80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A61BC81-4796-FC2D-9AB3-C63EE75EEAF2}"/>
              </a:ext>
            </a:extLst>
          </p:cNvPr>
          <p:cNvSpPr>
            <a:spLocks noGrp="1" noChangeArrowheads="1"/>
          </p:cNvSpPr>
          <p:nvPr>
            <p:ph type="sldNum" sz="quarter" idx="12"/>
          </p:nvPr>
        </p:nvSpPr>
        <p:spPr>
          <a:ln/>
        </p:spPr>
        <p:txBody>
          <a:bodyPr/>
          <a:lstStyle>
            <a:lvl1pPr>
              <a:defRPr/>
            </a:lvl1pPr>
          </a:lstStyle>
          <a:p>
            <a:fld id="{0AB54EFE-CAD9-4905-801C-33E79C65385E}" type="slidenum">
              <a:rPr lang="en-US" altLang="zh-CN"/>
              <a:pPr/>
              <a:t>‹#›</a:t>
            </a:fld>
            <a:endParaRPr lang="en-US" altLang="zh-CN"/>
          </a:p>
        </p:txBody>
      </p:sp>
    </p:spTree>
    <p:extLst>
      <p:ext uri="{BB962C8B-B14F-4D97-AF65-F5344CB8AC3E}">
        <p14:creationId xmlns:p14="http://schemas.microsoft.com/office/powerpoint/2010/main" val="133291869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4112B4D-8799-8EE8-D866-85A7E844345D}"/>
              </a:ext>
            </a:extLst>
          </p:cNvPr>
          <p:cNvSpPr>
            <a:spLocks noGrp="1" noChangeArrowheads="1"/>
          </p:cNvSpPr>
          <p:nvPr>
            <p:ph type="dt" sz="half" idx="10"/>
          </p:nvPr>
        </p:nvSpPr>
        <p:spPr>
          <a:ln/>
        </p:spPr>
        <p:txBody>
          <a:bodyPr/>
          <a:lstStyle>
            <a:lvl1pPr>
              <a:defRPr/>
            </a:lvl1pPr>
          </a:lstStyle>
          <a:p>
            <a:pPr>
              <a:defRPr/>
            </a:pPr>
            <a:fld id="{966D8636-F56D-42CD-8B0D-9EFD0CBF4EA2}"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15001D02-DC72-5B88-A98F-DE824D156A8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CCBEF9A3-62A6-2778-D4EE-6B2C630007DA}"/>
              </a:ext>
            </a:extLst>
          </p:cNvPr>
          <p:cNvSpPr>
            <a:spLocks noGrp="1" noChangeArrowheads="1"/>
          </p:cNvSpPr>
          <p:nvPr>
            <p:ph type="sldNum" sz="quarter" idx="12"/>
          </p:nvPr>
        </p:nvSpPr>
        <p:spPr>
          <a:ln/>
        </p:spPr>
        <p:txBody>
          <a:bodyPr/>
          <a:lstStyle>
            <a:lvl1pPr>
              <a:defRPr/>
            </a:lvl1pPr>
          </a:lstStyle>
          <a:p>
            <a:fld id="{169F886C-815B-4AB9-93C5-487071C21A81}" type="slidenum">
              <a:rPr lang="en-US" altLang="zh-CN"/>
              <a:pPr/>
              <a:t>‹#›</a:t>
            </a:fld>
            <a:endParaRPr lang="en-US" altLang="zh-CN"/>
          </a:p>
        </p:txBody>
      </p:sp>
    </p:spTree>
    <p:extLst>
      <p:ext uri="{BB962C8B-B14F-4D97-AF65-F5344CB8AC3E}">
        <p14:creationId xmlns:p14="http://schemas.microsoft.com/office/powerpoint/2010/main" val="196858383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2CCF9751-B92F-75F3-AB8A-7DC05BD7DDFD}"/>
              </a:ext>
            </a:extLst>
          </p:cNvPr>
          <p:cNvSpPr>
            <a:spLocks noGrp="1" noChangeArrowheads="1"/>
          </p:cNvSpPr>
          <p:nvPr>
            <p:ph type="dt" sz="half" idx="10"/>
          </p:nvPr>
        </p:nvSpPr>
        <p:spPr>
          <a:ln/>
        </p:spPr>
        <p:txBody>
          <a:bodyPr/>
          <a:lstStyle>
            <a:lvl1pPr>
              <a:defRPr/>
            </a:lvl1pPr>
          </a:lstStyle>
          <a:p>
            <a:pPr>
              <a:defRPr/>
            </a:pPr>
            <a:fld id="{5E6C90A1-FED2-43C7-81C3-E5D70046619B}"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CBE769F2-9020-186C-E2ED-5E12E5AFD24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5E78CB5-EE65-D2EE-3C19-371D35F68250}"/>
              </a:ext>
            </a:extLst>
          </p:cNvPr>
          <p:cNvSpPr>
            <a:spLocks noGrp="1" noChangeArrowheads="1"/>
          </p:cNvSpPr>
          <p:nvPr>
            <p:ph type="sldNum" sz="quarter" idx="12"/>
          </p:nvPr>
        </p:nvSpPr>
        <p:spPr>
          <a:ln/>
        </p:spPr>
        <p:txBody>
          <a:bodyPr/>
          <a:lstStyle>
            <a:lvl1pPr>
              <a:defRPr/>
            </a:lvl1pPr>
          </a:lstStyle>
          <a:p>
            <a:fld id="{C43841DD-2D2D-4CD3-B09E-C1C1CD75E92F}" type="slidenum">
              <a:rPr lang="en-US" altLang="zh-CN"/>
              <a:pPr/>
              <a:t>‹#›</a:t>
            </a:fld>
            <a:endParaRPr lang="en-US" altLang="zh-CN"/>
          </a:p>
        </p:txBody>
      </p:sp>
    </p:spTree>
    <p:extLst>
      <p:ext uri="{BB962C8B-B14F-4D97-AF65-F5344CB8AC3E}">
        <p14:creationId xmlns:p14="http://schemas.microsoft.com/office/powerpoint/2010/main" val="3447634966"/>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9F276554-5B8B-7662-21A8-4ED96BBE1F5C}"/>
              </a:ext>
            </a:extLst>
          </p:cNvPr>
          <p:cNvSpPr>
            <a:spLocks noGrp="1" noChangeArrowheads="1"/>
          </p:cNvSpPr>
          <p:nvPr>
            <p:ph type="dt" sz="half" idx="10"/>
          </p:nvPr>
        </p:nvSpPr>
        <p:spPr>
          <a:ln/>
        </p:spPr>
        <p:txBody>
          <a:bodyPr/>
          <a:lstStyle>
            <a:lvl1pPr>
              <a:defRPr/>
            </a:lvl1pPr>
          </a:lstStyle>
          <a:p>
            <a:pPr>
              <a:defRPr/>
            </a:pPr>
            <a:fld id="{C63FCBEF-F57D-40FC-ADF1-1DD078F441D5}" type="datetime1">
              <a:rPr lang="zh-CN" altLang="en-US"/>
              <a:pPr>
                <a:defRPr/>
              </a:pPr>
              <a:t>2024/12/18</a:t>
            </a:fld>
            <a:endParaRPr lang="en-US" altLang="zh-CN"/>
          </a:p>
        </p:txBody>
      </p:sp>
      <p:sp>
        <p:nvSpPr>
          <p:cNvPr id="5" name="Rectangle 5">
            <a:extLst>
              <a:ext uri="{FF2B5EF4-FFF2-40B4-BE49-F238E27FC236}">
                <a16:creationId xmlns:a16="http://schemas.microsoft.com/office/drawing/2014/main" id="{75EC7D5E-8E73-C34A-75EC-C8AE3CB86D0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932E547-E192-1D16-DB19-E332A6D617F3}"/>
              </a:ext>
            </a:extLst>
          </p:cNvPr>
          <p:cNvSpPr>
            <a:spLocks noGrp="1" noChangeArrowheads="1"/>
          </p:cNvSpPr>
          <p:nvPr>
            <p:ph type="sldNum" sz="quarter" idx="12"/>
          </p:nvPr>
        </p:nvSpPr>
        <p:spPr>
          <a:ln/>
        </p:spPr>
        <p:txBody>
          <a:bodyPr/>
          <a:lstStyle>
            <a:lvl1pPr>
              <a:defRPr/>
            </a:lvl1pPr>
          </a:lstStyle>
          <a:p>
            <a:fld id="{FB8A4910-9EC4-4135-9917-62E45C90F9ED}" type="slidenum">
              <a:rPr lang="en-US" altLang="zh-CN"/>
              <a:pPr/>
              <a:t>‹#›</a:t>
            </a:fld>
            <a:endParaRPr lang="en-US" altLang="zh-CN"/>
          </a:p>
        </p:txBody>
      </p:sp>
    </p:spTree>
    <p:extLst>
      <p:ext uri="{BB962C8B-B14F-4D97-AF65-F5344CB8AC3E}">
        <p14:creationId xmlns:p14="http://schemas.microsoft.com/office/powerpoint/2010/main" val="2362816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7813"/>
            <a:ext cx="10972800" cy="58531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4">
            <a:extLst>
              <a:ext uri="{FF2B5EF4-FFF2-40B4-BE49-F238E27FC236}">
                <a16:creationId xmlns:a16="http://schemas.microsoft.com/office/drawing/2014/main" id="{C111D19F-54FF-80FB-22CF-6509E09174AD}"/>
              </a:ext>
            </a:extLst>
          </p:cNvPr>
          <p:cNvSpPr>
            <a:spLocks noGrp="1" noChangeArrowheads="1"/>
          </p:cNvSpPr>
          <p:nvPr>
            <p:ph type="dt" sz="half" idx="10"/>
          </p:nvPr>
        </p:nvSpPr>
        <p:spPr>
          <a:ln/>
        </p:spPr>
        <p:txBody>
          <a:bodyPr/>
          <a:lstStyle>
            <a:lvl1pPr>
              <a:defRPr/>
            </a:lvl1pPr>
          </a:lstStyle>
          <a:p>
            <a:pPr>
              <a:defRPr/>
            </a:pPr>
            <a:fld id="{23FAC974-E352-4A59-96E5-2218EF4BBE89}" type="datetime1">
              <a:rPr lang="zh-CN" altLang="en-US"/>
              <a:pPr>
                <a:defRPr/>
              </a:pPr>
              <a:t>2024/12/18</a:t>
            </a:fld>
            <a:endParaRPr lang="en-US" altLang="zh-CN"/>
          </a:p>
        </p:txBody>
      </p:sp>
      <p:sp>
        <p:nvSpPr>
          <p:cNvPr id="4" name="Rectangle 5">
            <a:extLst>
              <a:ext uri="{FF2B5EF4-FFF2-40B4-BE49-F238E27FC236}">
                <a16:creationId xmlns:a16="http://schemas.microsoft.com/office/drawing/2014/main" id="{7AD81657-790B-9893-7FB7-93C528F45CF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6A3BB74C-4B6C-CBE5-BD46-6454A67D108C}"/>
              </a:ext>
            </a:extLst>
          </p:cNvPr>
          <p:cNvSpPr>
            <a:spLocks noGrp="1" noChangeArrowheads="1"/>
          </p:cNvSpPr>
          <p:nvPr>
            <p:ph type="sldNum" sz="quarter" idx="12"/>
          </p:nvPr>
        </p:nvSpPr>
        <p:spPr>
          <a:ln/>
        </p:spPr>
        <p:txBody>
          <a:bodyPr/>
          <a:lstStyle>
            <a:lvl1pPr>
              <a:defRPr/>
            </a:lvl1pPr>
          </a:lstStyle>
          <a:p>
            <a:fld id="{15522D4C-EEC5-4436-8D00-C90DD489D126}" type="slidenum">
              <a:rPr lang="en-US" altLang="zh-CN"/>
              <a:pPr/>
              <a:t>‹#›</a:t>
            </a:fld>
            <a:endParaRPr lang="en-US" altLang="zh-CN"/>
          </a:p>
        </p:txBody>
      </p:sp>
    </p:spTree>
    <p:extLst>
      <p:ext uri="{BB962C8B-B14F-4D97-AF65-F5344CB8AC3E}">
        <p14:creationId xmlns:p14="http://schemas.microsoft.com/office/powerpoint/2010/main" val="1718939943"/>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7813"/>
            <a:ext cx="10972800" cy="5588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052513"/>
            <a:ext cx="5384800" cy="50784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052513"/>
            <a:ext cx="5384800" cy="5078412"/>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089A436E-3DDA-F111-0FE6-4C1FD8E60C70}"/>
              </a:ext>
            </a:extLst>
          </p:cNvPr>
          <p:cNvSpPr>
            <a:spLocks noGrp="1" noChangeArrowheads="1"/>
          </p:cNvSpPr>
          <p:nvPr>
            <p:ph type="dt" sz="half" idx="10"/>
          </p:nvPr>
        </p:nvSpPr>
        <p:spPr>
          <a:ln/>
        </p:spPr>
        <p:txBody>
          <a:bodyPr/>
          <a:lstStyle>
            <a:lvl1pPr>
              <a:defRPr/>
            </a:lvl1pPr>
          </a:lstStyle>
          <a:p>
            <a:pPr>
              <a:defRPr/>
            </a:pPr>
            <a:fld id="{5D8F10FB-4396-4DC6-A72A-C7E8C8AEBFA7}" type="datetime1">
              <a:rPr lang="zh-CN" altLang="en-US"/>
              <a:pPr>
                <a:defRPr/>
              </a:pPr>
              <a:t>2024/12/18</a:t>
            </a:fld>
            <a:endParaRPr lang="en-US" altLang="zh-CN"/>
          </a:p>
        </p:txBody>
      </p:sp>
      <p:sp>
        <p:nvSpPr>
          <p:cNvPr id="6" name="Rectangle 5">
            <a:extLst>
              <a:ext uri="{FF2B5EF4-FFF2-40B4-BE49-F238E27FC236}">
                <a16:creationId xmlns:a16="http://schemas.microsoft.com/office/drawing/2014/main" id="{C82BD29D-BCE8-F86E-CF89-27F6220A9B1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BE74C39E-47CE-6A30-1B6F-F247156FD391}"/>
              </a:ext>
            </a:extLst>
          </p:cNvPr>
          <p:cNvSpPr>
            <a:spLocks noGrp="1" noChangeArrowheads="1"/>
          </p:cNvSpPr>
          <p:nvPr>
            <p:ph type="sldNum" sz="quarter" idx="12"/>
          </p:nvPr>
        </p:nvSpPr>
        <p:spPr>
          <a:ln/>
        </p:spPr>
        <p:txBody>
          <a:bodyPr/>
          <a:lstStyle>
            <a:lvl1pPr>
              <a:defRPr/>
            </a:lvl1pPr>
          </a:lstStyle>
          <a:p>
            <a:fld id="{98FCFA8F-8A45-486F-B5D8-7A6125D2D123}" type="slidenum">
              <a:rPr lang="en-US" altLang="zh-CN"/>
              <a:pPr/>
              <a:t>‹#›</a:t>
            </a:fld>
            <a:endParaRPr lang="en-US" altLang="zh-CN"/>
          </a:p>
        </p:txBody>
      </p:sp>
    </p:spTree>
    <p:extLst>
      <p:ext uri="{BB962C8B-B14F-4D97-AF65-F5344CB8AC3E}">
        <p14:creationId xmlns:p14="http://schemas.microsoft.com/office/powerpoint/2010/main" val="21683424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image" Target="../media/image1.png"/><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6" Type="http://schemas.openxmlformats.org/officeDocument/2006/relationships/image" Target="../media/image2.png"/><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1.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slideLayout" Target="../slideLayouts/slideLayout50.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6" Type="http://schemas.openxmlformats.org/officeDocument/2006/relationships/image" Target="../media/image2.png"/><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5" Type="http://schemas.openxmlformats.org/officeDocument/2006/relationships/image" Target="../media/image1.png"/><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82363C-A605-1522-CA38-340872ACBD6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41EAF3A1-1B08-A522-217A-6347D29522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5F4D15E-B8BE-EB2B-CADE-C5308202EE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331022-7643-4B4F-83BA-565B56EC1DC9}" type="datetimeFigureOut">
              <a:rPr lang="zh-CN" altLang="en-US" smtClean="0"/>
              <a:t>2024/12/18</a:t>
            </a:fld>
            <a:endParaRPr lang="zh-CN" altLang="en-US"/>
          </a:p>
        </p:txBody>
      </p:sp>
      <p:sp>
        <p:nvSpPr>
          <p:cNvPr id="5" name="页脚占位符 4">
            <a:extLst>
              <a:ext uri="{FF2B5EF4-FFF2-40B4-BE49-F238E27FC236}">
                <a16:creationId xmlns:a16="http://schemas.microsoft.com/office/drawing/2014/main" id="{A5209516-8623-FFE3-36B0-24F98D5518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2517C36B-4DE3-67DF-E57E-4D37CBED9F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B952C11-EBBA-4FAC-9D0B-9EE479BB518B}" type="slidenum">
              <a:rPr lang="zh-CN" altLang="en-US" smtClean="0"/>
              <a:t>‹#›</a:t>
            </a:fld>
            <a:endParaRPr lang="zh-CN" altLang="en-US"/>
          </a:p>
        </p:txBody>
      </p:sp>
    </p:spTree>
    <p:extLst>
      <p:ext uri="{BB962C8B-B14F-4D97-AF65-F5344CB8AC3E}">
        <p14:creationId xmlns:p14="http://schemas.microsoft.com/office/powerpoint/2010/main" val="11600920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18DC2086-9076-980B-62A8-76D1817C13C8}"/>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2051" name="Rectangle 3">
            <a:extLst>
              <a:ext uri="{FF2B5EF4-FFF2-40B4-BE49-F238E27FC236}">
                <a16:creationId xmlns:a16="http://schemas.microsoft.com/office/drawing/2014/main" id="{6B125414-C9E0-9228-6A10-9C91AEEFC5A1}"/>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911422CA-9DB9-9058-AE94-7B1A53019770}"/>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Garamond" panose="02020404030301010803" pitchFamily="18" charset="0"/>
              </a:defRPr>
            </a:lvl1pPr>
          </a:lstStyle>
          <a:p>
            <a:pPr>
              <a:defRPr/>
            </a:pPr>
            <a:fld id="{36E801C5-BF54-4815-8263-758EFB8D603C}"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AD7C3A8F-0D0C-F146-6991-BFF315BD961E}"/>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BE3937B0-8272-03FD-BEC3-F5465EECE524}"/>
              </a:ext>
            </a:extLst>
          </p:cNvPr>
          <p:cNvSpPr>
            <a:spLocks noGrp="1" noChangeArrowheads="1"/>
          </p:cNvSpPr>
          <p:nvPr>
            <p:ph type="sldNum" sz="quarter" idx="4"/>
          </p:nvPr>
        </p:nvSpPr>
        <p:spPr bwMode="auto">
          <a:xfrm>
            <a:off x="4212167" y="623728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600" smtClean="0"/>
            </a:lvl1pPr>
          </a:lstStyle>
          <a:p>
            <a:pPr>
              <a:defRPr/>
            </a:pPr>
            <a:fld id="{295D3ED1-0756-467E-9BDC-ECBEC1840EE0}" type="slidenum">
              <a:rPr lang="en-US" altLang="zh-CN"/>
              <a:pPr>
                <a:defRPr/>
              </a:pPr>
              <a:t>‹#›</a:t>
            </a:fld>
            <a:endParaRPr lang="en-US" altLang="zh-CN"/>
          </a:p>
        </p:txBody>
      </p:sp>
      <p:sp>
        <p:nvSpPr>
          <p:cNvPr id="2055" name="Freeform 7">
            <a:extLst>
              <a:ext uri="{FF2B5EF4-FFF2-40B4-BE49-F238E27FC236}">
                <a16:creationId xmlns:a16="http://schemas.microsoft.com/office/drawing/2014/main" id="{18C30CA2-2082-FBAE-7186-4F69F1A3E9D7}"/>
              </a:ext>
            </a:extLst>
          </p:cNvPr>
          <p:cNvSpPr>
            <a:spLocks noChangeArrowheads="1"/>
          </p:cNvSpPr>
          <p:nvPr/>
        </p:nvSpPr>
        <p:spPr bwMode="auto">
          <a:xfrm>
            <a:off x="508000" y="228600"/>
            <a:ext cx="10972800" cy="609600"/>
          </a:xfrm>
          <a:custGeom>
            <a:avLst/>
            <a:gdLst>
              <a:gd name="T0" fmla="*/ 0 w 1000"/>
              <a:gd name="T1" fmla="*/ 609600 h 1000"/>
              <a:gd name="T2" fmla="*/ 0 w 1000"/>
              <a:gd name="T3" fmla="*/ 0 h 1000"/>
              <a:gd name="T4" fmla="*/ 82296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2056" name="Line 8">
            <a:extLst>
              <a:ext uri="{FF2B5EF4-FFF2-40B4-BE49-F238E27FC236}">
                <a16:creationId xmlns:a16="http://schemas.microsoft.com/office/drawing/2014/main" id="{5B7D2D17-EEF1-FB58-AEFF-7EF999D503D6}"/>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2057" name="Picture 9">
            <a:extLst>
              <a:ext uri="{FF2B5EF4-FFF2-40B4-BE49-F238E27FC236}">
                <a16:creationId xmlns:a16="http://schemas.microsoft.com/office/drawing/2014/main" id="{9D7B02C3-4450-1711-0D0F-0799004744A6}"/>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8" name="Picture 10">
            <a:extLst>
              <a:ext uri="{FF2B5EF4-FFF2-40B4-BE49-F238E27FC236}">
                <a16:creationId xmlns:a16="http://schemas.microsoft.com/office/drawing/2014/main" id="{F5CB573D-8CB0-5DBB-E6B2-CDF06784443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9" name="Text Box 11">
            <a:extLst>
              <a:ext uri="{FF2B5EF4-FFF2-40B4-BE49-F238E27FC236}">
                <a16:creationId xmlns:a16="http://schemas.microsoft.com/office/drawing/2014/main" id="{9FFA3882-70FB-F5B7-FE23-95C8929FF1C1}"/>
              </a:ext>
            </a:extLst>
          </p:cNvPr>
          <p:cNvSpPr txBox="1">
            <a:spLocks noChangeArrowheads="1"/>
          </p:cNvSpPr>
          <p:nvPr/>
        </p:nvSpPr>
        <p:spPr bwMode="auto">
          <a:xfrm>
            <a:off x="8401051" y="620714"/>
            <a:ext cx="3888316" cy="396875"/>
          </a:xfrm>
          <a:prstGeom prst="rect">
            <a:avLst/>
          </a:prstGeom>
          <a:noFill/>
          <a:ln>
            <a:noFill/>
          </a:ln>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a:solidFill>
                  <a:srgbClr val="E20000"/>
                </a:solidFill>
                <a:latin typeface="方正舒体" panose="02010601030101010101" pitchFamily="2" charset="-122"/>
                <a:ea typeface="方正舒体" panose="02010601030101010101" pitchFamily="2" charset="-122"/>
              </a:rPr>
              <a:t>软件工程</a:t>
            </a:r>
          </a:p>
        </p:txBody>
      </p:sp>
    </p:spTree>
    <p:extLst>
      <p:ext uri="{BB962C8B-B14F-4D97-AF65-F5344CB8AC3E}">
        <p14:creationId xmlns:p14="http://schemas.microsoft.com/office/powerpoint/2010/main" val="1417800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2496C554-B8A3-B278-4EA2-4E8B8098CB90}"/>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F8F5D659-AF78-BE98-CC75-12FEB521EC27}"/>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AC9B4A88-47DF-C33F-28E2-D8DDC50AC962}"/>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ffectLst>
                  <a:outerShdw blurRad="38100" dist="38100" dir="2700000" algn="tl">
                    <a:srgbClr val="C0C0C0"/>
                  </a:outerShdw>
                </a:effectLst>
                <a:latin typeface="Garamond" panose="02020404030301010803" pitchFamily="18" charset="0"/>
              </a:defRPr>
            </a:lvl1pPr>
          </a:lstStyle>
          <a:p>
            <a:pPr>
              <a:defRPr/>
            </a:pPr>
            <a:fld id="{14673105-4292-4A91-BCEE-C7CE49AF76BA}"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749085C6-96DE-F7DD-2C67-F2482C138D69}"/>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effectLst>
                  <a:outerShdw blurRad="38100" dist="38100" dir="2700000" algn="tl">
                    <a:srgbClr val="C0C0C0"/>
                  </a:outerShdw>
                </a:effectLst>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C3F10EE4-3AF9-2D9E-BC51-5E84BCC89274}"/>
              </a:ext>
            </a:extLst>
          </p:cNvPr>
          <p:cNvSpPr>
            <a:spLocks noGrp="1" noChangeArrowheads="1"/>
          </p:cNvSpPr>
          <p:nvPr>
            <p:ph type="sldNum" sz="quarter" idx="4"/>
          </p:nvPr>
        </p:nvSpPr>
        <p:spPr bwMode="auto">
          <a:xfrm>
            <a:off x="4464051" y="6381750"/>
            <a:ext cx="2844800" cy="28733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600">
                <a:effectLst>
                  <a:outerShdw blurRad="38100" dist="38100" dir="2700000" algn="tl">
                    <a:srgbClr val="C0C0C0"/>
                  </a:outerShdw>
                </a:effectLst>
              </a:defRPr>
            </a:lvl1pPr>
          </a:lstStyle>
          <a:p>
            <a:fld id="{A0DC2745-67E9-4E58-9697-6AFB024D645A}" type="slidenum">
              <a:rPr lang="en-US" altLang="zh-CN"/>
              <a:pPr/>
              <a:t>‹#›</a:t>
            </a:fld>
            <a:endParaRPr lang="en-US" altLang="zh-CN"/>
          </a:p>
        </p:txBody>
      </p:sp>
      <p:sp>
        <p:nvSpPr>
          <p:cNvPr id="8199" name="Freeform 7">
            <a:extLst>
              <a:ext uri="{FF2B5EF4-FFF2-40B4-BE49-F238E27FC236}">
                <a16:creationId xmlns:a16="http://schemas.microsoft.com/office/drawing/2014/main" id="{0189F276-FF23-E890-63A0-19C8AAF7CB8C}"/>
              </a:ext>
            </a:extLst>
          </p:cNvPr>
          <p:cNvSpPr>
            <a:spLocks noChangeArrowheads="1"/>
          </p:cNvSpPr>
          <p:nvPr/>
        </p:nvSpPr>
        <p:spPr bwMode="auto">
          <a:xfrm>
            <a:off x="508000" y="228600"/>
            <a:ext cx="10972800" cy="609600"/>
          </a:xfrm>
          <a:custGeom>
            <a:avLst/>
            <a:gdLst/>
            <a:ahLst/>
            <a:cxnLst>
              <a:cxn ang="0">
                <a:pos x="0" y="1000"/>
              </a:cxn>
              <a:cxn ang="0">
                <a:pos x="0" y="0"/>
              </a:cxn>
              <a:cxn ang="0">
                <a:pos x="1000" y="0"/>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p:spPr>
        <p:txBody>
          <a:bodyPr/>
          <a:lstStyle/>
          <a:p>
            <a:pPr eaLnBrk="1" hangingPunct="1">
              <a:defRPr/>
            </a:pPr>
            <a:endParaRPr lang="zh-CN" altLang="en-US" sz="1800">
              <a:effectLst>
                <a:outerShdw blurRad="38100" dist="38100" dir="2700000" algn="tl">
                  <a:srgbClr val="000000">
                    <a:alpha val="43137"/>
                  </a:srgbClr>
                </a:outerShdw>
              </a:effectLst>
              <a:latin typeface="Arial" pitchFamily="34" charset="0"/>
            </a:endParaRPr>
          </a:p>
        </p:txBody>
      </p:sp>
      <p:sp>
        <p:nvSpPr>
          <p:cNvPr id="8200" name="Line 8">
            <a:extLst>
              <a:ext uri="{FF2B5EF4-FFF2-40B4-BE49-F238E27FC236}">
                <a16:creationId xmlns:a16="http://schemas.microsoft.com/office/drawing/2014/main" id="{C1708A72-4A02-65F9-AF05-10B4848C5B65}"/>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ffectLst/>
        </p:spPr>
        <p:txBody>
          <a:bodyPr/>
          <a:lstStyle/>
          <a:p>
            <a:pPr eaLnBrk="1" hangingPunct="1">
              <a:defRPr/>
            </a:pPr>
            <a:endParaRPr lang="zh-CN" altLang="en-US" sz="1800">
              <a:effectLst>
                <a:outerShdw blurRad="38100" dist="38100" dir="2700000" algn="tl">
                  <a:srgbClr val="000000">
                    <a:alpha val="43137"/>
                  </a:srgbClr>
                </a:outerShdw>
              </a:effectLst>
              <a:latin typeface="Arial" pitchFamily="34" charset="0"/>
            </a:endParaRPr>
          </a:p>
        </p:txBody>
      </p:sp>
      <p:pic>
        <p:nvPicPr>
          <p:cNvPr id="1033" name="Picture 9">
            <a:extLst>
              <a:ext uri="{FF2B5EF4-FFF2-40B4-BE49-F238E27FC236}">
                <a16:creationId xmlns:a16="http://schemas.microsoft.com/office/drawing/2014/main" id="{93C6775A-C94B-3A3C-5C6D-35306BE53D13}"/>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59900" y="5876925"/>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a:extLst>
              <a:ext uri="{FF2B5EF4-FFF2-40B4-BE49-F238E27FC236}">
                <a16:creationId xmlns:a16="http://schemas.microsoft.com/office/drawing/2014/main" id="{2742851C-014F-6266-B4E0-E2325B3CF3AE}"/>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03" name="Text Box 11">
            <a:extLst>
              <a:ext uri="{FF2B5EF4-FFF2-40B4-BE49-F238E27FC236}">
                <a16:creationId xmlns:a16="http://schemas.microsoft.com/office/drawing/2014/main" id="{3143AEB2-A484-95CE-6B57-95158DD1D059}"/>
              </a:ext>
            </a:extLst>
          </p:cNvPr>
          <p:cNvSpPr txBox="1">
            <a:spLocks noChangeArrowheads="1"/>
          </p:cNvSpPr>
          <p:nvPr/>
        </p:nvSpPr>
        <p:spPr bwMode="auto">
          <a:xfrm>
            <a:off x="8401051" y="620714"/>
            <a:ext cx="3888316" cy="396875"/>
          </a:xfrm>
          <a:prstGeom prst="rect">
            <a:avLst/>
          </a:prstGeom>
          <a:noFill/>
          <a:ln w="9525">
            <a:noFill/>
            <a:miter lim="800000"/>
            <a:headEnd/>
            <a:tailEnd/>
          </a:ln>
          <a:effectLst/>
        </p:spPr>
        <p:txBody>
          <a:bodyPr>
            <a:spAutoFit/>
          </a:bodyPr>
          <a:lstStyle/>
          <a:p>
            <a:pPr algn="ctr" eaLnBrk="1" hangingPunct="1">
              <a:spcBef>
                <a:spcPct val="50000"/>
              </a:spcBef>
              <a:defRPr/>
            </a:pPr>
            <a:r>
              <a:rPr lang="zh-CN" altLang="en-US" sz="2000" b="1" dirty="0">
                <a:solidFill>
                  <a:srgbClr val="E20000"/>
                </a:solidFill>
                <a:effectLst>
                  <a:outerShdw blurRad="38100" dist="38100" dir="2700000" algn="tl">
                    <a:srgbClr val="000000">
                      <a:alpha val="43137"/>
                    </a:srgbClr>
                  </a:outerShdw>
                </a:effectLst>
                <a:latin typeface="方正舒体" pitchFamily="2" charset="-122"/>
                <a:ea typeface="方正舒体" pitchFamily="2" charset="-122"/>
              </a:rPr>
              <a:t>软件工程</a:t>
            </a:r>
          </a:p>
        </p:txBody>
      </p:sp>
    </p:spTree>
    <p:extLst>
      <p:ext uri="{BB962C8B-B14F-4D97-AF65-F5344CB8AC3E}">
        <p14:creationId xmlns:p14="http://schemas.microsoft.com/office/powerpoint/2010/main" val="350786832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24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4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06A9F7CA-5810-1A1E-8266-DD8E6E10797D}"/>
              </a:ext>
            </a:extLst>
          </p:cNvPr>
          <p:cNvSpPr>
            <a:spLocks noGrp="1" noChangeArrowheads="1"/>
          </p:cNvSpPr>
          <p:nvPr>
            <p:ph type="title"/>
          </p:nvPr>
        </p:nvSpPr>
        <p:spPr bwMode="auto">
          <a:xfrm>
            <a:off x="609600" y="277813"/>
            <a:ext cx="109728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E05F4889-7E85-2284-A106-8BAA0DAAC4ED}"/>
              </a:ext>
            </a:extLst>
          </p:cNvPr>
          <p:cNvSpPr>
            <a:spLocks noGrp="1" noChangeArrowheads="1"/>
          </p:cNvSpPr>
          <p:nvPr>
            <p:ph type="body" idx="1"/>
          </p:nvPr>
        </p:nvSpPr>
        <p:spPr bwMode="auto">
          <a:xfrm>
            <a:off x="609600" y="1052513"/>
            <a:ext cx="10972800" cy="5078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196" name="Rectangle 4">
            <a:extLst>
              <a:ext uri="{FF2B5EF4-FFF2-40B4-BE49-F238E27FC236}">
                <a16:creationId xmlns:a16="http://schemas.microsoft.com/office/drawing/2014/main" id="{A585B992-0D54-2802-774F-988562082E64}"/>
              </a:ext>
            </a:extLst>
          </p:cNvPr>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Garamond" panose="02020404030301010803" pitchFamily="18" charset="0"/>
              </a:defRPr>
            </a:lvl1pPr>
          </a:lstStyle>
          <a:p>
            <a:pPr>
              <a:defRPr/>
            </a:pPr>
            <a:fld id="{E8EAA23B-B92C-4556-A90A-B5486600C960}" type="datetime1">
              <a:rPr lang="zh-CN" altLang="en-US"/>
              <a:pPr>
                <a:defRPr/>
              </a:pPr>
              <a:t>2024/12/18</a:t>
            </a:fld>
            <a:endParaRPr lang="en-US" altLang="zh-CN"/>
          </a:p>
        </p:txBody>
      </p:sp>
      <p:sp>
        <p:nvSpPr>
          <p:cNvPr id="8197" name="Rectangle 5">
            <a:extLst>
              <a:ext uri="{FF2B5EF4-FFF2-40B4-BE49-F238E27FC236}">
                <a16:creationId xmlns:a16="http://schemas.microsoft.com/office/drawing/2014/main" id="{6779BBF1-F58D-1F93-5A02-4F2E1BCA832A}"/>
              </a:ext>
            </a:extLst>
          </p:cNvPr>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Garamond" panose="02020404030301010803" pitchFamily="18" charset="0"/>
              </a:defRPr>
            </a:lvl1pPr>
          </a:lstStyle>
          <a:p>
            <a:pPr>
              <a:defRPr/>
            </a:pPr>
            <a:endParaRPr lang="en-US" altLang="zh-CN"/>
          </a:p>
        </p:txBody>
      </p:sp>
      <p:sp>
        <p:nvSpPr>
          <p:cNvPr id="8198" name="Rectangle 6">
            <a:extLst>
              <a:ext uri="{FF2B5EF4-FFF2-40B4-BE49-F238E27FC236}">
                <a16:creationId xmlns:a16="http://schemas.microsoft.com/office/drawing/2014/main" id="{D681701B-AC19-29DB-226D-6DE496F85C95}"/>
              </a:ext>
            </a:extLst>
          </p:cNvPr>
          <p:cNvSpPr>
            <a:spLocks noGrp="1" noChangeArrowheads="1"/>
          </p:cNvSpPr>
          <p:nvPr>
            <p:ph type="sldNum" sz="quarter" idx="4"/>
          </p:nvPr>
        </p:nvSpPr>
        <p:spPr bwMode="auto">
          <a:xfrm>
            <a:off x="4500033" y="6237288"/>
            <a:ext cx="2844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panose="020B0604020202020204" pitchFamily="34" charset="0"/>
              </a:defRPr>
            </a:lvl1pPr>
          </a:lstStyle>
          <a:p>
            <a:fld id="{A2E53A9E-F9A6-47DD-8325-17A7F264AAED}" type="slidenum">
              <a:rPr lang="en-US" altLang="zh-CN"/>
              <a:pPr/>
              <a:t>‹#›</a:t>
            </a:fld>
            <a:endParaRPr lang="en-US" altLang="zh-CN"/>
          </a:p>
        </p:txBody>
      </p:sp>
      <p:sp>
        <p:nvSpPr>
          <p:cNvPr id="1031" name="Freeform 7">
            <a:extLst>
              <a:ext uri="{FF2B5EF4-FFF2-40B4-BE49-F238E27FC236}">
                <a16:creationId xmlns:a16="http://schemas.microsoft.com/office/drawing/2014/main" id="{110BDF8F-3C9C-E144-7FAB-B9BF704BA420}"/>
              </a:ext>
            </a:extLst>
          </p:cNvPr>
          <p:cNvSpPr>
            <a:spLocks noChangeArrowheads="1"/>
          </p:cNvSpPr>
          <p:nvPr/>
        </p:nvSpPr>
        <p:spPr bwMode="auto">
          <a:xfrm>
            <a:off x="508000" y="228600"/>
            <a:ext cx="10972800" cy="609600"/>
          </a:xfrm>
          <a:custGeom>
            <a:avLst/>
            <a:gdLst>
              <a:gd name="T0" fmla="*/ 0 w 1000"/>
              <a:gd name="T1" fmla="*/ 609600 h 1000"/>
              <a:gd name="T2" fmla="*/ 0 w 1000"/>
              <a:gd name="T3" fmla="*/ 0 h 1000"/>
              <a:gd name="T4" fmla="*/ 8229600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zh-CN" altLang="en-US" sz="1800"/>
          </a:p>
        </p:txBody>
      </p:sp>
      <p:sp>
        <p:nvSpPr>
          <p:cNvPr id="1032" name="Line 8">
            <a:extLst>
              <a:ext uri="{FF2B5EF4-FFF2-40B4-BE49-F238E27FC236}">
                <a16:creationId xmlns:a16="http://schemas.microsoft.com/office/drawing/2014/main" id="{3D99804F-44DB-53A3-DF56-AF3E59BAFAB0}"/>
              </a:ext>
            </a:extLst>
          </p:cNvPr>
          <p:cNvSpPr>
            <a:spLocks noChangeShapeType="1"/>
          </p:cNvSpPr>
          <p:nvPr/>
        </p:nvSpPr>
        <p:spPr bwMode="auto">
          <a:xfrm>
            <a:off x="609600" y="6172200"/>
            <a:ext cx="109728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zh-CN" altLang="en-US" sz="1800"/>
          </a:p>
        </p:txBody>
      </p:sp>
      <p:pic>
        <p:nvPicPr>
          <p:cNvPr id="1033" name="Picture 9">
            <a:extLst>
              <a:ext uri="{FF2B5EF4-FFF2-40B4-BE49-F238E27FC236}">
                <a16:creationId xmlns:a16="http://schemas.microsoft.com/office/drawing/2014/main" id="{3740A612-42D0-1F33-2130-3A5EEF53614E}"/>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9347200" y="5867400"/>
            <a:ext cx="2616200" cy="81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4" name="Picture 10">
            <a:extLst>
              <a:ext uri="{FF2B5EF4-FFF2-40B4-BE49-F238E27FC236}">
                <a16:creationId xmlns:a16="http://schemas.microsoft.com/office/drawing/2014/main" id="{D6147524-0511-5A6A-964F-5833EEF8B1D9}"/>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609600" y="5791200"/>
            <a:ext cx="1092200" cy="89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5" name="Text Box 11">
            <a:extLst>
              <a:ext uri="{FF2B5EF4-FFF2-40B4-BE49-F238E27FC236}">
                <a16:creationId xmlns:a16="http://schemas.microsoft.com/office/drawing/2014/main" id="{3CB4971C-E041-578D-E456-779C12BC631B}"/>
              </a:ext>
            </a:extLst>
          </p:cNvPr>
          <p:cNvSpPr txBox="1">
            <a:spLocks noChangeArrowheads="1"/>
          </p:cNvSpPr>
          <p:nvPr/>
        </p:nvSpPr>
        <p:spPr bwMode="auto">
          <a:xfrm>
            <a:off x="8401051" y="620714"/>
            <a:ext cx="3888316"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defRPr/>
            </a:pPr>
            <a:r>
              <a:rPr lang="zh-CN" altLang="en-US" sz="2000" b="1">
                <a:solidFill>
                  <a:srgbClr val="E20000"/>
                </a:solidFill>
                <a:latin typeface="方正舒体" panose="02010601030101010101" pitchFamily="2" charset="-122"/>
                <a:ea typeface="方正舒体" panose="02010601030101010101" pitchFamily="2" charset="-122"/>
              </a:rPr>
              <a:t>软件工程</a:t>
            </a:r>
          </a:p>
        </p:txBody>
      </p:sp>
    </p:spTree>
    <p:extLst>
      <p:ext uri="{BB962C8B-B14F-4D97-AF65-F5344CB8AC3E}">
        <p14:creationId xmlns:p14="http://schemas.microsoft.com/office/powerpoint/2010/main" val="2319475559"/>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Lst>
  <p:hf hdr="0" ftr="0" dt="0"/>
  <p:txStyles>
    <p:titleStyle>
      <a:lvl1pPr algn="l" rtl="0" eaLnBrk="0" fontAlgn="base" hangingPunct="0">
        <a:spcBef>
          <a:spcPct val="0"/>
        </a:spcBef>
        <a:spcAft>
          <a:spcPct val="0"/>
        </a:spcAft>
        <a:defRPr sz="3000" b="1">
          <a:solidFill>
            <a:schemeClr val="tx2"/>
          </a:solidFill>
          <a:latin typeface="+mj-lt"/>
          <a:ea typeface="+mj-ea"/>
          <a:cs typeface="+mj-cs"/>
        </a:defRPr>
      </a:lvl1pPr>
      <a:lvl2pPr algn="l" rtl="0" eaLnBrk="0" fontAlgn="base" hangingPunct="0">
        <a:spcBef>
          <a:spcPct val="0"/>
        </a:spcBef>
        <a:spcAft>
          <a:spcPct val="0"/>
        </a:spcAft>
        <a:defRPr sz="3000" b="1">
          <a:solidFill>
            <a:schemeClr val="tx2"/>
          </a:solidFill>
          <a:latin typeface="Garamond" pitchFamily="18" charset="0"/>
          <a:ea typeface="宋体" pitchFamily="2" charset="-122"/>
        </a:defRPr>
      </a:lvl2pPr>
      <a:lvl3pPr algn="l" rtl="0" eaLnBrk="0" fontAlgn="base" hangingPunct="0">
        <a:spcBef>
          <a:spcPct val="0"/>
        </a:spcBef>
        <a:spcAft>
          <a:spcPct val="0"/>
        </a:spcAft>
        <a:defRPr sz="3000" b="1">
          <a:solidFill>
            <a:schemeClr val="tx2"/>
          </a:solidFill>
          <a:latin typeface="Garamond" pitchFamily="18" charset="0"/>
          <a:ea typeface="宋体" pitchFamily="2" charset="-122"/>
        </a:defRPr>
      </a:lvl3pPr>
      <a:lvl4pPr algn="l" rtl="0" eaLnBrk="0" fontAlgn="base" hangingPunct="0">
        <a:spcBef>
          <a:spcPct val="0"/>
        </a:spcBef>
        <a:spcAft>
          <a:spcPct val="0"/>
        </a:spcAft>
        <a:defRPr sz="3000" b="1">
          <a:solidFill>
            <a:schemeClr val="tx2"/>
          </a:solidFill>
          <a:latin typeface="Garamond" pitchFamily="18" charset="0"/>
          <a:ea typeface="宋体" pitchFamily="2" charset="-122"/>
        </a:defRPr>
      </a:lvl4pPr>
      <a:lvl5pPr algn="l" rtl="0" eaLnBrk="0" fontAlgn="base" hangingPunct="0">
        <a:spcBef>
          <a:spcPct val="0"/>
        </a:spcBef>
        <a:spcAft>
          <a:spcPct val="0"/>
        </a:spcAft>
        <a:defRPr sz="3000" b="1">
          <a:solidFill>
            <a:schemeClr val="tx2"/>
          </a:solidFill>
          <a:latin typeface="Garamond" pitchFamily="18" charset="0"/>
          <a:ea typeface="宋体" pitchFamily="2" charset="-122"/>
        </a:defRPr>
      </a:lvl5pPr>
      <a:lvl6pPr marL="457200" algn="l" rtl="0" eaLnBrk="1" fontAlgn="base" hangingPunct="1">
        <a:spcBef>
          <a:spcPct val="0"/>
        </a:spcBef>
        <a:spcAft>
          <a:spcPct val="0"/>
        </a:spcAft>
        <a:defRPr sz="3000" b="1">
          <a:solidFill>
            <a:schemeClr val="tx2"/>
          </a:solidFill>
          <a:latin typeface="Garamond" pitchFamily="18" charset="0"/>
          <a:ea typeface="宋体" pitchFamily="2" charset="-122"/>
        </a:defRPr>
      </a:lvl6pPr>
      <a:lvl7pPr marL="914400" algn="l" rtl="0" eaLnBrk="1" fontAlgn="base" hangingPunct="1">
        <a:spcBef>
          <a:spcPct val="0"/>
        </a:spcBef>
        <a:spcAft>
          <a:spcPct val="0"/>
        </a:spcAft>
        <a:defRPr sz="3000" b="1">
          <a:solidFill>
            <a:schemeClr val="tx2"/>
          </a:solidFill>
          <a:latin typeface="Garamond" pitchFamily="18" charset="0"/>
          <a:ea typeface="宋体" pitchFamily="2" charset="-122"/>
        </a:defRPr>
      </a:lvl7pPr>
      <a:lvl8pPr marL="1371600" algn="l" rtl="0" eaLnBrk="1" fontAlgn="base" hangingPunct="1">
        <a:spcBef>
          <a:spcPct val="0"/>
        </a:spcBef>
        <a:spcAft>
          <a:spcPct val="0"/>
        </a:spcAft>
        <a:defRPr sz="3000" b="1">
          <a:solidFill>
            <a:schemeClr val="tx2"/>
          </a:solidFill>
          <a:latin typeface="Garamond" pitchFamily="18" charset="0"/>
          <a:ea typeface="宋体" pitchFamily="2" charset="-122"/>
        </a:defRPr>
      </a:lvl8pPr>
      <a:lvl9pPr marL="1828800" algn="l" rtl="0" eaLnBrk="1" fontAlgn="base" hangingPunct="1">
        <a:spcBef>
          <a:spcPct val="0"/>
        </a:spcBef>
        <a:spcAft>
          <a:spcPct val="0"/>
        </a:spcAft>
        <a:defRPr sz="3000" b="1">
          <a:solidFill>
            <a:schemeClr val="tx2"/>
          </a:solidFill>
          <a:latin typeface="Garamond" pitchFamily="18" charset="0"/>
          <a:ea typeface="宋体" pitchFamily="2" charset="-122"/>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defRPr sz="2400" b="1">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defRPr sz="2400" b="1">
          <a:solidFill>
            <a:schemeClr val="tx1"/>
          </a:solidFill>
          <a:latin typeface="+mn-lt"/>
          <a:ea typeface="+mn-ea"/>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defRPr sz="2200" b="1">
          <a:solidFill>
            <a:schemeClr val="tx1"/>
          </a:solidFill>
          <a:latin typeface="+mn-lt"/>
          <a:ea typeface="+mn-ea"/>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defRPr sz="2000" b="1">
          <a:solidFill>
            <a:schemeClr val="tx1"/>
          </a:solidFill>
          <a:latin typeface="+mn-lt"/>
          <a:ea typeface="+mn-ea"/>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mn-lt"/>
          <a:ea typeface="+mn-ea"/>
        </a:defRPr>
      </a:lvl5pPr>
      <a:lvl6pPr marL="21383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6pPr>
      <a:lvl7pPr marL="25955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7pPr>
      <a:lvl8pPr marL="30527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8pPr>
      <a:lvl9pPr marL="3509963" indent="-339725" algn="l" rtl="0" eaLnBrk="1" fontAlgn="base" hangingPunct="1">
        <a:spcBef>
          <a:spcPct val="20000"/>
        </a:spcBef>
        <a:spcAft>
          <a:spcPct val="0"/>
        </a:spcAft>
        <a:buClr>
          <a:schemeClr val="accent1"/>
        </a:buClr>
        <a:buSzPct val="75000"/>
        <a:buFont typeface="Wingdings" pitchFamily="2" charset="2"/>
        <a:buChar char="§"/>
        <a:defRPr sz="2000" b="1">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B7054B7A-E7C6-87AE-003F-A21ECB3C2B9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93030EB-15F8-419A-9893-35F9D1652905}" type="slidenum">
              <a:rPr lang="en-US" altLang="zh-CN" sz="1600">
                <a:solidFill>
                  <a:srgbClr val="000000"/>
                </a:solidFill>
              </a:rPr>
              <a:pPr fontAlgn="base">
                <a:spcBef>
                  <a:spcPct val="0"/>
                </a:spcBef>
                <a:spcAft>
                  <a:spcPct val="0"/>
                </a:spcAft>
              </a:pPr>
              <a:t>1</a:t>
            </a:fld>
            <a:endParaRPr lang="en-US" altLang="zh-CN" sz="1600">
              <a:solidFill>
                <a:srgbClr val="000000"/>
              </a:solidFill>
            </a:endParaRPr>
          </a:p>
        </p:txBody>
      </p:sp>
      <p:sp>
        <p:nvSpPr>
          <p:cNvPr id="14339" name="Rectangle 2">
            <a:extLst>
              <a:ext uri="{FF2B5EF4-FFF2-40B4-BE49-F238E27FC236}">
                <a16:creationId xmlns:a16="http://schemas.microsoft.com/office/drawing/2014/main" id="{564AE7C3-B535-CCBC-406D-25F267EC3588}"/>
              </a:ext>
            </a:extLst>
          </p:cNvPr>
          <p:cNvSpPr>
            <a:spLocks noGrp="1" noChangeArrowheads="1"/>
          </p:cNvSpPr>
          <p:nvPr>
            <p:ph type="title"/>
          </p:nvPr>
        </p:nvSpPr>
        <p:spPr/>
        <p:txBody>
          <a:bodyPr/>
          <a:lstStyle/>
          <a:p>
            <a:r>
              <a:rPr lang="zh-CN" altLang="en-US"/>
              <a:t>什么是软件</a:t>
            </a:r>
            <a:r>
              <a:rPr lang="zh-CN" altLang="en-US">
                <a:latin typeface="Times New Roman" panose="02020603050405020304" pitchFamily="18" charset="0"/>
              </a:rPr>
              <a:t>？</a:t>
            </a:r>
            <a:endParaRPr lang="en-US" altLang="zh-CN">
              <a:latin typeface="Times New Roman" panose="02020603050405020304" pitchFamily="18" charset="0"/>
            </a:endParaRPr>
          </a:p>
        </p:txBody>
      </p:sp>
      <p:sp>
        <p:nvSpPr>
          <p:cNvPr id="14340" name="Rectangle 3">
            <a:extLst>
              <a:ext uri="{FF2B5EF4-FFF2-40B4-BE49-F238E27FC236}">
                <a16:creationId xmlns:a16="http://schemas.microsoft.com/office/drawing/2014/main" id="{D077F56F-C87F-29E8-9F8E-AFC891BFCD94}"/>
              </a:ext>
            </a:extLst>
          </p:cNvPr>
          <p:cNvSpPr>
            <a:spLocks noGrp="1" noChangeArrowheads="1"/>
          </p:cNvSpPr>
          <p:nvPr>
            <p:ph type="body" idx="1"/>
          </p:nvPr>
        </p:nvSpPr>
        <p:spPr/>
        <p:txBody>
          <a:bodyPr/>
          <a:lstStyle/>
          <a:p>
            <a:endParaRPr lang="zh-CN" altLang="en-US"/>
          </a:p>
          <a:p>
            <a:endParaRPr lang="zh-CN" altLang="en-US"/>
          </a:p>
          <a:p>
            <a:pPr>
              <a:lnSpc>
                <a:spcPct val="125000"/>
              </a:lnSpc>
            </a:pPr>
            <a:r>
              <a:rPr lang="zh-CN" altLang="en-US"/>
              <a:t>软件是一组要素的集合：</a:t>
            </a:r>
            <a:endParaRPr lang="en-US" altLang="zh-CN"/>
          </a:p>
          <a:p>
            <a:pPr lvl="1">
              <a:lnSpc>
                <a:spcPct val="125000"/>
              </a:lnSpc>
            </a:pPr>
            <a:r>
              <a:rPr lang="zh-CN" altLang="en-US"/>
              <a:t>程序 </a:t>
            </a:r>
          </a:p>
          <a:p>
            <a:pPr lvl="1">
              <a:lnSpc>
                <a:spcPct val="125000"/>
              </a:lnSpc>
            </a:pPr>
            <a:r>
              <a:rPr lang="zh-CN" altLang="en-US"/>
              <a:t>文档</a:t>
            </a:r>
          </a:p>
          <a:p>
            <a:pPr lvl="1">
              <a:lnSpc>
                <a:spcPct val="125000"/>
              </a:lnSpc>
            </a:pPr>
            <a:r>
              <a:rPr lang="zh-CN" altLang="en-US"/>
              <a:t>数据</a:t>
            </a:r>
          </a:p>
          <a:p>
            <a:pPr>
              <a:lnSpc>
                <a:spcPct val="125000"/>
              </a:lnSpc>
            </a:pPr>
            <a:r>
              <a:rPr lang="zh-CN" altLang="en-US"/>
              <a:t>程序的正常运行离不开必要的文档和数据：</a:t>
            </a:r>
          </a:p>
          <a:p>
            <a:pPr lvl="1">
              <a:lnSpc>
                <a:spcPct val="125000"/>
              </a:lnSpc>
            </a:pPr>
            <a:r>
              <a:rPr lang="zh-CN" altLang="en-US">
                <a:solidFill>
                  <a:schemeClr val="accent2"/>
                </a:solidFill>
              </a:rPr>
              <a:t>文档</a:t>
            </a:r>
            <a:r>
              <a:rPr lang="zh-CN" altLang="en-US"/>
              <a:t>是开发、使用和维护程序所需要的</a:t>
            </a:r>
            <a:r>
              <a:rPr lang="zh-CN" altLang="en-US">
                <a:solidFill>
                  <a:srgbClr val="3333CC"/>
                </a:solidFill>
              </a:rPr>
              <a:t>图文资料；</a:t>
            </a:r>
            <a:endParaRPr lang="zh-CN" altLang="en-US"/>
          </a:p>
          <a:p>
            <a:pPr lvl="1">
              <a:lnSpc>
                <a:spcPct val="125000"/>
              </a:lnSpc>
            </a:pPr>
            <a:r>
              <a:rPr lang="zh-CN" altLang="en-US">
                <a:solidFill>
                  <a:schemeClr val="accent2"/>
                </a:solidFill>
              </a:rPr>
              <a:t>数据</a:t>
            </a:r>
            <a:r>
              <a:rPr lang="zh-CN" altLang="en-US"/>
              <a:t>是使程序能够适当地处理信息的数据结构（包括</a:t>
            </a:r>
            <a:r>
              <a:rPr lang="zh-CN" altLang="en-US">
                <a:solidFill>
                  <a:srgbClr val="3333CC"/>
                </a:solidFill>
              </a:rPr>
              <a:t>数据库</a:t>
            </a:r>
            <a:r>
              <a:rPr lang="zh-CN" altLang="en-US"/>
              <a:t>、一些</a:t>
            </a:r>
            <a:r>
              <a:rPr lang="zh-CN" altLang="en-US">
                <a:solidFill>
                  <a:srgbClr val="3333CC"/>
                </a:solidFill>
              </a:rPr>
              <a:t>配置文件</a:t>
            </a:r>
            <a:r>
              <a:rPr lang="zh-CN" altLang="en-US"/>
              <a:t>等）。</a:t>
            </a:r>
          </a:p>
        </p:txBody>
      </p:sp>
      <p:pic>
        <p:nvPicPr>
          <p:cNvPr id="14341" name="Picture 4">
            <a:extLst>
              <a:ext uri="{FF2B5EF4-FFF2-40B4-BE49-F238E27FC236}">
                <a16:creationId xmlns:a16="http://schemas.microsoft.com/office/drawing/2014/main" id="{C298160A-CFD7-1F1E-FE58-AB605EA8C1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72263" y="404814"/>
            <a:ext cx="3486150" cy="3419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9B672CE3-4264-14C1-FC19-06ECAB4829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86E6F3D-B4CE-47AB-8FDD-2C80C869E8DD}" type="slidenum">
              <a:rPr lang="en-US" altLang="zh-CN" sz="1600">
                <a:solidFill>
                  <a:srgbClr val="000000"/>
                </a:solidFill>
              </a:rPr>
              <a:pPr fontAlgn="base">
                <a:spcBef>
                  <a:spcPct val="0"/>
                </a:spcBef>
                <a:spcAft>
                  <a:spcPct val="0"/>
                </a:spcAft>
              </a:pPr>
              <a:t>2</a:t>
            </a:fld>
            <a:endParaRPr lang="en-US" altLang="zh-CN" sz="1600">
              <a:solidFill>
                <a:srgbClr val="000000"/>
              </a:solidFill>
            </a:endParaRPr>
          </a:p>
        </p:txBody>
      </p:sp>
      <p:sp>
        <p:nvSpPr>
          <p:cNvPr id="16387" name="Rectangle 2">
            <a:extLst>
              <a:ext uri="{FF2B5EF4-FFF2-40B4-BE49-F238E27FC236}">
                <a16:creationId xmlns:a16="http://schemas.microsoft.com/office/drawing/2014/main" id="{A63BBDCF-3A27-B1E2-535D-7129974CCE32}"/>
              </a:ext>
            </a:extLst>
          </p:cNvPr>
          <p:cNvSpPr>
            <a:spLocks noGrp="1" noChangeArrowheads="1"/>
          </p:cNvSpPr>
          <p:nvPr>
            <p:ph type="title"/>
          </p:nvPr>
        </p:nvSpPr>
        <p:spPr/>
        <p:txBody>
          <a:bodyPr/>
          <a:lstStyle/>
          <a:p>
            <a:r>
              <a:rPr lang="zh-CN" altLang="en-US"/>
              <a:t>定义软件</a:t>
            </a:r>
          </a:p>
        </p:txBody>
      </p:sp>
      <p:sp>
        <p:nvSpPr>
          <p:cNvPr id="102403" name="Rectangle 3">
            <a:extLst>
              <a:ext uri="{FF2B5EF4-FFF2-40B4-BE49-F238E27FC236}">
                <a16:creationId xmlns:a16="http://schemas.microsoft.com/office/drawing/2014/main" id="{97F73390-4431-DC02-CD37-52E221BFBFB2}"/>
              </a:ext>
            </a:extLst>
          </p:cNvPr>
          <p:cNvSpPr>
            <a:spLocks noGrp="1" noChangeArrowheads="1"/>
          </p:cNvSpPr>
          <p:nvPr>
            <p:ph type="body" idx="1"/>
          </p:nvPr>
        </p:nvSpPr>
        <p:spPr>
          <a:xfrm>
            <a:off x="1981200" y="1268413"/>
            <a:ext cx="8229600" cy="4862512"/>
          </a:xfrm>
        </p:spPr>
        <p:txBody>
          <a:bodyPr/>
          <a:lstStyle/>
          <a:p>
            <a:pPr>
              <a:lnSpc>
                <a:spcPct val="150000"/>
              </a:lnSpc>
              <a:spcBef>
                <a:spcPct val="50000"/>
              </a:spcBef>
            </a:pPr>
            <a:r>
              <a:rPr lang="zh-CN" altLang="en-US" sz="2800">
                <a:solidFill>
                  <a:srgbClr val="FF0000"/>
                </a:solidFill>
              </a:rPr>
              <a:t>软件和硬件具有完全不同的特性：</a:t>
            </a:r>
          </a:p>
          <a:p>
            <a:pPr>
              <a:lnSpc>
                <a:spcPct val="150000"/>
              </a:lnSpc>
              <a:spcBef>
                <a:spcPct val="50000"/>
              </a:spcBef>
            </a:pPr>
            <a:r>
              <a:rPr lang="en-US" altLang="zh-CN">
                <a:solidFill>
                  <a:srgbClr val="FF0000"/>
                </a:solidFill>
              </a:rPr>
              <a:t>1. </a:t>
            </a:r>
            <a:r>
              <a:rPr lang="zh-CN" altLang="en-US">
                <a:solidFill>
                  <a:srgbClr val="FF0000"/>
                </a:solidFill>
              </a:rPr>
              <a:t>软件是设计开发的，而不是传统意义上生产制造的：</a:t>
            </a:r>
            <a:endParaRPr lang="zh-CN" altLang="en-US" sz="2200"/>
          </a:p>
          <a:p>
            <a:pPr lvl="1">
              <a:lnSpc>
                <a:spcPct val="150000"/>
              </a:lnSpc>
              <a:spcBef>
                <a:spcPct val="50000"/>
              </a:spcBef>
            </a:pPr>
            <a:r>
              <a:rPr lang="zh-CN" altLang="en-US" sz="2200"/>
              <a:t>硬件和软件可通过</a:t>
            </a:r>
            <a:r>
              <a:rPr lang="zh-CN" altLang="en-US" sz="2200">
                <a:solidFill>
                  <a:srgbClr val="FF0000"/>
                </a:solidFill>
              </a:rPr>
              <a:t>优秀的设计</a:t>
            </a:r>
            <a:r>
              <a:rPr lang="zh-CN" altLang="en-US" sz="2200"/>
              <a:t>获得高品质产品，然而</a:t>
            </a:r>
            <a:r>
              <a:rPr lang="zh-CN" altLang="en-US" sz="2200">
                <a:solidFill>
                  <a:srgbClr val="FF0000"/>
                </a:solidFill>
              </a:rPr>
              <a:t>硬件在制造阶段可能会引入质量问题</a:t>
            </a:r>
            <a:r>
              <a:rPr lang="zh-CN" altLang="en-US" sz="2200"/>
              <a:t>，这在软件中并不存在（或者易于纠正）；</a:t>
            </a:r>
          </a:p>
          <a:p>
            <a:pPr lvl="1">
              <a:lnSpc>
                <a:spcPct val="150000"/>
              </a:lnSpc>
              <a:spcBef>
                <a:spcPct val="50000"/>
              </a:spcBef>
            </a:pPr>
            <a:r>
              <a:rPr lang="zh-CN" altLang="en-US" sz="2200">
                <a:solidFill>
                  <a:srgbClr val="FF0000"/>
                </a:solidFill>
              </a:rPr>
              <a:t>软件产品成本主要在于开发设计</a:t>
            </a:r>
            <a:r>
              <a:rPr lang="zh-CN" altLang="en-US" sz="2200"/>
              <a:t>，硬件的成本在批量生产时仍然很高。</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2403">
                                            <p:txEl>
                                              <p:pRg st="1" end="1"/>
                                            </p:txEl>
                                          </p:spTgt>
                                        </p:tgtEl>
                                        <p:attrNameLst>
                                          <p:attrName>style.visibility</p:attrName>
                                        </p:attrNameLst>
                                      </p:cBhvr>
                                      <p:to>
                                        <p:strVal val="visible"/>
                                      </p:to>
                                    </p:set>
                                    <p:animEffect transition="in" filter="box(in)">
                                      <p:cBhvr>
                                        <p:cTn id="7" dur="1000"/>
                                        <p:tgtEl>
                                          <p:spTgt spid="10240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2403">
                                            <p:txEl>
                                              <p:pRg st="2" end="2"/>
                                            </p:txEl>
                                          </p:spTgt>
                                        </p:tgtEl>
                                        <p:attrNameLst>
                                          <p:attrName>style.visibility</p:attrName>
                                        </p:attrNameLst>
                                      </p:cBhvr>
                                      <p:to>
                                        <p:strVal val="visible"/>
                                      </p:to>
                                    </p:set>
                                    <p:animEffect transition="in" filter="box(in)">
                                      <p:cBhvr>
                                        <p:cTn id="12" dur="1000"/>
                                        <p:tgtEl>
                                          <p:spTgt spid="10240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2403">
                                            <p:txEl>
                                              <p:pRg st="3" end="3"/>
                                            </p:txEl>
                                          </p:spTgt>
                                        </p:tgtEl>
                                        <p:attrNameLst>
                                          <p:attrName>style.visibility</p:attrName>
                                        </p:attrNameLst>
                                      </p:cBhvr>
                                      <p:to>
                                        <p:strVal val="visible"/>
                                      </p:to>
                                    </p:set>
                                    <p:animEffect transition="in" filter="box(in)">
                                      <p:cBhvr>
                                        <p:cTn id="17" dur="1000"/>
                                        <p:tgtEl>
                                          <p:spTgt spid="10240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D031356F-CE87-0F35-8158-166E7D3C3DA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6767C63-7CE5-4BD6-BFFB-09527DA78175}" type="slidenum">
              <a:rPr lang="en-US" altLang="zh-CN" sz="1600">
                <a:solidFill>
                  <a:srgbClr val="000000"/>
                </a:solidFill>
              </a:rPr>
              <a:pPr fontAlgn="base">
                <a:spcBef>
                  <a:spcPct val="0"/>
                </a:spcBef>
                <a:spcAft>
                  <a:spcPct val="0"/>
                </a:spcAft>
              </a:pPr>
              <a:t>3</a:t>
            </a:fld>
            <a:endParaRPr lang="en-US" altLang="zh-CN" sz="1600">
              <a:solidFill>
                <a:srgbClr val="000000"/>
              </a:solidFill>
            </a:endParaRPr>
          </a:p>
        </p:txBody>
      </p:sp>
      <p:sp>
        <p:nvSpPr>
          <p:cNvPr id="20483" name="Rectangle 2">
            <a:extLst>
              <a:ext uri="{FF2B5EF4-FFF2-40B4-BE49-F238E27FC236}">
                <a16:creationId xmlns:a16="http://schemas.microsoft.com/office/drawing/2014/main" id="{33C87B95-FEA2-2197-3234-6F32DD339E5E}"/>
              </a:ext>
            </a:extLst>
          </p:cNvPr>
          <p:cNvSpPr>
            <a:spLocks noGrp="1" noChangeArrowheads="1"/>
          </p:cNvSpPr>
          <p:nvPr>
            <p:ph type="title"/>
          </p:nvPr>
        </p:nvSpPr>
        <p:spPr/>
        <p:txBody>
          <a:bodyPr/>
          <a:lstStyle/>
          <a:p>
            <a:r>
              <a:rPr lang="zh-CN" altLang="en-US"/>
              <a:t>定义软件</a:t>
            </a:r>
          </a:p>
        </p:txBody>
      </p:sp>
      <p:sp>
        <p:nvSpPr>
          <p:cNvPr id="103427" name="Rectangle 3">
            <a:extLst>
              <a:ext uri="{FF2B5EF4-FFF2-40B4-BE49-F238E27FC236}">
                <a16:creationId xmlns:a16="http://schemas.microsoft.com/office/drawing/2014/main" id="{3F7C7CF4-24AA-BD4F-F92D-A3D8800B35C0}"/>
              </a:ext>
            </a:extLst>
          </p:cNvPr>
          <p:cNvSpPr>
            <a:spLocks noGrp="1" noChangeArrowheads="1"/>
          </p:cNvSpPr>
          <p:nvPr>
            <p:ph type="body" idx="1"/>
          </p:nvPr>
        </p:nvSpPr>
        <p:spPr>
          <a:xfrm>
            <a:off x="1981200" y="1196975"/>
            <a:ext cx="8229600" cy="4933950"/>
          </a:xfrm>
        </p:spPr>
        <p:txBody>
          <a:bodyPr/>
          <a:lstStyle/>
          <a:p>
            <a:pPr>
              <a:lnSpc>
                <a:spcPct val="150000"/>
              </a:lnSpc>
              <a:spcBef>
                <a:spcPct val="50000"/>
              </a:spcBef>
            </a:pPr>
            <a:r>
              <a:rPr lang="en-US" altLang="zh-CN"/>
              <a:t>2.  </a:t>
            </a:r>
            <a:r>
              <a:rPr lang="zh-CN" altLang="en-US">
                <a:solidFill>
                  <a:srgbClr val="FF0000"/>
                </a:solidFill>
              </a:rPr>
              <a:t>软件不会“磨损”</a:t>
            </a:r>
            <a:r>
              <a:rPr lang="zh-CN" altLang="en-US"/>
              <a:t> ：</a:t>
            </a:r>
          </a:p>
          <a:p>
            <a:pPr lvl="1">
              <a:lnSpc>
                <a:spcPct val="150000"/>
              </a:lnSpc>
              <a:spcBef>
                <a:spcPct val="50000"/>
              </a:spcBef>
            </a:pPr>
            <a:r>
              <a:rPr lang="zh-CN" altLang="en-US" sz="2200"/>
              <a:t>磨损的硬件部件可以用备用部件替换，而软件却不存在备用部件。</a:t>
            </a:r>
          </a:p>
          <a:p>
            <a:pPr lvl="1">
              <a:lnSpc>
                <a:spcPct val="150000"/>
              </a:lnSpc>
              <a:spcBef>
                <a:spcPct val="50000"/>
              </a:spcBef>
            </a:pPr>
            <a:r>
              <a:rPr lang="zh-CN" altLang="en-US" sz="2200"/>
              <a:t>每个软件的缺陷都暗示了</a:t>
            </a:r>
            <a:r>
              <a:rPr lang="zh-CN" altLang="en-US" sz="2200">
                <a:solidFill>
                  <a:srgbClr val="FF0000"/>
                </a:solidFill>
              </a:rPr>
              <a:t>设计的缺陷</a:t>
            </a:r>
            <a:r>
              <a:rPr lang="zh-CN" altLang="en-US" sz="2200"/>
              <a:t>或者在从</a:t>
            </a:r>
            <a:r>
              <a:rPr lang="zh-CN" altLang="en-US" sz="2200">
                <a:solidFill>
                  <a:srgbClr val="FF0000"/>
                </a:solidFill>
              </a:rPr>
              <a:t>设计转化到机器可执行代码（实现）</a:t>
            </a:r>
            <a:r>
              <a:rPr lang="zh-CN" altLang="en-US" sz="2200"/>
              <a:t>的过程中产生的错误。</a:t>
            </a:r>
          </a:p>
          <a:p>
            <a:pPr lvl="1">
              <a:lnSpc>
                <a:spcPct val="150000"/>
              </a:lnSpc>
              <a:spcBef>
                <a:spcPct val="50000"/>
              </a:spcBef>
            </a:pPr>
            <a:r>
              <a:rPr lang="zh-CN" altLang="en-US" sz="2200">
                <a:solidFill>
                  <a:srgbClr val="FF0000"/>
                </a:solidFill>
              </a:rPr>
              <a:t>软件维护</a:t>
            </a:r>
            <a:r>
              <a:rPr lang="zh-CN" altLang="en-US" sz="2200"/>
              <a:t>要应对变更请求，比硬件维护更为复杂。</a:t>
            </a:r>
          </a:p>
          <a:p>
            <a:pPr lvl="1">
              <a:lnSpc>
                <a:spcPct val="150000"/>
              </a:lnSpc>
              <a:spcBef>
                <a:spcPct val="50000"/>
              </a:spcBef>
            </a:pPr>
            <a:r>
              <a:rPr lang="zh-CN" altLang="en-US" sz="2200">
                <a:solidFill>
                  <a:srgbClr val="FF0000"/>
                </a:solidFill>
              </a:rPr>
              <a:t>不断的变更</a:t>
            </a:r>
            <a:r>
              <a:rPr lang="zh-CN" altLang="en-US" sz="2200"/>
              <a:t>是</a:t>
            </a:r>
            <a:r>
              <a:rPr lang="zh-CN" altLang="en-US" sz="2200">
                <a:solidFill>
                  <a:srgbClr val="FF0000"/>
                </a:solidFill>
              </a:rPr>
              <a:t>软件退化</a:t>
            </a:r>
            <a:r>
              <a:rPr lang="zh-CN" altLang="en-US" sz="2200"/>
              <a:t>的</a:t>
            </a:r>
            <a:r>
              <a:rPr lang="zh-CN" altLang="en-US" sz="2200">
                <a:solidFill>
                  <a:srgbClr val="FF0000"/>
                </a:solidFill>
              </a:rPr>
              <a:t>根本原因</a:t>
            </a:r>
            <a:r>
              <a:rPr lang="zh-CN" altLang="en-US"/>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3427">
                                            <p:txEl>
                                              <p:pRg st="1" end="1"/>
                                            </p:txEl>
                                          </p:spTgt>
                                        </p:tgtEl>
                                        <p:attrNameLst>
                                          <p:attrName>style.visibility</p:attrName>
                                        </p:attrNameLst>
                                      </p:cBhvr>
                                      <p:to>
                                        <p:strVal val="visible"/>
                                      </p:to>
                                    </p:set>
                                    <p:animEffect transition="in" filter="box(in)">
                                      <p:cBhvr>
                                        <p:cTn id="7" dur="1000"/>
                                        <p:tgtEl>
                                          <p:spTgt spid="1034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3427">
                                            <p:txEl>
                                              <p:pRg st="2" end="2"/>
                                            </p:txEl>
                                          </p:spTgt>
                                        </p:tgtEl>
                                        <p:attrNameLst>
                                          <p:attrName>style.visibility</p:attrName>
                                        </p:attrNameLst>
                                      </p:cBhvr>
                                      <p:to>
                                        <p:strVal val="visible"/>
                                      </p:to>
                                    </p:set>
                                    <p:animEffect transition="in" filter="box(in)">
                                      <p:cBhvr>
                                        <p:cTn id="12" dur="1000"/>
                                        <p:tgtEl>
                                          <p:spTgt spid="10342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3427">
                                            <p:txEl>
                                              <p:pRg st="3" end="3"/>
                                            </p:txEl>
                                          </p:spTgt>
                                        </p:tgtEl>
                                        <p:attrNameLst>
                                          <p:attrName>style.visibility</p:attrName>
                                        </p:attrNameLst>
                                      </p:cBhvr>
                                      <p:to>
                                        <p:strVal val="visible"/>
                                      </p:to>
                                    </p:set>
                                    <p:animEffect transition="in" filter="box(in)">
                                      <p:cBhvr>
                                        <p:cTn id="17" dur="1000"/>
                                        <p:tgtEl>
                                          <p:spTgt spid="10342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03427">
                                            <p:txEl>
                                              <p:pRg st="4" end="4"/>
                                            </p:txEl>
                                          </p:spTgt>
                                        </p:tgtEl>
                                        <p:attrNameLst>
                                          <p:attrName>style.visibility</p:attrName>
                                        </p:attrNameLst>
                                      </p:cBhvr>
                                      <p:to>
                                        <p:strVal val="visible"/>
                                      </p:to>
                                    </p:set>
                                    <p:animEffect transition="in" filter="box(in)">
                                      <p:cBhvr>
                                        <p:cTn id="22" dur="1000"/>
                                        <p:tgtEl>
                                          <p:spTgt spid="1034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a:extLst>
              <a:ext uri="{FF2B5EF4-FFF2-40B4-BE49-F238E27FC236}">
                <a16:creationId xmlns:a16="http://schemas.microsoft.com/office/drawing/2014/main" id="{86D1D712-DC4D-2470-F32B-5C40DD61F69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6105053-EE13-40B9-A795-B8704A520561}" type="slidenum">
              <a:rPr lang="en-US" altLang="zh-CN" sz="1600">
                <a:solidFill>
                  <a:srgbClr val="000000"/>
                </a:solidFill>
              </a:rPr>
              <a:pPr fontAlgn="base">
                <a:spcBef>
                  <a:spcPct val="0"/>
                </a:spcBef>
                <a:spcAft>
                  <a:spcPct val="0"/>
                </a:spcAft>
              </a:pPr>
              <a:t>4</a:t>
            </a:fld>
            <a:endParaRPr lang="en-US" altLang="zh-CN" sz="1600">
              <a:solidFill>
                <a:srgbClr val="000000"/>
              </a:solidFill>
            </a:endParaRPr>
          </a:p>
        </p:txBody>
      </p:sp>
      <p:sp>
        <p:nvSpPr>
          <p:cNvPr id="21507" name="Rectangle 2">
            <a:extLst>
              <a:ext uri="{FF2B5EF4-FFF2-40B4-BE49-F238E27FC236}">
                <a16:creationId xmlns:a16="http://schemas.microsoft.com/office/drawing/2014/main" id="{A362C830-63CA-76FB-1D86-E76FDCFB198C}"/>
              </a:ext>
            </a:extLst>
          </p:cNvPr>
          <p:cNvSpPr>
            <a:spLocks noGrp="1" noChangeArrowheads="1"/>
          </p:cNvSpPr>
          <p:nvPr>
            <p:ph type="title"/>
          </p:nvPr>
        </p:nvSpPr>
        <p:spPr/>
        <p:txBody>
          <a:bodyPr/>
          <a:lstStyle/>
          <a:p>
            <a:r>
              <a:rPr lang="zh-CN" altLang="en-US"/>
              <a:t>定义软件</a:t>
            </a:r>
          </a:p>
        </p:txBody>
      </p:sp>
      <p:sp>
        <p:nvSpPr>
          <p:cNvPr id="106499" name="Rectangle 3">
            <a:extLst>
              <a:ext uri="{FF2B5EF4-FFF2-40B4-BE49-F238E27FC236}">
                <a16:creationId xmlns:a16="http://schemas.microsoft.com/office/drawing/2014/main" id="{EA1EBBD1-321C-11B8-8778-8E6A9BD33100}"/>
              </a:ext>
            </a:extLst>
          </p:cNvPr>
          <p:cNvSpPr>
            <a:spLocks noGrp="1" noChangeArrowheads="1"/>
          </p:cNvSpPr>
          <p:nvPr>
            <p:ph type="body" idx="1"/>
          </p:nvPr>
        </p:nvSpPr>
        <p:spPr>
          <a:xfrm>
            <a:off x="1703389" y="1014413"/>
            <a:ext cx="8713787" cy="5078412"/>
          </a:xfrm>
        </p:spPr>
        <p:txBody>
          <a:bodyPr/>
          <a:lstStyle/>
          <a:p>
            <a:pPr>
              <a:lnSpc>
                <a:spcPct val="150000"/>
              </a:lnSpc>
              <a:spcBef>
                <a:spcPct val="50000"/>
              </a:spcBef>
            </a:pPr>
            <a:r>
              <a:rPr lang="en-US" altLang="zh-CN" sz="2800"/>
              <a:t>3. </a:t>
            </a:r>
            <a:r>
              <a:rPr lang="zh-CN" altLang="en-US" sz="2800">
                <a:solidFill>
                  <a:srgbClr val="FF0000"/>
                </a:solidFill>
              </a:rPr>
              <a:t>基于构件的构造模式：</a:t>
            </a:r>
            <a:endParaRPr lang="zh-CN" altLang="en-US" sz="2800"/>
          </a:p>
          <a:p>
            <a:pPr lvl="1">
              <a:lnSpc>
                <a:spcPct val="150000"/>
              </a:lnSpc>
              <a:spcBef>
                <a:spcPct val="50000"/>
              </a:spcBef>
            </a:pPr>
            <a:r>
              <a:rPr lang="zh-CN" altLang="en-US"/>
              <a:t>工程学科的发展将产生一系列</a:t>
            </a:r>
            <a:r>
              <a:rPr lang="zh-CN" altLang="en-US">
                <a:solidFill>
                  <a:srgbClr val="FF0000"/>
                </a:solidFill>
              </a:rPr>
              <a:t>标准的设计器件</a:t>
            </a:r>
            <a:r>
              <a:rPr lang="zh-CN" altLang="en-US"/>
              <a:t>。可复用构件的使用可以使得</a:t>
            </a:r>
            <a:r>
              <a:rPr lang="zh-CN" altLang="en-US">
                <a:solidFill>
                  <a:srgbClr val="FF0000"/>
                </a:solidFill>
              </a:rPr>
              <a:t>工程师专心于设计中真正创新的部分</a:t>
            </a:r>
            <a:r>
              <a:rPr lang="zh-CN" altLang="en-US"/>
              <a:t>。</a:t>
            </a:r>
          </a:p>
          <a:p>
            <a:pPr lvl="1">
              <a:lnSpc>
                <a:spcPct val="150000"/>
              </a:lnSpc>
              <a:spcBef>
                <a:spcPct val="50000"/>
              </a:spcBef>
            </a:pPr>
            <a:r>
              <a:rPr lang="zh-CN" altLang="en-US"/>
              <a:t>在</a:t>
            </a:r>
            <a:r>
              <a:rPr lang="zh-CN" altLang="en-US">
                <a:solidFill>
                  <a:srgbClr val="FF0000"/>
                </a:solidFill>
              </a:rPr>
              <a:t>硬件</a:t>
            </a:r>
            <a:r>
              <a:rPr lang="zh-CN" altLang="en-US"/>
              <a:t>设计中，构件复用是工程进程中通用的方法 </a:t>
            </a:r>
            <a:r>
              <a:rPr lang="en-US" altLang="zh-CN"/>
              <a:t>(</a:t>
            </a:r>
            <a:r>
              <a:rPr lang="zh-CN" altLang="en-US"/>
              <a:t>例如，标准螺丝钉、可订购的集成电路</a:t>
            </a:r>
            <a:r>
              <a:rPr lang="en-US" altLang="zh-CN"/>
              <a:t>)</a:t>
            </a:r>
            <a:r>
              <a:rPr lang="zh-CN" altLang="en-US"/>
              <a:t>。 </a:t>
            </a:r>
          </a:p>
          <a:p>
            <a:pPr lvl="1">
              <a:lnSpc>
                <a:spcPct val="150000"/>
              </a:lnSpc>
              <a:spcBef>
                <a:spcPct val="50000"/>
              </a:spcBef>
            </a:pPr>
            <a:r>
              <a:rPr lang="zh-CN" altLang="en-US"/>
              <a:t>现代可复用</a:t>
            </a:r>
            <a:r>
              <a:rPr lang="zh-CN" altLang="en-US">
                <a:solidFill>
                  <a:srgbClr val="FF0000"/>
                </a:solidFill>
              </a:rPr>
              <a:t>软件构件封装了数据和对数据的处理</a:t>
            </a:r>
            <a:r>
              <a:rPr lang="zh-CN" altLang="en-US"/>
              <a:t>。例如，图形窗口、下拉菜单和各种交互机制。</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06499">
                                            <p:txEl>
                                              <p:pRg st="1" end="1"/>
                                            </p:txEl>
                                          </p:spTgt>
                                        </p:tgtEl>
                                        <p:attrNameLst>
                                          <p:attrName>style.visibility</p:attrName>
                                        </p:attrNameLst>
                                      </p:cBhvr>
                                      <p:to>
                                        <p:strVal val="visible"/>
                                      </p:to>
                                    </p:set>
                                    <p:animEffect transition="in" filter="box(in)">
                                      <p:cBhvr>
                                        <p:cTn id="7" dur="1000"/>
                                        <p:tgtEl>
                                          <p:spTgt spid="10649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06499">
                                            <p:txEl>
                                              <p:pRg st="2" end="2"/>
                                            </p:txEl>
                                          </p:spTgt>
                                        </p:tgtEl>
                                        <p:attrNameLst>
                                          <p:attrName>style.visibility</p:attrName>
                                        </p:attrNameLst>
                                      </p:cBhvr>
                                      <p:to>
                                        <p:strVal val="visible"/>
                                      </p:to>
                                    </p:set>
                                    <p:animEffect transition="in" filter="box(in)">
                                      <p:cBhvr>
                                        <p:cTn id="12" dur="1000"/>
                                        <p:tgtEl>
                                          <p:spTgt spid="10649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06499">
                                            <p:txEl>
                                              <p:pRg st="3" end="3"/>
                                            </p:txEl>
                                          </p:spTgt>
                                        </p:tgtEl>
                                        <p:attrNameLst>
                                          <p:attrName>style.visibility</p:attrName>
                                        </p:attrNameLst>
                                      </p:cBhvr>
                                      <p:to>
                                        <p:strVal val="visible"/>
                                      </p:to>
                                    </p:set>
                                    <p:animEffect transition="in" filter="box(in)">
                                      <p:cBhvr>
                                        <p:cTn id="17" dur="1000"/>
                                        <p:tgtEl>
                                          <p:spTgt spid="1064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2928E963-FA21-DD0A-57C1-20304BDFAFD6}"/>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3FD5BB6-3D86-425B-94A8-4BC7D6E64B10}" type="slidenum">
              <a:rPr lang="en-US" altLang="zh-CN" sz="1600">
                <a:solidFill>
                  <a:srgbClr val="000000"/>
                </a:solidFill>
              </a:rPr>
              <a:pPr fontAlgn="base">
                <a:spcBef>
                  <a:spcPct val="0"/>
                </a:spcBef>
                <a:spcAft>
                  <a:spcPct val="0"/>
                </a:spcAft>
              </a:pPr>
              <a:t>5</a:t>
            </a:fld>
            <a:endParaRPr lang="en-US" altLang="zh-CN" sz="1600">
              <a:solidFill>
                <a:srgbClr val="000000"/>
              </a:solidFill>
            </a:endParaRPr>
          </a:p>
        </p:txBody>
      </p:sp>
      <p:sp>
        <p:nvSpPr>
          <p:cNvPr id="51203" name="标题 1">
            <a:extLst>
              <a:ext uri="{FF2B5EF4-FFF2-40B4-BE49-F238E27FC236}">
                <a16:creationId xmlns:a16="http://schemas.microsoft.com/office/drawing/2014/main" id="{6ED4874B-71B3-FE80-ED42-F95379F64BC4}"/>
              </a:ext>
            </a:extLst>
          </p:cNvPr>
          <p:cNvSpPr>
            <a:spLocks noGrp="1"/>
          </p:cNvSpPr>
          <p:nvPr>
            <p:ph type="title"/>
          </p:nvPr>
        </p:nvSpPr>
        <p:spPr/>
        <p:txBody>
          <a:bodyPr/>
          <a:lstStyle/>
          <a:p>
            <a:r>
              <a:rPr lang="zh-CN" altLang="en-US" sz="3200"/>
              <a:t>瀑布模型（</a:t>
            </a:r>
            <a:r>
              <a:rPr lang="en-US" altLang="zh-CN" sz="3200"/>
              <a:t>Waterfall model</a:t>
            </a:r>
            <a:r>
              <a:rPr lang="zh-CN" altLang="en-US" sz="3200"/>
              <a:t>）</a:t>
            </a:r>
            <a:endParaRPr lang="zh-CN" altLang="en-US"/>
          </a:p>
        </p:txBody>
      </p:sp>
      <p:pic>
        <p:nvPicPr>
          <p:cNvPr id="51204" name="Picture 10">
            <a:extLst>
              <a:ext uri="{FF2B5EF4-FFF2-40B4-BE49-F238E27FC236}">
                <a16:creationId xmlns:a16="http://schemas.microsoft.com/office/drawing/2014/main" id="{DE5B20AA-31C2-310D-B69E-246233D108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2889" y="1341439"/>
            <a:ext cx="6624637" cy="480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灯片编号占位符 4">
            <a:extLst>
              <a:ext uri="{FF2B5EF4-FFF2-40B4-BE49-F238E27FC236}">
                <a16:creationId xmlns:a16="http://schemas.microsoft.com/office/drawing/2014/main" id="{FC7925DE-58CC-BC1C-D1E8-C4E5CB6DE2E3}"/>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D7009CD4-BB9D-C263-E43B-0BE7D1E30BFE}"/>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A84B198-4092-4DF5-997A-12D7A8E070D1}" type="slidenum">
              <a:rPr lang="en-US" altLang="zh-CN" sz="1600">
                <a:solidFill>
                  <a:srgbClr val="000000"/>
                </a:solidFill>
              </a:rPr>
              <a:pPr fontAlgn="base">
                <a:spcBef>
                  <a:spcPct val="0"/>
                </a:spcBef>
                <a:spcAft>
                  <a:spcPct val="0"/>
                </a:spcAft>
              </a:pPr>
              <a:t>6</a:t>
            </a:fld>
            <a:endParaRPr lang="en-US" altLang="zh-CN" sz="1600">
              <a:solidFill>
                <a:srgbClr val="000000"/>
              </a:solidFill>
            </a:endParaRPr>
          </a:p>
        </p:txBody>
      </p:sp>
      <p:sp>
        <p:nvSpPr>
          <p:cNvPr id="52227" name="Rectangle 2">
            <a:extLst>
              <a:ext uri="{FF2B5EF4-FFF2-40B4-BE49-F238E27FC236}">
                <a16:creationId xmlns:a16="http://schemas.microsoft.com/office/drawing/2014/main" id="{34592BDA-0027-34BF-73D6-00C4E901A7B7}"/>
              </a:ext>
            </a:extLst>
          </p:cNvPr>
          <p:cNvSpPr>
            <a:spLocks noGrp="1" noChangeArrowheads="1"/>
          </p:cNvSpPr>
          <p:nvPr>
            <p:ph type="title"/>
          </p:nvPr>
        </p:nvSpPr>
        <p:spPr/>
        <p:txBody>
          <a:bodyPr/>
          <a:lstStyle/>
          <a:p>
            <a:r>
              <a:rPr lang="zh-CN" altLang="en-US" sz="2800"/>
              <a:t>瀑布模型（</a:t>
            </a:r>
            <a:r>
              <a:rPr lang="en-US" altLang="zh-CN" sz="2800"/>
              <a:t>Waterfall model</a:t>
            </a:r>
            <a:r>
              <a:rPr lang="zh-CN" altLang="en-US" sz="2800"/>
              <a:t>）</a:t>
            </a:r>
          </a:p>
        </p:txBody>
      </p:sp>
      <p:sp>
        <p:nvSpPr>
          <p:cNvPr id="130051" name="Rectangle 3">
            <a:extLst>
              <a:ext uri="{FF2B5EF4-FFF2-40B4-BE49-F238E27FC236}">
                <a16:creationId xmlns:a16="http://schemas.microsoft.com/office/drawing/2014/main" id="{A735F54C-A7A2-2BC2-D1C9-C8C586A0C54D}"/>
              </a:ext>
            </a:extLst>
          </p:cNvPr>
          <p:cNvSpPr>
            <a:spLocks noGrp="1" noChangeArrowheads="1"/>
          </p:cNvSpPr>
          <p:nvPr>
            <p:ph type="body" idx="1"/>
          </p:nvPr>
        </p:nvSpPr>
        <p:spPr/>
        <p:txBody>
          <a:bodyPr/>
          <a:lstStyle/>
          <a:p>
            <a:pPr>
              <a:lnSpc>
                <a:spcPct val="150000"/>
              </a:lnSpc>
            </a:pPr>
            <a:r>
              <a:rPr kumimoji="1" lang="zh-CN" altLang="en-US" sz="2800"/>
              <a:t>瀑布模型软件开发具有以下几个特征：</a:t>
            </a:r>
          </a:p>
          <a:p>
            <a:pPr>
              <a:lnSpc>
                <a:spcPct val="150000"/>
              </a:lnSpc>
            </a:pPr>
            <a:r>
              <a:rPr kumimoji="1" lang="en-US" altLang="zh-CN" sz="2600"/>
              <a:t>1</a:t>
            </a:r>
            <a:r>
              <a:rPr kumimoji="1" lang="zh-CN" altLang="en-US" sz="2600"/>
              <a:t>．</a:t>
            </a:r>
            <a:r>
              <a:rPr kumimoji="1" lang="zh-CN" altLang="en-US" sz="2600">
                <a:solidFill>
                  <a:srgbClr val="CC0000"/>
                </a:solidFill>
              </a:rPr>
              <a:t>阶段间的顺序性和依赖性</a:t>
            </a:r>
            <a:r>
              <a:rPr kumimoji="1" lang="zh-CN" altLang="en-US" sz="2600"/>
              <a:t>：</a:t>
            </a:r>
          </a:p>
          <a:p>
            <a:pPr lvl="1">
              <a:lnSpc>
                <a:spcPct val="150000"/>
              </a:lnSpc>
            </a:pPr>
            <a:r>
              <a:rPr kumimoji="1" lang="zh-CN" altLang="en-US">
                <a:solidFill>
                  <a:srgbClr val="FF0000"/>
                </a:solidFill>
              </a:rPr>
              <a:t>顺序性</a:t>
            </a:r>
            <a:r>
              <a:rPr kumimoji="1" lang="zh-CN" altLang="en-US"/>
              <a:t>是指：只有等前一阶段的工作完成以后，后一阶段的工作才能开始；前一阶段的输出文档，就是后一阶段的输入文档。</a:t>
            </a:r>
          </a:p>
          <a:p>
            <a:pPr lvl="1">
              <a:lnSpc>
                <a:spcPct val="150000"/>
              </a:lnSpc>
            </a:pPr>
            <a:r>
              <a:rPr kumimoji="1" lang="zh-CN" altLang="en-US">
                <a:solidFill>
                  <a:srgbClr val="FF0000"/>
                </a:solidFill>
              </a:rPr>
              <a:t>依赖性</a:t>
            </a:r>
            <a:r>
              <a:rPr kumimoji="1" lang="zh-CN" altLang="en-US"/>
              <a:t>又同时表明了，只有前一阶段有</a:t>
            </a:r>
            <a:r>
              <a:rPr kumimoji="1" lang="zh-CN" altLang="en-US">
                <a:solidFill>
                  <a:srgbClr val="3333FF"/>
                </a:solidFill>
              </a:rPr>
              <a:t>正确的输出</a:t>
            </a:r>
            <a:r>
              <a:rPr kumimoji="1" lang="zh-CN" altLang="en-US"/>
              <a:t>时，后一阶段才可能有</a:t>
            </a:r>
            <a:r>
              <a:rPr kumimoji="1" lang="zh-CN" altLang="en-US">
                <a:solidFill>
                  <a:srgbClr val="3333FF"/>
                </a:solidFill>
              </a:rPr>
              <a:t>正确的结果</a:t>
            </a:r>
            <a:r>
              <a:rPr kumimoji="1" lang="zh-CN" altLang="en-US"/>
              <a:t>。</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30051">
                                            <p:txEl>
                                              <p:pRg st="1" end="1"/>
                                            </p:txEl>
                                          </p:spTgt>
                                        </p:tgtEl>
                                        <p:attrNameLst>
                                          <p:attrName>style.visibility</p:attrName>
                                        </p:attrNameLst>
                                      </p:cBhvr>
                                      <p:to>
                                        <p:strVal val="visible"/>
                                      </p:to>
                                    </p:set>
                                    <p:animEffect transition="in" filter="box(in)">
                                      <p:cBhvr>
                                        <p:cTn id="7" dur="1000"/>
                                        <p:tgtEl>
                                          <p:spTgt spid="1300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30051">
                                            <p:txEl>
                                              <p:pRg st="2" end="2"/>
                                            </p:txEl>
                                          </p:spTgt>
                                        </p:tgtEl>
                                        <p:attrNameLst>
                                          <p:attrName>style.visibility</p:attrName>
                                        </p:attrNameLst>
                                      </p:cBhvr>
                                      <p:to>
                                        <p:strVal val="visible"/>
                                      </p:to>
                                    </p:set>
                                    <p:animEffect transition="in" filter="box(in)">
                                      <p:cBhvr>
                                        <p:cTn id="12" dur="1000"/>
                                        <p:tgtEl>
                                          <p:spTgt spid="13005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30051">
                                            <p:txEl>
                                              <p:pRg st="3" end="3"/>
                                            </p:txEl>
                                          </p:spTgt>
                                        </p:tgtEl>
                                        <p:attrNameLst>
                                          <p:attrName>style.visibility</p:attrName>
                                        </p:attrNameLst>
                                      </p:cBhvr>
                                      <p:to>
                                        <p:strVal val="visible"/>
                                      </p:to>
                                    </p:set>
                                    <p:animEffect transition="in" filter="box(in)">
                                      <p:cBhvr>
                                        <p:cTn id="17" dur="1000"/>
                                        <p:tgtEl>
                                          <p:spTgt spid="1300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645C0FC6-2685-8F7C-99B1-CFEE7DDAB7A1}"/>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5DAB856-7369-4CD6-A83F-45D78DFCCA7B}" type="slidenum">
              <a:rPr lang="en-US" altLang="zh-CN" sz="1600">
                <a:solidFill>
                  <a:srgbClr val="000000"/>
                </a:solidFill>
              </a:rPr>
              <a:pPr fontAlgn="base">
                <a:spcBef>
                  <a:spcPct val="0"/>
                </a:spcBef>
                <a:spcAft>
                  <a:spcPct val="0"/>
                </a:spcAft>
              </a:pPr>
              <a:t>7</a:t>
            </a:fld>
            <a:endParaRPr lang="en-US" altLang="zh-CN" sz="1600">
              <a:solidFill>
                <a:srgbClr val="000000"/>
              </a:solidFill>
            </a:endParaRPr>
          </a:p>
        </p:txBody>
      </p:sp>
      <p:sp>
        <p:nvSpPr>
          <p:cNvPr id="53251" name="Rectangle 2">
            <a:extLst>
              <a:ext uri="{FF2B5EF4-FFF2-40B4-BE49-F238E27FC236}">
                <a16:creationId xmlns:a16="http://schemas.microsoft.com/office/drawing/2014/main" id="{F40E57A1-C0EC-C6F6-2634-C80A90A8B097}"/>
              </a:ext>
            </a:extLst>
          </p:cNvPr>
          <p:cNvSpPr>
            <a:spLocks noGrp="1" noChangeArrowheads="1"/>
          </p:cNvSpPr>
          <p:nvPr>
            <p:ph type="title"/>
          </p:nvPr>
        </p:nvSpPr>
        <p:spPr/>
        <p:txBody>
          <a:bodyPr/>
          <a:lstStyle/>
          <a:p>
            <a:r>
              <a:rPr lang="zh-CN" altLang="en-US" sz="2800"/>
              <a:t>瀑布模型（</a:t>
            </a:r>
            <a:r>
              <a:rPr lang="en-US" altLang="zh-CN" sz="2800"/>
              <a:t>Waterfall model</a:t>
            </a:r>
            <a:r>
              <a:rPr lang="zh-CN" altLang="en-US" sz="2800"/>
              <a:t>）</a:t>
            </a:r>
          </a:p>
        </p:txBody>
      </p:sp>
      <p:sp>
        <p:nvSpPr>
          <p:cNvPr id="53252" name="Rectangle 3">
            <a:extLst>
              <a:ext uri="{FF2B5EF4-FFF2-40B4-BE49-F238E27FC236}">
                <a16:creationId xmlns:a16="http://schemas.microsoft.com/office/drawing/2014/main" id="{4C6D9176-C361-9D8B-F19A-DD778FE5D1F7}"/>
              </a:ext>
            </a:extLst>
          </p:cNvPr>
          <p:cNvSpPr>
            <a:spLocks noGrp="1" noChangeArrowheads="1"/>
          </p:cNvSpPr>
          <p:nvPr>
            <p:ph type="body" idx="1"/>
          </p:nvPr>
        </p:nvSpPr>
        <p:spPr/>
        <p:txBody>
          <a:bodyPr/>
          <a:lstStyle/>
          <a:p>
            <a:pPr>
              <a:lnSpc>
                <a:spcPct val="150000"/>
              </a:lnSpc>
            </a:pPr>
            <a:r>
              <a:rPr kumimoji="1" lang="en-US" altLang="zh-CN" sz="2800"/>
              <a:t>2</a:t>
            </a:r>
            <a:r>
              <a:rPr kumimoji="1" lang="zh-CN" altLang="en-US" sz="2800"/>
              <a:t>．</a:t>
            </a:r>
            <a:r>
              <a:rPr kumimoji="1" lang="zh-CN" altLang="en-US" sz="2800">
                <a:solidFill>
                  <a:srgbClr val="CC0000"/>
                </a:solidFill>
              </a:rPr>
              <a:t>推迟实现的观点：</a:t>
            </a:r>
          </a:p>
          <a:p>
            <a:pPr lvl="1">
              <a:lnSpc>
                <a:spcPct val="150000"/>
              </a:lnSpc>
            </a:pPr>
            <a:r>
              <a:rPr kumimoji="1" lang="zh-CN" altLang="en-US" sz="2200"/>
              <a:t>过早地考虑程序的实现，常常导致大量返工，有时甚至给开发人员带来灾难性的后果。</a:t>
            </a:r>
          </a:p>
          <a:p>
            <a:pPr lvl="1">
              <a:lnSpc>
                <a:spcPct val="150000"/>
              </a:lnSpc>
            </a:pPr>
            <a:r>
              <a:rPr kumimoji="1" lang="zh-CN" altLang="en-US" sz="2200"/>
              <a:t>瀑布模型在编码以前安排了分析阶段和设计阶段，并且明确宣布，这两个阶段都只考虑目标系统的逻辑模型，不涉及软件的物理实现 </a:t>
            </a:r>
            <a:r>
              <a:rPr kumimoji="1" lang="en-US" altLang="zh-CN" sz="2200"/>
              <a:t>(</a:t>
            </a:r>
            <a:r>
              <a:rPr kumimoji="1" lang="zh-CN" altLang="en-US" sz="2200"/>
              <a:t>编程语言</a:t>
            </a:r>
            <a:r>
              <a:rPr kumimoji="1" lang="en-US" altLang="zh-CN" sz="2200"/>
              <a:t>)</a:t>
            </a:r>
            <a:r>
              <a:rPr kumimoji="1" lang="zh-CN" altLang="en-US" sz="2200"/>
              <a:t>。</a:t>
            </a:r>
          </a:p>
          <a:p>
            <a:pPr lvl="1">
              <a:lnSpc>
                <a:spcPct val="150000"/>
              </a:lnSpc>
            </a:pPr>
            <a:r>
              <a:rPr kumimoji="1" lang="zh-CN" altLang="en-US" sz="2200">
                <a:solidFill>
                  <a:srgbClr val="3333FF"/>
                </a:solidFill>
              </a:rPr>
              <a:t>把逻辑设计与物理设计清楚地划分开来</a:t>
            </a:r>
            <a:r>
              <a:rPr kumimoji="1" lang="zh-CN" altLang="en-US" sz="2200"/>
              <a:t>，尽可能</a:t>
            </a:r>
            <a:r>
              <a:rPr kumimoji="1" lang="zh-CN" altLang="en-US" sz="2200">
                <a:solidFill>
                  <a:srgbClr val="3333FF"/>
                </a:solidFill>
              </a:rPr>
              <a:t>推迟程序的物理实现</a:t>
            </a:r>
            <a:r>
              <a:rPr kumimoji="1" lang="zh-CN" altLang="en-US" sz="2200"/>
              <a:t>，这是瀑布型软件开发的一条重要的</a:t>
            </a:r>
            <a:r>
              <a:rPr kumimoji="1" lang="zh-CN" altLang="en-US" sz="2200">
                <a:solidFill>
                  <a:srgbClr val="3333FF"/>
                </a:solidFill>
              </a:rPr>
              <a:t>指导思想</a:t>
            </a:r>
            <a:r>
              <a:rPr kumimoji="1" lang="zh-CN" altLang="en-US" sz="2200"/>
              <a:t>。</a:t>
            </a:r>
            <a:endParaRPr lang="zh-CN" altLang="en-US" sz="22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F852B92B-BD91-794D-4365-D33D3363E487}"/>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CF64137-906C-48D9-A69C-3B72B9AC5D54}" type="slidenum">
              <a:rPr lang="en-US" altLang="zh-CN" sz="1600">
                <a:solidFill>
                  <a:srgbClr val="000000"/>
                </a:solidFill>
              </a:rPr>
              <a:pPr fontAlgn="base">
                <a:spcBef>
                  <a:spcPct val="0"/>
                </a:spcBef>
                <a:spcAft>
                  <a:spcPct val="0"/>
                </a:spcAft>
              </a:pPr>
              <a:t>8</a:t>
            </a:fld>
            <a:endParaRPr lang="en-US" altLang="zh-CN" sz="1600">
              <a:solidFill>
                <a:srgbClr val="000000"/>
              </a:solidFill>
            </a:endParaRPr>
          </a:p>
        </p:txBody>
      </p:sp>
      <p:sp>
        <p:nvSpPr>
          <p:cNvPr id="54275" name="Rectangle 2">
            <a:extLst>
              <a:ext uri="{FF2B5EF4-FFF2-40B4-BE49-F238E27FC236}">
                <a16:creationId xmlns:a16="http://schemas.microsoft.com/office/drawing/2014/main" id="{09235F46-F40E-9314-68AB-E0CEF993B20A}"/>
              </a:ext>
            </a:extLst>
          </p:cNvPr>
          <p:cNvSpPr>
            <a:spLocks noGrp="1" noChangeArrowheads="1"/>
          </p:cNvSpPr>
          <p:nvPr>
            <p:ph type="title"/>
          </p:nvPr>
        </p:nvSpPr>
        <p:spPr/>
        <p:txBody>
          <a:bodyPr/>
          <a:lstStyle/>
          <a:p>
            <a:r>
              <a:rPr lang="zh-CN" altLang="en-US" sz="2800"/>
              <a:t>瀑布模型（</a:t>
            </a:r>
            <a:r>
              <a:rPr lang="en-US" altLang="zh-CN" sz="2800"/>
              <a:t>Waterfall model</a:t>
            </a:r>
            <a:r>
              <a:rPr lang="zh-CN" altLang="en-US" sz="2800"/>
              <a:t>）</a:t>
            </a:r>
          </a:p>
        </p:txBody>
      </p:sp>
      <p:sp>
        <p:nvSpPr>
          <p:cNvPr id="132099" name="Rectangle 3">
            <a:extLst>
              <a:ext uri="{FF2B5EF4-FFF2-40B4-BE49-F238E27FC236}">
                <a16:creationId xmlns:a16="http://schemas.microsoft.com/office/drawing/2014/main" id="{CFE8ECB2-E41F-84D9-7381-B27C802C65E7}"/>
              </a:ext>
            </a:extLst>
          </p:cNvPr>
          <p:cNvSpPr>
            <a:spLocks noGrp="1" noChangeArrowheads="1"/>
          </p:cNvSpPr>
          <p:nvPr>
            <p:ph type="body" idx="1"/>
          </p:nvPr>
        </p:nvSpPr>
        <p:spPr/>
        <p:txBody>
          <a:bodyPr/>
          <a:lstStyle/>
          <a:p>
            <a:pPr>
              <a:lnSpc>
                <a:spcPct val="150000"/>
              </a:lnSpc>
            </a:pPr>
            <a:r>
              <a:rPr lang="en-US" altLang="zh-CN" sz="2800"/>
              <a:t>3</a:t>
            </a:r>
            <a:r>
              <a:rPr lang="zh-CN" altLang="en-US" sz="2800"/>
              <a:t>．</a:t>
            </a:r>
            <a:r>
              <a:rPr lang="zh-CN" altLang="en-US" sz="2800">
                <a:solidFill>
                  <a:srgbClr val="CC0000"/>
                </a:solidFill>
              </a:rPr>
              <a:t>质量保证的观点：</a:t>
            </a:r>
          </a:p>
          <a:p>
            <a:pPr lvl="1">
              <a:lnSpc>
                <a:spcPct val="150000"/>
              </a:lnSpc>
            </a:pPr>
            <a:r>
              <a:rPr lang="zh-CN" altLang="en-US" sz="2600"/>
              <a:t>为了保证质量，瀑布型软件开发在各个阶段坚持了两个重要的做法：</a:t>
            </a:r>
          </a:p>
          <a:p>
            <a:pPr lvl="2">
              <a:lnSpc>
                <a:spcPct val="150000"/>
              </a:lnSpc>
            </a:pPr>
            <a:r>
              <a:rPr lang="zh-CN" altLang="en-US" sz="2400"/>
              <a:t>（</a:t>
            </a:r>
            <a:r>
              <a:rPr lang="en-US" altLang="zh-CN" sz="2400"/>
              <a:t>1</a:t>
            </a:r>
            <a:r>
              <a:rPr lang="zh-CN" altLang="en-US" sz="2400"/>
              <a:t>）每一阶段都要完成规定的文档。没有</a:t>
            </a:r>
            <a:r>
              <a:rPr lang="zh-CN" altLang="en-US" sz="2400">
                <a:solidFill>
                  <a:srgbClr val="3333FF"/>
                </a:solidFill>
              </a:rPr>
              <a:t>完成文档</a:t>
            </a:r>
            <a:r>
              <a:rPr lang="zh-CN" altLang="en-US" sz="2400"/>
              <a:t>，就认为没有完成该阶段的任务。</a:t>
            </a:r>
          </a:p>
          <a:p>
            <a:pPr lvl="2">
              <a:lnSpc>
                <a:spcPct val="150000"/>
              </a:lnSpc>
            </a:pPr>
            <a:r>
              <a:rPr lang="zh-CN" altLang="en-US" sz="2400"/>
              <a:t>（</a:t>
            </a:r>
            <a:r>
              <a:rPr lang="en-US" altLang="zh-CN" sz="2400"/>
              <a:t>2</a:t>
            </a:r>
            <a:r>
              <a:rPr lang="zh-CN" altLang="en-US" sz="2400"/>
              <a:t>）每一阶段都要对完成的文档进行</a:t>
            </a:r>
            <a:r>
              <a:rPr lang="zh-CN" altLang="en-US" sz="2400">
                <a:solidFill>
                  <a:srgbClr val="3333FF"/>
                </a:solidFill>
              </a:rPr>
              <a:t>复审</a:t>
            </a:r>
            <a:r>
              <a:rPr lang="zh-CN" altLang="en-US" sz="2400"/>
              <a:t>，以便尽早发现问题，消除隐患。</a:t>
            </a: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2099">
                                            <p:txEl>
                                              <p:pRg st="2" end="2"/>
                                            </p:txEl>
                                          </p:spTgt>
                                        </p:tgtEl>
                                        <p:attrNameLst>
                                          <p:attrName>style.visibility</p:attrName>
                                        </p:attrNameLst>
                                      </p:cBhvr>
                                      <p:to>
                                        <p:strVal val="visible"/>
                                      </p:to>
                                    </p:set>
                                    <p:animEffect transition="in" filter="blinds(horizontal)">
                                      <p:cBhvr>
                                        <p:cTn id="7" dur="1000"/>
                                        <p:tgtEl>
                                          <p:spTgt spid="132099">
                                            <p:txEl>
                                              <p:pRg st="2" end="2"/>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32099">
                                            <p:txEl>
                                              <p:pRg st="3" end="3"/>
                                            </p:txEl>
                                          </p:spTgt>
                                        </p:tgtEl>
                                        <p:attrNameLst>
                                          <p:attrName>style.visibility</p:attrName>
                                        </p:attrNameLst>
                                      </p:cBhvr>
                                      <p:to>
                                        <p:strVal val="visible"/>
                                      </p:to>
                                    </p:set>
                                    <p:animEffect transition="in" filter="blinds(horizontal)">
                                      <p:cBhvr>
                                        <p:cTn id="12" dur="1000"/>
                                        <p:tgtEl>
                                          <p:spTgt spid="13209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16F8D4FE-17A0-E1A1-35CE-A6DE20AAA590}"/>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51087DA-8687-4B68-82E1-6B44E7706A70}" type="slidenum">
              <a:rPr lang="en-US" altLang="zh-CN" sz="1600">
                <a:solidFill>
                  <a:srgbClr val="000000"/>
                </a:solidFill>
              </a:rPr>
              <a:pPr fontAlgn="base">
                <a:spcBef>
                  <a:spcPct val="0"/>
                </a:spcBef>
                <a:spcAft>
                  <a:spcPct val="0"/>
                </a:spcAft>
              </a:pPr>
              <a:t>9</a:t>
            </a:fld>
            <a:endParaRPr lang="en-US" altLang="zh-CN" sz="1600">
              <a:solidFill>
                <a:srgbClr val="000000"/>
              </a:solidFill>
            </a:endParaRPr>
          </a:p>
        </p:txBody>
      </p:sp>
      <p:sp>
        <p:nvSpPr>
          <p:cNvPr id="55299" name="标题 1">
            <a:extLst>
              <a:ext uri="{FF2B5EF4-FFF2-40B4-BE49-F238E27FC236}">
                <a16:creationId xmlns:a16="http://schemas.microsoft.com/office/drawing/2014/main" id="{42DDC12D-FD5B-DA74-6768-6655A0AC1889}"/>
              </a:ext>
            </a:extLst>
          </p:cNvPr>
          <p:cNvSpPr>
            <a:spLocks noGrp="1"/>
          </p:cNvSpPr>
          <p:nvPr>
            <p:ph type="title"/>
          </p:nvPr>
        </p:nvSpPr>
        <p:spPr/>
        <p:txBody>
          <a:bodyPr/>
          <a:lstStyle/>
          <a:p>
            <a:r>
              <a:rPr lang="zh-CN" altLang="en-US" sz="2800"/>
              <a:t>瀑布模型（</a:t>
            </a:r>
            <a:r>
              <a:rPr lang="en-US" altLang="zh-CN" sz="2800"/>
              <a:t>Waterfall model</a:t>
            </a:r>
            <a:r>
              <a:rPr lang="zh-CN" altLang="en-US" sz="2800"/>
              <a:t>）</a:t>
            </a:r>
            <a:endParaRPr lang="zh-CN" altLang="en-US"/>
          </a:p>
        </p:txBody>
      </p:sp>
      <p:sp>
        <p:nvSpPr>
          <p:cNvPr id="4" name="Text Box 4">
            <a:extLst>
              <a:ext uri="{FF2B5EF4-FFF2-40B4-BE49-F238E27FC236}">
                <a16:creationId xmlns:a16="http://schemas.microsoft.com/office/drawing/2014/main" id="{AE8EEA38-2C61-15A4-FDF5-2617DD44609D}"/>
              </a:ext>
            </a:extLst>
          </p:cNvPr>
          <p:cNvSpPr txBox="1">
            <a:spLocks noChangeArrowheads="1"/>
          </p:cNvSpPr>
          <p:nvPr/>
        </p:nvSpPr>
        <p:spPr bwMode="auto">
          <a:xfrm>
            <a:off x="1992314" y="979488"/>
            <a:ext cx="8181975" cy="4754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Font typeface="Wingdings" panose="05000000000000000000" pitchFamily="2" charset="2"/>
              <a:buChar char="Ø"/>
            </a:pPr>
            <a:r>
              <a:rPr kumimoji="1" lang="zh-CN" altLang="en-US">
                <a:solidFill>
                  <a:srgbClr val="FF0000"/>
                </a:solidFill>
                <a:latin typeface="Times New Roman" panose="02020603050405020304" pitchFamily="18" charset="0"/>
              </a:rPr>
              <a:t> 瀑布模型所带来的问题：</a:t>
            </a:r>
          </a:p>
          <a:p>
            <a:pPr fontAlgn="base">
              <a:lnSpc>
                <a:spcPct val="150000"/>
              </a:lnSpc>
              <a:spcBef>
                <a:spcPct val="50000"/>
              </a:spcBef>
              <a:spcAft>
                <a:spcPct val="0"/>
              </a:spcAft>
              <a:buClrTx/>
              <a:buSzTx/>
              <a:buNone/>
            </a:pPr>
            <a:r>
              <a:rPr kumimoji="1" lang="zh-CN" altLang="en-US" sz="2000">
                <a:solidFill>
                  <a:srgbClr val="000000"/>
                </a:solidFill>
                <a:latin typeface="Times New Roman" panose="02020603050405020304" pitchFamily="18" charset="0"/>
              </a:rPr>
              <a:t>１、</a:t>
            </a:r>
            <a:r>
              <a:rPr kumimoji="1" lang="zh-CN" altLang="en-US" sz="2000">
                <a:solidFill>
                  <a:srgbClr val="3333FF"/>
                </a:solidFill>
                <a:latin typeface="Times New Roman" panose="02020603050405020304" pitchFamily="18" charset="0"/>
              </a:rPr>
              <a:t>不适应需求经常发生变更的环境</a:t>
            </a:r>
            <a:r>
              <a:rPr kumimoji="1" lang="zh-CN" altLang="en-US" sz="2000">
                <a:solidFill>
                  <a:srgbClr val="000000"/>
                </a:solidFill>
                <a:latin typeface="Times New Roman" panose="02020603050405020304" pitchFamily="18" charset="0"/>
              </a:rPr>
              <a:t>：在项目的开发过程中，变更可能会引起混乱。所以，有人形象地把采用线性模型进行商业软件工程称之为“在沙滩上盖楼房”。</a:t>
            </a:r>
          </a:p>
          <a:p>
            <a:pPr fontAlgn="base">
              <a:lnSpc>
                <a:spcPct val="150000"/>
              </a:lnSpc>
              <a:spcBef>
                <a:spcPct val="50000"/>
              </a:spcBef>
              <a:spcAft>
                <a:spcPct val="0"/>
              </a:spcAft>
              <a:buClrTx/>
              <a:buSzTx/>
              <a:buNone/>
            </a:pPr>
            <a:r>
              <a:rPr kumimoji="1" lang="zh-CN" altLang="en-US" sz="2000">
                <a:solidFill>
                  <a:srgbClr val="000000"/>
                </a:solidFill>
                <a:latin typeface="Times New Roman" panose="02020603050405020304" pitchFamily="18" charset="0"/>
              </a:rPr>
              <a:t>２、在采用线性顺序模型的时候，用户只有到项目的</a:t>
            </a:r>
            <a:r>
              <a:rPr kumimoji="1" lang="zh-CN" altLang="en-US" sz="2000">
                <a:solidFill>
                  <a:srgbClr val="3333FF"/>
                </a:solidFill>
                <a:latin typeface="Times New Roman" panose="02020603050405020304" pitchFamily="18" charset="0"/>
              </a:rPr>
              <a:t>开发晚期才能够得到程序的可运行版本</a:t>
            </a:r>
            <a:r>
              <a:rPr kumimoji="1" lang="zh-CN" altLang="en-US" sz="2000">
                <a:solidFill>
                  <a:srgbClr val="000000"/>
                </a:solidFill>
                <a:latin typeface="Times New Roman" panose="02020603050405020304" pitchFamily="18" charset="0"/>
              </a:rPr>
              <a:t>。大的错误如果到这时才被发现，那么造成的后果往往是灾难性的。</a:t>
            </a:r>
          </a:p>
          <a:p>
            <a:pPr fontAlgn="base">
              <a:lnSpc>
                <a:spcPct val="150000"/>
              </a:lnSpc>
              <a:spcBef>
                <a:spcPct val="50000"/>
              </a:spcBef>
              <a:spcAft>
                <a:spcPct val="0"/>
              </a:spcAft>
              <a:buClrTx/>
              <a:buSzTx/>
              <a:buNone/>
            </a:pPr>
            <a:r>
              <a:rPr kumimoji="1" lang="zh-CN" altLang="en-US" sz="2000">
                <a:solidFill>
                  <a:srgbClr val="000000"/>
                </a:solidFill>
                <a:latin typeface="Times New Roman" panose="02020603050405020304" pitchFamily="18" charset="0"/>
              </a:rPr>
              <a:t>３、线性顺序模型每一步的工作都必须以前一阶段的输出为输入，这种特征会导致工作中发生“</a:t>
            </a:r>
            <a:r>
              <a:rPr kumimoji="1" lang="zh-CN" altLang="en-US" sz="2000">
                <a:solidFill>
                  <a:srgbClr val="3333FF"/>
                </a:solidFill>
                <a:latin typeface="Times New Roman" panose="02020603050405020304" pitchFamily="18" charset="0"/>
              </a:rPr>
              <a:t>阻塞</a:t>
            </a:r>
            <a:r>
              <a:rPr kumimoji="1" lang="zh-CN" altLang="en-US" sz="2000">
                <a:solidFill>
                  <a:srgbClr val="000000"/>
                </a:solidFill>
                <a:latin typeface="Times New Roman" panose="02020603050405020304" pitchFamily="18" charset="0"/>
              </a:rPr>
              <a:t>”状态。</a:t>
            </a:r>
          </a:p>
        </p:txBody>
      </p:sp>
      <p:sp>
        <p:nvSpPr>
          <p:cNvPr id="5" name="灯片编号占位符 4">
            <a:extLst>
              <a:ext uri="{FF2B5EF4-FFF2-40B4-BE49-F238E27FC236}">
                <a16:creationId xmlns:a16="http://schemas.microsoft.com/office/drawing/2014/main" id="{B719751F-DBEF-910B-EE8A-6CE8FB00F7E0}"/>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ox(in)">
                                      <p:cBhvr>
                                        <p:cTn id="7" dur="10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ox(in)">
                                      <p:cBhvr>
                                        <p:cTn id="12" dur="1000"/>
                                        <p:tgtEl>
                                          <p:spTgt spid="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ox(in)">
                                      <p:cBhvr>
                                        <p:cTn id="17" dur="10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2F4B8A02-3B77-A9CD-5733-F3095A50ADBE}"/>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E93FBAE-FC24-4BB6-A807-9C3BF9393926}" type="slidenum">
              <a:rPr lang="en-US" altLang="zh-CN" sz="1600">
                <a:solidFill>
                  <a:srgbClr val="000000"/>
                </a:solidFill>
              </a:rPr>
              <a:pPr fontAlgn="base">
                <a:spcBef>
                  <a:spcPct val="0"/>
                </a:spcBef>
                <a:spcAft>
                  <a:spcPct val="0"/>
                </a:spcAft>
              </a:pPr>
              <a:t>10</a:t>
            </a:fld>
            <a:endParaRPr lang="en-US" altLang="zh-CN" sz="1600">
              <a:solidFill>
                <a:srgbClr val="000000"/>
              </a:solidFill>
            </a:endParaRPr>
          </a:p>
        </p:txBody>
      </p:sp>
      <p:sp>
        <p:nvSpPr>
          <p:cNvPr id="56323" name="标题 1">
            <a:extLst>
              <a:ext uri="{FF2B5EF4-FFF2-40B4-BE49-F238E27FC236}">
                <a16:creationId xmlns:a16="http://schemas.microsoft.com/office/drawing/2014/main" id="{8A769747-37D6-3DB3-9C20-CA57BAD43183}"/>
              </a:ext>
            </a:extLst>
          </p:cNvPr>
          <p:cNvSpPr>
            <a:spLocks noGrp="1"/>
          </p:cNvSpPr>
          <p:nvPr>
            <p:ph type="title"/>
          </p:nvPr>
        </p:nvSpPr>
        <p:spPr/>
        <p:txBody>
          <a:bodyPr/>
          <a:lstStyle/>
          <a:p>
            <a:r>
              <a:rPr lang="zh-CN" altLang="en-US" sz="2800"/>
              <a:t>瀑布模型（</a:t>
            </a:r>
            <a:r>
              <a:rPr lang="en-US" altLang="zh-CN" sz="2800"/>
              <a:t>Waterfall model</a:t>
            </a:r>
            <a:r>
              <a:rPr lang="zh-CN" altLang="en-US" sz="2800"/>
              <a:t>）</a:t>
            </a:r>
            <a:endParaRPr lang="zh-CN" altLang="en-US"/>
          </a:p>
        </p:txBody>
      </p:sp>
      <p:sp>
        <p:nvSpPr>
          <p:cNvPr id="3" name="Text Box 4">
            <a:extLst>
              <a:ext uri="{FF2B5EF4-FFF2-40B4-BE49-F238E27FC236}">
                <a16:creationId xmlns:a16="http://schemas.microsoft.com/office/drawing/2014/main" id="{DFCF50B0-C95B-CDD8-E5F0-983AC57A59AD}"/>
              </a:ext>
            </a:extLst>
          </p:cNvPr>
          <p:cNvSpPr txBox="1">
            <a:spLocks noChangeArrowheads="1"/>
          </p:cNvSpPr>
          <p:nvPr/>
        </p:nvSpPr>
        <p:spPr bwMode="auto">
          <a:xfrm>
            <a:off x="1919289" y="1125539"/>
            <a:ext cx="8231187" cy="4454525"/>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50000"/>
              </a:lnSpc>
              <a:spcBef>
                <a:spcPct val="50000"/>
              </a:spcBef>
              <a:spcAft>
                <a:spcPct val="0"/>
              </a:spcAft>
              <a:defRPr/>
            </a:pPr>
            <a:r>
              <a:rPr lang="en-US" altLang="zh-CN" sz="2200">
                <a:solidFill>
                  <a:srgbClr val="000000"/>
                </a:solidFill>
                <a:effectLst>
                  <a:outerShdw blurRad="38100" dist="38100" dir="2700000" algn="tl">
                    <a:srgbClr val="C0C0C0"/>
                  </a:outerShdw>
                </a:effectLst>
                <a:latin typeface="宋体" panose="02010600030101010101" pitchFamily="2" charset="-122"/>
              </a:rPr>
              <a:t>    </a:t>
            </a:r>
            <a:r>
              <a:rPr lang="zh-CN" altLang="en-US" sz="2200" b="1">
                <a:solidFill>
                  <a:srgbClr val="000000"/>
                </a:solidFill>
                <a:latin typeface="宋体" panose="02010600030101010101" pitchFamily="2" charset="-122"/>
              </a:rPr>
              <a:t>虽然存在着上述的种种问题，但是线性顺序模型仍然有其</a:t>
            </a:r>
            <a:r>
              <a:rPr lang="zh-CN" altLang="en-US" sz="2200" b="1">
                <a:solidFill>
                  <a:srgbClr val="FF0000"/>
                </a:solidFill>
                <a:latin typeface="宋体" panose="02010600030101010101" pitchFamily="2" charset="-122"/>
              </a:rPr>
              <a:t>值得肯定之处</a:t>
            </a:r>
            <a:r>
              <a:rPr lang="zh-CN" altLang="en-US" sz="2200" b="1">
                <a:solidFill>
                  <a:srgbClr val="000000"/>
                </a:solidFill>
                <a:latin typeface="宋体" panose="02010600030101010101" pitchFamily="2" charset="-122"/>
              </a:rPr>
              <a:t>。</a:t>
            </a:r>
          </a:p>
          <a:p>
            <a:pPr eaLnBrk="1" fontAlgn="base" hangingPunct="1">
              <a:lnSpc>
                <a:spcPct val="150000"/>
              </a:lnSpc>
              <a:spcBef>
                <a:spcPct val="50000"/>
              </a:spcBef>
              <a:spcAft>
                <a:spcPct val="0"/>
              </a:spcAft>
              <a:defRPr/>
            </a:pPr>
            <a:r>
              <a:rPr lang="en-US" altLang="zh-CN" sz="2200" b="1">
                <a:solidFill>
                  <a:srgbClr val="000000"/>
                </a:solidFill>
                <a:latin typeface="宋体" panose="02010600030101010101" pitchFamily="2" charset="-122"/>
              </a:rPr>
              <a:t>1</a:t>
            </a:r>
            <a:r>
              <a:rPr lang="zh-CN" altLang="en-US" sz="2200" b="1">
                <a:solidFill>
                  <a:srgbClr val="000000"/>
                </a:solidFill>
                <a:latin typeface="宋体" panose="02010600030101010101" pitchFamily="2" charset="-122"/>
              </a:rPr>
              <a:t>、它提供了一个</a:t>
            </a:r>
            <a:r>
              <a:rPr lang="zh-CN" altLang="en-US" sz="2200" b="1">
                <a:solidFill>
                  <a:srgbClr val="3333FF"/>
                </a:solidFill>
                <a:latin typeface="宋体" panose="02010600030101010101" pitchFamily="2" charset="-122"/>
              </a:rPr>
              <a:t>模板</a:t>
            </a:r>
            <a:r>
              <a:rPr lang="zh-CN" altLang="en-US" sz="2200" b="1">
                <a:solidFill>
                  <a:srgbClr val="000000"/>
                </a:solidFill>
                <a:latin typeface="宋体" panose="02010600030101010101" pitchFamily="2" charset="-122"/>
              </a:rPr>
              <a:t>，使得分析、设计、编码、测试与维护工作可以在该模板的指导下有序地展开，</a:t>
            </a:r>
            <a:r>
              <a:rPr lang="zh-CN" altLang="en-US" sz="2200" b="1">
                <a:solidFill>
                  <a:srgbClr val="3333FF"/>
                </a:solidFill>
                <a:latin typeface="宋体" panose="02010600030101010101" pitchFamily="2" charset="-122"/>
              </a:rPr>
              <a:t>避免</a:t>
            </a:r>
            <a:r>
              <a:rPr lang="zh-CN" altLang="en-US" sz="2200" b="1">
                <a:solidFill>
                  <a:srgbClr val="000000"/>
                </a:solidFill>
                <a:latin typeface="宋体" panose="02010600030101010101" pitchFamily="2" charset="-122"/>
              </a:rPr>
              <a:t>了软件开发、维护过程中的</a:t>
            </a:r>
            <a:r>
              <a:rPr lang="zh-CN" altLang="en-US" sz="2200" b="1">
                <a:solidFill>
                  <a:srgbClr val="3333FF"/>
                </a:solidFill>
                <a:latin typeface="宋体" panose="02010600030101010101" pitchFamily="2" charset="-122"/>
              </a:rPr>
              <a:t>随意状态</a:t>
            </a:r>
            <a:r>
              <a:rPr lang="zh-CN" altLang="en-US" sz="2200" b="1">
                <a:solidFill>
                  <a:srgbClr val="000000"/>
                </a:solidFill>
                <a:latin typeface="宋体" panose="02010600030101010101" pitchFamily="2" charset="-122"/>
              </a:rPr>
              <a:t>。</a:t>
            </a:r>
          </a:p>
          <a:p>
            <a:pPr eaLnBrk="1" fontAlgn="base" hangingPunct="1">
              <a:lnSpc>
                <a:spcPct val="150000"/>
              </a:lnSpc>
              <a:spcBef>
                <a:spcPct val="50000"/>
              </a:spcBef>
              <a:spcAft>
                <a:spcPct val="0"/>
              </a:spcAft>
              <a:defRPr/>
            </a:pPr>
            <a:r>
              <a:rPr lang="en-US" altLang="zh-CN" sz="2200" b="1">
                <a:solidFill>
                  <a:srgbClr val="000000"/>
                </a:solidFill>
                <a:latin typeface="宋体" panose="02010600030101010101" pitchFamily="2" charset="-122"/>
              </a:rPr>
              <a:t>2</a:t>
            </a:r>
            <a:r>
              <a:rPr lang="zh-CN" altLang="en-US" sz="2200" b="1">
                <a:solidFill>
                  <a:srgbClr val="000000"/>
                </a:solidFill>
                <a:latin typeface="宋体" panose="02010600030101010101" pitchFamily="2" charset="-122"/>
              </a:rPr>
              <a:t>、对于需求确定、变更相对较少的项目，线性顺序模型仍然是一种可以考虑采取的过程模型。</a:t>
            </a:r>
            <a:r>
              <a:rPr lang="zh-CN" altLang="en-US" sz="2200" b="1">
                <a:solidFill>
                  <a:srgbClr val="000000"/>
                </a:solidFill>
              </a:rPr>
              <a:t>采用这种模型，曾经成功地进行过许多大型软件工程的开发。</a:t>
            </a:r>
          </a:p>
        </p:txBody>
      </p:sp>
      <p:sp>
        <p:nvSpPr>
          <p:cNvPr id="4" name="灯片编号占位符 3">
            <a:extLst>
              <a:ext uri="{FF2B5EF4-FFF2-40B4-BE49-F238E27FC236}">
                <a16:creationId xmlns:a16="http://schemas.microsoft.com/office/drawing/2014/main" id="{E00111CC-384A-35F1-9802-35653727A9AC}"/>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90BF9FB7-9B23-3862-650B-6AD51FCC42E2}"/>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CEE6386-28CB-4DCF-9D24-6ABCF12F10DC}" type="slidenum">
              <a:rPr lang="en-US" altLang="zh-CN" sz="1600">
                <a:solidFill>
                  <a:srgbClr val="000000"/>
                </a:solidFill>
              </a:rPr>
              <a:pPr fontAlgn="base">
                <a:spcBef>
                  <a:spcPct val="0"/>
                </a:spcBef>
                <a:spcAft>
                  <a:spcPct val="0"/>
                </a:spcAft>
              </a:pPr>
              <a:t>11</a:t>
            </a:fld>
            <a:endParaRPr lang="en-US" altLang="zh-CN" sz="1600">
              <a:solidFill>
                <a:srgbClr val="000000"/>
              </a:solidFill>
            </a:endParaRPr>
          </a:p>
        </p:txBody>
      </p:sp>
      <p:sp>
        <p:nvSpPr>
          <p:cNvPr id="58371" name="标题 1">
            <a:extLst>
              <a:ext uri="{FF2B5EF4-FFF2-40B4-BE49-F238E27FC236}">
                <a16:creationId xmlns:a16="http://schemas.microsoft.com/office/drawing/2014/main" id="{6A1992D7-B81A-23F0-8E3A-7AFECE0C5683}"/>
              </a:ext>
            </a:extLst>
          </p:cNvPr>
          <p:cNvSpPr>
            <a:spLocks noGrp="1"/>
          </p:cNvSpPr>
          <p:nvPr>
            <p:ph type="title"/>
          </p:nvPr>
        </p:nvSpPr>
        <p:spPr/>
        <p:txBody>
          <a:bodyPr/>
          <a:lstStyle/>
          <a:p>
            <a:r>
              <a:rPr kumimoji="1" lang="zh-CN" altLang="en-US" sz="3200">
                <a:latin typeface="宋体" panose="02010600030101010101" pitchFamily="2" charset="-122"/>
              </a:rPr>
              <a:t>原型模型</a:t>
            </a:r>
            <a:endParaRPr lang="zh-CN" altLang="en-US"/>
          </a:p>
        </p:txBody>
      </p:sp>
      <p:sp>
        <p:nvSpPr>
          <p:cNvPr id="4" name="Text Box 4">
            <a:extLst>
              <a:ext uri="{FF2B5EF4-FFF2-40B4-BE49-F238E27FC236}">
                <a16:creationId xmlns:a16="http://schemas.microsoft.com/office/drawing/2014/main" id="{45BF2100-0A0F-8A52-0549-0513F1D17C71}"/>
              </a:ext>
            </a:extLst>
          </p:cNvPr>
          <p:cNvSpPr txBox="1">
            <a:spLocks noChangeArrowheads="1"/>
          </p:cNvSpPr>
          <p:nvPr/>
        </p:nvSpPr>
        <p:spPr bwMode="auto">
          <a:xfrm>
            <a:off x="1992313" y="1125538"/>
            <a:ext cx="8159750" cy="4013200"/>
          </a:xfrm>
          <a:prstGeom prst="rect">
            <a:avLst/>
          </a:prstGeom>
          <a:noFill/>
          <a:ln w="9525">
            <a:noFill/>
            <a:miter lim="800000"/>
            <a:headEnd/>
            <a:tailEnd/>
          </a:ln>
          <a:effectLst/>
        </p:spPr>
        <p:txBody>
          <a:bodyPr>
            <a:spAutoFit/>
          </a:bodyPr>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fontAlgn="base" hangingPunct="1">
              <a:lnSpc>
                <a:spcPct val="158000"/>
              </a:lnSpc>
              <a:spcBef>
                <a:spcPct val="50000"/>
              </a:spcBef>
              <a:spcAft>
                <a:spcPct val="0"/>
              </a:spcAft>
              <a:buFont typeface="Wingdings" panose="05000000000000000000" pitchFamily="2" charset="2"/>
              <a:buChar char="Ø"/>
              <a:defRPr/>
            </a:pPr>
            <a:r>
              <a:rPr lang="zh-CN" altLang="en-US" sz="2800" b="1">
                <a:solidFill>
                  <a:srgbClr val="FF0000"/>
                </a:solidFill>
                <a:latin typeface="宋体" panose="02010600030101010101" pitchFamily="2" charset="-122"/>
              </a:rPr>
              <a:t> 使用原型模型必须有两个前提</a:t>
            </a:r>
            <a:r>
              <a:rPr lang="en-US" altLang="zh-CN" sz="2800" b="1">
                <a:solidFill>
                  <a:srgbClr val="FF0000"/>
                </a:solidFill>
                <a:latin typeface="宋体" panose="02010600030101010101" pitchFamily="2" charset="-122"/>
              </a:rPr>
              <a:t>:</a:t>
            </a:r>
          </a:p>
          <a:p>
            <a:pPr eaLnBrk="1" fontAlgn="base" hangingPunct="1">
              <a:lnSpc>
                <a:spcPct val="158000"/>
              </a:lnSpc>
              <a:spcBef>
                <a:spcPct val="50000"/>
              </a:spcBef>
              <a:spcAft>
                <a:spcPct val="0"/>
              </a:spcAft>
              <a:defRPr/>
            </a:pPr>
            <a:r>
              <a:rPr lang="en-US" altLang="zh-CN" b="1">
                <a:solidFill>
                  <a:srgbClr val="000000"/>
                </a:solidFill>
                <a:latin typeface="宋体" panose="02010600030101010101" pitchFamily="2" charset="-122"/>
              </a:rPr>
              <a:t>(1)</a:t>
            </a:r>
            <a:r>
              <a:rPr lang="zh-CN" altLang="en-US" b="1">
                <a:solidFill>
                  <a:srgbClr val="000000"/>
                </a:solidFill>
                <a:latin typeface="宋体" panose="02010600030101010101" pitchFamily="2" charset="-122"/>
              </a:rPr>
              <a:t>用户必须积极参与原型的建造，建造原型仅仅是为了</a:t>
            </a:r>
            <a:r>
              <a:rPr lang="zh-CN" altLang="en-US" b="1">
                <a:solidFill>
                  <a:srgbClr val="3333FF"/>
                </a:solidFill>
                <a:latin typeface="宋体" panose="02010600030101010101" pitchFamily="2" charset="-122"/>
              </a:rPr>
              <a:t>定义需求</a:t>
            </a:r>
            <a:r>
              <a:rPr lang="zh-CN" altLang="en-US" b="1">
                <a:solidFill>
                  <a:srgbClr val="000000"/>
                </a:solidFill>
                <a:latin typeface="宋体" panose="02010600030101010101" pitchFamily="2" charset="-122"/>
              </a:rPr>
              <a:t>，之后就必须被全部抛弃</a:t>
            </a:r>
            <a:r>
              <a:rPr lang="en-US" altLang="zh-CN" b="1">
                <a:solidFill>
                  <a:srgbClr val="000000"/>
                </a:solidFill>
                <a:latin typeface="宋体" panose="02010600030101010101" pitchFamily="2" charset="-122"/>
              </a:rPr>
              <a:t>(</a:t>
            </a:r>
            <a:r>
              <a:rPr lang="zh-CN" altLang="en-US" b="1">
                <a:solidFill>
                  <a:srgbClr val="000000"/>
                </a:solidFill>
                <a:latin typeface="宋体" panose="02010600030101010101" pitchFamily="2" charset="-122"/>
              </a:rPr>
              <a:t>至少是部分抛弃</a:t>
            </a:r>
            <a:r>
              <a:rPr lang="en-US" altLang="zh-CN" b="1">
                <a:solidFill>
                  <a:srgbClr val="000000"/>
                </a:solidFill>
                <a:latin typeface="宋体" panose="02010600030101010101" pitchFamily="2" charset="-122"/>
              </a:rPr>
              <a:t>)</a:t>
            </a:r>
            <a:r>
              <a:rPr lang="zh-CN" altLang="en-US" b="1">
                <a:solidFill>
                  <a:srgbClr val="000000"/>
                </a:solidFill>
                <a:latin typeface="宋体" panose="02010600030101010101" pitchFamily="2" charset="-122"/>
              </a:rPr>
              <a:t>，实际的软件必须在充分考虑到</a:t>
            </a:r>
            <a:r>
              <a:rPr lang="zh-CN" altLang="en-US" b="1">
                <a:solidFill>
                  <a:srgbClr val="3333FF"/>
                </a:solidFill>
                <a:latin typeface="宋体" panose="02010600030101010101" pitchFamily="2" charset="-122"/>
              </a:rPr>
              <a:t>软件质量</a:t>
            </a:r>
            <a:r>
              <a:rPr lang="zh-CN" altLang="en-US" b="1">
                <a:solidFill>
                  <a:srgbClr val="000000"/>
                </a:solidFill>
                <a:latin typeface="宋体" panose="02010600030101010101" pitchFamily="2" charset="-122"/>
              </a:rPr>
              <a:t>和</a:t>
            </a:r>
            <a:r>
              <a:rPr lang="zh-CN" altLang="en-US" b="1">
                <a:solidFill>
                  <a:srgbClr val="3333FF"/>
                </a:solidFill>
                <a:latin typeface="宋体" panose="02010600030101010101" pitchFamily="2" charset="-122"/>
              </a:rPr>
              <a:t>可维护性</a:t>
            </a:r>
            <a:r>
              <a:rPr lang="zh-CN" altLang="en-US" b="1">
                <a:solidFill>
                  <a:srgbClr val="000000"/>
                </a:solidFill>
                <a:latin typeface="宋体" panose="02010600030101010101" pitchFamily="2" charset="-122"/>
              </a:rPr>
              <a:t>之后才被开发。从这个意义上说，原型模型又往往被称为</a:t>
            </a:r>
            <a:r>
              <a:rPr lang="zh-CN" altLang="en-US" b="1">
                <a:solidFill>
                  <a:srgbClr val="000000"/>
                </a:solidFill>
              </a:rPr>
              <a:t>“</a:t>
            </a:r>
            <a:r>
              <a:rPr lang="zh-CN" altLang="en-US" b="1">
                <a:solidFill>
                  <a:srgbClr val="3333FF"/>
                </a:solidFill>
                <a:latin typeface="宋体" panose="02010600030101010101" pitchFamily="2" charset="-122"/>
              </a:rPr>
              <a:t>抛弃原型模型</a:t>
            </a:r>
            <a:r>
              <a:rPr lang="zh-CN" altLang="en-US" b="1">
                <a:solidFill>
                  <a:srgbClr val="000000"/>
                </a:solidFill>
              </a:rPr>
              <a:t>”</a:t>
            </a:r>
            <a:r>
              <a:rPr lang="zh-CN" altLang="en-US" b="1">
                <a:solidFill>
                  <a:srgbClr val="000000"/>
                </a:solidFill>
                <a:latin typeface="宋体" panose="02010600030101010101" pitchFamily="2" charset="-122"/>
              </a:rPr>
              <a:t>。</a:t>
            </a:r>
          </a:p>
          <a:p>
            <a:pPr eaLnBrk="1" fontAlgn="base" hangingPunct="1">
              <a:lnSpc>
                <a:spcPct val="158000"/>
              </a:lnSpc>
              <a:spcBef>
                <a:spcPct val="50000"/>
              </a:spcBef>
              <a:spcAft>
                <a:spcPct val="0"/>
              </a:spcAft>
              <a:defRPr/>
            </a:pPr>
            <a:r>
              <a:rPr lang="en-US" altLang="zh-CN" b="1">
                <a:solidFill>
                  <a:srgbClr val="000000"/>
                </a:solidFill>
                <a:latin typeface="宋体" panose="02010600030101010101" pitchFamily="2" charset="-122"/>
              </a:rPr>
              <a:t>(2)</a:t>
            </a:r>
            <a:r>
              <a:rPr lang="zh-CN" altLang="en-US" b="1">
                <a:solidFill>
                  <a:srgbClr val="000000"/>
                </a:solidFill>
                <a:latin typeface="宋体" panose="02010600030101010101" pitchFamily="2" charset="-122"/>
              </a:rPr>
              <a:t>必须有</a:t>
            </a:r>
            <a:r>
              <a:rPr lang="zh-CN" altLang="en-US" b="1">
                <a:solidFill>
                  <a:srgbClr val="3333FF"/>
                </a:solidFill>
                <a:latin typeface="宋体" panose="02010600030101010101" pitchFamily="2" charset="-122"/>
              </a:rPr>
              <a:t>快速开发工具</a:t>
            </a:r>
            <a:r>
              <a:rPr lang="zh-CN" altLang="en-US" b="1">
                <a:solidFill>
                  <a:srgbClr val="000000"/>
                </a:solidFill>
                <a:latin typeface="宋体" panose="02010600030101010101" pitchFamily="2" charset="-122"/>
              </a:rPr>
              <a:t>可供使用。</a:t>
            </a:r>
            <a:r>
              <a:rPr lang="zh-CN" altLang="en-US">
                <a:solidFill>
                  <a:srgbClr val="000000"/>
                </a:solidFill>
                <a:effectLst>
                  <a:outerShdw blurRad="38100" dist="38100" dir="2700000" algn="tl">
                    <a:srgbClr val="C0C0C0"/>
                  </a:outerShdw>
                </a:effectLst>
                <a:latin typeface="宋体" panose="02010600030101010101" pitchFamily="2" charset="-122"/>
              </a:rPr>
              <a:t> </a:t>
            </a:r>
            <a:endParaRPr lang="zh-CN" altLang="en-US">
              <a:solidFill>
                <a:srgbClr val="000000"/>
              </a:solidFill>
              <a:effectLst>
                <a:outerShdw blurRad="38100" dist="38100" dir="2700000" algn="tl">
                  <a:srgbClr val="C0C0C0"/>
                </a:outerShdw>
              </a:effectLst>
            </a:endParaRPr>
          </a:p>
        </p:txBody>
      </p:sp>
      <p:sp>
        <p:nvSpPr>
          <p:cNvPr id="5" name="灯片编号占位符 4">
            <a:extLst>
              <a:ext uri="{FF2B5EF4-FFF2-40B4-BE49-F238E27FC236}">
                <a16:creationId xmlns:a16="http://schemas.microsoft.com/office/drawing/2014/main" id="{AE01990C-EF8A-61A8-ECFB-5EC943CCF5F1}"/>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617796FB-5920-793F-DDD0-52339736EC68}"/>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E58B21E-F4F9-4B62-B0E6-4F0F284A2368}" type="slidenum">
              <a:rPr lang="en-US" altLang="zh-CN" sz="1600">
                <a:solidFill>
                  <a:srgbClr val="000000"/>
                </a:solidFill>
              </a:rPr>
              <a:pPr fontAlgn="base">
                <a:spcBef>
                  <a:spcPct val="0"/>
                </a:spcBef>
                <a:spcAft>
                  <a:spcPct val="0"/>
                </a:spcAft>
              </a:pPr>
              <a:t>12</a:t>
            </a:fld>
            <a:endParaRPr lang="en-US" altLang="zh-CN" sz="1600">
              <a:solidFill>
                <a:srgbClr val="000000"/>
              </a:solidFill>
            </a:endParaRPr>
          </a:p>
        </p:txBody>
      </p:sp>
      <p:sp>
        <p:nvSpPr>
          <p:cNvPr id="59395" name="标题 1">
            <a:extLst>
              <a:ext uri="{FF2B5EF4-FFF2-40B4-BE49-F238E27FC236}">
                <a16:creationId xmlns:a16="http://schemas.microsoft.com/office/drawing/2014/main" id="{DD11056F-3841-4E09-AD9F-7694B0D92316}"/>
              </a:ext>
            </a:extLst>
          </p:cNvPr>
          <p:cNvSpPr>
            <a:spLocks noGrp="1"/>
          </p:cNvSpPr>
          <p:nvPr>
            <p:ph type="title"/>
          </p:nvPr>
        </p:nvSpPr>
        <p:spPr/>
        <p:txBody>
          <a:bodyPr/>
          <a:lstStyle/>
          <a:p>
            <a:r>
              <a:rPr kumimoji="1" lang="zh-CN" altLang="en-US" sz="3200"/>
              <a:t>增量模型</a:t>
            </a:r>
            <a:br>
              <a:rPr kumimoji="1" lang="zh-CN" altLang="en-US" sz="3200">
                <a:latin typeface="Times New Roman" panose="02020603050405020304" pitchFamily="18" charset="0"/>
              </a:rPr>
            </a:br>
            <a:endParaRPr lang="zh-CN" altLang="en-US"/>
          </a:p>
        </p:txBody>
      </p:sp>
      <p:sp>
        <p:nvSpPr>
          <p:cNvPr id="4" name="Text Box 4">
            <a:extLst>
              <a:ext uri="{FF2B5EF4-FFF2-40B4-BE49-F238E27FC236}">
                <a16:creationId xmlns:a16="http://schemas.microsoft.com/office/drawing/2014/main" id="{A4A57BC7-7A68-ABB0-F284-99B6C19CE81A}"/>
              </a:ext>
            </a:extLst>
          </p:cNvPr>
          <p:cNvSpPr txBox="1">
            <a:spLocks noChangeArrowheads="1"/>
          </p:cNvSpPr>
          <p:nvPr/>
        </p:nvSpPr>
        <p:spPr bwMode="auto">
          <a:xfrm>
            <a:off x="1992313" y="1095376"/>
            <a:ext cx="8235950" cy="471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30000"/>
              </a:spcBef>
              <a:spcAft>
                <a:spcPct val="0"/>
              </a:spcAft>
              <a:buClrTx/>
              <a:buSzTx/>
              <a:buNone/>
            </a:pPr>
            <a:r>
              <a:rPr kumimoji="1" lang="zh-CN" altLang="en-US" sz="2800">
                <a:solidFill>
                  <a:srgbClr val="FF0000"/>
                </a:solidFill>
                <a:latin typeface="宋体" panose="02010600030101010101" pitchFamily="2" charset="-122"/>
              </a:rPr>
              <a:t>问题背景</a:t>
            </a:r>
            <a:r>
              <a:rPr kumimoji="1" lang="zh-CN" altLang="en-US" sz="2800">
                <a:solidFill>
                  <a:srgbClr val="000000"/>
                </a:solidFill>
                <a:latin typeface="宋体" panose="02010600030101010101" pitchFamily="2" charset="-122"/>
              </a:rPr>
              <a:t>：由于传统的瀑布模型本身存在的不足，在开发过程中不论怎样严格，终究难以接近理想目标，考虑能否将整个软件</a:t>
            </a:r>
            <a:r>
              <a:rPr kumimoji="1" lang="zh-CN" altLang="en-US" sz="2800">
                <a:solidFill>
                  <a:srgbClr val="3333FF"/>
                </a:solidFill>
                <a:latin typeface="宋体" panose="02010600030101010101" pitchFamily="2" charset="-122"/>
              </a:rPr>
              <a:t>一部分一部分</a:t>
            </a:r>
            <a:r>
              <a:rPr kumimoji="1" lang="zh-CN" altLang="en-US" sz="2800">
                <a:solidFill>
                  <a:srgbClr val="000000"/>
                </a:solidFill>
                <a:latin typeface="宋体" panose="02010600030101010101" pitchFamily="2" charset="-122"/>
              </a:rPr>
              <a:t>地开发？</a:t>
            </a:r>
          </a:p>
          <a:p>
            <a:pPr fontAlgn="base">
              <a:lnSpc>
                <a:spcPct val="150000"/>
              </a:lnSpc>
              <a:spcBef>
                <a:spcPct val="30000"/>
              </a:spcBef>
              <a:spcAft>
                <a:spcPct val="0"/>
              </a:spcAft>
              <a:buClrTx/>
              <a:buSzTx/>
              <a:buNone/>
            </a:pPr>
            <a:r>
              <a:rPr kumimoji="1" lang="zh-CN" altLang="en-US" sz="2800">
                <a:solidFill>
                  <a:srgbClr val="FF0000"/>
                </a:solidFill>
                <a:latin typeface="宋体" panose="02010600030101010101" pitchFamily="2" charset="-122"/>
              </a:rPr>
              <a:t>解决方案</a:t>
            </a:r>
            <a:r>
              <a:rPr kumimoji="1" lang="zh-CN" altLang="en-US" sz="2800">
                <a:solidFill>
                  <a:srgbClr val="000000"/>
                </a:solidFill>
                <a:latin typeface="宋体" panose="02010600030101010101" pitchFamily="2" charset="-122"/>
              </a:rPr>
              <a:t>：在需求难以完全明确的情况下，</a:t>
            </a:r>
            <a:r>
              <a:rPr kumimoji="1" lang="zh-CN" altLang="en-US" sz="2800">
                <a:solidFill>
                  <a:srgbClr val="3333FF"/>
                </a:solidFill>
                <a:latin typeface="宋体" panose="02010600030101010101" pitchFamily="2" charset="-122"/>
              </a:rPr>
              <a:t>快速分析并构造</a:t>
            </a:r>
            <a:r>
              <a:rPr kumimoji="1" lang="zh-CN" altLang="en-US" sz="2800">
                <a:solidFill>
                  <a:srgbClr val="000000"/>
                </a:solidFill>
                <a:latin typeface="宋体" panose="02010600030101010101" pitchFamily="2" charset="-122"/>
              </a:rPr>
              <a:t>一个小的原型系统</a:t>
            </a:r>
            <a:r>
              <a:rPr kumimoji="1" lang="en-US" altLang="zh-CN" sz="2800">
                <a:solidFill>
                  <a:srgbClr val="000000"/>
                </a:solidFill>
                <a:latin typeface="宋体" panose="02010600030101010101" pitchFamily="2" charset="-122"/>
              </a:rPr>
              <a:t>(</a:t>
            </a:r>
            <a:r>
              <a:rPr kumimoji="1" lang="zh-CN" altLang="en-US" sz="2800">
                <a:solidFill>
                  <a:srgbClr val="000000"/>
                </a:solidFill>
                <a:latin typeface="宋体" panose="02010600030101010101" pitchFamily="2" charset="-122"/>
              </a:rPr>
              <a:t>核心部分</a:t>
            </a:r>
            <a:r>
              <a:rPr kumimoji="1" lang="en-US" altLang="zh-CN" sz="2800">
                <a:solidFill>
                  <a:srgbClr val="000000"/>
                </a:solidFill>
                <a:latin typeface="宋体" panose="02010600030101010101" pitchFamily="2" charset="-122"/>
              </a:rPr>
              <a:t>)</a:t>
            </a:r>
            <a:r>
              <a:rPr kumimoji="1" lang="zh-CN" altLang="en-US" sz="2800">
                <a:solidFill>
                  <a:srgbClr val="000000"/>
                </a:solidFill>
                <a:latin typeface="宋体" panose="02010600030101010101" pitchFamily="2" charset="-122"/>
              </a:rPr>
              <a:t>，满足用户的某些要求后，使用户在使用过程中受其启发，</a:t>
            </a:r>
            <a:r>
              <a:rPr kumimoji="1" lang="zh-CN" altLang="en-US" sz="2800">
                <a:solidFill>
                  <a:srgbClr val="3333FF"/>
                </a:solidFill>
                <a:latin typeface="宋体" panose="02010600030101010101" pitchFamily="2" charset="-122"/>
              </a:rPr>
              <a:t>逐步确定各种需求</a:t>
            </a:r>
            <a:r>
              <a:rPr kumimoji="1" lang="zh-CN" altLang="en-US" sz="2800">
                <a:solidFill>
                  <a:srgbClr val="000000"/>
                </a:solidFill>
                <a:latin typeface="宋体" panose="02010600030101010101" pitchFamily="2" charset="-122"/>
              </a:rPr>
              <a:t>。即所谓的增量模型。</a:t>
            </a:r>
          </a:p>
        </p:txBody>
      </p:sp>
      <p:sp>
        <p:nvSpPr>
          <p:cNvPr id="5" name="灯片编号占位符 4">
            <a:extLst>
              <a:ext uri="{FF2B5EF4-FFF2-40B4-BE49-F238E27FC236}">
                <a16:creationId xmlns:a16="http://schemas.microsoft.com/office/drawing/2014/main" id="{6179A78A-CC2C-A5D7-B819-6663A3632F21}"/>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ox(in)">
                                      <p:cBhvr>
                                        <p:cTn id="7" dur="10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E0943F8D-B29E-E40A-831F-BA2666B37BB8}"/>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82DA683-5B82-4635-A6AB-5064E0EC2804}" type="slidenum">
              <a:rPr lang="en-US" altLang="zh-CN" sz="1600">
                <a:solidFill>
                  <a:srgbClr val="000000"/>
                </a:solidFill>
              </a:rPr>
              <a:pPr fontAlgn="base">
                <a:spcBef>
                  <a:spcPct val="0"/>
                </a:spcBef>
                <a:spcAft>
                  <a:spcPct val="0"/>
                </a:spcAft>
              </a:pPr>
              <a:t>13</a:t>
            </a:fld>
            <a:endParaRPr lang="en-US" altLang="zh-CN" sz="1600">
              <a:solidFill>
                <a:srgbClr val="000000"/>
              </a:solidFill>
            </a:endParaRPr>
          </a:p>
        </p:txBody>
      </p:sp>
      <p:sp>
        <p:nvSpPr>
          <p:cNvPr id="60419" name="标题 1">
            <a:extLst>
              <a:ext uri="{FF2B5EF4-FFF2-40B4-BE49-F238E27FC236}">
                <a16:creationId xmlns:a16="http://schemas.microsoft.com/office/drawing/2014/main" id="{C78EDE80-7270-216B-3734-8A5E8881C5B1}"/>
              </a:ext>
            </a:extLst>
          </p:cNvPr>
          <p:cNvSpPr>
            <a:spLocks noGrp="1"/>
          </p:cNvSpPr>
          <p:nvPr>
            <p:ph type="title"/>
          </p:nvPr>
        </p:nvSpPr>
        <p:spPr/>
        <p:txBody>
          <a:bodyPr/>
          <a:lstStyle/>
          <a:p>
            <a:r>
              <a:rPr kumimoji="1" lang="zh-CN" altLang="en-US" sz="2800"/>
              <a:t>增量模型</a:t>
            </a:r>
            <a:endParaRPr lang="zh-CN" altLang="en-US"/>
          </a:p>
        </p:txBody>
      </p:sp>
      <p:sp>
        <p:nvSpPr>
          <p:cNvPr id="4" name="Text Box 4">
            <a:extLst>
              <a:ext uri="{FF2B5EF4-FFF2-40B4-BE49-F238E27FC236}">
                <a16:creationId xmlns:a16="http://schemas.microsoft.com/office/drawing/2014/main" id="{04FBFA45-CCEB-38B0-E03A-5084816DFE25}"/>
              </a:ext>
            </a:extLst>
          </p:cNvPr>
          <p:cNvSpPr txBox="1">
            <a:spLocks noChangeArrowheads="1"/>
          </p:cNvSpPr>
          <p:nvPr/>
        </p:nvSpPr>
        <p:spPr bwMode="auto">
          <a:xfrm>
            <a:off x="2063750" y="981076"/>
            <a:ext cx="8159750" cy="483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45000"/>
              </a:lnSpc>
              <a:spcAft>
                <a:spcPct val="0"/>
              </a:spcAft>
              <a:buClrTx/>
              <a:buSzTx/>
              <a:buFont typeface="Wingdings" panose="05000000000000000000" pitchFamily="2" charset="2"/>
              <a:buChar char="Ø"/>
            </a:pPr>
            <a:r>
              <a:rPr kumimoji="1" lang="zh-CN" altLang="en-US">
                <a:solidFill>
                  <a:srgbClr val="0066FF"/>
                </a:solidFill>
                <a:latin typeface="宋体" panose="02010600030101010101" pitchFamily="2" charset="-122"/>
              </a:rPr>
              <a:t> 特点：</a:t>
            </a:r>
          </a:p>
          <a:p>
            <a:pPr fontAlgn="base">
              <a:lnSpc>
                <a:spcPct val="145000"/>
              </a:lnSpc>
              <a:spcAft>
                <a:spcPct val="0"/>
              </a:spcAft>
              <a:buClrTx/>
              <a:buSzTx/>
              <a:buNone/>
            </a:pPr>
            <a:r>
              <a:rPr kumimoji="1" lang="en-US" altLang="zh-CN" sz="2000">
                <a:solidFill>
                  <a:srgbClr val="000000"/>
                </a:solidFill>
                <a:latin typeface="宋体" panose="02010600030101010101" pitchFamily="2" charset="-122"/>
              </a:rPr>
              <a:t>1)</a:t>
            </a:r>
            <a:r>
              <a:rPr kumimoji="1" lang="zh-CN" altLang="en-US" sz="2000">
                <a:solidFill>
                  <a:srgbClr val="000000"/>
                </a:solidFill>
                <a:latin typeface="宋体" panose="02010600030101010101" pitchFamily="2" charset="-122"/>
              </a:rPr>
              <a:t>第一个增量模型往往是</a:t>
            </a:r>
            <a:r>
              <a:rPr kumimoji="1" lang="zh-CN" altLang="en-US" sz="2000">
                <a:solidFill>
                  <a:srgbClr val="FF0000"/>
                </a:solidFill>
                <a:latin typeface="宋体" panose="02010600030101010101" pitchFamily="2" charset="-122"/>
              </a:rPr>
              <a:t>核心部分的产品</a:t>
            </a:r>
            <a:r>
              <a:rPr kumimoji="1" lang="zh-CN" altLang="en-US" sz="2000">
                <a:solidFill>
                  <a:srgbClr val="000000"/>
                </a:solidFill>
                <a:latin typeface="宋体" panose="02010600030101010101" pitchFamily="2" charset="-122"/>
              </a:rPr>
              <a:t>，它实现了软件的基本需求，但很多已经明晰或者尚不明晰的补充特性还没有发布。</a:t>
            </a:r>
          </a:p>
          <a:p>
            <a:pPr fontAlgn="base">
              <a:lnSpc>
                <a:spcPct val="145000"/>
              </a:lnSpc>
              <a:spcAft>
                <a:spcPct val="0"/>
              </a:spcAft>
              <a:buClrTx/>
              <a:buSzTx/>
              <a:buNone/>
            </a:pPr>
            <a:r>
              <a:rPr kumimoji="1" lang="en-US" altLang="zh-CN" sz="2000">
                <a:solidFill>
                  <a:srgbClr val="000000"/>
                </a:solidFill>
                <a:latin typeface="宋体" panose="02010600030101010101" pitchFamily="2" charset="-122"/>
              </a:rPr>
              <a:t>2)</a:t>
            </a:r>
            <a:r>
              <a:rPr kumimoji="1" lang="zh-CN" altLang="en-US" sz="2000">
                <a:solidFill>
                  <a:srgbClr val="000000"/>
                </a:solidFill>
                <a:latin typeface="宋体" panose="02010600030101010101" pitchFamily="2" charset="-122"/>
              </a:rPr>
              <a:t>核心产品交由</a:t>
            </a:r>
            <a:r>
              <a:rPr kumimoji="1" lang="zh-CN" altLang="en-US" sz="2000">
                <a:solidFill>
                  <a:srgbClr val="FF0000"/>
                </a:solidFill>
                <a:latin typeface="宋体" panose="02010600030101010101" pitchFamily="2" charset="-122"/>
              </a:rPr>
              <a:t>用户使用或进行详细评审</a:t>
            </a:r>
            <a:r>
              <a:rPr kumimoji="1" lang="zh-CN" altLang="en-US" sz="2000">
                <a:solidFill>
                  <a:srgbClr val="000000"/>
                </a:solidFill>
                <a:latin typeface="宋体" panose="02010600030101010101" pitchFamily="2" charset="-122"/>
              </a:rPr>
              <a:t>。根据评审的结果制定下一个增量开发计划，在前面增量的基础上开发后面的增量。</a:t>
            </a:r>
          </a:p>
          <a:p>
            <a:pPr fontAlgn="base">
              <a:lnSpc>
                <a:spcPct val="145000"/>
              </a:lnSpc>
              <a:spcAft>
                <a:spcPct val="0"/>
              </a:spcAft>
              <a:buClrTx/>
              <a:buSzTx/>
              <a:buNone/>
            </a:pPr>
            <a:r>
              <a:rPr kumimoji="1" lang="en-US" altLang="zh-CN" sz="2000">
                <a:solidFill>
                  <a:srgbClr val="000000"/>
                </a:solidFill>
                <a:latin typeface="宋体" panose="02010600030101010101" pitchFamily="2" charset="-122"/>
              </a:rPr>
              <a:t>3)</a:t>
            </a:r>
            <a:r>
              <a:rPr kumimoji="1" lang="zh-CN" altLang="en-US" sz="2000">
                <a:solidFill>
                  <a:srgbClr val="FF0000"/>
                </a:solidFill>
                <a:latin typeface="宋体" panose="02010600030101010101" pitchFamily="2" charset="-122"/>
              </a:rPr>
              <a:t>每个增量的开发</a:t>
            </a:r>
            <a:r>
              <a:rPr kumimoji="1" lang="zh-CN" altLang="en-US" sz="2000">
                <a:solidFill>
                  <a:srgbClr val="000000"/>
                </a:solidFill>
                <a:latin typeface="宋体" panose="02010600030101010101" pitchFamily="2" charset="-122"/>
              </a:rPr>
              <a:t>可用瀑布或快速原型模型。</a:t>
            </a:r>
          </a:p>
          <a:p>
            <a:pPr fontAlgn="base">
              <a:lnSpc>
                <a:spcPct val="145000"/>
              </a:lnSpc>
              <a:spcAft>
                <a:spcPct val="0"/>
              </a:spcAft>
              <a:buClrTx/>
              <a:buSzTx/>
              <a:buNone/>
            </a:pPr>
            <a:r>
              <a:rPr kumimoji="1" lang="en-US" altLang="zh-CN" sz="2000">
                <a:solidFill>
                  <a:srgbClr val="000000"/>
                </a:solidFill>
                <a:latin typeface="宋体" panose="02010600030101010101" pitchFamily="2" charset="-122"/>
              </a:rPr>
              <a:t>4)</a:t>
            </a:r>
            <a:r>
              <a:rPr kumimoji="1" lang="zh-CN" altLang="en-US" sz="2000">
                <a:solidFill>
                  <a:srgbClr val="000000"/>
                </a:solidFill>
                <a:latin typeface="宋体" panose="02010600030101010101" pitchFamily="2" charset="-122"/>
              </a:rPr>
              <a:t>和原型模型不一样的是，增量模型虽然也具有“迭代”特征，但是每一个增量都发布一个可操作的产品，不妨称之为“</a:t>
            </a:r>
            <a:r>
              <a:rPr kumimoji="1" lang="zh-CN" altLang="en-US" sz="2000">
                <a:solidFill>
                  <a:srgbClr val="FF0000"/>
                </a:solidFill>
                <a:latin typeface="宋体" panose="02010600030101010101" pitchFamily="2" charset="-122"/>
              </a:rPr>
              <a:t>产品扩充迭代</a:t>
            </a:r>
            <a:r>
              <a:rPr kumimoji="1" lang="zh-CN" altLang="en-US" sz="2000">
                <a:solidFill>
                  <a:srgbClr val="000000"/>
                </a:solidFill>
                <a:latin typeface="宋体" panose="02010600030101010101" pitchFamily="2" charset="-122"/>
              </a:rPr>
              <a:t>”。它的早期产品是最终产品的</a:t>
            </a:r>
            <a:r>
              <a:rPr kumimoji="1" lang="zh-CN" altLang="en-US" sz="2000">
                <a:solidFill>
                  <a:srgbClr val="FF0000"/>
                </a:solidFill>
                <a:latin typeface="宋体" panose="02010600030101010101" pitchFamily="2" charset="-122"/>
              </a:rPr>
              <a:t>可拆卸版本</a:t>
            </a:r>
            <a:r>
              <a:rPr kumimoji="1" lang="zh-CN" altLang="en-US" sz="2000">
                <a:solidFill>
                  <a:srgbClr val="000000"/>
                </a:solidFill>
                <a:latin typeface="宋体" panose="02010600030101010101" pitchFamily="2" charset="-122"/>
              </a:rPr>
              <a:t>，每一个版本都能够提供给用户实际使用。</a:t>
            </a:r>
          </a:p>
        </p:txBody>
      </p:sp>
      <p:sp>
        <p:nvSpPr>
          <p:cNvPr id="5" name="灯片编号占位符 4">
            <a:extLst>
              <a:ext uri="{FF2B5EF4-FFF2-40B4-BE49-F238E27FC236}">
                <a16:creationId xmlns:a16="http://schemas.microsoft.com/office/drawing/2014/main" id="{FA71F430-28D8-8351-0CC9-F4DAE6E48F3D}"/>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blinds(horizontal)">
                                      <p:cBhvr>
                                        <p:cTn id="7" dur="1000"/>
                                        <p:tgtEl>
                                          <p:spTgt spid="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blinds(horizontal)">
                                      <p:cBhvr>
                                        <p:cTn id="12" dur="1000"/>
                                        <p:tgtEl>
                                          <p:spTgt spid="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blinds(horizontal)">
                                      <p:cBhvr>
                                        <p:cTn id="17" dur="1000"/>
                                        <p:tgtEl>
                                          <p:spTgt spid="4">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blinds(horizontal)">
                                      <p:cBhvr>
                                        <p:cTn id="22" dur="1000"/>
                                        <p:tgtEl>
                                          <p:spTgt spid="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54269F64-0F21-233B-73F2-59466643CBC3}"/>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E5A41C0-E354-49B2-8EF6-948C9CC619D7}" type="slidenum">
              <a:rPr lang="en-US" altLang="zh-CN" sz="1600">
                <a:solidFill>
                  <a:srgbClr val="000000"/>
                </a:solidFill>
              </a:rPr>
              <a:pPr fontAlgn="base">
                <a:spcBef>
                  <a:spcPct val="0"/>
                </a:spcBef>
                <a:spcAft>
                  <a:spcPct val="0"/>
                </a:spcAft>
              </a:pPr>
              <a:t>14</a:t>
            </a:fld>
            <a:endParaRPr lang="en-US" altLang="zh-CN" sz="1600">
              <a:solidFill>
                <a:srgbClr val="000000"/>
              </a:solidFill>
            </a:endParaRPr>
          </a:p>
        </p:txBody>
      </p:sp>
      <p:sp>
        <p:nvSpPr>
          <p:cNvPr id="61443" name="标题 1">
            <a:extLst>
              <a:ext uri="{FF2B5EF4-FFF2-40B4-BE49-F238E27FC236}">
                <a16:creationId xmlns:a16="http://schemas.microsoft.com/office/drawing/2014/main" id="{32EBA81E-F6D9-AAF6-4756-4B1130FF383A}"/>
              </a:ext>
            </a:extLst>
          </p:cNvPr>
          <p:cNvSpPr>
            <a:spLocks noGrp="1"/>
          </p:cNvSpPr>
          <p:nvPr>
            <p:ph type="title"/>
          </p:nvPr>
        </p:nvSpPr>
        <p:spPr/>
        <p:txBody>
          <a:bodyPr/>
          <a:lstStyle/>
          <a:p>
            <a:r>
              <a:rPr kumimoji="1" lang="zh-CN" altLang="en-US" sz="2800"/>
              <a:t>增量模型</a:t>
            </a:r>
            <a:endParaRPr lang="zh-CN" altLang="en-US"/>
          </a:p>
        </p:txBody>
      </p:sp>
      <p:sp>
        <p:nvSpPr>
          <p:cNvPr id="61444" name="Text Box 4">
            <a:extLst>
              <a:ext uri="{FF2B5EF4-FFF2-40B4-BE49-F238E27FC236}">
                <a16:creationId xmlns:a16="http://schemas.microsoft.com/office/drawing/2014/main" id="{3A5917CE-9572-C641-6475-DFA47AA7B40D}"/>
              </a:ext>
            </a:extLst>
          </p:cNvPr>
          <p:cNvSpPr txBox="1">
            <a:spLocks noChangeArrowheads="1"/>
          </p:cNvSpPr>
          <p:nvPr/>
        </p:nvSpPr>
        <p:spPr bwMode="auto">
          <a:xfrm>
            <a:off x="1992314" y="908051"/>
            <a:ext cx="8231187" cy="4894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50000"/>
              </a:spcBef>
              <a:spcAft>
                <a:spcPct val="0"/>
              </a:spcAft>
              <a:buClrTx/>
              <a:buSzTx/>
              <a:buFont typeface="Wingdings" panose="05000000000000000000" pitchFamily="2" charset="2"/>
              <a:buChar char="Ø"/>
            </a:pPr>
            <a:r>
              <a:rPr kumimoji="1" lang="zh-CN" altLang="en-US">
                <a:solidFill>
                  <a:srgbClr val="FF0000"/>
                </a:solidFill>
                <a:latin typeface="宋体" panose="02010600030101010101" pitchFamily="2" charset="-122"/>
              </a:rPr>
              <a:t>优点</a:t>
            </a:r>
            <a:r>
              <a:rPr kumimoji="1" lang="zh-CN" altLang="en-US">
                <a:solidFill>
                  <a:srgbClr val="000000"/>
                </a:solidFill>
                <a:latin typeface="宋体" panose="02010600030101010101" pitchFamily="2" charset="-122"/>
              </a:rPr>
              <a:t>：</a:t>
            </a:r>
          </a:p>
          <a:p>
            <a:pPr lvl="1" fontAlgn="base">
              <a:lnSpc>
                <a:spcPct val="150000"/>
              </a:lnSpc>
              <a:spcBef>
                <a:spcPct val="50000"/>
              </a:spcBef>
              <a:spcAft>
                <a:spcPct val="0"/>
              </a:spcAft>
              <a:buClrTx/>
              <a:buSzTx/>
              <a:buFont typeface="Wingdings" panose="05000000000000000000" pitchFamily="2" charset="2"/>
              <a:buChar char="Ø"/>
            </a:pPr>
            <a:r>
              <a:rPr kumimoji="1" lang="en-US" altLang="zh-CN" sz="2200">
                <a:solidFill>
                  <a:srgbClr val="000000"/>
                </a:solidFill>
                <a:latin typeface="Times New Roman" panose="02020603050405020304" pitchFamily="18" charset="0"/>
              </a:rPr>
              <a:t>(1) </a:t>
            </a:r>
            <a:r>
              <a:rPr kumimoji="1" lang="zh-CN" altLang="en-US" sz="2200">
                <a:solidFill>
                  <a:srgbClr val="000000"/>
                </a:solidFill>
                <a:latin typeface="Times New Roman" panose="02020603050405020304" pitchFamily="18" charset="0"/>
              </a:rPr>
              <a:t>在克服瀑布模型缺点、</a:t>
            </a:r>
            <a:r>
              <a:rPr kumimoji="1" lang="zh-CN" altLang="en-US" sz="2200">
                <a:solidFill>
                  <a:srgbClr val="3333FF"/>
                </a:solidFill>
                <a:latin typeface="Times New Roman" panose="02020603050405020304" pitchFamily="18" charset="0"/>
              </a:rPr>
              <a:t>减少</a:t>
            </a:r>
            <a:r>
              <a:rPr kumimoji="1" lang="zh-CN" altLang="en-US" sz="2200">
                <a:solidFill>
                  <a:srgbClr val="000000"/>
                </a:solidFill>
                <a:latin typeface="Times New Roman" panose="02020603050405020304" pitchFamily="18" charset="0"/>
              </a:rPr>
              <a:t>由于软件需求不明确而给开发工作带来</a:t>
            </a:r>
            <a:r>
              <a:rPr kumimoji="1" lang="zh-CN" altLang="en-US" sz="2200">
                <a:solidFill>
                  <a:srgbClr val="3333FF"/>
                </a:solidFill>
                <a:latin typeface="Times New Roman" panose="02020603050405020304" pitchFamily="18" charset="0"/>
              </a:rPr>
              <a:t>风险</a:t>
            </a:r>
            <a:r>
              <a:rPr kumimoji="1" lang="zh-CN" altLang="en-US" sz="2200">
                <a:solidFill>
                  <a:srgbClr val="000000"/>
                </a:solidFill>
                <a:latin typeface="Times New Roman" panose="02020603050405020304" pitchFamily="18" charset="0"/>
              </a:rPr>
              <a:t>方面，确有显著的效果；</a:t>
            </a:r>
          </a:p>
          <a:p>
            <a:pPr lvl="1" fontAlgn="base">
              <a:lnSpc>
                <a:spcPct val="150000"/>
              </a:lnSpc>
              <a:spcBef>
                <a:spcPct val="50000"/>
              </a:spcBef>
              <a:spcAft>
                <a:spcPct val="0"/>
              </a:spcAft>
              <a:buClrTx/>
              <a:buSzTx/>
              <a:buFont typeface="Wingdings" panose="05000000000000000000" pitchFamily="2" charset="2"/>
              <a:buChar char="Ø"/>
            </a:pPr>
            <a:r>
              <a:rPr kumimoji="1" lang="en-US" altLang="zh-CN" sz="2200">
                <a:solidFill>
                  <a:srgbClr val="000000"/>
                </a:solidFill>
                <a:latin typeface="Times New Roman" panose="02020603050405020304" pitchFamily="18" charset="0"/>
              </a:rPr>
              <a:t>(2) </a:t>
            </a:r>
            <a:r>
              <a:rPr kumimoji="1" lang="zh-CN" altLang="en-US" sz="2200">
                <a:solidFill>
                  <a:srgbClr val="3333FF"/>
                </a:solidFill>
                <a:latin typeface="Times New Roman" panose="02020603050405020304" pitchFamily="18" charset="0"/>
              </a:rPr>
              <a:t>缩短产品提交时间</a:t>
            </a:r>
            <a:r>
              <a:rPr kumimoji="1" lang="zh-CN" altLang="en-US" sz="2200">
                <a:solidFill>
                  <a:srgbClr val="000000"/>
                </a:solidFill>
                <a:latin typeface="宋体" panose="02010600030101010101" pitchFamily="2" charset="-122"/>
              </a:rPr>
              <a:t>都能够起到良好的作用。</a:t>
            </a:r>
          </a:p>
          <a:p>
            <a:pPr fontAlgn="base">
              <a:lnSpc>
                <a:spcPct val="150000"/>
              </a:lnSpc>
              <a:spcBef>
                <a:spcPct val="50000"/>
              </a:spcBef>
              <a:spcAft>
                <a:spcPct val="0"/>
              </a:spcAft>
              <a:buClrTx/>
              <a:buSzTx/>
              <a:buFont typeface="Wingdings" panose="05000000000000000000" pitchFamily="2" charset="2"/>
              <a:buChar char="Ø"/>
            </a:pPr>
            <a:r>
              <a:rPr kumimoji="1" lang="zh-CN" altLang="en-US">
                <a:solidFill>
                  <a:srgbClr val="FF0000"/>
                </a:solidFill>
                <a:latin typeface="宋体" panose="02010600030101010101" pitchFamily="2" charset="-122"/>
              </a:rPr>
              <a:t>提醒</a:t>
            </a:r>
            <a:r>
              <a:rPr kumimoji="1" lang="zh-CN" altLang="en-US">
                <a:solidFill>
                  <a:srgbClr val="000000"/>
                </a:solidFill>
                <a:latin typeface="宋体" panose="02010600030101010101" pitchFamily="2" charset="-122"/>
              </a:rPr>
              <a:t>：</a:t>
            </a:r>
          </a:p>
          <a:p>
            <a:pPr lvl="1" fontAlgn="base">
              <a:lnSpc>
                <a:spcPct val="150000"/>
              </a:lnSpc>
              <a:spcBef>
                <a:spcPct val="50000"/>
              </a:spcBef>
              <a:spcAft>
                <a:spcPct val="0"/>
              </a:spcAft>
              <a:buClrTx/>
              <a:buSzTx/>
              <a:buFont typeface="Wingdings" panose="05000000000000000000" pitchFamily="2" charset="2"/>
              <a:buChar char="Ø"/>
            </a:pPr>
            <a:r>
              <a:rPr kumimoji="1" lang="zh-CN" altLang="en-US" sz="2200">
                <a:solidFill>
                  <a:srgbClr val="3333FF"/>
                </a:solidFill>
                <a:latin typeface="Times New Roman" panose="02020603050405020304" pitchFamily="18" charset="0"/>
              </a:rPr>
              <a:t>用户</a:t>
            </a:r>
            <a:r>
              <a:rPr kumimoji="1" lang="zh-CN" altLang="en-US" sz="2200">
                <a:solidFill>
                  <a:srgbClr val="000000"/>
                </a:solidFill>
                <a:latin typeface="宋体" panose="02010600030101010101" pitchFamily="2" charset="-122"/>
              </a:rPr>
              <a:t>在开发软件的过程中，往往有</a:t>
            </a:r>
            <a:r>
              <a:rPr kumimoji="1" lang="zh-CN" altLang="en-US" sz="2200">
                <a:solidFill>
                  <a:srgbClr val="000000"/>
                </a:solidFill>
                <a:latin typeface="Times New Roman" panose="02020603050405020304" pitchFamily="18" charset="0"/>
              </a:rPr>
              <a:t>“</a:t>
            </a:r>
            <a:r>
              <a:rPr kumimoji="1" lang="zh-CN" altLang="en-US" sz="2200">
                <a:solidFill>
                  <a:srgbClr val="3333FF"/>
                </a:solidFill>
                <a:latin typeface="Times New Roman" panose="02020603050405020304" pitchFamily="18" charset="0"/>
              </a:rPr>
              <a:t>一步到位</a:t>
            </a:r>
            <a:r>
              <a:rPr kumimoji="1" lang="zh-CN" altLang="en-US" sz="2200">
                <a:solidFill>
                  <a:srgbClr val="000000"/>
                </a:solidFill>
                <a:latin typeface="Times New Roman" panose="02020603050405020304" pitchFamily="18" charset="0"/>
              </a:rPr>
              <a:t>”</a:t>
            </a:r>
            <a:r>
              <a:rPr kumimoji="1" lang="zh-CN" altLang="en-US" sz="2200">
                <a:solidFill>
                  <a:srgbClr val="000000"/>
                </a:solidFill>
                <a:latin typeface="宋体" panose="02010600030101010101" pitchFamily="2" charset="-122"/>
              </a:rPr>
              <a:t>的思想，因而增量式的工程开发必须取得用户的全面</a:t>
            </a:r>
            <a:r>
              <a:rPr kumimoji="1" lang="zh-CN" altLang="en-US" sz="2200">
                <a:solidFill>
                  <a:srgbClr val="3333FF"/>
                </a:solidFill>
                <a:latin typeface="Times New Roman" panose="02020603050405020304" pitchFamily="18" charset="0"/>
              </a:rPr>
              <a:t>理解与支持</a:t>
            </a:r>
            <a:r>
              <a:rPr kumimoji="1" lang="zh-CN" altLang="en-US" sz="2200">
                <a:solidFill>
                  <a:srgbClr val="000000"/>
                </a:solidFill>
                <a:latin typeface="宋体" panose="02010600030101010101" pitchFamily="2" charset="-122"/>
              </a:rPr>
              <a:t>，否则是难以成功的。</a:t>
            </a:r>
          </a:p>
        </p:txBody>
      </p:sp>
      <p:sp>
        <p:nvSpPr>
          <p:cNvPr id="4" name="灯片编号占位符 3">
            <a:extLst>
              <a:ext uri="{FF2B5EF4-FFF2-40B4-BE49-F238E27FC236}">
                <a16:creationId xmlns:a16="http://schemas.microsoft.com/office/drawing/2014/main" id="{AA3CC0F4-8E49-B780-7886-FDD601E24C3C}"/>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48FDCC5B-6C13-65B3-27D1-9FE8CAFBACAD}"/>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0D083DE-FF08-4301-B4F7-93ECB693A8A3}" type="slidenum">
              <a:rPr lang="en-US" altLang="zh-CN" sz="1600">
                <a:solidFill>
                  <a:srgbClr val="000000"/>
                </a:solidFill>
              </a:rPr>
              <a:pPr fontAlgn="base">
                <a:spcBef>
                  <a:spcPct val="0"/>
                </a:spcBef>
                <a:spcAft>
                  <a:spcPct val="0"/>
                </a:spcAft>
              </a:pPr>
              <a:t>15</a:t>
            </a:fld>
            <a:endParaRPr lang="en-US" altLang="zh-CN" sz="1600">
              <a:solidFill>
                <a:srgbClr val="000000"/>
              </a:solidFill>
            </a:endParaRPr>
          </a:p>
        </p:txBody>
      </p:sp>
      <p:sp>
        <p:nvSpPr>
          <p:cNvPr id="62467" name="标题 1">
            <a:extLst>
              <a:ext uri="{FF2B5EF4-FFF2-40B4-BE49-F238E27FC236}">
                <a16:creationId xmlns:a16="http://schemas.microsoft.com/office/drawing/2014/main" id="{9B150995-E93E-3F85-ACF0-6B304CF4395A}"/>
              </a:ext>
            </a:extLst>
          </p:cNvPr>
          <p:cNvSpPr>
            <a:spLocks noGrp="1"/>
          </p:cNvSpPr>
          <p:nvPr>
            <p:ph type="title"/>
          </p:nvPr>
        </p:nvSpPr>
        <p:spPr/>
        <p:txBody>
          <a:bodyPr/>
          <a:lstStyle/>
          <a:p>
            <a:r>
              <a:rPr kumimoji="1" lang="zh-CN" altLang="en-US" sz="2800"/>
              <a:t>螺旋模型</a:t>
            </a:r>
            <a:endParaRPr lang="zh-CN" altLang="en-US"/>
          </a:p>
        </p:txBody>
      </p:sp>
      <p:sp>
        <p:nvSpPr>
          <p:cNvPr id="46083" name="内容占位符 2">
            <a:extLst>
              <a:ext uri="{FF2B5EF4-FFF2-40B4-BE49-F238E27FC236}">
                <a16:creationId xmlns:a16="http://schemas.microsoft.com/office/drawing/2014/main" id="{98EB47EA-C8F8-650C-CA22-B83950E36B36}"/>
              </a:ext>
            </a:extLst>
          </p:cNvPr>
          <p:cNvSpPr>
            <a:spLocks noGrp="1"/>
          </p:cNvSpPr>
          <p:nvPr>
            <p:ph idx="1"/>
          </p:nvPr>
        </p:nvSpPr>
        <p:spPr>
          <a:xfrm>
            <a:off x="1847850" y="1341439"/>
            <a:ext cx="8229600" cy="4789487"/>
          </a:xfrm>
        </p:spPr>
        <p:txBody>
          <a:bodyPr/>
          <a:lstStyle/>
          <a:p>
            <a:pPr>
              <a:lnSpc>
                <a:spcPct val="150000"/>
              </a:lnSpc>
              <a:spcBef>
                <a:spcPct val="30000"/>
              </a:spcBef>
            </a:pPr>
            <a:r>
              <a:rPr kumimoji="1" lang="zh-CN" altLang="en-GB" sz="2200">
                <a:latin typeface="宋体" panose="02010600030101010101" pitchFamily="2" charset="-122"/>
              </a:rPr>
              <a:t>螺旋模型</a:t>
            </a:r>
            <a:r>
              <a:rPr kumimoji="1" lang="zh-CN" altLang="en-US" sz="2200">
                <a:latin typeface="宋体" panose="02010600030101010101" pitchFamily="2" charset="-122"/>
              </a:rPr>
              <a:t>是一个演化过程模型。螺旋模型</a:t>
            </a:r>
            <a:r>
              <a:rPr kumimoji="1" lang="zh-CN" altLang="en-US" sz="2200">
                <a:solidFill>
                  <a:srgbClr val="FF0000"/>
                </a:solidFill>
                <a:latin typeface="宋体" panose="02010600030101010101" pitchFamily="2" charset="-122"/>
              </a:rPr>
              <a:t>将瀑布模型与原型的迭代特征结合</a:t>
            </a:r>
            <a:r>
              <a:rPr kumimoji="1" lang="zh-CN" altLang="en-US" sz="2200">
                <a:latin typeface="宋体" panose="02010600030101010101" pitchFamily="2" charset="-122"/>
              </a:rPr>
              <a:t>起来，并加入两种模型均忽略了的</a:t>
            </a:r>
            <a:r>
              <a:rPr kumimoji="1" lang="zh-CN" altLang="en-US" sz="2200">
                <a:solidFill>
                  <a:srgbClr val="FF0000"/>
                </a:solidFill>
                <a:latin typeface="宋体" panose="02010600030101010101" pitchFamily="2" charset="-122"/>
              </a:rPr>
              <a:t>风险分析</a:t>
            </a:r>
            <a:r>
              <a:rPr kumimoji="1" lang="zh-CN" altLang="en-US" sz="2200">
                <a:latin typeface="宋体" panose="02010600030101010101" pitchFamily="2" charset="-122"/>
              </a:rPr>
              <a:t>，弥补了两者的不足。</a:t>
            </a:r>
          </a:p>
          <a:p>
            <a:pPr>
              <a:lnSpc>
                <a:spcPct val="150000"/>
              </a:lnSpc>
              <a:spcBef>
                <a:spcPct val="30000"/>
              </a:spcBef>
            </a:pPr>
            <a:r>
              <a:rPr lang="zh-CN" altLang="en-US" sz="2200"/>
              <a:t>螺旋模型沿着螺线旋转，</a:t>
            </a:r>
            <a:r>
              <a:rPr kumimoji="1" lang="zh-CN" altLang="en-US" sz="2200">
                <a:latin typeface="宋体" panose="02010600030101010101" pitchFamily="2" charset="-122"/>
              </a:rPr>
              <a:t>使得能够快速开发软件的增量版本。在螺旋模型中，软件开发是一系列的增量发布。</a:t>
            </a:r>
            <a:r>
              <a:rPr kumimoji="1" lang="zh-CN" altLang="en-US" sz="2200">
                <a:solidFill>
                  <a:srgbClr val="FF0000"/>
                </a:solidFill>
                <a:latin typeface="宋体" panose="02010600030101010101" pitchFamily="2" charset="-122"/>
              </a:rPr>
              <a:t>和增量模型不同</a:t>
            </a:r>
            <a:r>
              <a:rPr kumimoji="1" lang="zh-CN" altLang="en-US" sz="2200">
                <a:latin typeface="宋体" panose="02010600030101010101" pitchFamily="2" charset="-122"/>
              </a:rPr>
              <a:t>，它</a:t>
            </a:r>
            <a:r>
              <a:rPr kumimoji="1" lang="zh-CN" altLang="en-US" sz="2200">
                <a:solidFill>
                  <a:srgbClr val="3333FF"/>
                </a:solidFill>
                <a:latin typeface="宋体" panose="02010600030101010101" pitchFamily="2" charset="-122"/>
              </a:rPr>
              <a:t>并不要求每一个增量都是可运行的程序</a:t>
            </a:r>
            <a:r>
              <a:rPr kumimoji="1" lang="zh-CN" altLang="en-US" sz="2200">
                <a:latin typeface="宋体" panose="02010600030101010101" pitchFamily="2" charset="-122"/>
              </a:rPr>
              <a:t>。在早期的迭代中，发布的增量可以是一个</a:t>
            </a:r>
            <a:r>
              <a:rPr kumimoji="1" lang="zh-CN" altLang="en-US" sz="2200">
                <a:solidFill>
                  <a:srgbClr val="3333FF"/>
                </a:solidFill>
                <a:latin typeface="宋体" panose="02010600030101010101" pitchFamily="2" charset="-122"/>
              </a:rPr>
              <a:t>纸上的模型或原型</a:t>
            </a:r>
            <a:r>
              <a:rPr kumimoji="1" lang="zh-CN" altLang="en-US" sz="2200">
                <a:latin typeface="宋体" panose="02010600030101010101" pitchFamily="2" charset="-122"/>
              </a:rPr>
              <a:t>；在以后的迭代中产生更加</a:t>
            </a:r>
            <a:r>
              <a:rPr kumimoji="1" lang="zh-CN" altLang="en-US" sz="2200">
                <a:solidFill>
                  <a:srgbClr val="3333FF"/>
                </a:solidFill>
                <a:latin typeface="宋体" panose="02010600030101010101" pitchFamily="2" charset="-122"/>
              </a:rPr>
              <a:t>完善的版本</a:t>
            </a:r>
            <a:r>
              <a:rPr kumimoji="1" lang="zh-CN" altLang="en-US" sz="2200">
                <a:latin typeface="宋体" panose="02010600030101010101" pitchFamily="2" charset="-122"/>
              </a:rPr>
              <a:t>。螺旋模型被划分为若干个框架活动。</a:t>
            </a:r>
          </a:p>
        </p:txBody>
      </p:sp>
      <p:sp>
        <p:nvSpPr>
          <p:cNvPr id="4" name="灯片编号占位符 3">
            <a:extLst>
              <a:ext uri="{FF2B5EF4-FFF2-40B4-BE49-F238E27FC236}">
                <a16:creationId xmlns:a16="http://schemas.microsoft.com/office/drawing/2014/main" id="{CD0F0BF5-9834-DA11-398D-3ECC682A9088}"/>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46083">
                                            <p:txEl>
                                              <p:pRg st="1" end="1"/>
                                            </p:txEl>
                                          </p:spTgt>
                                        </p:tgtEl>
                                        <p:attrNameLst>
                                          <p:attrName>style.visibility</p:attrName>
                                        </p:attrNameLst>
                                      </p:cBhvr>
                                      <p:to>
                                        <p:strVal val="visible"/>
                                      </p:to>
                                    </p:set>
                                    <p:animEffect transition="in" filter="box(in)">
                                      <p:cBhvr>
                                        <p:cTn id="7" dur="1000"/>
                                        <p:tgtEl>
                                          <p:spTgt spid="4608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6">
            <a:extLst>
              <a:ext uri="{FF2B5EF4-FFF2-40B4-BE49-F238E27FC236}">
                <a16:creationId xmlns:a16="http://schemas.microsoft.com/office/drawing/2014/main" id="{E7B37B8A-1086-4B8F-5903-5C9A0F777DFF}"/>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0F729E3-40C7-417D-9A80-C3E955B453BF}" type="slidenum">
              <a:rPr lang="en-US" altLang="zh-CN" sz="1600">
                <a:solidFill>
                  <a:srgbClr val="000000"/>
                </a:solidFill>
              </a:rPr>
              <a:pPr fontAlgn="base">
                <a:spcBef>
                  <a:spcPct val="0"/>
                </a:spcBef>
                <a:spcAft>
                  <a:spcPct val="0"/>
                </a:spcAft>
              </a:pPr>
              <a:t>16</a:t>
            </a:fld>
            <a:endParaRPr lang="en-US" altLang="zh-CN" sz="1600">
              <a:solidFill>
                <a:srgbClr val="000000"/>
              </a:solidFill>
            </a:endParaRPr>
          </a:p>
        </p:txBody>
      </p:sp>
      <p:sp>
        <p:nvSpPr>
          <p:cNvPr id="63491" name="标题 1">
            <a:extLst>
              <a:ext uri="{FF2B5EF4-FFF2-40B4-BE49-F238E27FC236}">
                <a16:creationId xmlns:a16="http://schemas.microsoft.com/office/drawing/2014/main" id="{0F45B4E6-4471-9449-B447-98D7361BB2E3}"/>
              </a:ext>
            </a:extLst>
          </p:cNvPr>
          <p:cNvSpPr>
            <a:spLocks noGrp="1"/>
          </p:cNvSpPr>
          <p:nvPr>
            <p:ph type="title"/>
          </p:nvPr>
        </p:nvSpPr>
        <p:spPr/>
        <p:txBody>
          <a:bodyPr/>
          <a:lstStyle/>
          <a:p>
            <a:r>
              <a:rPr kumimoji="1" lang="zh-CN" altLang="en-US" sz="3200"/>
              <a:t>螺旋模型</a:t>
            </a:r>
            <a:endParaRPr lang="zh-CN" altLang="en-US"/>
          </a:p>
        </p:txBody>
      </p:sp>
      <p:pic>
        <p:nvPicPr>
          <p:cNvPr id="63492" name="Picture 1" descr="C:\DOCUME~1\ADMINI~1\LOCALS~1\Temp\[2[6GUZ_L6%FH26MTARCJKO.jpg">
            <a:extLst>
              <a:ext uri="{FF2B5EF4-FFF2-40B4-BE49-F238E27FC236}">
                <a16:creationId xmlns:a16="http://schemas.microsoft.com/office/drawing/2014/main" id="{B4299801-6C38-A07E-9D34-23117E5744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988" y="981075"/>
            <a:ext cx="6697662" cy="4972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灯片编号占位符 3">
            <a:extLst>
              <a:ext uri="{FF2B5EF4-FFF2-40B4-BE49-F238E27FC236}">
                <a16:creationId xmlns:a16="http://schemas.microsoft.com/office/drawing/2014/main" id="{557EC07E-61E4-3111-CB89-D9BD51C00467}"/>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6">
            <a:extLst>
              <a:ext uri="{FF2B5EF4-FFF2-40B4-BE49-F238E27FC236}">
                <a16:creationId xmlns:a16="http://schemas.microsoft.com/office/drawing/2014/main" id="{09690AE9-EFE8-0944-EE7D-08B9106FBBE4}"/>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02CEA5E-7F1A-493A-B70C-5640CB0D1405}" type="slidenum">
              <a:rPr lang="en-US" altLang="zh-CN" sz="1600">
                <a:solidFill>
                  <a:srgbClr val="000000"/>
                </a:solidFill>
              </a:rPr>
              <a:pPr fontAlgn="base">
                <a:spcBef>
                  <a:spcPct val="0"/>
                </a:spcBef>
                <a:spcAft>
                  <a:spcPct val="0"/>
                </a:spcAft>
              </a:pPr>
              <a:t>17</a:t>
            </a:fld>
            <a:endParaRPr lang="en-US" altLang="zh-CN" sz="1600">
              <a:solidFill>
                <a:srgbClr val="000000"/>
              </a:solidFill>
            </a:endParaRPr>
          </a:p>
        </p:txBody>
      </p:sp>
      <p:sp>
        <p:nvSpPr>
          <p:cNvPr id="64515" name="标题 1">
            <a:extLst>
              <a:ext uri="{FF2B5EF4-FFF2-40B4-BE49-F238E27FC236}">
                <a16:creationId xmlns:a16="http://schemas.microsoft.com/office/drawing/2014/main" id="{5A567CD9-25A0-2D68-80B2-4F687ED8BAFF}"/>
              </a:ext>
            </a:extLst>
          </p:cNvPr>
          <p:cNvSpPr>
            <a:spLocks noGrp="1"/>
          </p:cNvSpPr>
          <p:nvPr>
            <p:ph type="title"/>
          </p:nvPr>
        </p:nvSpPr>
        <p:spPr/>
        <p:txBody>
          <a:bodyPr/>
          <a:lstStyle/>
          <a:p>
            <a:r>
              <a:rPr kumimoji="1" lang="zh-CN" altLang="en-US" sz="3200"/>
              <a:t>螺旋模型</a:t>
            </a:r>
            <a:endParaRPr lang="zh-CN" altLang="en-US"/>
          </a:p>
        </p:txBody>
      </p:sp>
      <p:sp>
        <p:nvSpPr>
          <p:cNvPr id="64516" name="Rectangle 8">
            <a:extLst>
              <a:ext uri="{FF2B5EF4-FFF2-40B4-BE49-F238E27FC236}">
                <a16:creationId xmlns:a16="http://schemas.microsoft.com/office/drawing/2014/main" id="{4D4F67E0-CD73-FC9C-79B0-1704A85767CA}"/>
              </a:ext>
            </a:extLst>
          </p:cNvPr>
          <p:cNvSpPr>
            <a:spLocks noChangeArrowheads="1"/>
          </p:cNvSpPr>
          <p:nvPr/>
        </p:nvSpPr>
        <p:spPr bwMode="auto">
          <a:xfrm>
            <a:off x="1919289" y="1035051"/>
            <a:ext cx="8135937" cy="104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Tx/>
              <a:buSzTx/>
              <a:buNone/>
            </a:pPr>
            <a:r>
              <a:rPr kumimoji="1" lang="zh-CN" altLang="en-US" sz="2200">
                <a:solidFill>
                  <a:srgbClr val="000000"/>
                </a:solidFill>
                <a:latin typeface="Times New Roman" panose="02020603050405020304" pitchFamily="18" charset="0"/>
              </a:rPr>
              <a:t>沿螺线</a:t>
            </a:r>
            <a:r>
              <a:rPr kumimoji="1" lang="zh-CN" altLang="en-US" sz="2200">
                <a:solidFill>
                  <a:srgbClr val="FF0000"/>
                </a:solidFill>
                <a:latin typeface="Times New Roman" panose="02020603050405020304" pitchFamily="18" charset="0"/>
              </a:rPr>
              <a:t>自内向外每旋转一圈</a:t>
            </a:r>
            <a:r>
              <a:rPr kumimoji="1" lang="zh-CN" altLang="en-US" sz="2200">
                <a:solidFill>
                  <a:srgbClr val="000000"/>
                </a:solidFill>
                <a:latin typeface="Times New Roman" panose="02020603050405020304" pitchFamily="18" charset="0"/>
              </a:rPr>
              <a:t>便开发出更为完善的一个新的软件版本。 对于</a:t>
            </a:r>
            <a:r>
              <a:rPr kumimoji="1" lang="zh-CN" altLang="en-US" sz="2200">
                <a:solidFill>
                  <a:srgbClr val="FF0000"/>
                </a:solidFill>
                <a:latin typeface="Times New Roman" panose="02020603050405020304" pitchFamily="18" charset="0"/>
              </a:rPr>
              <a:t>高风险的大型软件</a:t>
            </a:r>
            <a:r>
              <a:rPr kumimoji="1" lang="zh-CN" altLang="en-US" sz="2200">
                <a:solidFill>
                  <a:srgbClr val="000000"/>
                </a:solidFill>
                <a:latin typeface="Times New Roman" panose="02020603050405020304" pitchFamily="18" charset="0"/>
              </a:rPr>
              <a:t>，螺旋模型是一个理想的开发方法。</a:t>
            </a:r>
          </a:p>
        </p:txBody>
      </p:sp>
      <p:sp>
        <p:nvSpPr>
          <p:cNvPr id="64517" name="Rectangle 6">
            <a:extLst>
              <a:ext uri="{FF2B5EF4-FFF2-40B4-BE49-F238E27FC236}">
                <a16:creationId xmlns:a16="http://schemas.microsoft.com/office/drawing/2014/main" id="{B78F94F7-2383-7426-692F-8BB6B20E6879}"/>
              </a:ext>
            </a:extLst>
          </p:cNvPr>
          <p:cNvSpPr>
            <a:spLocks noChangeArrowheads="1"/>
          </p:cNvSpPr>
          <p:nvPr/>
        </p:nvSpPr>
        <p:spPr bwMode="auto">
          <a:xfrm>
            <a:off x="2279650" y="2132013"/>
            <a:ext cx="7772400"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chemeClr val="accent1"/>
              </a:buClr>
              <a:buSzPct val="65000"/>
              <a:buFont typeface="Wingdings" panose="05000000000000000000" pitchFamily="2" charset="2"/>
              <a:buChar char="n"/>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buChar char="q"/>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buChar char="n"/>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q"/>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b="1">
                <a:solidFill>
                  <a:schemeClr val="tx1"/>
                </a:solidFill>
                <a:latin typeface="Arial" panose="020B0604020202020204" pitchFamily="34" charset="0"/>
                <a:ea typeface="宋体" panose="02010600030101010101" pitchFamily="2" charset="-122"/>
              </a:defRPr>
            </a:lvl9pPr>
          </a:lstStyle>
          <a:p>
            <a:pPr fontAlgn="base">
              <a:lnSpc>
                <a:spcPct val="130000"/>
              </a:lnSpc>
              <a:spcAft>
                <a:spcPct val="0"/>
              </a:spcAft>
              <a:buClr>
                <a:srgbClr val="000000"/>
              </a:buClr>
              <a:buSzPct val="75000"/>
              <a:buFont typeface="Wingdings" panose="05000000000000000000" pitchFamily="2" charset="2"/>
              <a:buChar char="l"/>
            </a:pPr>
            <a:r>
              <a:rPr kumimoji="1" lang="zh-CN" altLang="en-US">
                <a:solidFill>
                  <a:srgbClr val="000000"/>
                </a:solidFill>
                <a:latin typeface="Times New Roman" panose="02020603050405020304" pitchFamily="18" charset="0"/>
              </a:rPr>
              <a:t>特点：</a:t>
            </a:r>
          </a:p>
          <a:p>
            <a:pPr lvl="1" fontAlgn="base">
              <a:lnSpc>
                <a:spcPct val="130000"/>
              </a:lnSpc>
              <a:spcAft>
                <a:spcPct val="0"/>
              </a:spcAft>
              <a:buClr>
                <a:srgbClr val="000000"/>
              </a:buClr>
              <a:buSzPct val="75000"/>
              <a:buFontTx/>
              <a:buChar char="–"/>
            </a:pPr>
            <a:r>
              <a:rPr kumimoji="1" lang="zh-CN" altLang="en-US" sz="2000">
                <a:solidFill>
                  <a:srgbClr val="000000"/>
                </a:solidFill>
                <a:latin typeface="Times New Roman" panose="02020603050405020304" pitchFamily="18" charset="0"/>
              </a:rPr>
              <a:t>瀑布模型 </a:t>
            </a:r>
            <a:r>
              <a:rPr kumimoji="1" lang="en-US" altLang="zh-CN" sz="2000">
                <a:solidFill>
                  <a:srgbClr val="000000"/>
                </a:solidFill>
                <a:latin typeface="Times New Roman" panose="02020603050405020304" pitchFamily="18" charset="0"/>
              </a:rPr>
              <a:t>+ </a:t>
            </a:r>
            <a:r>
              <a:rPr kumimoji="1" lang="zh-CN" altLang="en-US" sz="2000">
                <a:solidFill>
                  <a:srgbClr val="000000"/>
                </a:solidFill>
                <a:latin typeface="Times New Roman" panose="02020603050405020304" pitchFamily="18" charset="0"/>
              </a:rPr>
              <a:t>原型 </a:t>
            </a:r>
            <a:r>
              <a:rPr kumimoji="1" lang="en-US" altLang="zh-CN" sz="2000">
                <a:solidFill>
                  <a:srgbClr val="000000"/>
                </a:solidFill>
                <a:latin typeface="Times New Roman" panose="02020603050405020304" pitchFamily="18" charset="0"/>
              </a:rPr>
              <a:t>+ </a:t>
            </a:r>
            <a:r>
              <a:rPr kumimoji="1" lang="zh-CN" altLang="en-US" sz="2000">
                <a:solidFill>
                  <a:srgbClr val="000000"/>
                </a:solidFill>
                <a:latin typeface="Times New Roman" panose="02020603050405020304" pitchFamily="18" charset="0"/>
              </a:rPr>
              <a:t>风险分析</a:t>
            </a:r>
          </a:p>
          <a:p>
            <a:pPr lvl="1" fontAlgn="base">
              <a:lnSpc>
                <a:spcPct val="130000"/>
              </a:lnSpc>
              <a:spcAft>
                <a:spcPct val="0"/>
              </a:spcAft>
              <a:buClr>
                <a:srgbClr val="000000"/>
              </a:buClr>
              <a:buSzPct val="75000"/>
              <a:buFontTx/>
              <a:buChar char="–"/>
            </a:pPr>
            <a:r>
              <a:rPr kumimoji="1" lang="zh-CN" altLang="en-US" sz="2000">
                <a:solidFill>
                  <a:srgbClr val="000000"/>
                </a:solidFill>
                <a:latin typeface="Times New Roman" panose="02020603050405020304" pitchFamily="18" charset="0"/>
              </a:rPr>
              <a:t>迭代过程</a:t>
            </a:r>
          </a:p>
          <a:p>
            <a:pPr fontAlgn="base">
              <a:lnSpc>
                <a:spcPct val="130000"/>
              </a:lnSpc>
              <a:spcAft>
                <a:spcPct val="0"/>
              </a:spcAft>
              <a:buClr>
                <a:srgbClr val="000000"/>
              </a:buClr>
              <a:buSzPct val="75000"/>
              <a:buFont typeface="Wingdings" panose="05000000000000000000" pitchFamily="2" charset="2"/>
              <a:buChar char="l"/>
            </a:pPr>
            <a:r>
              <a:rPr kumimoji="1" lang="zh-CN" altLang="en-US">
                <a:solidFill>
                  <a:srgbClr val="000000"/>
                </a:solidFill>
                <a:latin typeface="Times New Roman" panose="02020603050405020304" pitchFamily="18" charset="0"/>
              </a:rPr>
              <a:t>一个螺旋式周期的</a:t>
            </a:r>
            <a:r>
              <a:rPr kumimoji="1" lang="zh-CN" altLang="en-US">
                <a:solidFill>
                  <a:srgbClr val="3333FF"/>
                </a:solidFill>
                <a:latin typeface="Times New Roman" panose="02020603050405020304" pitchFamily="18" charset="0"/>
              </a:rPr>
              <a:t>流程：</a:t>
            </a:r>
          </a:p>
          <a:p>
            <a:pPr lvl="1" fontAlgn="base">
              <a:lnSpc>
                <a:spcPct val="130000"/>
              </a:lnSpc>
              <a:spcAft>
                <a:spcPct val="0"/>
              </a:spcAft>
              <a:buClr>
                <a:srgbClr val="000000"/>
              </a:buClr>
              <a:buSzPct val="75000"/>
              <a:buFontTx/>
              <a:buChar char="–"/>
            </a:pPr>
            <a:r>
              <a:rPr kumimoji="1" lang="zh-CN" altLang="en-US" sz="2000">
                <a:solidFill>
                  <a:srgbClr val="000000"/>
                </a:solidFill>
                <a:latin typeface="Times New Roman" panose="02020603050405020304" pitchFamily="18" charset="0"/>
              </a:rPr>
              <a:t>确定目标，选择方案，选定完成目标的策略 </a:t>
            </a:r>
          </a:p>
          <a:p>
            <a:pPr lvl="1" fontAlgn="base">
              <a:lnSpc>
                <a:spcPct val="130000"/>
              </a:lnSpc>
              <a:spcAft>
                <a:spcPct val="0"/>
              </a:spcAft>
              <a:buClr>
                <a:srgbClr val="000000"/>
              </a:buClr>
              <a:buSzPct val="75000"/>
              <a:buFontTx/>
              <a:buChar char="–"/>
            </a:pPr>
            <a:r>
              <a:rPr kumimoji="1" lang="zh-CN" altLang="en-US" sz="2000">
                <a:solidFill>
                  <a:srgbClr val="000000"/>
                </a:solidFill>
                <a:latin typeface="Times New Roman" panose="02020603050405020304" pitchFamily="18" charset="0"/>
              </a:rPr>
              <a:t>风险角度分析该策略 </a:t>
            </a:r>
          </a:p>
          <a:p>
            <a:pPr lvl="1" fontAlgn="base">
              <a:lnSpc>
                <a:spcPct val="130000"/>
              </a:lnSpc>
              <a:spcAft>
                <a:spcPct val="0"/>
              </a:spcAft>
              <a:buClr>
                <a:srgbClr val="000000"/>
              </a:buClr>
              <a:buSzPct val="75000"/>
              <a:buFontTx/>
              <a:buChar char="–"/>
            </a:pPr>
            <a:r>
              <a:rPr kumimoji="1" lang="zh-CN" altLang="en-US" sz="2000">
                <a:solidFill>
                  <a:srgbClr val="000000"/>
                </a:solidFill>
                <a:latin typeface="Times New Roman" panose="02020603050405020304" pitchFamily="18" charset="0"/>
              </a:rPr>
              <a:t>启动一个开发阶段 </a:t>
            </a:r>
          </a:p>
          <a:p>
            <a:pPr lvl="1" fontAlgn="base">
              <a:lnSpc>
                <a:spcPct val="130000"/>
              </a:lnSpc>
              <a:spcAft>
                <a:spcPct val="0"/>
              </a:spcAft>
              <a:buClr>
                <a:srgbClr val="000000"/>
              </a:buClr>
              <a:buSzPct val="75000"/>
              <a:buFontTx/>
              <a:buChar char="–"/>
            </a:pPr>
            <a:r>
              <a:rPr kumimoji="1" lang="zh-CN" altLang="en-US" sz="2000">
                <a:solidFill>
                  <a:srgbClr val="000000"/>
                </a:solidFill>
                <a:latin typeface="Times New Roman" panose="02020603050405020304" pitchFamily="18" charset="0"/>
              </a:rPr>
              <a:t>评价前一步的结果，计划下一轮的工作 </a:t>
            </a:r>
          </a:p>
        </p:txBody>
      </p:sp>
      <p:sp>
        <p:nvSpPr>
          <p:cNvPr id="5" name="灯片编号占位符 4">
            <a:extLst>
              <a:ext uri="{FF2B5EF4-FFF2-40B4-BE49-F238E27FC236}">
                <a16:creationId xmlns:a16="http://schemas.microsoft.com/office/drawing/2014/main" id="{90CE8217-5FAB-B548-CA46-17F300276B44}"/>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eaLnBrk="0" hangingPunct="0">
              <a:defRPr kumimoji="1" sz="24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4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4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4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r" eaLnBrk="1" fontAlgn="base" hangingPunct="1">
              <a:spcBef>
                <a:spcPct val="0"/>
              </a:spcBef>
              <a:spcAft>
                <a:spcPct val="0"/>
              </a:spcAft>
              <a:defRPr/>
            </a:pPr>
            <a:endParaRPr lang="en-US" altLang="zh-CN" sz="120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01977B50-20EC-65E0-16DD-2A17AD876491}"/>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213AE76-2D2B-4F19-AF6F-0AC7F1B5720E}" type="slidenum">
              <a:rPr lang="en-US" altLang="zh-CN" sz="1600">
                <a:solidFill>
                  <a:srgbClr val="000000"/>
                </a:solidFill>
              </a:rPr>
              <a:pPr fontAlgn="base">
                <a:spcBef>
                  <a:spcPct val="0"/>
                </a:spcBef>
                <a:spcAft>
                  <a:spcPct val="0"/>
                </a:spcAft>
              </a:pPr>
              <a:t>18</a:t>
            </a:fld>
            <a:endParaRPr lang="en-US" altLang="zh-CN" sz="1600">
              <a:solidFill>
                <a:srgbClr val="000000"/>
              </a:solidFill>
            </a:endParaRPr>
          </a:p>
        </p:txBody>
      </p:sp>
      <p:sp>
        <p:nvSpPr>
          <p:cNvPr id="65539" name="Rectangle 2">
            <a:extLst>
              <a:ext uri="{FF2B5EF4-FFF2-40B4-BE49-F238E27FC236}">
                <a16:creationId xmlns:a16="http://schemas.microsoft.com/office/drawing/2014/main" id="{5E21D3A6-5B23-15E3-9721-F0A5CF355DAB}"/>
              </a:ext>
            </a:extLst>
          </p:cNvPr>
          <p:cNvSpPr>
            <a:spLocks noGrp="1" noChangeArrowheads="1"/>
          </p:cNvSpPr>
          <p:nvPr>
            <p:ph type="title"/>
          </p:nvPr>
        </p:nvSpPr>
        <p:spPr/>
        <p:txBody>
          <a:bodyPr/>
          <a:lstStyle/>
          <a:p>
            <a:r>
              <a:rPr lang="zh-CN" altLang="en-US"/>
              <a:t>例题</a:t>
            </a:r>
            <a:r>
              <a:rPr lang="en-US" altLang="zh-CN"/>
              <a:t>—</a:t>
            </a:r>
            <a:r>
              <a:rPr lang="zh-CN" altLang="en-US"/>
              <a:t>应该选用什么过程模型？</a:t>
            </a:r>
          </a:p>
        </p:txBody>
      </p:sp>
      <p:sp>
        <p:nvSpPr>
          <p:cNvPr id="145411" name="Rectangle 3">
            <a:extLst>
              <a:ext uri="{FF2B5EF4-FFF2-40B4-BE49-F238E27FC236}">
                <a16:creationId xmlns:a16="http://schemas.microsoft.com/office/drawing/2014/main" id="{72E49F2C-759D-48C4-CFC9-FA92C9239363}"/>
              </a:ext>
            </a:extLst>
          </p:cNvPr>
          <p:cNvSpPr>
            <a:spLocks noGrp="1" noChangeArrowheads="1"/>
          </p:cNvSpPr>
          <p:nvPr>
            <p:ph type="body" idx="1"/>
          </p:nvPr>
        </p:nvSpPr>
        <p:spPr>
          <a:xfrm>
            <a:off x="1981200" y="1341439"/>
            <a:ext cx="8229600" cy="4789487"/>
          </a:xfrm>
        </p:spPr>
        <p:txBody>
          <a:bodyPr/>
          <a:lstStyle/>
          <a:p>
            <a:pPr>
              <a:lnSpc>
                <a:spcPct val="150000"/>
              </a:lnSpc>
            </a:pPr>
            <a:r>
              <a:rPr lang="en-US" altLang="zh-CN">
                <a:latin typeface="CharterBT-Roman" charset="0"/>
              </a:rPr>
              <a:t>(1) </a:t>
            </a:r>
            <a:r>
              <a:rPr lang="zh-CN" altLang="en-US">
                <a:latin typeface="CharterBT-Roman" charset="0"/>
              </a:rPr>
              <a:t>客户不太清楚待开发的系统需要提供什么服务。</a:t>
            </a:r>
          </a:p>
          <a:p>
            <a:pPr lvl="1">
              <a:lnSpc>
                <a:spcPct val="150000"/>
              </a:lnSpc>
            </a:pPr>
            <a:r>
              <a:rPr lang="zh-CN" altLang="en-US" sz="2200">
                <a:latin typeface="CharterBT-Roman" charset="0"/>
              </a:rPr>
              <a:t>需求不明确</a:t>
            </a:r>
          </a:p>
          <a:p>
            <a:pPr lvl="1">
              <a:lnSpc>
                <a:spcPct val="150000"/>
              </a:lnSpc>
            </a:pPr>
            <a:r>
              <a:rPr lang="zh-CN" altLang="en-US" sz="2200">
                <a:latin typeface="CharterBT-Roman" charset="0"/>
              </a:rPr>
              <a:t>原型模型</a:t>
            </a:r>
          </a:p>
          <a:p>
            <a:pPr>
              <a:lnSpc>
                <a:spcPct val="150000"/>
              </a:lnSpc>
            </a:pPr>
            <a:r>
              <a:rPr lang="en-US" altLang="zh-CN">
                <a:latin typeface="CharterBT-Roman" charset="0"/>
              </a:rPr>
              <a:t>(2) </a:t>
            </a:r>
            <a:r>
              <a:rPr lang="zh-CN" altLang="en-US">
                <a:latin typeface="CharterBT-Roman" charset="0"/>
              </a:rPr>
              <a:t>开发团队了解待开发软件的相关领域知识，尽管此系统庞大，但其较已经开发的系统差异并不大。</a:t>
            </a:r>
          </a:p>
          <a:p>
            <a:pPr lvl="1">
              <a:lnSpc>
                <a:spcPct val="150000"/>
              </a:lnSpc>
            </a:pPr>
            <a:r>
              <a:rPr lang="zh-CN" altLang="en-US" sz="2200">
                <a:latin typeface="CharterBT-Roman" charset="0"/>
              </a:rPr>
              <a:t>需求明确</a:t>
            </a:r>
          </a:p>
          <a:p>
            <a:pPr lvl="1">
              <a:lnSpc>
                <a:spcPct val="150000"/>
              </a:lnSpc>
            </a:pPr>
            <a:r>
              <a:rPr lang="zh-CN" altLang="en-US" sz="2200">
                <a:latin typeface="CharterBT-Roman" charset="0"/>
              </a:rPr>
              <a:t>瀑布模型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5411">
                                            <p:txEl>
                                              <p:pRg st="0" end="0"/>
                                            </p:txEl>
                                          </p:spTgt>
                                        </p:tgtEl>
                                        <p:attrNameLst>
                                          <p:attrName>style.visibility</p:attrName>
                                        </p:attrNameLst>
                                      </p:cBhvr>
                                      <p:to>
                                        <p:strVal val="visible"/>
                                      </p:to>
                                    </p:set>
                                    <p:animEffect transition="in" filter="blinds(horizontal)">
                                      <p:cBhvr>
                                        <p:cTn id="7" dur="1000"/>
                                        <p:tgtEl>
                                          <p:spTgt spid="145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5411">
                                            <p:txEl>
                                              <p:pRg st="1" end="1"/>
                                            </p:txEl>
                                          </p:spTgt>
                                        </p:tgtEl>
                                        <p:attrNameLst>
                                          <p:attrName>style.visibility</p:attrName>
                                        </p:attrNameLst>
                                      </p:cBhvr>
                                      <p:to>
                                        <p:strVal val="visible"/>
                                      </p:to>
                                    </p:set>
                                    <p:animEffect transition="in" filter="blinds(horizontal)">
                                      <p:cBhvr>
                                        <p:cTn id="12" dur="1000"/>
                                        <p:tgtEl>
                                          <p:spTgt spid="145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5411">
                                            <p:txEl>
                                              <p:pRg st="2" end="2"/>
                                            </p:txEl>
                                          </p:spTgt>
                                        </p:tgtEl>
                                        <p:attrNameLst>
                                          <p:attrName>style.visibility</p:attrName>
                                        </p:attrNameLst>
                                      </p:cBhvr>
                                      <p:to>
                                        <p:strVal val="visible"/>
                                      </p:to>
                                    </p:set>
                                    <p:animEffect transition="in" filter="blinds(horizontal)">
                                      <p:cBhvr>
                                        <p:cTn id="17" dur="1000"/>
                                        <p:tgtEl>
                                          <p:spTgt spid="145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5411">
                                            <p:txEl>
                                              <p:pRg st="3" end="3"/>
                                            </p:txEl>
                                          </p:spTgt>
                                        </p:tgtEl>
                                        <p:attrNameLst>
                                          <p:attrName>style.visibility</p:attrName>
                                        </p:attrNameLst>
                                      </p:cBhvr>
                                      <p:to>
                                        <p:strVal val="visible"/>
                                      </p:to>
                                    </p:set>
                                    <p:animEffect transition="in" filter="blinds(horizontal)">
                                      <p:cBhvr>
                                        <p:cTn id="22" dur="1000"/>
                                        <p:tgtEl>
                                          <p:spTgt spid="145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5411">
                                            <p:txEl>
                                              <p:pRg st="4" end="4"/>
                                            </p:txEl>
                                          </p:spTgt>
                                        </p:tgtEl>
                                        <p:attrNameLst>
                                          <p:attrName>style.visibility</p:attrName>
                                        </p:attrNameLst>
                                      </p:cBhvr>
                                      <p:to>
                                        <p:strVal val="visible"/>
                                      </p:to>
                                    </p:set>
                                    <p:animEffect transition="in" filter="blinds(horizontal)">
                                      <p:cBhvr>
                                        <p:cTn id="27" dur="1000"/>
                                        <p:tgtEl>
                                          <p:spTgt spid="1454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45411">
                                            <p:txEl>
                                              <p:pRg st="5" end="5"/>
                                            </p:txEl>
                                          </p:spTgt>
                                        </p:tgtEl>
                                        <p:attrNameLst>
                                          <p:attrName>style.visibility</p:attrName>
                                        </p:attrNameLst>
                                      </p:cBhvr>
                                      <p:to>
                                        <p:strVal val="visible"/>
                                      </p:to>
                                    </p:set>
                                    <p:animEffect transition="in" filter="blinds(horizontal)">
                                      <p:cBhvr>
                                        <p:cTn id="32" dur="1000"/>
                                        <p:tgtEl>
                                          <p:spTgt spid="145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89F8CC07-8C7B-D353-7074-C0177565DB42}"/>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18D5C0D-C04F-41D5-A5DF-72B5E7EC4283}" type="slidenum">
              <a:rPr lang="en-US" altLang="zh-CN" sz="1600">
                <a:solidFill>
                  <a:srgbClr val="000000"/>
                </a:solidFill>
              </a:rPr>
              <a:pPr fontAlgn="base">
                <a:spcBef>
                  <a:spcPct val="0"/>
                </a:spcBef>
                <a:spcAft>
                  <a:spcPct val="0"/>
                </a:spcAft>
              </a:pPr>
              <a:t>19</a:t>
            </a:fld>
            <a:endParaRPr lang="en-US" altLang="zh-CN" sz="1600">
              <a:solidFill>
                <a:srgbClr val="000000"/>
              </a:solidFill>
            </a:endParaRPr>
          </a:p>
        </p:txBody>
      </p:sp>
      <p:sp>
        <p:nvSpPr>
          <p:cNvPr id="66563" name="Rectangle 2">
            <a:extLst>
              <a:ext uri="{FF2B5EF4-FFF2-40B4-BE49-F238E27FC236}">
                <a16:creationId xmlns:a16="http://schemas.microsoft.com/office/drawing/2014/main" id="{ADF0A8D8-C8A0-2D58-9075-36744EC24180}"/>
              </a:ext>
            </a:extLst>
          </p:cNvPr>
          <p:cNvSpPr>
            <a:spLocks noGrp="1" noChangeArrowheads="1"/>
          </p:cNvSpPr>
          <p:nvPr>
            <p:ph type="title"/>
          </p:nvPr>
        </p:nvSpPr>
        <p:spPr/>
        <p:txBody>
          <a:bodyPr/>
          <a:lstStyle/>
          <a:p>
            <a:r>
              <a:rPr lang="zh-CN" altLang="en-US"/>
              <a:t>例题</a:t>
            </a:r>
            <a:r>
              <a:rPr lang="en-US" altLang="zh-CN"/>
              <a:t>—</a:t>
            </a:r>
            <a:r>
              <a:rPr lang="zh-CN" altLang="en-US"/>
              <a:t>应该选用什么过程模型？</a:t>
            </a:r>
          </a:p>
        </p:txBody>
      </p:sp>
      <p:sp>
        <p:nvSpPr>
          <p:cNvPr id="146435" name="Rectangle 3">
            <a:extLst>
              <a:ext uri="{FF2B5EF4-FFF2-40B4-BE49-F238E27FC236}">
                <a16:creationId xmlns:a16="http://schemas.microsoft.com/office/drawing/2014/main" id="{FD934236-D26E-1F44-D1DC-6E4E7898D936}"/>
              </a:ext>
            </a:extLst>
          </p:cNvPr>
          <p:cNvSpPr>
            <a:spLocks noGrp="1" noChangeArrowheads="1"/>
          </p:cNvSpPr>
          <p:nvPr>
            <p:ph type="body" idx="1"/>
          </p:nvPr>
        </p:nvSpPr>
        <p:spPr/>
        <p:txBody>
          <a:bodyPr/>
          <a:lstStyle/>
          <a:p>
            <a:pPr>
              <a:lnSpc>
                <a:spcPct val="150000"/>
              </a:lnSpc>
            </a:pPr>
            <a:r>
              <a:rPr lang="en-US" altLang="zh-CN">
                <a:latin typeface="CharterBT-Roman" charset="0"/>
              </a:rPr>
              <a:t>(3) </a:t>
            </a:r>
            <a:r>
              <a:rPr lang="zh-CN" altLang="en-US">
                <a:latin typeface="CharterBT-Roman" charset="0"/>
              </a:rPr>
              <a:t>软件的功能是把读入的浮点数开平方，所得到的结果应该精确到小数点后</a:t>
            </a:r>
            <a:r>
              <a:rPr lang="en-US" altLang="zh-CN">
                <a:latin typeface="CharterBT-Roman" charset="0"/>
              </a:rPr>
              <a:t>4</a:t>
            </a:r>
            <a:r>
              <a:rPr lang="zh-CN" altLang="en-US">
                <a:latin typeface="CharterBT-Roman" charset="0"/>
              </a:rPr>
              <a:t>位。</a:t>
            </a:r>
          </a:p>
          <a:p>
            <a:pPr lvl="1">
              <a:lnSpc>
                <a:spcPct val="150000"/>
              </a:lnSpc>
            </a:pPr>
            <a:r>
              <a:rPr lang="zh-CN" altLang="en-US" sz="2200">
                <a:latin typeface="CharterBT-Roman" charset="0"/>
              </a:rPr>
              <a:t>需求很明确</a:t>
            </a:r>
          </a:p>
          <a:p>
            <a:pPr lvl="1">
              <a:lnSpc>
                <a:spcPct val="150000"/>
              </a:lnSpc>
            </a:pPr>
            <a:r>
              <a:rPr lang="zh-CN" altLang="en-US" sz="2200">
                <a:latin typeface="CharterBT-Roman" charset="0"/>
              </a:rPr>
              <a:t>瀑布模型</a:t>
            </a:r>
          </a:p>
          <a:p>
            <a:pPr>
              <a:lnSpc>
                <a:spcPct val="150000"/>
              </a:lnSpc>
            </a:pPr>
            <a:r>
              <a:rPr lang="en-US" altLang="zh-CN">
                <a:latin typeface="CharterBT-Roman" charset="0"/>
              </a:rPr>
              <a:t>(4) </a:t>
            </a:r>
            <a:r>
              <a:rPr lang="zh-CN" altLang="en-US">
                <a:latin typeface="CharterBT-Roman" charset="0"/>
              </a:rPr>
              <a:t>开发一个已发布软件的新版本，公司规定了严格的完成期限，并对外公布。</a:t>
            </a:r>
          </a:p>
          <a:p>
            <a:pPr lvl="1">
              <a:lnSpc>
                <a:spcPct val="150000"/>
              </a:lnSpc>
            </a:pPr>
            <a:r>
              <a:rPr lang="zh-CN" altLang="en-US" sz="2200">
                <a:latin typeface="CharterBT-Roman" charset="0"/>
              </a:rPr>
              <a:t>新版本 </a:t>
            </a:r>
            <a:r>
              <a:rPr lang="en-US" altLang="zh-CN" sz="2200">
                <a:latin typeface="CharterBT-Roman" charset="0"/>
              </a:rPr>
              <a:t>+ </a:t>
            </a:r>
            <a:r>
              <a:rPr lang="zh-CN" altLang="en-US" sz="2200">
                <a:latin typeface="CharterBT-Roman" charset="0"/>
              </a:rPr>
              <a:t>严格期限</a:t>
            </a:r>
          </a:p>
          <a:p>
            <a:pPr lvl="1">
              <a:lnSpc>
                <a:spcPct val="150000"/>
              </a:lnSpc>
            </a:pPr>
            <a:r>
              <a:rPr lang="zh-CN" altLang="en-US" sz="2200">
                <a:latin typeface="CharterBT-Roman" charset="0"/>
              </a:rPr>
              <a:t>增量模型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6435">
                                            <p:txEl>
                                              <p:pRg st="0" end="0"/>
                                            </p:txEl>
                                          </p:spTgt>
                                        </p:tgtEl>
                                        <p:attrNameLst>
                                          <p:attrName>style.visibility</p:attrName>
                                        </p:attrNameLst>
                                      </p:cBhvr>
                                      <p:to>
                                        <p:strVal val="visible"/>
                                      </p:to>
                                    </p:set>
                                    <p:animEffect transition="in" filter="blinds(horizontal)">
                                      <p:cBhvr>
                                        <p:cTn id="7" dur="1000"/>
                                        <p:tgtEl>
                                          <p:spTgt spid="146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6435">
                                            <p:txEl>
                                              <p:pRg st="1" end="1"/>
                                            </p:txEl>
                                          </p:spTgt>
                                        </p:tgtEl>
                                        <p:attrNameLst>
                                          <p:attrName>style.visibility</p:attrName>
                                        </p:attrNameLst>
                                      </p:cBhvr>
                                      <p:to>
                                        <p:strVal val="visible"/>
                                      </p:to>
                                    </p:set>
                                    <p:animEffect transition="in" filter="blinds(horizontal)">
                                      <p:cBhvr>
                                        <p:cTn id="12" dur="1000"/>
                                        <p:tgtEl>
                                          <p:spTgt spid="14643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6435">
                                            <p:txEl>
                                              <p:pRg st="2" end="2"/>
                                            </p:txEl>
                                          </p:spTgt>
                                        </p:tgtEl>
                                        <p:attrNameLst>
                                          <p:attrName>style.visibility</p:attrName>
                                        </p:attrNameLst>
                                      </p:cBhvr>
                                      <p:to>
                                        <p:strVal val="visible"/>
                                      </p:to>
                                    </p:set>
                                    <p:animEffect transition="in" filter="blinds(horizontal)">
                                      <p:cBhvr>
                                        <p:cTn id="17" dur="1000"/>
                                        <p:tgtEl>
                                          <p:spTgt spid="14643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6435">
                                            <p:txEl>
                                              <p:pRg st="3" end="3"/>
                                            </p:txEl>
                                          </p:spTgt>
                                        </p:tgtEl>
                                        <p:attrNameLst>
                                          <p:attrName>style.visibility</p:attrName>
                                        </p:attrNameLst>
                                      </p:cBhvr>
                                      <p:to>
                                        <p:strVal val="visible"/>
                                      </p:to>
                                    </p:set>
                                    <p:animEffect transition="in" filter="blinds(horizontal)">
                                      <p:cBhvr>
                                        <p:cTn id="22" dur="1000"/>
                                        <p:tgtEl>
                                          <p:spTgt spid="14643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6435">
                                            <p:txEl>
                                              <p:pRg st="4" end="4"/>
                                            </p:txEl>
                                          </p:spTgt>
                                        </p:tgtEl>
                                        <p:attrNameLst>
                                          <p:attrName>style.visibility</p:attrName>
                                        </p:attrNameLst>
                                      </p:cBhvr>
                                      <p:to>
                                        <p:strVal val="visible"/>
                                      </p:to>
                                    </p:set>
                                    <p:animEffect transition="in" filter="blinds(horizontal)">
                                      <p:cBhvr>
                                        <p:cTn id="27" dur="1000"/>
                                        <p:tgtEl>
                                          <p:spTgt spid="14643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46435">
                                            <p:txEl>
                                              <p:pRg st="5" end="5"/>
                                            </p:txEl>
                                          </p:spTgt>
                                        </p:tgtEl>
                                        <p:attrNameLst>
                                          <p:attrName>style.visibility</p:attrName>
                                        </p:attrNameLst>
                                      </p:cBhvr>
                                      <p:to>
                                        <p:strVal val="visible"/>
                                      </p:to>
                                    </p:set>
                                    <p:animEffect transition="in" filter="blinds(horizontal)">
                                      <p:cBhvr>
                                        <p:cTn id="32" dur="1000"/>
                                        <p:tgtEl>
                                          <p:spTgt spid="14643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6">
            <a:extLst>
              <a:ext uri="{FF2B5EF4-FFF2-40B4-BE49-F238E27FC236}">
                <a16:creationId xmlns:a16="http://schemas.microsoft.com/office/drawing/2014/main" id="{461C5146-25D5-766A-2EF4-C5066CDAE312}"/>
              </a:ext>
            </a:extLst>
          </p:cNvPr>
          <p:cNvSpPr>
            <a:spLocks noGrp="1" noChangeArrowheads="1"/>
          </p:cNvSpPr>
          <p:nvPr>
            <p:ph type="sldNum" sz="quarter" idx="12"/>
          </p:nvPr>
        </p:nvSpPr>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D078701C-F84E-4224-9810-3C8C94A39F99}" type="slidenum">
              <a:rPr lang="en-US" altLang="zh-CN" sz="1600">
                <a:solidFill>
                  <a:srgbClr val="000000"/>
                </a:solidFill>
              </a:rPr>
              <a:pPr fontAlgn="base">
                <a:spcBef>
                  <a:spcPct val="0"/>
                </a:spcBef>
                <a:spcAft>
                  <a:spcPct val="0"/>
                </a:spcAft>
              </a:pPr>
              <a:t>20</a:t>
            </a:fld>
            <a:endParaRPr lang="en-US" altLang="zh-CN" sz="1600">
              <a:solidFill>
                <a:srgbClr val="000000"/>
              </a:solidFill>
            </a:endParaRPr>
          </a:p>
        </p:txBody>
      </p:sp>
      <p:sp>
        <p:nvSpPr>
          <p:cNvPr id="67587" name="Rectangle 2">
            <a:extLst>
              <a:ext uri="{FF2B5EF4-FFF2-40B4-BE49-F238E27FC236}">
                <a16:creationId xmlns:a16="http://schemas.microsoft.com/office/drawing/2014/main" id="{ACC7D2F8-BFED-75EF-262D-D02299D7FC0B}"/>
              </a:ext>
            </a:extLst>
          </p:cNvPr>
          <p:cNvSpPr>
            <a:spLocks noGrp="1" noChangeArrowheads="1"/>
          </p:cNvSpPr>
          <p:nvPr>
            <p:ph type="title"/>
          </p:nvPr>
        </p:nvSpPr>
        <p:spPr/>
        <p:txBody>
          <a:bodyPr/>
          <a:lstStyle/>
          <a:p>
            <a:r>
              <a:rPr lang="zh-CN" altLang="en-US"/>
              <a:t>例题</a:t>
            </a:r>
            <a:r>
              <a:rPr lang="en-US" altLang="zh-CN"/>
              <a:t>—</a:t>
            </a:r>
            <a:r>
              <a:rPr lang="zh-CN" altLang="en-US"/>
              <a:t>应该选用什么过程模型？</a:t>
            </a:r>
          </a:p>
        </p:txBody>
      </p:sp>
      <p:sp>
        <p:nvSpPr>
          <p:cNvPr id="147459" name="Rectangle 3">
            <a:extLst>
              <a:ext uri="{FF2B5EF4-FFF2-40B4-BE49-F238E27FC236}">
                <a16:creationId xmlns:a16="http://schemas.microsoft.com/office/drawing/2014/main" id="{43C12863-8DDB-EF6C-5550-126C89E071B6}"/>
              </a:ext>
            </a:extLst>
          </p:cNvPr>
          <p:cNvSpPr>
            <a:spLocks noGrp="1" noChangeArrowheads="1"/>
          </p:cNvSpPr>
          <p:nvPr>
            <p:ph type="body" idx="1"/>
          </p:nvPr>
        </p:nvSpPr>
        <p:spPr/>
        <p:txBody>
          <a:bodyPr/>
          <a:lstStyle/>
          <a:p>
            <a:pPr>
              <a:lnSpc>
                <a:spcPct val="135000"/>
              </a:lnSpc>
            </a:pPr>
            <a:r>
              <a:rPr lang="en-US" altLang="zh-CN">
                <a:latin typeface="CharterBT-Roman" charset="0"/>
              </a:rPr>
              <a:t>(5) </a:t>
            </a:r>
            <a:r>
              <a:rPr lang="zh-CN" altLang="en-US">
                <a:latin typeface="CharterBT-Roman" charset="0"/>
              </a:rPr>
              <a:t>汽车防锁死刹车控制系统</a:t>
            </a:r>
          </a:p>
          <a:p>
            <a:pPr lvl="1">
              <a:lnSpc>
                <a:spcPct val="135000"/>
              </a:lnSpc>
            </a:pPr>
            <a:r>
              <a:rPr lang="zh-CN" altLang="en-US" sz="2200">
                <a:latin typeface="CharterBT-Roman" charset="0"/>
              </a:rPr>
              <a:t>考虑技术风险 </a:t>
            </a:r>
            <a:r>
              <a:rPr lang="en-US" altLang="zh-CN" sz="2200">
                <a:latin typeface="CharterBT-Roman" charset="0"/>
              </a:rPr>
              <a:t>+ </a:t>
            </a:r>
            <a:r>
              <a:rPr lang="zh-CN" altLang="en-US" sz="2200">
                <a:latin typeface="CharterBT-Roman" charset="0"/>
              </a:rPr>
              <a:t>循环的方式逐步加深系统定义和实现深度</a:t>
            </a:r>
          </a:p>
          <a:p>
            <a:pPr lvl="1">
              <a:lnSpc>
                <a:spcPct val="135000"/>
              </a:lnSpc>
            </a:pPr>
            <a:r>
              <a:rPr lang="zh-CN" altLang="en-US" sz="2200">
                <a:latin typeface="CharterBT-Roman" charset="0"/>
              </a:rPr>
              <a:t>螺旋模型</a:t>
            </a:r>
          </a:p>
          <a:p>
            <a:pPr>
              <a:lnSpc>
                <a:spcPct val="135000"/>
              </a:lnSpc>
            </a:pPr>
            <a:r>
              <a:rPr lang="en-US" altLang="zh-CN">
                <a:latin typeface="CharterBT-Roman" charset="0"/>
              </a:rPr>
              <a:t>(6) </a:t>
            </a:r>
            <a:r>
              <a:rPr lang="zh-CN" altLang="en-US">
                <a:latin typeface="CharterBT-Roman" charset="0"/>
              </a:rPr>
              <a:t>大学记账系统，准备替换一个已存在的系统</a:t>
            </a:r>
          </a:p>
          <a:p>
            <a:pPr lvl="1">
              <a:lnSpc>
                <a:spcPct val="135000"/>
              </a:lnSpc>
            </a:pPr>
            <a:r>
              <a:rPr lang="zh-CN" altLang="en-US" sz="2200">
                <a:latin typeface="CharterBT-Roman" charset="0"/>
              </a:rPr>
              <a:t>需求很明确</a:t>
            </a:r>
          </a:p>
          <a:p>
            <a:pPr lvl="1">
              <a:lnSpc>
                <a:spcPct val="135000"/>
              </a:lnSpc>
            </a:pPr>
            <a:r>
              <a:rPr lang="zh-CN" altLang="en-US" sz="2200">
                <a:latin typeface="CharterBT-Roman" charset="0"/>
              </a:rPr>
              <a:t>瀑布模型</a:t>
            </a:r>
          </a:p>
          <a:p>
            <a:pPr>
              <a:lnSpc>
                <a:spcPct val="135000"/>
              </a:lnSpc>
            </a:pPr>
            <a:r>
              <a:rPr lang="en-US" altLang="zh-CN">
                <a:latin typeface="CharterBT-Roman" charset="0"/>
              </a:rPr>
              <a:t>(7) </a:t>
            </a:r>
            <a:r>
              <a:rPr lang="zh-CN" altLang="en-US">
                <a:latin typeface="CharterBT-Roman" charset="0"/>
              </a:rPr>
              <a:t>一个位于火车站的交互式火车车次查询系统</a:t>
            </a:r>
          </a:p>
          <a:p>
            <a:pPr lvl="1">
              <a:lnSpc>
                <a:spcPct val="135000"/>
              </a:lnSpc>
            </a:pPr>
            <a:r>
              <a:rPr lang="zh-CN" altLang="en-US" sz="2200">
                <a:latin typeface="CharterBT-Roman" charset="0"/>
              </a:rPr>
              <a:t>“交互式”体现的是沟通上的迭代，需求不明确</a:t>
            </a:r>
          </a:p>
          <a:p>
            <a:pPr lvl="1">
              <a:lnSpc>
                <a:spcPct val="135000"/>
              </a:lnSpc>
            </a:pPr>
            <a:r>
              <a:rPr lang="zh-CN" altLang="en-US" sz="2200">
                <a:latin typeface="CharterBT-Roman" charset="0"/>
              </a:rPr>
              <a:t>原型模型</a:t>
            </a:r>
            <a:endParaRPr lang="en-US" altLang="zh-CN" sz="2200">
              <a:latin typeface="CharterBT-Roman"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7459">
                                            <p:txEl>
                                              <p:pRg st="0" end="0"/>
                                            </p:txEl>
                                          </p:spTgt>
                                        </p:tgtEl>
                                        <p:attrNameLst>
                                          <p:attrName>style.visibility</p:attrName>
                                        </p:attrNameLst>
                                      </p:cBhvr>
                                      <p:to>
                                        <p:strVal val="visible"/>
                                      </p:to>
                                    </p:set>
                                    <p:animEffect transition="in" filter="blinds(horizontal)">
                                      <p:cBhvr>
                                        <p:cTn id="7" dur="1000"/>
                                        <p:tgtEl>
                                          <p:spTgt spid="1474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7459">
                                            <p:txEl>
                                              <p:pRg st="1" end="1"/>
                                            </p:txEl>
                                          </p:spTgt>
                                        </p:tgtEl>
                                        <p:attrNameLst>
                                          <p:attrName>style.visibility</p:attrName>
                                        </p:attrNameLst>
                                      </p:cBhvr>
                                      <p:to>
                                        <p:strVal val="visible"/>
                                      </p:to>
                                    </p:set>
                                    <p:animEffect transition="in" filter="blinds(horizontal)">
                                      <p:cBhvr>
                                        <p:cTn id="12" dur="1000"/>
                                        <p:tgtEl>
                                          <p:spTgt spid="14745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7459">
                                            <p:txEl>
                                              <p:pRg st="2" end="2"/>
                                            </p:txEl>
                                          </p:spTgt>
                                        </p:tgtEl>
                                        <p:attrNameLst>
                                          <p:attrName>style.visibility</p:attrName>
                                        </p:attrNameLst>
                                      </p:cBhvr>
                                      <p:to>
                                        <p:strVal val="visible"/>
                                      </p:to>
                                    </p:set>
                                    <p:animEffect transition="in" filter="blinds(horizontal)">
                                      <p:cBhvr>
                                        <p:cTn id="17" dur="1000"/>
                                        <p:tgtEl>
                                          <p:spTgt spid="14745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7459">
                                            <p:txEl>
                                              <p:pRg st="3" end="3"/>
                                            </p:txEl>
                                          </p:spTgt>
                                        </p:tgtEl>
                                        <p:attrNameLst>
                                          <p:attrName>style.visibility</p:attrName>
                                        </p:attrNameLst>
                                      </p:cBhvr>
                                      <p:to>
                                        <p:strVal val="visible"/>
                                      </p:to>
                                    </p:set>
                                    <p:animEffect transition="in" filter="blinds(horizontal)">
                                      <p:cBhvr>
                                        <p:cTn id="22" dur="1000"/>
                                        <p:tgtEl>
                                          <p:spTgt spid="14745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7459">
                                            <p:txEl>
                                              <p:pRg st="4" end="4"/>
                                            </p:txEl>
                                          </p:spTgt>
                                        </p:tgtEl>
                                        <p:attrNameLst>
                                          <p:attrName>style.visibility</p:attrName>
                                        </p:attrNameLst>
                                      </p:cBhvr>
                                      <p:to>
                                        <p:strVal val="visible"/>
                                      </p:to>
                                    </p:set>
                                    <p:animEffect transition="in" filter="blinds(horizontal)">
                                      <p:cBhvr>
                                        <p:cTn id="27" dur="1000"/>
                                        <p:tgtEl>
                                          <p:spTgt spid="14745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47459">
                                            <p:txEl>
                                              <p:pRg st="5" end="5"/>
                                            </p:txEl>
                                          </p:spTgt>
                                        </p:tgtEl>
                                        <p:attrNameLst>
                                          <p:attrName>style.visibility</p:attrName>
                                        </p:attrNameLst>
                                      </p:cBhvr>
                                      <p:to>
                                        <p:strVal val="visible"/>
                                      </p:to>
                                    </p:set>
                                    <p:animEffect transition="in" filter="blinds(horizontal)">
                                      <p:cBhvr>
                                        <p:cTn id="32" dur="1000"/>
                                        <p:tgtEl>
                                          <p:spTgt spid="14745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47459">
                                            <p:txEl>
                                              <p:pRg st="6" end="6"/>
                                            </p:txEl>
                                          </p:spTgt>
                                        </p:tgtEl>
                                        <p:attrNameLst>
                                          <p:attrName>style.visibility</p:attrName>
                                        </p:attrNameLst>
                                      </p:cBhvr>
                                      <p:to>
                                        <p:strVal val="visible"/>
                                      </p:to>
                                    </p:set>
                                    <p:animEffect transition="in" filter="blinds(horizontal)">
                                      <p:cBhvr>
                                        <p:cTn id="37" dur="1000"/>
                                        <p:tgtEl>
                                          <p:spTgt spid="147459">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147459">
                                            <p:txEl>
                                              <p:pRg st="7" end="7"/>
                                            </p:txEl>
                                          </p:spTgt>
                                        </p:tgtEl>
                                        <p:attrNameLst>
                                          <p:attrName>style.visibility</p:attrName>
                                        </p:attrNameLst>
                                      </p:cBhvr>
                                      <p:to>
                                        <p:strVal val="visible"/>
                                      </p:to>
                                    </p:set>
                                    <p:animEffect transition="in" filter="blinds(horizontal)">
                                      <p:cBhvr>
                                        <p:cTn id="42" dur="1000"/>
                                        <p:tgtEl>
                                          <p:spTgt spid="147459">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147459">
                                            <p:txEl>
                                              <p:pRg st="8" end="8"/>
                                            </p:txEl>
                                          </p:spTgt>
                                        </p:tgtEl>
                                        <p:attrNameLst>
                                          <p:attrName>style.visibility</p:attrName>
                                        </p:attrNameLst>
                                      </p:cBhvr>
                                      <p:to>
                                        <p:strVal val="visible"/>
                                      </p:to>
                                    </p:set>
                                    <p:animEffect transition="in" filter="blinds(horizontal)">
                                      <p:cBhvr>
                                        <p:cTn id="47" dur="1000"/>
                                        <p:tgtEl>
                                          <p:spTgt spid="14745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a:extLst>
              <a:ext uri="{FF2B5EF4-FFF2-40B4-BE49-F238E27FC236}">
                <a16:creationId xmlns:a16="http://schemas.microsoft.com/office/drawing/2014/main" id="{FE2C389B-1ED9-71D6-2256-DB2C1414AE8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E117633-364F-4D41-BC68-8ACB09F57605}" type="slidenum">
              <a:rPr lang="en-US" altLang="zh-CN" sz="1200">
                <a:solidFill>
                  <a:srgbClr val="000000"/>
                </a:solidFill>
                <a:latin typeface="Garamond" panose="02020404030301010803" pitchFamily="18" charset="0"/>
              </a:rPr>
              <a:pPr fontAlgn="base">
                <a:spcBef>
                  <a:spcPct val="0"/>
                </a:spcBef>
                <a:spcAft>
                  <a:spcPct val="0"/>
                </a:spcAft>
              </a:pPr>
              <a:t>21</a:t>
            </a:fld>
            <a:endParaRPr lang="en-US" altLang="zh-CN" sz="1200">
              <a:solidFill>
                <a:srgbClr val="000000"/>
              </a:solidFill>
              <a:latin typeface="Garamond" panose="02020404030301010803" pitchFamily="18" charset="0"/>
            </a:endParaRPr>
          </a:p>
        </p:txBody>
      </p:sp>
      <p:sp>
        <p:nvSpPr>
          <p:cNvPr id="7171" name="Rectangle 2">
            <a:extLst>
              <a:ext uri="{FF2B5EF4-FFF2-40B4-BE49-F238E27FC236}">
                <a16:creationId xmlns:a16="http://schemas.microsoft.com/office/drawing/2014/main" id="{0C201E15-E5B9-EF39-2DE0-D54169FAFC26}"/>
              </a:ext>
            </a:extLst>
          </p:cNvPr>
          <p:cNvSpPr>
            <a:spLocks noGrp="1" noChangeArrowheads="1"/>
          </p:cNvSpPr>
          <p:nvPr>
            <p:ph type="ctrTitle" idx="4294967295"/>
          </p:nvPr>
        </p:nvSpPr>
        <p:spPr>
          <a:xfrm>
            <a:off x="2170113" y="1190625"/>
            <a:ext cx="8318500" cy="2959100"/>
          </a:xfrm>
        </p:spPr>
        <p:txBody>
          <a:bodyPr/>
          <a:lstStyle/>
          <a:p>
            <a:pPr eaLnBrk="1" hangingPunct="1"/>
            <a:r>
              <a:rPr lang="zh-CN" altLang="en-US" sz="6000"/>
              <a:t>第</a:t>
            </a:r>
            <a:r>
              <a:rPr lang="en-US" altLang="zh-CN" sz="6000"/>
              <a:t>5</a:t>
            </a:r>
            <a:r>
              <a:rPr lang="zh-CN" altLang="en-US" sz="6000"/>
              <a:t>章</a:t>
            </a:r>
            <a:br>
              <a:rPr lang="zh-CN" altLang="en-US" sz="3800"/>
            </a:br>
            <a:r>
              <a:rPr lang="zh-CN" altLang="en-US" sz="3800"/>
              <a:t> </a:t>
            </a:r>
            <a:br>
              <a:rPr lang="zh-CN" altLang="en-US" sz="3800"/>
            </a:br>
            <a:r>
              <a:rPr lang="zh-CN" altLang="en-US" sz="8800"/>
              <a:t>敏 捷 开 发</a:t>
            </a:r>
            <a:endParaRPr lang="en-US" altLang="zh-CN" sz="8800"/>
          </a:p>
        </p:txBody>
      </p:sp>
      <p:sp>
        <p:nvSpPr>
          <p:cNvPr id="3" name="灯片编号占位符 2">
            <a:extLst>
              <a:ext uri="{FF2B5EF4-FFF2-40B4-BE49-F238E27FC236}">
                <a16:creationId xmlns:a16="http://schemas.microsoft.com/office/drawing/2014/main" id="{869F76C9-B618-4011-DF79-210B14AB9624}"/>
              </a:ext>
            </a:extLst>
          </p:cNvPr>
          <p:cNvSpPr txBox="1">
            <a:spLocks noGrp="1"/>
          </p:cNvSpPr>
          <p:nvPr/>
        </p:nvSpPr>
        <p:spPr bwMode="auto">
          <a:xfrm>
            <a:off x="8077200" y="6243638"/>
            <a:ext cx="2133600" cy="457200"/>
          </a:xfrm>
          <a:prstGeom prst="rect">
            <a:avLst/>
          </a:prstGeom>
          <a:noFill/>
          <a:ln>
            <a:miter lim="800000"/>
            <a:headEnd/>
            <a:tailEnd/>
          </a:ln>
        </p:spPr>
        <p:txBody>
          <a:bodyPr anchor="b"/>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pPr>
            <a:fld id="{1FCEBC09-68C7-40C4-B352-4EA5AFE05EAC}" type="slidenum">
              <a:rPr kumimoji="1" lang="en-US" altLang="zh-CN" sz="1200" b="0">
                <a:solidFill>
                  <a:srgbClr val="000000"/>
                </a:solidFill>
                <a:effectLst>
                  <a:outerShdw blurRad="38100" dist="38100" dir="2700000" algn="tl">
                    <a:srgbClr val="C0C0C0"/>
                  </a:outerShdw>
                </a:effectLst>
                <a:latin typeface="Garamond" panose="02020404030301010803" pitchFamily="18" charset="0"/>
              </a:rPr>
              <a:pPr algn="r" fontAlgn="base">
                <a:spcBef>
                  <a:spcPct val="0"/>
                </a:spcBef>
                <a:spcAft>
                  <a:spcPct val="0"/>
                </a:spcAft>
                <a:buClrTx/>
                <a:buSzTx/>
              </a:pPr>
              <a:t>21</a:t>
            </a:fld>
            <a:endParaRPr kumimoji="1" lang="en-US" altLang="zh-CN" sz="1200" b="0">
              <a:solidFill>
                <a:srgbClr val="000000"/>
              </a:solidFill>
              <a:effectLst>
                <a:outerShdw blurRad="38100" dist="38100" dir="2700000" algn="tl">
                  <a:srgbClr val="C0C0C0"/>
                </a:outerShdw>
              </a:effectLst>
              <a:latin typeface="Garamond" panose="02020404030301010803"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a:extLst>
              <a:ext uri="{FF2B5EF4-FFF2-40B4-BE49-F238E27FC236}">
                <a16:creationId xmlns:a16="http://schemas.microsoft.com/office/drawing/2014/main" id="{E227D74E-F71F-3E81-B122-02B8345C123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E1060A2-A1C5-4496-B1AE-81D32CD4DE8B}" type="slidenum">
              <a:rPr lang="en-US" altLang="zh-CN" sz="1400">
                <a:solidFill>
                  <a:srgbClr val="000000"/>
                </a:solidFill>
                <a:latin typeface="Arial" panose="020B0604020202020204" pitchFamily="34" charset="0"/>
              </a:rPr>
              <a:pPr fontAlgn="base">
                <a:spcBef>
                  <a:spcPct val="0"/>
                </a:spcBef>
                <a:spcAft>
                  <a:spcPct val="0"/>
                </a:spcAft>
              </a:pPr>
              <a:t>22</a:t>
            </a:fld>
            <a:endParaRPr lang="en-US" altLang="zh-CN" sz="1400">
              <a:solidFill>
                <a:srgbClr val="000000"/>
              </a:solidFill>
              <a:latin typeface="Arial" panose="020B0604020202020204" pitchFamily="34" charset="0"/>
            </a:endParaRPr>
          </a:p>
        </p:txBody>
      </p:sp>
      <p:sp>
        <p:nvSpPr>
          <p:cNvPr id="9219" name="Rectangle 2">
            <a:extLst>
              <a:ext uri="{FF2B5EF4-FFF2-40B4-BE49-F238E27FC236}">
                <a16:creationId xmlns:a16="http://schemas.microsoft.com/office/drawing/2014/main" id="{02E98BC5-447C-1225-8A80-2EC14BCC8AB2}"/>
              </a:ext>
            </a:extLst>
          </p:cNvPr>
          <p:cNvSpPr>
            <a:spLocks noGrp="1" noChangeArrowheads="1"/>
          </p:cNvSpPr>
          <p:nvPr>
            <p:ph type="title"/>
          </p:nvPr>
        </p:nvSpPr>
        <p:spPr/>
        <p:txBody>
          <a:bodyPr/>
          <a:lstStyle/>
          <a:p>
            <a:r>
              <a:rPr lang="zh-CN" altLang="en-US"/>
              <a:t>惯用模型存在的问题</a:t>
            </a:r>
          </a:p>
        </p:txBody>
      </p:sp>
      <p:sp>
        <p:nvSpPr>
          <p:cNvPr id="82947" name="Rectangle 3">
            <a:extLst>
              <a:ext uri="{FF2B5EF4-FFF2-40B4-BE49-F238E27FC236}">
                <a16:creationId xmlns:a16="http://schemas.microsoft.com/office/drawing/2014/main" id="{5798CAEC-9E83-C3E2-3BE6-0C328C262E25}"/>
              </a:ext>
            </a:extLst>
          </p:cNvPr>
          <p:cNvSpPr>
            <a:spLocks noGrp="1" noChangeArrowheads="1"/>
          </p:cNvSpPr>
          <p:nvPr>
            <p:ph type="body" idx="1"/>
          </p:nvPr>
        </p:nvSpPr>
        <p:spPr/>
        <p:txBody>
          <a:bodyPr/>
          <a:lstStyle/>
          <a:p>
            <a:pPr>
              <a:lnSpc>
                <a:spcPct val="150000"/>
              </a:lnSpc>
              <a:buFont typeface="Wingdings" panose="05000000000000000000" pitchFamily="2" charset="2"/>
              <a:buChar char="n"/>
            </a:pPr>
            <a:r>
              <a:rPr lang="en-US" altLang="zh-CN" sz="2200"/>
              <a:t>Alistair Cockburn[Coc02]</a:t>
            </a:r>
            <a:r>
              <a:rPr lang="zh-CN" altLang="en-US" sz="2200"/>
              <a:t>在他那本发人深省的敏捷软件开发著作中，论证了第</a:t>
            </a:r>
            <a:r>
              <a:rPr lang="en-US" altLang="zh-CN" sz="2200"/>
              <a:t>2</a:t>
            </a:r>
            <a:r>
              <a:rPr lang="zh-CN" altLang="en-US" sz="2200"/>
              <a:t>章介绍的</a:t>
            </a:r>
            <a:r>
              <a:rPr lang="zh-CN" altLang="en-US" sz="2200">
                <a:solidFill>
                  <a:srgbClr val="FA0C34"/>
                </a:solidFill>
              </a:rPr>
              <a:t>惯用过程模型存在的主要缺陷</a:t>
            </a:r>
            <a:r>
              <a:rPr lang="zh-CN" altLang="en-US" sz="2200"/>
              <a:t>：</a:t>
            </a:r>
          </a:p>
          <a:p>
            <a:pPr lvl="1">
              <a:lnSpc>
                <a:spcPct val="150000"/>
              </a:lnSpc>
              <a:buFont typeface="Wingdings" panose="05000000000000000000" pitchFamily="2" charset="2"/>
              <a:buChar char="n"/>
            </a:pPr>
            <a:r>
              <a:rPr lang="zh-CN" altLang="en-US" sz="2000">
                <a:latin typeface="楷体" panose="02010609060101010101" pitchFamily="49" charset="-122"/>
                <a:ea typeface="楷体" panose="02010609060101010101" pitchFamily="49" charset="-122"/>
              </a:rPr>
              <a:t>忘记了开发计算机</a:t>
            </a:r>
            <a:r>
              <a:rPr lang="zh-CN" altLang="en-US" sz="2000">
                <a:solidFill>
                  <a:srgbClr val="FA0C34"/>
                </a:solidFill>
                <a:latin typeface="楷体" panose="02010609060101010101" pitchFamily="49" charset="-122"/>
                <a:ea typeface="楷体" panose="02010609060101010101" pitchFamily="49" charset="-122"/>
              </a:rPr>
              <a:t>软件的人员的弱点</a:t>
            </a:r>
            <a:r>
              <a:rPr lang="zh-CN" altLang="en-US" sz="2000">
                <a:latin typeface="楷体" panose="02010609060101010101" pitchFamily="49" charset="-122"/>
                <a:ea typeface="楷体" panose="02010609060101010101" pitchFamily="49" charset="-122"/>
              </a:rPr>
              <a:t>。</a:t>
            </a:r>
            <a:r>
              <a:rPr lang="zh-CN" altLang="en-US" sz="2000">
                <a:solidFill>
                  <a:schemeClr val="accent2"/>
                </a:solidFill>
                <a:latin typeface="楷体" panose="02010609060101010101" pitchFamily="49" charset="-122"/>
                <a:ea typeface="楷体" panose="02010609060101010101" pitchFamily="49" charset="-122"/>
              </a:rPr>
              <a:t>软件工程师不是机器人</a:t>
            </a:r>
            <a:r>
              <a:rPr lang="zh-CN" altLang="en-US" sz="2000">
                <a:latin typeface="楷体" panose="02010609060101010101" pitchFamily="49" charset="-122"/>
                <a:ea typeface="楷体" panose="02010609060101010101" pitchFamily="49" charset="-122"/>
              </a:rPr>
              <a:t>，他们在</a:t>
            </a:r>
            <a:r>
              <a:rPr lang="zh-CN" altLang="en-US" sz="2000">
                <a:solidFill>
                  <a:srgbClr val="FA0C34"/>
                </a:solidFill>
                <a:latin typeface="楷体" panose="02010609060101010101" pitchFamily="49" charset="-122"/>
                <a:ea typeface="楷体" panose="02010609060101010101" pitchFamily="49" charset="-122"/>
              </a:rPr>
              <a:t>工作方式上有很大差别</a:t>
            </a:r>
            <a:r>
              <a:rPr lang="zh-CN" altLang="en-US" sz="2000">
                <a:latin typeface="楷体" panose="02010609060101010101" pitchFamily="49" charset="-122"/>
                <a:ea typeface="楷体" panose="02010609060101010101" pitchFamily="49" charset="-122"/>
              </a:rPr>
              <a:t>，在技能水平、创造性、服从性、一致性和责任心方面也有巨大差异。一部分人可以通过书面方式很好地沟通，而有些人则不行。</a:t>
            </a:r>
          </a:p>
          <a:p>
            <a:pPr lvl="1">
              <a:lnSpc>
                <a:spcPct val="150000"/>
              </a:lnSpc>
              <a:buFont typeface="Wingdings" panose="05000000000000000000" pitchFamily="2" charset="2"/>
              <a:buChar char="n"/>
            </a:pPr>
            <a:r>
              <a:rPr lang="zh-CN" altLang="en-US" sz="2000">
                <a:latin typeface="楷体" panose="02010609060101010101" pitchFamily="49" charset="-122"/>
                <a:ea typeface="楷体" panose="02010609060101010101" pitchFamily="49" charset="-122"/>
              </a:rPr>
              <a:t>过程模型可以“利用纪律或者宽容来处理人的共同弱点”，而大多数惯用过程模型选择了</a:t>
            </a:r>
            <a:r>
              <a:rPr lang="zh-CN" altLang="en-US" sz="2000">
                <a:solidFill>
                  <a:srgbClr val="FA0C34"/>
                </a:solidFill>
                <a:latin typeface="楷体" panose="02010609060101010101" pitchFamily="49" charset="-122"/>
                <a:ea typeface="楷体" panose="02010609060101010101" pitchFamily="49" charset="-122"/>
              </a:rPr>
              <a:t>纪律</a:t>
            </a:r>
            <a:r>
              <a:rPr lang="en-US" altLang="zh-CN" sz="2000">
                <a:latin typeface="楷体" panose="02010609060101010101" pitchFamily="49" charset="-122"/>
                <a:ea typeface="楷体" panose="02010609060101010101" pitchFamily="49" charset="-122"/>
              </a:rPr>
              <a:t>——</a:t>
            </a:r>
            <a:r>
              <a:rPr lang="zh-CN" altLang="en-US" sz="2000">
                <a:solidFill>
                  <a:schemeClr val="accent2"/>
                </a:solidFill>
                <a:latin typeface="楷体" panose="02010609060101010101" pitchFamily="49" charset="-122"/>
                <a:ea typeface="楷体" panose="02010609060101010101" pitchFamily="49" charset="-122"/>
              </a:rPr>
              <a:t>缺乏人性化</a:t>
            </a:r>
            <a:r>
              <a:rPr lang="zh-CN" altLang="en-US" sz="2000">
                <a:latin typeface="楷体" panose="02010609060101010101" pitchFamily="49" charset="-122"/>
                <a:ea typeface="楷体" panose="02010609060101010101" pitchFamily="49" charset="-122"/>
              </a:rPr>
              <a:t>。</a:t>
            </a:r>
          </a:p>
          <a:p>
            <a:pPr lvl="1">
              <a:lnSpc>
                <a:spcPct val="150000"/>
              </a:lnSpc>
              <a:buFont typeface="Wingdings" panose="05000000000000000000" pitchFamily="2" charset="2"/>
              <a:buChar char="n"/>
            </a:pPr>
            <a:r>
              <a:rPr lang="zh-CN" altLang="en-US" sz="2000">
                <a:solidFill>
                  <a:schemeClr val="accent2"/>
                </a:solidFill>
                <a:latin typeface="楷体" panose="02010609060101010101" pitchFamily="49" charset="-122"/>
                <a:ea typeface="楷体" panose="02010609060101010101" pitchFamily="49" charset="-122"/>
              </a:rPr>
              <a:t>不能始终一致</a:t>
            </a:r>
            <a:r>
              <a:rPr lang="zh-CN" altLang="en-US" sz="2000">
                <a:latin typeface="楷体" panose="02010609060101010101" pitchFamily="49" charset="-122"/>
                <a:ea typeface="楷体" panose="02010609060101010101" pitchFamily="49" charset="-122"/>
              </a:rPr>
              <a:t>地做同一件事是人性的弱点，因而高度纪律性的方法学非常脆弱。</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82947">
                                            <p:txEl>
                                              <p:pRg st="1" end="1"/>
                                            </p:txEl>
                                          </p:spTgt>
                                        </p:tgtEl>
                                        <p:attrNameLst>
                                          <p:attrName>style.visibility</p:attrName>
                                        </p:attrNameLst>
                                      </p:cBhvr>
                                      <p:to>
                                        <p:strVal val="visible"/>
                                      </p:to>
                                    </p:set>
                                    <p:animEffect transition="in" filter="blinds(horizontal)">
                                      <p:cBhvr>
                                        <p:cTn id="7" dur="1000"/>
                                        <p:tgtEl>
                                          <p:spTgt spid="8294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82947">
                                            <p:txEl>
                                              <p:pRg st="2" end="2"/>
                                            </p:txEl>
                                          </p:spTgt>
                                        </p:tgtEl>
                                        <p:attrNameLst>
                                          <p:attrName>style.visibility</p:attrName>
                                        </p:attrNameLst>
                                      </p:cBhvr>
                                      <p:to>
                                        <p:strVal val="visible"/>
                                      </p:to>
                                    </p:set>
                                    <p:animEffect transition="in" filter="blinds(horizontal)">
                                      <p:cBhvr>
                                        <p:cTn id="12" dur="1000"/>
                                        <p:tgtEl>
                                          <p:spTgt spid="829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82947">
                                            <p:txEl>
                                              <p:pRg st="3" end="3"/>
                                            </p:txEl>
                                          </p:spTgt>
                                        </p:tgtEl>
                                        <p:attrNameLst>
                                          <p:attrName>style.visibility</p:attrName>
                                        </p:attrNameLst>
                                      </p:cBhvr>
                                      <p:to>
                                        <p:strVal val="visible"/>
                                      </p:to>
                                    </p:set>
                                    <p:animEffect transition="in" filter="blinds(horizontal)">
                                      <p:cBhvr>
                                        <p:cTn id="17" dur="1000"/>
                                        <p:tgtEl>
                                          <p:spTgt spid="8294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6">
            <a:extLst>
              <a:ext uri="{FF2B5EF4-FFF2-40B4-BE49-F238E27FC236}">
                <a16:creationId xmlns:a16="http://schemas.microsoft.com/office/drawing/2014/main" id="{15F92EE2-9E0F-DC36-A4E4-876AB45823C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8AEC7A6-4DFC-450C-ADA2-C951D12F7594}" type="slidenum">
              <a:rPr lang="en-US" altLang="zh-CN" sz="1400">
                <a:solidFill>
                  <a:srgbClr val="000000"/>
                </a:solidFill>
                <a:latin typeface="Arial" panose="020B0604020202020204" pitchFamily="34" charset="0"/>
              </a:rPr>
              <a:pPr fontAlgn="base">
                <a:spcBef>
                  <a:spcPct val="0"/>
                </a:spcBef>
                <a:spcAft>
                  <a:spcPct val="0"/>
                </a:spcAft>
              </a:pPr>
              <a:t>23</a:t>
            </a:fld>
            <a:endParaRPr lang="en-US" altLang="zh-CN" sz="1400">
              <a:solidFill>
                <a:srgbClr val="000000"/>
              </a:solidFill>
              <a:latin typeface="Arial" panose="020B0604020202020204" pitchFamily="34" charset="0"/>
            </a:endParaRPr>
          </a:p>
        </p:txBody>
      </p:sp>
      <p:sp>
        <p:nvSpPr>
          <p:cNvPr id="10243" name="Rectangle 2">
            <a:extLst>
              <a:ext uri="{FF2B5EF4-FFF2-40B4-BE49-F238E27FC236}">
                <a16:creationId xmlns:a16="http://schemas.microsoft.com/office/drawing/2014/main" id="{E0BE79F5-B4CE-42B2-D8D7-1260F5B75818}"/>
              </a:ext>
            </a:extLst>
          </p:cNvPr>
          <p:cNvSpPr>
            <a:spLocks noGrp="1" noChangeArrowheads="1"/>
          </p:cNvSpPr>
          <p:nvPr>
            <p:ph type="title"/>
          </p:nvPr>
        </p:nvSpPr>
        <p:spPr/>
        <p:txBody>
          <a:bodyPr/>
          <a:lstStyle/>
          <a:p>
            <a:r>
              <a:rPr lang="zh-CN" altLang="en-US"/>
              <a:t>敏捷</a:t>
            </a:r>
          </a:p>
        </p:txBody>
      </p:sp>
      <p:sp>
        <p:nvSpPr>
          <p:cNvPr id="150531" name="Rectangle 3">
            <a:extLst>
              <a:ext uri="{FF2B5EF4-FFF2-40B4-BE49-F238E27FC236}">
                <a16:creationId xmlns:a16="http://schemas.microsoft.com/office/drawing/2014/main" id="{EC8443A1-A2AB-55CE-B9BD-B48D1DA9E6EA}"/>
              </a:ext>
            </a:extLst>
          </p:cNvPr>
          <p:cNvSpPr>
            <a:spLocks noGrp="1" noChangeArrowheads="1"/>
          </p:cNvSpPr>
          <p:nvPr>
            <p:ph type="body" idx="1"/>
          </p:nvPr>
        </p:nvSpPr>
        <p:spPr>
          <a:xfrm>
            <a:off x="1919289" y="908051"/>
            <a:ext cx="8497887" cy="5078413"/>
          </a:xfrm>
        </p:spPr>
        <p:txBody>
          <a:bodyPr/>
          <a:lstStyle/>
          <a:p>
            <a:pPr>
              <a:lnSpc>
                <a:spcPct val="150000"/>
              </a:lnSpc>
              <a:spcBef>
                <a:spcPct val="35000"/>
              </a:spcBef>
              <a:buFont typeface="Wingdings" panose="05000000000000000000" pitchFamily="2" charset="2"/>
              <a:buChar char="n"/>
            </a:pPr>
            <a:r>
              <a:rPr lang="zh-CN" altLang="en-US" sz="2000">
                <a:solidFill>
                  <a:srgbClr val="FF0000"/>
                </a:solidFill>
              </a:rPr>
              <a:t>敏捷宣言：</a:t>
            </a:r>
          </a:p>
          <a:p>
            <a:pPr lvl="1">
              <a:lnSpc>
                <a:spcPct val="150000"/>
              </a:lnSpc>
              <a:spcBef>
                <a:spcPct val="35000"/>
              </a:spcBef>
              <a:buFont typeface="Wingdings" panose="05000000000000000000" pitchFamily="2" charset="2"/>
              <a:buChar char="n"/>
            </a:pPr>
            <a:r>
              <a:rPr lang="zh-CN" altLang="en-US" sz="2000">
                <a:solidFill>
                  <a:srgbClr val="0070C0"/>
                </a:solidFill>
              </a:rPr>
              <a:t>个体与交互      胜过       过程与工具</a:t>
            </a:r>
          </a:p>
          <a:p>
            <a:pPr lvl="1">
              <a:lnSpc>
                <a:spcPct val="150000"/>
              </a:lnSpc>
              <a:spcBef>
                <a:spcPct val="35000"/>
              </a:spcBef>
              <a:buFont typeface="Wingdings" panose="05000000000000000000" pitchFamily="2" charset="2"/>
              <a:buChar char="n"/>
            </a:pPr>
            <a:r>
              <a:rPr lang="zh-CN" altLang="en-US" sz="2000">
                <a:solidFill>
                  <a:srgbClr val="0070C0"/>
                </a:solidFill>
              </a:rPr>
              <a:t>可用的软件      胜过       完备的文档</a:t>
            </a:r>
          </a:p>
          <a:p>
            <a:pPr lvl="1">
              <a:lnSpc>
                <a:spcPct val="150000"/>
              </a:lnSpc>
              <a:spcBef>
                <a:spcPct val="35000"/>
              </a:spcBef>
              <a:buFont typeface="Wingdings" panose="05000000000000000000" pitchFamily="2" charset="2"/>
              <a:buChar char="n"/>
            </a:pPr>
            <a:r>
              <a:rPr lang="zh-CN" altLang="en-US" sz="2000">
                <a:solidFill>
                  <a:srgbClr val="0070C0"/>
                </a:solidFill>
              </a:rPr>
              <a:t>客户协作          胜过       合同谈判</a:t>
            </a:r>
          </a:p>
          <a:p>
            <a:pPr lvl="1">
              <a:lnSpc>
                <a:spcPct val="150000"/>
              </a:lnSpc>
              <a:spcBef>
                <a:spcPct val="35000"/>
              </a:spcBef>
              <a:buFont typeface="Wingdings" panose="05000000000000000000" pitchFamily="2" charset="2"/>
              <a:buChar char="n"/>
            </a:pPr>
            <a:r>
              <a:rPr lang="zh-CN" altLang="en-US" sz="2000">
                <a:solidFill>
                  <a:srgbClr val="0070C0"/>
                </a:solidFill>
              </a:rPr>
              <a:t>响应变化          胜过       遵循计划</a:t>
            </a:r>
          </a:p>
          <a:p>
            <a:pPr>
              <a:lnSpc>
                <a:spcPct val="150000"/>
              </a:lnSpc>
              <a:spcBef>
                <a:spcPct val="35000"/>
              </a:spcBef>
              <a:buFont typeface="Wingdings" panose="05000000000000000000" pitchFamily="2" charset="2"/>
              <a:buChar char="n"/>
            </a:pPr>
            <a:r>
              <a:rPr lang="zh-CN" altLang="en-US" sz="2000">
                <a:solidFill>
                  <a:srgbClr val="FF0000"/>
                </a:solidFill>
              </a:rPr>
              <a:t>敏捷价值观：</a:t>
            </a:r>
          </a:p>
          <a:p>
            <a:pPr lvl="1">
              <a:lnSpc>
                <a:spcPct val="150000"/>
              </a:lnSpc>
              <a:spcBef>
                <a:spcPct val="35000"/>
              </a:spcBef>
              <a:buFont typeface="Wingdings" panose="05000000000000000000" pitchFamily="2" charset="2"/>
              <a:buChar char="n"/>
            </a:pPr>
            <a:r>
              <a:rPr lang="zh-CN" altLang="en-US" sz="2000">
                <a:solidFill>
                  <a:srgbClr val="0070C0"/>
                </a:solidFill>
              </a:rPr>
              <a:t>沟通        简单     反馈     勇气       尊重</a:t>
            </a:r>
            <a:r>
              <a:rPr lang="en-US" altLang="zh-CN" sz="2000">
                <a:solidFill>
                  <a:srgbClr val="0070C0"/>
                </a:solidFill>
              </a:rPr>
              <a:t>(</a:t>
            </a:r>
            <a:r>
              <a:rPr lang="zh-CN" altLang="en-US" sz="2000">
                <a:solidFill>
                  <a:srgbClr val="0070C0"/>
                </a:solidFill>
              </a:rPr>
              <a:t>谦逊</a:t>
            </a:r>
            <a:r>
              <a:rPr lang="en-US" altLang="zh-CN" sz="2000">
                <a:solidFill>
                  <a:srgbClr val="0070C0"/>
                </a:solidFill>
              </a:rPr>
              <a:t>)</a:t>
            </a:r>
          </a:p>
          <a:p>
            <a:pPr>
              <a:lnSpc>
                <a:spcPct val="150000"/>
              </a:lnSpc>
              <a:spcBef>
                <a:spcPct val="35000"/>
              </a:spcBef>
              <a:buFont typeface="Wingdings" panose="05000000000000000000" pitchFamily="2" charset="2"/>
              <a:buChar char="n"/>
            </a:pPr>
            <a:r>
              <a:rPr lang="zh-CN" altLang="en-US" sz="2000">
                <a:solidFill>
                  <a:srgbClr val="FF0000"/>
                </a:solidFill>
              </a:rPr>
              <a:t>什么是敏捷开发：</a:t>
            </a:r>
            <a:r>
              <a:rPr lang="zh-CN" altLang="en-US" sz="2000">
                <a:solidFill>
                  <a:srgbClr val="0070C0"/>
                </a:solidFill>
              </a:rPr>
              <a:t>它是一种软件开发</a:t>
            </a:r>
            <a:r>
              <a:rPr lang="zh-CN" altLang="en-US" sz="2000">
                <a:solidFill>
                  <a:schemeClr val="hlink"/>
                </a:solidFill>
              </a:rPr>
              <a:t>方法论</a:t>
            </a:r>
            <a:r>
              <a:rPr lang="zh-CN" altLang="en-US" sz="2000">
                <a:solidFill>
                  <a:srgbClr val="0070C0"/>
                </a:solidFill>
              </a:rPr>
              <a:t>，可以应对客户</a:t>
            </a:r>
            <a:r>
              <a:rPr lang="zh-CN" altLang="en-US" sz="2000">
                <a:solidFill>
                  <a:schemeClr val="hlink"/>
                </a:solidFill>
              </a:rPr>
              <a:t>快速变更</a:t>
            </a:r>
            <a:r>
              <a:rPr lang="zh-CN" altLang="en-US" sz="2000">
                <a:solidFill>
                  <a:srgbClr val="0070C0"/>
                </a:solidFill>
              </a:rPr>
              <a:t>的需求。它强调以</a:t>
            </a:r>
            <a:r>
              <a:rPr lang="zh-CN" altLang="en-US" sz="2000">
                <a:solidFill>
                  <a:schemeClr val="hlink"/>
                </a:solidFill>
              </a:rPr>
              <a:t>人为核心</a:t>
            </a:r>
            <a:r>
              <a:rPr lang="zh-CN" altLang="en-US" sz="2000">
                <a:solidFill>
                  <a:srgbClr val="0070C0"/>
                </a:solidFill>
              </a:rPr>
              <a:t>，采用</a:t>
            </a:r>
            <a:r>
              <a:rPr lang="zh-CN" altLang="en-US" sz="2000">
                <a:solidFill>
                  <a:schemeClr val="hlink"/>
                </a:solidFill>
              </a:rPr>
              <a:t>迭代</a:t>
            </a:r>
            <a:r>
              <a:rPr lang="zh-CN" altLang="en-US" sz="2000">
                <a:solidFill>
                  <a:srgbClr val="0070C0"/>
                </a:solidFill>
              </a:rPr>
              <a:t>的方式，</a:t>
            </a:r>
            <a:r>
              <a:rPr lang="zh-CN" altLang="en-US" sz="2000">
                <a:solidFill>
                  <a:schemeClr val="hlink"/>
                </a:solidFill>
              </a:rPr>
              <a:t>循序渐进</a:t>
            </a:r>
            <a:r>
              <a:rPr lang="zh-CN" altLang="en-US" sz="2000">
                <a:solidFill>
                  <a:srgbClr val="0070C0"/>
                </a:solidFill>
              </a:rPr>
              <a:t>地开发软件。</a:t>
            </a:r>
            <a:endParaRPr lang="en-US" altLang="zh-CN" sz="2000">
              <a:solidFill>
                <a:srgbClr val="0070C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0531">
                                            <p:txEl>
                                              <p:pRg st="1" end="1"/>
                                            </p:txEl>
                                          </p:spTgt>
                                        </p:tgtEl>
                                        <p:attrNameLst>
                                          <p:attrName>style.visibility</p:attrName>
                                        </p:attrNameLst>
                                      </p:cBhvr>
                                      <p:to>
                                        <p:strVal val="visible"/>
                                      </p:to>
                                    </p:set>
                                    <p:animEffect transition="in" filter="box(in)">
                                      <p:cBhvr>
                                        <p:cTn id="7" dur="1000"/>
                                        <p:tgtEl>
                                          <p:spTgt spid="15053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50531">
                                            <p:txEl>
                                              <p:pRg st="2" end="2"/>
                                            </p:txEl>
                                          </p:spTgt>
                                        </p:tgtEl>
                                        <p:attrNameLst>
                                          <p:attrName>style.visibility</p:attrName>
                                        </p:attrNameLst>
                                      </p:cBhvr>
                                      <p:to>
                                        <p:strVal val="visible"/>
                                      </p:to>
                                    </p:set>
                                    <p:animEffect transition="in" filter="box(in)">
                                      <p:cBhvr>
                                        <p:cTn id="12" dur="1000"/>
                                        <p:tgtEl>
                                          <p:spTgt spid="15053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50531">
                                            <p:txEl>
                                              <p:pRg st="3" end="3"/>
                                            </p:txEl>
                                          </p:spTgt>
                                        </p:tgtEl>
                                        <p:attrNameLst>
                                          <p:attrName>style.visibility</p:attrName>
                                        </p:attrNameLst>
                                      </p:cBhvr>
                                      <p:to>
                                        <p:strVal val="visible"/>
                                      </p:to>
                                    </p:set>
                                    <p:animEffect transition="in" filter="box(in)">
                                      <p:cBhvr>
                                        <p:cTn id="17" dur="1000"/>
                                        <p:tgtEl>
                                          <p:spTgt spid="15053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50531">
                                            <p:txEl>
                                              <p:pRg st="4" end="4"/>
                                            </p:txEl>
                                          </p:spTgt>
                                        </p:tgtEl>
                                        <p:attrNameLst>
                                          <p:attrName>style.visibility</p:attrName>
                                        </p:attrNameLst>
                                      </p:cBhvr>
                                      <p:to>
                                        <p:strVal val="visible"/>
                                      </p:to>
                                    </p:set>
                                    <p:animEffect transition="in" filter="box(in)">
                                      <p:cBhvr>
                                        <p:cTn id="22" dur="1000"/>
                                        <p:tgtEl>
                                          <p:spTgt spid="15053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50531">
                                            <p:txEl>
                                              <p:pRg st="5" end="5"/>
                                            </p:txEl>
                                          </p:spTgt>
                                        </p:tgtEl>
                                        <p:attrNameLst>
                                          <p:attrName>style.visibility</p:attrName>
                                        </p:attrNameLst>
                                      </p:cBhvr>
                                      <p:to>
                                        <p:strVal val="visible"/>
                                      </p:to>
                                    </p:set>
                                    <p:animEffect transition="in" filter="box(in)">
                                      <p:cBhvr>
                                        <p:cTn id="27" dur="1000"/>
                                        <p:tgtEl>
                                          <p:spTgt spid="15053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50531">
                                            <p:txEl>
                                              <p:pRg st="6" end="6"/>
                                            </p:txEl>
                                          </p:spTgt>
                                        </p:tgtEl>
                                        <p:attrNameLst>
                                          <p:attrName>style.visibility</p:attrName>
                                        </p:attrNameLst>
                                      </p:cBhvr>
                                      <p:to>
                                        <p:strVal val="visible"/>
                                      </p:to>
                                    </p:set>
                                    <p:animEffect transition="in" filter="box(in)">
                                      <p:cBhvr>
                                        <p:cTn id="32" dur="1000"/>
                                        <p:tgtEl>
                                          <p:spTgt spid="150531">
                                            <p:txEl>
                                              <p:pRg st="6" end="6"/>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nodeType="clickEffect">
                                  <p:stCondLst>
                                    <p:cond delay="0"/>
                                  </p:stCondLst>
                                  <p:childTnLst>
                                    <p:set>
                                      <p:cBhvr>
                                        <p:cTn id="36" dur="1" fill="hold">
                                          <p:stCondLst>
                                            <p:cond delay="0"/>
                                          </p:stCondLst>
                                        </p:cTn>
                                        <p:tgtEl>
                                          <p:spTgt spid="150531">
                                            <p:txEl>
                                              <p:pRg st="7" end="7"/>
                                            </p:txEl>
                                          </p:spTgt>
                                        </p:tgtEl>
                                        <p:attrNameLst>
                                          <p:attrName>style.visibility</p:attrName>
                                        </p:attrNameLst>
                                      </p:cBhvr>
                                      <p:to>
                                        <p:strVal val="visible"/>
                                      </p:to>
                                    </p:set>
                                    <p:animEffect transition="in" filter="box(in)">
                                      <p:cBhvr>
                                        <p:cTn id="37" dur="1000"/>
                                        <p:tgtEl>
                                          <p:spTgt spid="15053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6">
            <a:extLst>
              <a:ext uri="{FF2B5EF4-FFF2-40B4-BE49-F238E27FC236}">
                <a16:creationId xmlns:a16="http://schemas.microsoft.com/office/drawing/2014/main" id="{31B950F1-B20D-D12D-82BE-F063EEA257D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2B2C22B-F170-4F39-87EB-66684A8FFE0D}" type="slidenum">
              <a:rPr lang="en-US" altLang="zh-CN" sz="1400">
                <a:solidFill>
                  <a:srgbClr val="000000"/>
                </a:solidFill>
                <a:latin typeface="Arial" panose="020B0604020202020204" pitchFamily="34" charset="0"/>
              </a:rPr>
              <a:pPr fontAlgn="base">
                <a:spcBef>
                  <a:spcPct val="0"/>
                </a:spcBef>
                <a:spcAft>
                  <a:spcPct val="0"/>
                </a:spcAft>
              </a:pPr>
              <a:t>24</a:t>
            </a:fld>
            <a:endParaRPr lang="en-US" altLang="zh-CN" sz="1400">
              <a:solidFill>
                <a:srgbClr val="000000"/>
              </a:solidFill>
              <a:latin typeface="Arial" panose="020B0604020202020204" pitchFamily="34" charset="0"/>
            </a:endParaRPr>
          </a:p>
        </p:txBody>
      </p:sp>
      <p:sp>
        <p:nvSpPr>
          <p:cNvPr id="11267" name="Rectangle 2">
            <a:extLst>
              <a:ext uri="{FF2B5EF4-FFF2-40B4-BE49-F238E27FC236}">
                <a16:creationId xmlns:a16="http://schemas.microsoft.com/office/drawing/2014/main" id="{C4CB9A16-909E-20AE-BEC6-21C56FA75298}"/>
              </a:ext>
            </a:extLst>
          </p:cNvPr>
          <p:cNvSpPr>
            <a:spLocks noGrp="1" noChangeArrowheads="1"/>
          </p:cNvSpPr>
          <p:nvPr>
            <p:ph type="title"/>
          </p:nvPr>
        </p:nvSpPr>
        <p:spPr/>
        <p:txBody>
          <a:bodyPr/>
          <a:lstStyle/>
          <a:p>
            <a:r>
              <a:rPr lang="zh-CN" altLang="en-US"/>
              <a:t>敏捷价值观</a:t>
            </a:r>
          </a:p>
        </p:txBody>
      </p:sp>
      <p:sp>
        <p:nvSpPr>
          <p:cNvPr id="157699" name="Rectangle 3">
            <a:extLst>
              <a:ext uri="{FF2B5EF4-FFF2-40B4-BE49-F238E27FC236}">
                <a16:creationId xmlns:a16="http://schemas.microsoft.com/office/drawing/2014/main" id="{3C078652-F592-3F8F-B80C-DE5A83FD34C7}"/>
              </a:ext>
            </a:extLst>
          </p:cNvPr>
          <p:cNvSpPr>
            <a:spLocks noGrp="1" noChangeArrowheads="1"/>
          </p:cNvSpPr>
          <p:nvPr>
            <p:ph type="body" idx="1"/>
          </p:nvPr>
        </p:nvSpPr>
        <p:spPr>
          <a:xfrm>
            <a:off x="1981200" y="908051"/>
            <a:ext cx="8229600" cy="5078413"/>
          </a:xfrm>
        </p:spPr>
        <p:txBody>
          <a:bodyPr/>
          <a:lstStyle/>
          <a:p>
            <a:pPr>
              <a:lnSpc>
                <a:spcPct val="150000"/>
              </a:lnSpc>
              <a:buFont typeface="Wingdings" panose="05000000000000000000" pitchFamily="2" charset="2"/>
              <a:buChar char="n"/>
            </a:pPr>
            <a:r>
              <a:rPr lang="zh-CN" altLang="en-US" sz="2600">
                <a:solidFill>
                  <a:srgbClr val="FA0C34"/>
                </a:solidFill>
              </a:rPr>
              <a:t>沟通</a:t>
            </a:r>
            <a:r>
              <a:rPr lang="zh-CN" altLang="en-US" sz="2600"/>
              <a:t>：不但要促进你团队内部的</a:t>
            </a:r>
            <a:r>
              <a:rPr lang="zh-CN" altLang="en-US" sz="2600">
                <a:solidFill>
                  <a:srgbClr val="FA0C34"/>
                </a:solidFill>
              </a:rPr>
              <a:t>开发人员之间沟通</a:t>
            </a:r>
            <a:r>
              <a:rPr lang="zh-CN" altLang="en-US" sz="2600"/>
              <a:t>、还能够促进你的</a:t>
            </a:r>
            <a:r>
              <a:rPr lang="zh-CN" altLang="en-US" sz="2600">
                <a:solidFill>
                  <a:srgbClr val="FA0C34"/>
                </a:solidFill>
              </a:rPr>
              <a:t>团队和你的</a:t>
            </a:r>
            <a:r>
              <a:rPr lang="en-US" altLang="zh-CN" sz="2600">
                <a:solidFill>
                  <a:srgbClr val="FA0C34"/>
                </a:solidFill>
              </a:rPr>
              <a:t>project stakeholder</a:t>
            </a:r>
            <a:r>
              <a:rPr lang="zh-CN" altLang="en-US" sz="2600"/>
              <a:t>之间的沟通。</a:t>
            </a:r>
          </a:p>
          <a:p>
            <a:pPr>
              <a:lnSpc>
                <a:spcPct val="150000"/>
              </a:lnSpc>
              <a:buFont typeface="Wingdings" panose="05000000000000000000" pitchFamily="2" charset="2"/>
              <a:buChar char="n"/>
            </a:pPr>
            <a:r>
              <a:rPr lang="zh-CN" altLang="en-US" sz="2600">
                <a:solidFill>
                  <a:srgbClr val="FA0C34"/>
                </a:solidFill>
              </a:rPr>
              <a:t>简单</a:t>
            </a:r>
            <a:r>
              <a:rPr lang="zh-CN" altLang="en-US" sz="2600"/>
              <a:t>：</a:t>
            </a:r>
            <a:r>
              <a:rPr lang="zh-CN" altLang="en-US" sz="2600">
                <a:solidFill>
                  <a:srgbClr val="FA0C34"/>
                </a:solidFill>
              </a:rPr>
              <a:t>画一两张图表</a:t>
            </a:r>
            <a:r>
              <a:rPr lang="zh-CN" altLang="en-US" sz="2600"/>
              <a:t>来代替几十甚至几百行的代码，类似这种方法成为简化软件和软件（开发）过程的关键。这一点对开发人员而言非常重要－它简单，</a:t>
            </a:r>
            <a:r>
              <a:rPr lang="zh-CN" altLang="en-US" sz="2600">
                <a:solidFill>
                  <a:srgbClr val="FA0C34"/>
                </a:solidFill>
              </a:rPr>
              <a:t>容易发现出新的想法</a:t>
            </a:r>
            <a:r>
              <a:rPr lang="zh-CN" altLang="en-US" sz="2600"/>
              <a:t>，随着你（对软件）的理解的加深，也能够</a:t>
            </a:r>
            <a:r>
              <a:rPr lang="zh-CN" altLang="en-US" sz="2600">
                <a:solidFill>
                  <a:srgbClr val="FA0C34"/>
                </a:solidFill>
              </a:rPr>
              <a:t>很容易的改进</a:t>
            </a:r>
            <a:r>
              <a:rPr lang="zh-CN" altLang="en-US" sz="26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7699">
                                            <p:txEl>
                                              <p:pRg st="1" end="1"/>
                                            </p:txEl>
                                          </p:spTgt>
                                        </p:tgtEl>
                                        <p:attrNameLst>
                                          <p:attrName>style.visibility</p:attrName>
                                        </p:attrNameLst>
                                      </p:cBhvr>
                                      <p:to>
                                        <p:strVal val="visible"/>
                                      </p:to>
                                    </p:set>
                                    <p:animEffect transition="in" filter="box(in)">
                                      <p:cBhvr>
                                        <p:cTn id="7" dur="1000"/>
                                        <p:tgtEl>
                                          <p:spTgt spid="15769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6">
            <a:extLst>
              <a:ext uri="{FF2B5EF4-FFF2-40B4-BE49-F238E27FC236}">
                <a16:creationId xmlns:a16="http://schemas.microsoft.com/office/drawing/2014/main" id="{104BB571-FAB9-4850-7B81-373C67C3076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2A18B4D-5428-48FA-9A32-2A81137AEB00}" type="slidenum">
              <a:rPr lang="en-US" altLang="zh-CN" sz="1400">
                <a:solidFill>
                  <a:srgbClr val="000000"/>
                </a:solidFill>
                <a:latin typeface="Arial" panose="020B0604020202020204" pitchFamily="34" charset="0"/>
              </a:rPr>
              <a:pPr fontAlgn="base">
                <a:spcBef>
                  <a:spcPct val="0"/>
                </a:spcBef>
                <a:spcAft>
                  <a:spcPct val="0"/>
                </a:spcAft>
              </a:pPr>
              <a:t>25</a:t>
            </a:fld>
            <a:endParaRPr lang="en-US" altLang="zh-CN" sz="1400">
              <a:solidFill>
                <a:srgbClr val="000000"/>
              </a:solidFill>
              <a:latin typeface="Arial" panose="020B0604020202020204" pitchFamily="34" charset="0"/>
            </a:endParaRPr>
          </a:p>
        </p:txBody>
      </p:sp>
      <p:sp>
        <p:nvSpPr>
          <p:cNvPr id="12291" name="Rectangle 2">
            <a:extLst>
              <a:ext uri="{FF2B5EF4-FFF2-40B4-BE49-F238E27FC236}">
                <a16:creationId xmlns:a16="http://schemas.microsoft.com/office/drawing/2014/main" id="{6DFA67D2-0B51-EB47-ECB4-DC85D53889E7}"/>
              </a:ext>
            </a:extLst>
          </p:cNvPr>
          <p:cNvSpPr>
            <a:spLocks noGrp="1" noChangeArrowheads="1"/>
          </p:cNvSpPr>
          <p:nvPr>
            <p:ph type="title"/>
          </p:nvPr>
        </p:nvSpPr>
        <p:spPr/>
        <p:txBody>
          <a:bodyPr/>
          <a:lstStyle/>
          <a:p>
            <a:r>
              <a:rPr lang="zh-CN" altLang="en-US"/>
              <a:t>敏捷价值观</a:t>
            </a:r>
          </a:p>
        </p:txBody>
      </p:sp>
      <p:sp>
        <p:nvSpPr>
          <p:cNvPr id="159747" name="Rectangle 3">
            <a:extLst>
              <a:ext uri="{FF2B5EF4-FFF2-40B4-BE49-F238E27FC236}">
                <a16:creationId xmlns:a16="http://schemas.microsoft.com/office/drawing/2014/main" id="{69B00953-AE75-B6C8-1B57-9E97E1A879FA}"/>
              </a:ext>
            </a:extLst>
          </p:cNvPr>
          <p:cNvSpPr>
            <a:spLocks noGrp="1" noChangeArrowheads="1"/>
          </p:cNvSpPr>
          <p:nvPr>
            <p:ph type="body" idx="1"/>
          </p:nvPr>
        </p:nvSpPr>
        <p:spPr/>
        <p:txBody>
          <a:bodyPr/>
          <a:lstStyle/>
          <a:p>
            <a:pPr>
              <a:lnSpc>
                <a:spcPct val="150000"/>
              </a:lnSpc>
              <a:spcBef>
                <a:spcPct val="50000"/>
              </a:spcBef>
              <a:buFont typeface="Wingdings" panose="05000000000000000000" pitchFamily="2" charset="2"/>
              <a:buChar char="n"/>
            </a:pPr>
            <a:r>
              <a:rPr lang="zh-CN" altLang="en-US" sz="2200">
                <a:solidFill>
                  <a:srgbClr val="FA0C34"/>
                </a:solidFill>
              </a:rPr>
              <a:t>反馈</a:t>
            </a:r>
            <a:r>
              <a:rPr lang="zh-CN" altLang="en-US" sz="2200"/>
              <a:t>：</a:t>
            </a:r>
            <a:r>
              <a:rPr lang="en-US" altLang="zh-CN" sz="2200"/>
              <a:t>Kent Beck</a:t>
            </a:r>
            <a:r>
              <a:rPr lang="zh-CN" altLang="en-US" sz="2200"/>
              <a:t>在</a:t>
            </a:r>
            <a:r>
              <a:rPr lang="en-US" altLang="zh-CN" sz="2200"/>
              <a:t>Extreme Programming Explained</a:t>
            </a:r>
            <a:r>
              <a:rPr lang="zh-CN" altLang="en-US" sz="2200"/>
              <a:t>中有句话讲得非常好：“</a:t>
            </a:r>
            <a:r>
              <a:rPr lang="zh-CN" altLang="en-US" sz="2200">
                <a:solidFill>
                  <a:srgbClr val="FA0C34"/>
                </a:solidFill>
              </a:rPr>
              <a:t>过度自信是编程的职业病，反馈则是其处方</a:t>
            </a:r>
            <a:r>
              <a:rPr lang="zh-CN" altLang="en-US" sz="2200"/>
              <a:t>。”通过图表来交流你的想法，你可以快速获得反馈，并能够</a:t>
            </a:r>
            <a:r>
              <a:rPr lang="zh-CN" altLang="en-US" sz="2200">
                <a:solidFill>
                  <a:srgbClr val="FA0C34"/>
                </a:solidFill>
              </a:rPr>
              <a:t>按照建议行事</a:t>
            </a:r>
            <a:r>
              <a:rPr lang="zh-CN" altLang="en-US" sz="2200"/>
              <a:t>。</a:t>
            </a:r>
          </a:p>
          <a:p>
            <a:pPr>
              <a:lnSpc>
                <a:spcPct val="150000"/>
              </a:lnSpc>
              <a:spcBef>
                <a:spcPct val="50000"/>
              </a:spcBef>
              <a:buFont typeface="Wingdings" panose="05000000000000000000" pitchFamily="2" charset="2"/>
              <a:buChar char="n"/>
            </a:pPr>
            <a:r>
              <a:rPr lang="zh-CN" altLang="en-US" sz="2200">
                <a:solidFill>
                  <a:srgbClr val="FA0C34"/>
                </a:solidFill>
              </a:rPr>
              <a:t>谦逊</a:t>
            </a:r>
            <a:r>
              <a:rPr lang="zh-CN" altLang="en-US" sz="2200"/>
              <a:t>：最优秀的开发人员都拥有谦逊的美德，他们总能认识到自己并不是无所不知的。事实上，无论是开发人员还是客户，甚至所有的 </a:t>
            </a:r>
            <a:r>
              <a:rPr lang="en-US" altLang="zh-CN" sz="2200"/>
              <a:t>project stakeholder</a:t>
            </a:r>
            <a:r>
              <a:rPr lang="zh-CN" altLang="en-US" sz="2200"/>
              <a:t>，都有他们自己的专业领域，都能够为项目做出贡献。一个有效的做法是</a:t>
            </a:r>
            <a:r>
              <a:rPr lang="zh-CN" altLang="en-US" sz="2200">
                <a:solidFill>
                  <a:srgbClr val="FA0C34"/>
                </a:solidFill>
              </a:rPr>
              <a:t>假设参与项目的每一个人都有相同的价值</a:t>
            </a:r>
            <a:r>
              <a:rPr lang="zh-CN" altLang="en-US" sz="2200"/>
              <a:t>，都应该被尊重。</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59747">
                                            <p:txEl>
                                              <p:pRg st="1" end="1"/>
                                            </p:txEl>
                                          </p:spTgt>
                                        </p:tgtEl>
                                        <p:attrNameLst>
                                          <p:attrName>style.visibility</p:attrName>
                                        </p:attrNameLst>
                                      </p:cBhvr>
                                      <p:to>
                                        <p:strVal val="visible"/>
                                      </p:to>
                                    </p:set>
                                    <p:animEffect transition="in" filter="box(in)">
                                      <p:cBhvr>
                                        <p:cTn id="7" dur="1000"/>
                                        <p:tgtEl>
                                          <p:spTgt spid="15974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6">
            <a:extLst>
              <a:ext uri="{FF2B5EF4-FFF2-40B4-BE49-F238E27FC236}">
                <a16:creationId xmlns:a16="http://schemas.microsoft.com/office/drawing/2014/main" id="{31AC7634-E98E-150E-2B82-BB510F7B5A6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9130C18-07AD-4558-8B61-BE8ADC3EA633}" type="slidenum">
              <a:rPr lang="en-US" altLang="zh-CN" sz="1400">
                <a:solidFill>
                  <a:srgbClr val="000000"/>
                </a:solidFill>
                <a:latin typeface="Arial" panose="020B0604020202020204" pitchFamily="34" charset="0"/>
              </a:rPr>
              <a:pPr fontAlgn="base">
                <a:spcBef>
                  <a:spcPct val="0"/>
                </a:spcBef>
                <a:spcAft>
                  <a:spcPct val="0"/>
                </a:spcAft>
              </a:pPr>
              <a:t>26</a:t>
            </a:fld>
            <a:endParaRPr lang="en-US" altLang="zh-CN" sz="1400">
              <a:solidFill>
                <a:srgbClr val="000000"/>
              </a:solidFill>
              <a:latin typeface="Arial" panose="020B0604020202020204" pitchFamily="34" charset="0"/>
            </a:endParaRPr>
          </a:p>
        </p:txBody>
      </p:sp>
      <p:sp>
        <p:nvSpPr>
          <p:cNvPr id="13315" name="Rectangle 2">
            <a:extLst>
              <a:ext uri="{FF2B5EF4-FFF2-40B4-BE49-F238E27FC236}">
                <a16:creationId xmlns:a16="http://schemas.microsoft.com/office/drawing/2014/main" id="{C6F26D53-7B5E-C469-CE3D-8E33B6BE12B0}"/>
              </a:ext>
            </a:extLst>
          </p:cNvPr>
          <p:cNvSpPr>
            <a:spLocks noGrp="1" noChangeArrowheads="1"/>
          </p:cNvSpPr>
          <p:nvPr>
            <p:ph type="title"/>
          </p:nvPr>
        </p:nvSpPr>
        <p:spPr/>
        <p:txBody>
          <a:bodyPr/>
          <a:lstStyle/>
          <a:p>
            <a:r>
              <a:rPr lang="zh-CN" altLang="en-US"/>
              <a:t>敏捷价值观</a:t>
            </a:r>
          </a:p>
        </p:txBody>
      </p:sp>
      <p:sp>
        <p:nvSpPr>
          <p:cNvPr id="160771" name="Rectangle 3">
            <a:extLst>
              <a:ext uri="{FF2B5EF4-FFF2-40B4-BE49-F238E27FC236}">
                <a16:creationId xmlns:a16="http://schemas.microsoft.com/office/drawing/2014/main" id="{02246D69-7F02-C7CF-5AAA-4740D0570FB9}"/>
              </a:ext>
            </a:extLst>
          </p:cNvPr>
          <p:cNvSpPr>
            <a:spLocks noGrp="1" noChangeArrowheads="1"/>
          </p:cNvSpPr>
          <p:nvPr>
            <p:ph type="body" idx="1"/>
          </p:nvPr>
        </p:nvSpPr>
        <p:spPr>
          <a:xfrm>
            <a:off x="1847850" y="765175"/>
            <a:ext cx="8496300" cy="5327650"/>
          </a:xfrm>
        </p:spPr>
        <p:txBody>
          <a:bodyPr/>
          <a:lstStyle/>
          <a:p>
            <a:pPr>
              <a:lnSpc>
                <a:spcPct val="150000"/>
              </a:lnSpc>
              <a:spcBef>
                <a:spcPct val="40000"/>
              </a:spcBef>
              <a:buFont typeface="Wingdings" panose="05000000000000000000" pitchFamily="2" charset="2"/>
              <a:buChar char="n"/>
            </a:pPr>
            <a:r>
              <a:rPr lang="zh-CN" altLang="en-US" sz="2800"/>
              <a:t>勇气：</a:t>
            </a:r>
          </a:p>
          <a:p>
            <a:pPr lvl="1">
              <a:lnSpc>
                <a:spcPct val="150000"/>
              </a:lnSpc>
              <a:spcBef>
                <a:spcPct val="40000"/>
              </a:spcBef>
              <a:buClr>
                <a:schemeClr val="accent1"/>
              </a:buClr>
              <a:buFont typeface="Wingdings" panose="05000000000000000000" pitchFamily="2" charset="2"/>
              <a:buChar char="p"/>
            </a:pPr>
            <a:r>
              <a:rPr lang="en-US" altLang="zh-CN" sz="2200"/>
              <a:t>1</a:t>
            </a:r>
            <a:r>
              <a:rPr lang="zh-CN" altLang="en-US" sz="2200"/>
              <a:t>、有勇气</a:t>
            </a:r>
            <a:r>
              <a:rPr lang="zh-CN" altLang="en-US" sz="2200">
                <a:solidFill>
                  <a:srgbClr val="FA0C34"/>
                </a:solidFill>
              </a:rPr>
              <a:t>主动挑战工作</a:t>
            </a:r>
            <a:r>
              <a:rPr lang="zh-CN" altLang="en-US" sz="2200"/>
              <a:t>，并</a:t>
            </a:r>
            <a:r>
              <a:rPr lang="zh-CN" altLang="en-US" sz="2200">
                <a:solidFill>
                  <a:srgbClr val="FA0C34"/>
                </a:solidFill>
              </a:rPr>
              <a:t>承担责任</a:t>
            </a:r>
            <a:r>
              <a:rPr lang="zh-CN" altLang="en-US" sz="2200"/>
              <a:t>。</a:t>
            </a:r>
          </a:p>
          <a:p>
            <a:pPr lvl="1">
              <a:lnSpc>
                <a:spcPct val="150000"/>
              </a:lnSpc>
              <a:spcBef>
                <a:spcPct val="40000"/>
              </a:spcBef>
              <a:buClr>
                <a:schemeClr val="accent1"/>
              </a:buClr>
              <a:buFont typeface="Wingdings" panose="05000000000000000000" pitchFamily="2" charset="2"/>
              <a:buChar char="p"/>
            </a:pPr>
            <a:r>
              <a:rPr lang="en-US" altLang="zh-CN" sz="2200"/>
              <a:t>2</a:t>
            </a:r>
            <a:r>
              <a:rPr lang="zh-CN" altLang="en-US" sz="2200"/>
              <a:t>、有勇气</a:t>
            </a:r>
            <a:r>
              <a:rPr lang="zh-CN" altLang="en-US" sz="2200">
                <a:solidFill>
                  <a:srgbClr val="FA0C34"/>
                </a:solidFill>
              </a:rPr>
              <a:t>只进行简单的设计</a:t>
            </a:r>
            <a:r>
              <a:rPr lang="zh-CN" altLang="en-US" sz="2200"/>
              <a:t>，并相信它能够满足客户需求。</a:t>
            </a:r>
          </a:p>
          <a:p>
            <a:pPr lvl="1">
              <a:lnSpc>
                <a:spcPct val="150000"/>
              </a:lnSpc>
              <a:spcBef>
                <a:spcPct val="40000"/>
              </a:spcBef>
              <a:buClr>
                <a:schemeClr val="accent1"/>
              </a:buClr>
              <a:buFont typeface="Wingdings" panose="05000000000000000000" pitchFamily="2" charset="2"/>
              <a:buChar char="p"/>
            </a:pPr>
            <a:r>
              <a:rPr lang="en-US" altLang="zh-CN" sz="2200"/>
              <a:t>3</a:t>
            </a:r>
            <a:r>
              <a:rPr lang="zh-CN" altLang="en-US" sz="2200"/>
              <a:t>、有勇气</a:t>
            </a:r>
            <a:r>
              <a:rPr lang="zh-CN" altLang="en-US" sz="2200">
                <a:solidFill>
                  <a:srgbClr val="FA0C34"/>
                </a:solidFill>
              </a:rPr>
              <a:t>编写测试代码</a:t>
            </a:r>
            <a:r>
              <a:rPr lang="zh-CN" altLang="en-US" sz="2200"/>
              <a:t>，并相信测试代码能够满足需求。</a:t>
            </a:r>
          </a:p>
          <a:p>
            <a:pPr lvl="1">
              <a:lnSpc>
                <a:spcPct val="150000"/>
              </a:lnSpc>
              <a:spcBef>
                <a:spcPct val="40000"/>
              </a:spcBef>
              <a:buClr>
                <a:schemeClr val="accent1"/>
              </a:buClr>
              <a:buFont typeface="Wingdings" panose="05000000000000000000" pitchFamily="2" charset="2"/>
              <a:buChar char="p"/>
            </a:pPr>
            <a:r>
              <a:rPr lang="en-US" altLang="zh-CN" sz="2200"/>
              <a:t>4</a:t>
            </a:r>
            <a:r>
              <a:rPr lang="zh-CN" altLang="en-US" sz="2200"/>
              <a:t>、有勇气</a:t>
            </a:r>
            <a:r>
              <a:rPr lang="zh-CN" altLang="en-US" sz="2200">
                <a:solidFill>
                  <a:srgbClr val="FA0C34"/>
                </a:solidFill>
              </a:rPr>
              <a:t>拥抱变化</a:t>
            </a:r>
            <a:r>
              <a:rPr lang="zh-CN" altLang="en-US" sz="2200"/>
              <a:t>，积极适应变化，响应客户需求。</a:t>
            </a:r>
          </a:p>
          <a:p>
            <a:pPr lvl="1">
              <a:lnSpc>
                <a:spcPct val="150000"/>
              </a:lnSpc>
              <a:spcBef>
                <a:spcPct val="40000"/>
              </a:spcBef>
              <a:buClr>
                <a:schemeClr val="accent1"/>
              </a:buClr>
              <a:buFont typeface="Wingdings" panose="05000000000000000000" pitchFamily="2" charset="2"/>
              <a:buChar char="p"/>
            </a:pPr>
            <a:r>
              <a:rPr lang="en-US" altLang="zh-CN" sz="2200"/>
              <a:t>5</a:t>
            </a:r>
            <a:r>
              <a:rPr lang="zh-CN" altLang="en-US" sz="2200"/>
              <a:t>、有勇气在</a:t>
            </a:r>
            <a:r>
              <a:rPr lang="zh-CN" altLang="en-US" sz="2200">
                <a:solidFill>
                  <a:srgbClr val="FA0C34"/>
                </a:solidFill>
              </a:rPr>
              <a:t>需求变化时重构代码</a:t>
            </a:r>
            <a:r>
              <a:rPr lang="zh-CN" altLang="en-US" sz="2200"/>
              <a:t>。</a:t>
            </a:r>
          </a:p>
          <a:p>
            <a:pPr lvl="1">
              <a:lnSpc>
                <a:spcPct val="150000"/>
              </a:lnSpc>
              <a:spcBef>
                <a:spcPct val="40000"/>
              </a:spcBef>
              <a:buClr>
                <a:schemeClr val="accent1"/>
              </a:buClr>
              <a:buFont typeface="Wingdings" panose="05000000000000000000" pitchFamily="2" charset="2"/>
              <a:buChar char="p"/>
            </a:pPr>
            <a:r>
              <a:rPr lang="en-US" altLang="zh-CN" sz="2200"/>
              <a:t>6</a:t>
            </a:r>
            <a:r>
              <a:rPr lang="zh-CN" altLang="en-US" sz="2200"/>
              <a:t>、有勇气</a:t>
            </a:r>
            <a:r>
              <a:rPr lang="zh-CN" altLang="en-US" sz="2200">
                <a:solidFill>
                  <a:srgbClr val="FA0C34"/>
                </a:solidFill>
              </a:rPr>
              <a:t>不断采用新的开发技术</a:t>
            </a:r>
            <a:r>
              <a:rPr lang="zh-CN" altLang="en-US" sz="2200"/>
              <a:t>或方法，不断改进，以提高用户满意度。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0771">
                                            <p:txEl>
                                              <p:pRg st="1" end="1"/>
                                            </p:txEl>
                                          </p:spTgt>
                                        </p:tgtEl>
                                        <p:attrNameLst>
                                          <p:attrName>style.visibility</p:attrName>
                                        </p:attrNameLst>
                                      </p:cBhvr>
                                      <p:to>
                                        <p:strVal val="visible"/>
                                      </p:to>
                                    </p:set>
                                    <p:animEffect transition="in" filter="box(in)">
                                      <p:cBhvr>
                                        <p:cTn id="7" dur="1000"/>
                                        <p:tgtEl>
                                          <p:spTgt spid="1607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60771">
                                            <p:txEl>
                                              <p:pRg st="2" end="2"/>
                                            </p:txEl>
                                          </p:spTgt>
                                        </p:tgtEl>
                                        <p:attrNameLst>
                                          <p:attrName>style.visibility</p:attrName>
                                        </p:attrNameLst>
                                      </p:cBhvr>
                                      <p:to>
                                        <p:strVal val="visible"/>
                                      </p:to>
                                    </p:set>
                                    <p:animEffect transition="in" filter="box(in)">
                                      <p:cBhvr>
                                        <p:cTn id="12" dur="1000"/>
                                        <p:tgtEl>
                                          <p:spTgt spid="16077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60771">
                                            <p:txEl>
                                              <p:pRg st="3" end="3"/>
                                            </p:txEl>
                                          </p:spTgt>
                                        </p:tgtEl>
                                        <p:attrNameLst>
                                          <p:attrName>style.visibility</p:attrName>
                                        </p:attrNameLst>
                                      </p:cBhvr>
                                      <p:to>
                                        <p:strVal val="visible"/>
                                      </p:to>
                                    </p:set>
                                    <p:animEffect transition="in" filter="box(in)">
                                      <p:cBhvr>
                                        <p:cTn id="17" dur="1000"/>
                                        <p:tgtEl>
                                          <p:spTgt spid="160771">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60771">
                                            <p:txEl>
                                              <p:pRg st="4" end="4"/>
                                            </p:txEl>
                                          </p:spTgt>
                                        </p:tgtEl>
                                        <p:attrNameLst>
                                          <p:attrName>style.visibility</p:attrName>
                                        </p:attrNameLst>
                                      </p:cBhvr>
                                      <p:to>
                                        <p:strVal val="visible"/>
                                      </p:to>
                                    </p:set>
                                    <p:animEffect transition="in" filter="box(in)">
                                      <p:cBhvr>
                                        <p:cTn id="22" dur="1000"/>
                                        <p:tgtEl>
                                          <p:spTgt spid="160771">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60771">
                                            <p:txEl>
                                              <p:pRg st="5" end="5"/>
                                            </p:txEl>
                                          </p:spTgt>
                                        </p:tgtEl>
                                        <p:attrNameLst>
                                          <p:attrName>style.visibility</p:attrName>
                                        </p:attrNameLst>
                                      </p:cBhvr>
                                      <p:to>
                                        <p:strVal val="visible"/>
                                      </p:to>
                                    </p:set>
                                    <p:animEffect transition="in" filter="box(in)">
                                      <p:cBhvr>
                                        <p:cTn id="27" dur="1000"/>
                                        <p:tgtEl>
                                          <p:spTgt spid="160771">
                                            <p:txEl>
                                              <p:pRg st="5" end="5"/>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60771">
                                            <p:txEl>
                                              <p:pRg st="6" end="6"/>
                                            </p:txEl>
                                          </p:spTgt>
                                        </p:tgtEl>
                                        <p:attrNameLst>
                                          <p:attrName>style.visibility</p:attrName>
                                        </p:attrNameLst>
                                      </p:cBhvr>
                                      <p:to>
                                        <p:strVal val="visible"/>
                                      </p:to>
                                    </p:set>
                                    <p:animEffect transition="in" filter="box(in)">
                                      <p:cBhvr>
                                        <p:cTn id="32" dur="1000"/>
                                        <p:tgtEl>
                                          <p:spTgt spid="16077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6">
            <a:extLst>
              <a:ext uri="{FF2B5EF4-FFF2-40B4-BE49-F238E27FC236}">
                <a16:creationId xmlns:a16="http://schemas.microsoft.com/office/drawing/2014/main" id="{37845E4D-6F67-BFD6-E947-6C683DAE000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1D772EE-A091-470F-A480-6B63811AAFCC}" type="slidenum">
              <a:rPr lang="en-US" altLang="zh-CN" sz="1400">
                <a:solidFill>
                  <a:srgbClr val="000000"/>
                </a:solidFill>
                <a:latin typeface="Arial" panose="020B0604020202020204" pitchFamily="34" charset="0"/>
              </a:rPr>
              <a:pPr fontAlgn="base">
                <a:spcBef>
                  <a:spcPct val="0"/>
                </a:spcBef>
                <a:spcAft>
                  <a:spcPct val="0"/>
                </a:spcAft>
              </a:pPr>
              <a:t>27</a:t>
            </a:fld>
            <a:endParaRPr lang="en-US" altLang="zh-CN" sz="1400">
              <a:solidFill>
                <a:srgbClr val="000000"/>
              </a:solidFill>
              <a:latin typeface="Arial" panose="020B0604020202020204" pitchFamily="34" charset="0"/>
            </a:endParaRPr>
          </a:p>
        </p:txBody>
      </p:sp>
      <p:sp>
        <p:nvSpPr>
          <p:cNvPr id="14339" name="Rectangle 2">
            <a:extLst>
              <a:ext uri="{FF2B5EF4-FFF2-40B4-BE49-F238E27FC236}">
                <a16:creationId xmlns:a16="http://schemas.microsoft.com/office/drawing/2014/main" id="{3E9D4494-BD3B-B92B-D40E-532FED77F95D}"/>
              </a:ext>
            </a:extLst>
          </p:cNvPr>
          <p:cNvSpPr>
            <a:spLocks noGrp="1" noChangeArrowheads="1"/>
          </p:cNvSpPr>
          <p:nvPr>
            <p:ph type="title"/>
          </p:nvPr>
        </p:nvSpPr>
        <p:spPr/>
        <p:txBody>
          <a:bodyPr/>
          <a:lstStyle/>
          <a:p>
            <a:r>
              <a:rPr lang="zh-CN" altLang="en-US"/>
              <a:t>敏捷价值观</a:t>
            </a:r>
          </a:p>
        </p:txBody>
      </p:sp>
      <p:sp>
        <p:nvSpPr>
          <p:cNvPr id="161795" name="Rectangle 3">
            <a:extLst>
              <a:ext uri="{FF2B5EF4-FFF2-40B4-BE49-F238E27FC236}">
                <a16:creationId xmlns:a16="http://schemas.microsoft.com/office/drawing/2014/main" id="{B251658D-6876-304B-D1A2-07FFB04BC356}"/>
              </a:ext>
            </a:extLst>
          </p:cNvPr>
          <p:cNvSpPr>
            <a:spLocks noGrp="1" noChangeArrowheads="1"/>
          </p:cNvSpPr>
          <p:nvPr>
            <p:ph type="body" idx="1"/>
          </p:nvPr>
        </p:nvSpPr>
        <p:spPr>
          <a:xfrm>
            <a:off x="1774825" y="981076"/>
            <a:ext cx="8497888" cy="5256213"/>
          </a:xfrm>
        </p:spPr>
        <p:txBody>
          <a:bodyPr/>
          <a:lstStyle/>
          <a:p>
            <a:pPr lvl="1">
              <a:lnSpc>
                <a:spcPct val="150000"/>
              </a:lnSpc>
              <a:buClr>
                <a:schemeClr val="accent1"/>
              </a:buClr>
              <a:buFont typeface="Wingdings" panose="05000000000000000000" pitchFamily="2" charset="2"/>
              <a:buChar char="p"/>
            </a:pPr>
            <a:r>
              <a:rPr lang="en-US" altLang="zh-CN" sz="2200"/>
              <a:t>7</a:t>
            </a:r>
            <a:r>
              <a:rPr lang="zh-CN" altLang="en-US" sz="2200"/>
              <a:t>、有勇气对自己的阶段工作进行</a:t>
            </a:r>
            <a:r>
              <a:rPr lang="zh-CN" altLang="en-US" sz="2200">
                <a:solidFill>
                  <a:srgbClr val="FA0C34"/>
                </a:solidFill>
              </a:rPr>
              <a:t>回顾</a:t>
            </a:r>
            <a:r>
              <a:rPr lang="zh-CN" altLang="en-US" sz="2200"/>
              <a:t>，</a:t>
            </a:r>
            <a:r>
              <a:rPr lang="zh-CN" altLang="en-US" sz="2200">
                <a:solidFill>
                  <a:srgbClr val="FA0C34"/>
                </a:solidFill>
              </a:rPr>
              <a:t>总结自己错误</a:t>
            </a:r>
            <a:r>
              <a:rPr lang="zh-CN" altLang="en-US" sz="2200"/>
              <a:t>的行为并及时</a:t>
            </a:r>
            <a:r>
              <a:rPr lang="zh-CN" altLang="en-US" sz="2200">
                <a:solidFill>
                  <a:srgbClr val="FA0C34"/>
                </a:solidFill>
              </a:rPr>
              <a:t>纠正</a:t>
            </a:r>
            <a:r>
              <a:rPr lang="zh-CN" altLang="en-US" sz="2200"/>
              <a:t>。</a:t>
            </a:r>
          </a:p>
          <a:p>
            <a:pPr lvl="1">
              <a:lnSpc>
                <a:spcPct val="150000"/>
              </a:lnSpc>
              <a:buClr>
                <a:schemeClr val="accent1"/>
              </a:buClr>
              <a:buFont typeface="Wingdings" panose="05000000000000000000" pitchFamily="2" charset="2"/>
              <a:buChar char="p"/>
            </a:pPr>
            <a:r>
              <a:rPr lang="en-US" altLang="zh-CN" sz="2200"/>
              <a:t>8</a:t>
            </a:r>
            <a:r>
              <a:rPr lang="zh-CN" altLang="en-US" sz="2200"/>
              <a:t>、有勇气</a:t>
            </a:r>
            <a:r>
              <a:rPr lang="zh-CN" altLang="en-US" sz="2200">
                <a:solidFill>
                  <a:srgbClr val="FA0C34"/>
                </a:solidFill>
              </a:rPr>
              <a:t>面对各种困难和风险</a:t>
            </a:r>
            <a:r>
              <a:rPr lang="zh-CN" altLang="en-US" sz="2200"/>
              <a:t>，鼓励并带领伙伴一起齐心协力、克服困难、渡过难关。</a:t>
            </a:r>
          </a:p>
          <a:p>
            <a:pPr lvl="1">
              <a:lnSpc>
                <a:spcPct val="150000"/>
              </a:lnSpc>
              <a:buClr>
                <a:schemeClr val="accent1"/>
              </a:buClr>
              <a:buFont typeface="Wingdings" panose="05000000000000000000" pitchFamily="2" charset="2"/>
              <a:buChar char="p"/>
            </a:pPr>
            <a:r>
              <a:rPr lang="en-US" altLang="zh-CN" sz="2200"/>
              <a:t>9</a:t>
            </a:r>
            <a:r>
              <a:rPr lang="zh-CN" altLang="en-US" sz="2200"/>
              <a:t>、有勇气</a:t>
            </a:r>
            <a:r>
              <a:rPr lang="zh-CN" altLang="en-US" sz="2200">
                <a:solidFill>
                  <a:srgbClr val="FA0C34"/>
                </a:solidFill>
              </a:rPr>
              <a:t>向客户承诺并达到</a:t>
            </a:r>
            <a:r>
              <a:rPr lang="zh-CN" altLang="en-US" sz="2200"/>
              <a:t>它。</a:t>
            </a:r>
          </a:p>
          <a:p>
            <a:pPr lvl="1">
              <a:lnSpc>
                <a:spcPct val="150000"/>
              </a:lnSpc>
              <a:buClr>
                <a:schemeClr val="accent1"/>
              </a:buClr>
              <a:buFont typeface="Wingdings" panose="05000000000000000000" pitchFamily="2" charset="2"/>
              <a:buChar char="p"/>
            </a:pPr>
            <a:r>
              <a:rPr lang="en-US" altLang="zh-CN" sz="2200"/>
              <a:t>10</a:t>
            </a:r>
            <a:r>
              <a:rPr lang="zh-CN" altLang="en-US" sz="2200"/>
              <a:t>、有勇气</a:t>
            </a:r>
            <a:r>
              <a:rPr lang="zh-CN" altLang="en-US" sz="2200">
                <a:solidFill>
                  <a:srgbClr val="FA0C34"/>
                </a:solidFill>
              </a:rPr>
              <a:t>对用户说“不”</a:t>
            </a:r>
            <a:r>
              <a:rPr lang="zh-CN" altLang="en-US" sz="2200"/>
              <a:t>。尊重用户价值，对用户负责，不欺瞒用户。</a:t>
            </a:r>
          </a:p>
          <a:p>
            <a:pPr lvl="1">
              <a:lnSpc>
                <a:spcPct val="150000"/>
              </a:lnSpc>
              <a:buClr>
                <a:schemeClr val="accent1"/>
              </a:buClr>
              <a:buFont typeface="Wingdings" panose="05000000000000000000" pitchFamily="2" charset="2"/>
              <a:buChar char="p"/>
            </a:pPr>
            <a:r>
              <a:rPr lang="en-US" altLang="zh-CN" sz="2200"/>
              <a:t>11</a:t>
            </a:r>
            <a:r>
              <a:rPr lang="zh-CN" altLang="en-US" sz="2200"/>
              <a:t>、有勇气</a:t>
            </a:r>
            <a:r>
              <a:rPr lang="zh-CN" altLang="en-US" sz="2200">
                <a:solidFill>
                  <a:srgbClr val="FA0C34"/>
                </a:solidFill>
              </a:rPr>
              <a:t>挑战权威</a:t>
            </a:r>
            <a:r>
              <a:rPr lang="zh-CN" altLang="en-US" sz="2200"/>
              <a:t>，表达自己正确的见解并用实践证明。</a:t>
            </a:r>
          </a:p>
          <a:p>
            <a:pPr lvl="1">
              <a:lnSpc>
                <a:spcPct val="150000"/>
              </a:lnSpc>
              <a:buClr>
                <a:schemeClr val="accent1"/>
              </a:buClr>
              <a:buFont typeface="Wingdings" panose="05000000000000000000" pitchFamily="2" charset="2"/>
              <a:buChar char="p"/>
            </a:pPr>
            <a:r>
              <a:rPr lang="en-US" altLang="zh-CN" sz="2200"/>
              <a:t>12</a:t>
            </a:r>
            <a:r>
              <a:rPr lang="zh-CN" altLang="en-US" sz="2200"/>
              <a:t>、有勇气</a:t>
            </a:r>
            <a:r>
              <a:rPr lang="zh-CN" altLang="en-US" sz="2200">
                <a:solidFill>
                  <a:srgbClr val="FA0C34"/>
                </a:solidFill>
              </a:rPr>
              <a:t>接受任何成员的好建议</a:t>
            </a:r>
            <a:r>
              <a:rPr lang="zh-CN" altLang="en-US" sz="2200"/>
              <a:t>并改进之。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61795">
                                            <p:txEl>
                                              <p:pRg st="0" end="0"/>
                                            </p:txEl>
                                          </p:spTgt>
                                        </p:tgtEl>
                                        <p:attrNameLst>
                                          <p:attrName>style.visibility</p:attrName>
                                        </p:attrNameLst>
                                      </p:cBhvr>
                                      <p:to>
                                        <p:strVal val="visible"/>
                                      </p:to>
                                    </p:set>
                                    <p:animEffect transition="in" filter="box(in)">
                                      <p:cBhvr>
                                        <p:cTn id="7" dur="1000"/>
                                        <p:tgtEl>
                                          <p:spTgt spid="1617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61795">
                                            <p:txEl>
                                              <p:pRg st="1" end="1"/>
                                            </p:txEl>
                                          </p:spTgt>
                                        </p:tgtEl>
                                        <p:attrNameLst>
                                          <p:attrName>style.visibility</p:attrName>
                                        </p:attrNameLst>
                                      </p:cBhvr>
                                      <p:to>
                                        <p:strVal val="visible"/>
                                      </p:to>
                                    </p:set>
                                    <p:animEffect transition="in" filter="box(in)">
                                      <p:cBhvr>
                                        <p:cTn id="12" dur="1000"/>
                                        <p:tgtEl>
                                          <p:spTgt spid="1617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161795">
                                            <p:txEl>
                                              <p:pRg st="2" end="2"/>
                                            </p:txEl>
                                          </p:spTgt>
                                        </p:tgtEl>
                                        <p:attrNameLst>
                                          <p:attrName>style.visibility</p:attrName>
                                        </p:attrNameLst>
                                      </p:cBhvr>
                                      <p:to>
                                        <p:strVal val="visible"/>
                                      </p:to>
                                    </p:set>
                                    <p:animEffect transition="in" filter="box(in)">
                                      <p:cBhvr>
                                        <p:cTn id="17" dur="1000"/>
                                        <p:tgtEl>
                                          <p:spTgt spid="1617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161795">
                                            <p:txEl>
                                              <p:pRg st="3" end="3"/>
                                            </p:txEl>
                                          </p:spTgt>
                                        </p:tgtEl>
                                        <p:attrNameLst>
                                          <p:attrName>style.visibility</p:attrName>
                                        </p:attrNameLst>
                                      </p:cBhvr>
                                      <p:to>
                                        <p:strVal val="visible"/>
                                      </p:to>
                                    </p:set>
                                    <p:animEffect transition="in" filter="box(in)">
                                      <p:cBhvr>
                                        <p:cTn id="22" dur="1000"/>
                                        <p:tgtEl>
                                          <p:spTgt spid="161795">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161795">
                                            <p:txEl>
                                              <p:pRg st="4" end="4"/>
                                            </p:txEl>
                                          </p:spTgt>
                                        </p:tgtEl>
                                        <p:attrNameLst>
                                          <p:attrName>style.visibility</p:attrName>
                                        </p:attrNameLst>
                                      </p:cBhvr>
                                      <p:to>
                                        <p:strVal val="visible"/>
                                      </p:to>
                                    </p:set>
                                    <p:animEffect transition="in" filter="box(in)">
                                      <p:cBhvr>
                                        <p:cTn id="27" dur="1000"/>
                                        <p:tgtEl>
                                          <p:spTgt spid="161795">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nodeType="clickEffect">
                                  <p:stCondLst>
                                    <p:cond delay="0"/>
                                  </p:stCondLst>
                                  <p:childTnLst>
                                    <p:set>
                                      <p:cBhvr>
                                        <p:cTn id="31" dur="1" fill="hold">
                                          <p:stCondLst>
                                            <p:cond delay="0"/>
                                          </p:stCondLst>
                                        </p:cTn>
                                        <p:tgtEl>
                                          <p:spTgt spid="161795">
                                            <p:txEl>
                                              <p:pRg st="5" end="5"/>
                                            </p:txEl>
                                          </p:spTgt>
                                        </p:tgtEl>
                                        <p:attrNameLst>
                                          <p:attrName>style.visibility</p:attrName>
                                        </p:attrNameLst>
                                      </p:cBhvr>
                                      <p:to>
                                        <p:strVal val="visible"/>
                                      </p:to>
                                    </p:set>
                                    <p:animEffect transition="in" filter="box(in)">
                                      <p:cBhvr>
                                        <p:cTn id="32" dur="1000"/>
                                        <p:tgtEl>
                                          <p:spTgt spid="161795">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6">
            <a:extLst>
              <a:ext uri="{FF2B5EF4-FFF2-40B4-BE49-F238E27FC236}">
                <a16:creationId xmlns:a16="http://schemas.microsoft.com/office/drawing/2014/main" id="{AB0F712C-E962-B825-364D-4C3F7A1BF1B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8C0CE49-9A97-4FE8-9CB6-98297214519B}" type="slidenum">
              <a:rPr lang="en-US" altLang="zh-CN" sz="1400">
                <a:solidFill>
                  <a:srgbClr val="000000"/>
                </a:solidFill>
                <a:latin typeface="Arial" panose="020B0604020202020204" pitchFamily="34" charset="0"/>
              </a:rPr>
              <a:pPr fontAlgn="base">
                <a:spcBef>
                  <a:spcPct val="0"/>
                </a:spcBef>
                <a:spcAft>
                  <a:spcPct val="0"/>
                </a:spcAft>
              </a:pPr>
              <a:t>28</a:t>
            </a:fld>
            <a:endParaRPr lang="en-US" altLang="zh-CN" sz="1400">
              <a:solidFill>
                <a:srgbClr val="000000"/>
              </a:solidFill>
              <a:latin typeface="Arial" panose="020B0604020202020204" pitchFamily="34" charset="0"/>
            </a:endParaRPr>
          </a:p>
        </p:txBody>
      </p:sp>
      <p:sp>
        <p:nvSpPr>
          <p:cNvPr id="15363" name="Rectangle 2">
            <a:extLst>
              <a:ext uri="{FF2B5EF4-FFF2-40B4-BE49-F238E27FC236}">
                <a16:creationId xmlns:a16="http://schemas.microsoft.com/office/drawing/2014/main" id="{3D4B6C63-8604-D4D2-6EEA-6040BA56B095}"/>
              </a:ext>
            </a:extLst>
          </p:cNvPr>
          <p:cNvSpPr>
            <a:spLocks noGrp="1" noChangeArrowheads="1"/>
          </p:cNvSpPr>
          <p:nvPr>
            <p:ph type="title"/>
          </p:nvPr>
        </p:nvSpPr>
        <p:spPr/>
        <p:txBody>
          <a:bodyPr/>
          <a:lstStyle/>
          <a:p>
            <a:r>
              <a:rPr lang="zh-CN" altLang="en-US"/>
              <a:t>本章内容</a:t>
            </a:r>
          </a:p>
        </p:txBody>
      </p:sp>
      <p:sp>
        <p:nvSpPr>
          <p:cNvPr id="15364" name="Rectangle 3">
            <a:extLst>
              <a:ext uri="{FF2B5EF4-FFF2-40B4-BE49-F238E27FC236}">
                <a16:creationId xmlns:a16="http://schemas.microsoft.com/office/drawing/2014/main" id="{D560ED0A-4389-3467-C420-3C061D2E0079}"/>
              </a:ext>
            </a:extLst>
          </p:cNvPr>
          <p:cNvSpPr>
            <a:spLocks noGrp="1" noChangeArrowheads="1"/>
          </p:cNvSpPr>
          <p:nvPr>
            <p:ph type="body" idx="1"/>
          </p:nvPr>
        </p:nvSpPr>
        <p:spPr/>
        <p:txBody>
          <a:bodyPr/>
          <a:lstStyle/>
          <a:p>
            <a:pPr>
              <a:lnSpc>
                <a:spcPct val="160000"/>
              </a:lnSpc>
            </a:pPr>
            <a:r>
              <a:rPr lang="en-US" altLang="zh-CN" sz="2800">
                <a:solidFill>
                  <a:srgbClr val="D333A1"/>
                </a:solidFill>
              </a:rPr>
              <a:t>5.1 </a:t>
            </a:r>
            <a:r>
              <a:rPr lang="zh-CN" altLang="en-US" sz="2800">
                <a:solidFill>
                  <a:srgbClr val="D333A1"/>
                </a:solidFill>
              </a:rPr>
              <a:t>什么是敏捷</a:t>
            </a:r>
          </a:p>
          <a:p>
            <a:pPr>
              <a:lnSpc>
                <a:spcPct val="160000"/>
              </a:lnSpc>
            </a:pPr>
            <a:r>
              <a:rPr lang="en-US" altLang="zh-CN" sz="2800"/>
              <a:t>5.2 </a:t>
            </a:r>
            <a:r>
              <a:rPr lang="zh-CN" altLang="en-US" sz="2800"/>
              <a:t>敏捷及变更成本</a:t>
            </a:r>
          </a:p>
          <a:p>
            <a:pPr>
              <a:lnSpc>
                <a:spcPct val="160000"/>
              </a:lnSpc>
            </a:pPr>
            <a:r>
              <a:rPr lang="en-US" altLang="zh-CN" sz="2800"/>
              <a:t>5.3 </a:t>
            </a:r>
            <a:r>
              <a:rPr lang="zh-CN" altLang="en-US" sz="2800"/>
              <a:t>什么是敏捷过程</a:t>
            </a:r>
          </a:p>
          <a:p>
            <a:pPr>
              <a:lnSpc>
                <a:spcPct val="160000"/>
              </a:lnSpc>
            </a:pPr>
            <a:r>
              <a:rPr lang="en-US" altLang="zh-CN" sz="2800"/>
              <a:t>5.4 </a:t>
            </a:r>
            <a:r>
              <a:rPr lang="zh-CN" altLang="en-US" sz="2800"/>
              <a:t>极限编程</a:t>
            </a:r>
          </a:p>
          <a:p>
            <a:pPr>
              <a:lnSpc>
                <a:spcPct val="160000"/>
              </a:lnSpc>
            </a:pPr>
            <a:r>
              <a:rPr lang="en-US" altLang="zh-CN" sz="2800"/>
              <a:t>5.5 </a:t>
            </a:r>
            <a:r>
              <a:rPr lang="zh-CN" altLang="en-US" sz="2800"/>
              <a:t>其他敏捷过程模型</a:t>
            </a:r>
          </a:p>
          <a:p>
            <a:pPr>
              <a:lnSpc>
                <a:spcPct val="160000"/>
              </a:lnSpc>
            </a:pPr>
            <a:r>
              <a:rPr lang="en-US" altLang="zh-CN" sz="2800"/>
              <a:t>5.6 </a:t>
            </a:r>
            <a:r>
              <a:rPr lang="zh-CN" altLang="en-US" sz="2800"/>
              <a:t>敏捷过程工具集</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6">
            <a:extLst>
              <a:ext uri="{FF2B5EF4-FFF2-40B4-BE49-F238E27FC236}">
                <a16:creationId xmlns:a16="http://schemas.microsoft.com/office/drawing/2014/main" id="{573290E1-670E-83F8-136B-F18225C97CF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8E0687A-01C6-4C5D-832A-26AB3E2E9F2B}" type="slidenum">
              <a:rPr lang="en-US" altLang="zh-CN" sz="1400">
                <a:solidFill>
                  <a:srgbClr val="000000"/>
                </a:solidFill>
                <a:latin typeface="Arial" panose="020B0604020202020204" pitchFamily="34" charset="0"/>
              </a:rPr>
              <a:pPr fontAlgn="base">
                <a:spcBef>
                  <a:spcPct val="0"/>
                </a:spcBef>
                <a:spcAft>
                  <a:spcPct val="0"/>
                </a:spcAft>
              </a:pPr>
              <a:t>29</a:t>
            </a:fld>
            <a:endParaRPr lang="en-US" altLang="zh-CN" sz="1400">
              <a:solidFill>
                <a:srgbClr val="000000"/>
              </a:solidFill>
              <a:latin typeface="Arial" panose="020B0604020202020204" pitchFamily="34" charset="0"/>
            </a:endParaRPr>
          </a:p>
        </p:txBody>
      </p:sp>
      <p:sp>
        <p:nvSpPr>
          <p:cNvPr id="16387" name="Rectangle 2">
            <a:extLst>
              <a:ext uri="{FF2B5EF4-FFF2-40B4-BE49-F238E27FC236}">
                <a16:creationId xmlns:a16="http://schemas.microsoft.com/office/drawing/2014/main" id="{EF35E8B8-9F4B-7C55-6690-5A0667369488}"/>
              </a:ext>
            </a:extLst>
          </p:cNvPr>
          <p:cNvSpPr>
            <a:spLocks noGrp="1" noChangeArrowheads="1"/>
          </p:cNvSpPr>
          <p:nvPr>
            <p:ph type="title"/>
          </p:nvPr>
        </p:nvSpPr>
        <p:spPr/>
        <p:txBody>
          <a:bodyPr/>
          <a:lstStyle/>
          <a:p>
            <a:r>
              <a:rPr lang="en-US" altLang="zh-CN"/>
              <a:t>5.1 </a:t>
            </a:r>
            <a:r>
              <a:rPr lang="zh-CN" altLang="en-US"/>
              <a:t>什么是敏捷</a:t>
            </a:r>
          </a:p>
        </p:txBody>
      </p:sp>
      <p:sp>
        <p:nvSpPr>
          <p:cNvPr id="83971" name="Rectangle 3">
            <a:extLst>
              <a:ext uri="{FF2B5EF4-FFF2-40B4-BE49-F238E27FC236}">
                <a16:creationId xmlns:a16="http://schemas.microsoft.com/office/drawing/2014/main" id="{16537C07-A69C-E53C-2845-282B39FCDB7E}"/>
              </a:ext>
            </a:extLst>
          </p:cNvPr>
          <p:cNvSpPr>
            <a:spLocks noGrp="1" noChangeArrowheads="1"/>
          </p:cNvSpPr>
          <p:nvPr>
            <p:ph type="body" idx="1"/>
          </p:nvPr>
        </p:nvSpPr>
        <p:spPr/>
        <p:txBody>
          <a:bodyPr/>
          <a:lstStyle/>
          <a:p>
            <a:pPr>
              <a:lnSpc>
                <a:spcPct val="145000"/>
              </a:lnSpc>
              <a:buFont typeface="Wingdings" panose="05000000000000000000" pitchFamily="2" charset="2"/>
              <a:buChar char="n"/>
            </a:pPr>
            <a:r>
              <a:rPr lang="zh-CN" altLang="en-US" sz="2200"/>
              <a:t>敏捷已经成为当今</a:t>
            </a:r>
            <a:r>
              <a:rPr lang="zh-CN" altLang="en-US" sz="2200">
                <a:solidFill>
                  <a:srgbClr val="FA0C34"/>
                </a:solidFill>
              </a:rPr>
              <a:t>描述现代软件过程的时髦用词</a:t>
            </a:r>
            <a:r>
              <a:rPr lang="zh-CN" altLang="en-US" sz="2200"/>
              <a:t>。每个人都是敏捷的。</a:t>
            </a:r>
            <a:r>
              <a:rPr lang="zh-CN" altLang="en-US" sz="2200">
                <a:solidFill>
                  <a:srgbClr val="D333A1"/>
                </a:solidFill>
              </a:rPr>
              <a:t>敏捷团队是能够适当响应变化的灵活团队</a:t>
            </a:r>
            <a:r>
              <a:rPr lang="zh-CN" altLang="en-US" sz="2200"/>
              <a:t>：</a:t>
            </a:r>
          </a:p>
          <a:p>
            <a:pPr lvl="1">
              <a:lnSpc>
                <a:spcPct val="145000"/>
              </a:lnSpc>
              <a:buFont typeface="Wingdings" panose="05000000000000000000" pitchFamily="2" charset="2"/>
              <a:buChar char="n"/>
            </a:pPr>
            <a:r>
              <a:rPr lang="zh-CN" altLang="en-US" sz="2000">
                <a:solidFill>
                  <a:srgbClr val="FA0C34"/>
                </a:solidFill>
              </a:rPr>
              <a:t>变化就是软件开发本身</a:t>
            </a:r>
            <a:r>
              <a:rPr lang="zh-CN" altLang="en-US" sz="2000"/>
              <a:t>，软件构建有变化、团队成员在变化、使用新技术会带来变化。</a:t>
            </a:r>
          </a:p>
          <a:p>
            <a:pPr lvl="1">
              <a:lnSpc>
                <a:spcPct val="145000"/>
              </a:lnSpc>
              <a:buFont typeface="Wingdings" panose="05000000000000000000" pitchFamily="2" charset="2"/>
              <a:buChar char="n"/>
            </a:pPr>
            <a:r>
              <a:rPr lang="zh-CN" altLang="en-US" sz="2000">
                <a:solidFill>
                  <a:srgbClr val="FA0C34"/>
                </a:solidFill>
              </a:rPr>
              <a:t>各种变化</a:t>
            </a:r>
            <a:r>
              <a:rPr lang="zh-CN" altLang="en-US" sz="2000"/>
              <a:t>都会对开发的软件</a:t>
            </a:r>
            <a:r>
              <a:rPr lang="zh-CN" altLang="en-US" sz="2000">
                <a:solidFill>
                  <a:srgbClr val="FA0C34"/>
                </a:solidFill>
              </a:rPr>
              <a:t>产品</a:t>
            </a:r>
            <a:r>
              <a:rPr lang="zh-CN" altLang="en-US" sz="2000"/>
              <a:t>以及</a:t>
            </a:r>
            <a:r>
              <a:rPr lang="zh-CN" altLang="en-US" sz="2000">
                <a:solidFill>
                  <a:srgbClr val="FA0C34"/>
                </a:solidFill>
              </a:rPr>
              <a:t>项目</a:t>
            </a:r>
            <a:r>
              <a:rPr lang="zh-CN" altLang="en-US" sz="2000"/>
              <a:t>本身</a:t>
            </a:r>
            <a:r>
              <a:rPr lang="zh-CN" altLang="en-US" sz="2000">
                <a:solidFill>
                  <a:srgbClr val="FA0C34"/>
                </a:solidFill>
              </a:rPr>
              <a:t>造成影响</a:t>
            </a:r>
            <a:r>
              <a:rPr lang="zh-CN" altLang="en-US" sz="2000"/>
              <a:t>。我们</a:t>
            </a:r>
            <a:r>
              <a:rPr lang="zh-CN" altLang="en-US" sz="2000">
                <a:solidFill>
                  <a:srgbClr val="D333A1"/>
                </a:solidFill>
              </a:rPr>
              <a:t>必须接受“支持变化”的思想</a:t>
            </a:r>
            <a:r>
              <a:rPr lang="zh-CN" altLang="en-US" sz="2000"/>
              <a:t>，它应当根植于软件开发的每一件事中，因为它是软件的心脏与灵魂。</a:t>
            </a:r>
          </a:p>
          <a:p>
            <a:pPr lvl="1">
              <a:lnSpc>
                <a:spcPct val="145000"/>
              </a:lnSpc>
              <a:buFont typeface="Wingdings" panose="05000000000000000000" pitchFamily="2" charset="2"/>
              <a:buChar char="n"/>
            </a:pPr>
            <a:r>
              <a:rPr lang="zh-CN" altLang="en-US" sz="2000"/>
              <a:t>敏捷团队意识到</a:t>
            </a:r>
            <a:r>
              <a:rPr lang="zh-CN" altLang="en-US" sz="2000">
                <a:solidFill>
                  <a:srgbClr val="FA0C34"/>
                </a:solidFill>
              </a:rPr>
              <a:t>软件是由团队中所有人共同开发完成的</a:t>
            </a:r>
            <a:r>
              <a:rPr lang="zh-CN" altLang="en-US" sz="2000"/>
              <a:t>，这些人的</a:t>
            </a:r>
            <a:r>
              <a:rPr lang="zh-CN" altLang="en-US" sz="2000">
                <a:solidFill>
                  <a:srgbClr val="D333A1"/>
                </a:solidFill>
              </a:rPr>
              <a:t>个人技能</a:t>
            </a:r>
            <a:r>
              <a:rPr lang="zh-CN" altLang="en-US" sz="2000"/>
              <a:t>和</a:t>
            </a:r>
            <a:r>
              <a:rPr lang="zh-CN" altLang="en-US" sz="2000">
                <a:solidFill>
                  <a:srgbClr val="D333A1"/>
                </a:solidFill>
              </a:rPr>
              <a:t>合作能力</a:t>
            </a:r>
            <a:r>
              <a:rPr lang="zh-CN" altLang="en-US" sz="2000"/>
              <a:t>是项目成功的关键所在。 </a:t>
            </a:r>
          </a:p>
          <a:p>
            <a:pPr>
              <a:lnSpc>
                <a:spcPct val="145000"/>
              </a:lnSpc>
              <a:buFont typeface="Wingdings" panose="05000000000000000000" pitchFamily="2" charset="2"/>
              <a:buChar char="n"/>
            </a:pPr>
            <a:r>
              <a:rPr lang="zh-CN" altLang="en-US" sz="2200">
                <a:solidFill>
                  <a:srgbClr val="D333A1"/>
                </a:solidFill>
              </a:rPr>
              <a:t>普遍存在的变化</a:t>
            </a:r>
            <a:r>
              <a:rPr lang="zh-CN" altLang="en-US" sz="2200"/>
              <a:t>是敏捷的基本动力。</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3971">
                                            <p:txEl>
                                              <p:pRg st="1" end="1"/>
                                            </p:txEl>
                                          </p:spTgt>
                                        </p:tgtEl>
                                        <p:attrNameLst>
                                          <p:attrName>style.visibility</p:attrName>
                                        </p:attrNameLst>
                                      </p:cBhvr>
                                      <p:to>
                                        <p:strVal val="visible"/>
                                      </p:to>
                                    </p:set>
                                    <p:anim calcmode="lin" valueType="num">
                                      <p:cBhvr additive="base">
                                        <p:cTn id="7" dur="1000" fill="hold"/>
                                        <p:tgtEl>
                                          <p:spTgt spid="83971">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839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83971">
                                            <p:txEl>
                                              <p:pRg st="2" end="2"/>
                                            </p:txEl>
                                          </p:spTgt>
                                        </p:tgtEl>
                                        <p:attrNameLst>
                                          <p:attrName>style.visibility</p:attrName>
                                        </p:attrNameLst>
                                      </p:cBhvr>
                                      <p:to>
                                        <p:strVal val="visible"/>
                                      </p:to>
                                    </p:set>
                                    <p:anim calcmode="lin" valueType="num">
                                      <p:cBhvr additive="base">
                                        <p:cTn id="13" dur="1000" fill="hold"/>
                                        <p:tgtEl>
                                          <p:spTgt spid="83971">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839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83971">
                                            <p:txEl>
                                              <p:pRg st="3" end="3"/>
                                            </p:txEl>
                                          </p:spTgt>
                                        </p:tgtEl>
                                        <p:attrNameLst>
                                          <p:attrName>style.visibility</p:attrName>
                                        </p:attrNameLst>
                                      </p:cBhvr>
                                      <p:to>
                                        <p:strVal val="visible"/>
                                      </p:to>
                                    </p:set>
                                    <p:anim calcmode="lin" valueType="num">
                                      <p:cBhvr additive="base">
                                        <p:cTn id="19" dur="1000" fill="hold"/>
                                        <p:tgtEl>
                                          <p:spTgt spid="83971">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839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83971">
                                            <p:txEl>
                                              <p:pRg st="4" end="4"/>
                                            </p:txEl>
                                          </p:spTgt>
                                        </p:tgtEl>
                                        <p:attrNameLst>
                                          <p:attrName>style.visibility</p:attrName>
                                        </p:attrNameLst>
                                      </p:cBhvr>
                                      <p:to>
                                        <p:strVal val="visible"/>
                                      </p:to>
                                    </p:set>
                                    <p:anim calcmode="lin" valueType="num">
                                      <p:cBhvr additive="base">
                                        <p:cTn id="25" dur="1000" fill="hold"/>
                                        <p:tgtEl>
                                          <p:spTgt spid="83971">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8397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6">
            <a:extLst>
              <a:ext uri="{FF2B5EF4-FFF2-40B4-BE49-F238E27FC236}">
                <a16:creationId xmlns:a16="http://schemas.microsoft.com/office/drawing/2014/main" id="{D2C6F97F-8C43-7B59-A058-C983E4EB07C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C7EDEB3-3B82-4CEB-9A1D-DFB314475F9C}" type="slidenum">
              <a:rPr lang="en-US" altLang="zh-CN" sz="1400">
                <a:solidFill>
                  <a:srgbClr val="000000"/>
                </a:solidFill>
                <a:latin typeface="Arial" panose="020B0604020202020204" pitchFamily="34" charset="0"/>
              </a:rPr>
              <a:pPr fontAlgn="base">
                <a:spcBef>
                  <a:spcPct val="0"/>
                </a:spcBef>
                <a:spcAft>
                  <a:spcPct val="0"/>
                </a:spcAft>
              </a:pPr>
              <a:t>30</a:t>
            </a:fld>
            <a:endParaRPr lang="en-US" altLang="zh-CN" sz="1400">
              <a:solidFill>
                <a:srgbClr val="000000"/>
              </a:solidFill>
              <a:latin typeface="Arial" panose="020B0604020202020204" pitchFamily="34" charset="0"/>
            </a:endParaRPr>
          </a:p>
        </p:txBody>
      </p:sp>
      <p:sp>
        <p:nvSpPr>
          <p:cNvPr id="17411" name="Rectangle 2">
            <a:extLst>
              <a:ext uri="{FF2B5EF4-FFF2-40B4-BE49-F238E27FC236}">
                <a16:creationId xmlns:a16="http://schemas.microsoft.com/office/drawing/2014/main" id="{A8E33810-7643-D635-D914-0D24927DE2DA}"/>
              </a:ext>
            </a:extLst>
          </p:cNvPr>
          <p:cNvSpPr>
            <a:spLocks noGrp="1" noChangeArrowheads="1"/>
          </p:cNvSpPr>
          <p:nvPr>
            <p:ph type="title"/>
          </p:nvPr>
        </p:nvSpPr>
        <p:spPr/>
        <p:txBody>
          <a:bodyPr/>
          <a:lstStyle/>
          <a:p>
            <a:r>
              <a:rPr lang="zh-CN" altLang="en-US"/>
              <a:t>什么是敏捷</a:t>
            </a:r>
          </a:p>
        </p:txBody>
      </p:sp>
      <p:sp>
        <p:nvSpPr>
          <p:cNvPr id="84995" name="Rectangle 3">
            <a:extLst>
              <a:ext uri="{FF2B5EF4-FFF2-40B4-BE49-F238E27FC236}">
                <a16:creationId xmlns:a16="http://schemas.microsoft.com/office/drawing/2014/main" id="{8B415239-FA6B-1B18-26AD-7CFCCCF66C4C}"/>
              </a:ext>
            </a:extLst>
          </p:cNvPr>
          <p:cNvSpPr>
            <a:spLocks noGrp="1" noChangeArrowheads="1"/>
          </p:cNvSpPr>
          <p:nvPr>
            <p:ph type="body" idx="1"/>
          </p:nvPr>
        </p:nvSpPr>
        <p:spPr/>
        <p:txBody>
          <a:bodyPr/>
          <a:lstStyle/>
          <a:p>
            <a:pPr>
              <a:lnSpc>
                <a:spcPct val="150000"/>
              </a:lnSpc>
              <a:buFont typeface="Wingdings" panose="05000000000000000000" pitchFamily="2" charset="2"/>
              <a:buChar char="n"/>
            </a:pPr>
            <a:r>
              <a:rPr lang="zh-CN" altLang="en-US"/>
              <a:t>敏捷</a:t>
            </a:r>
            <a:r>
              <a:rPr lang="zh-CN" altLang="en-US">
                <a:solidFill>
                  <a:srgbClr val="D333A1"/>
                </a:solidFill>
              </a:rPr>
              <a:t>不仅仅是有效地响应变化</a:t>
            </a:r>
            <a:r>
              <a:rPr lang="zh-CN" altLang="en-US"/>
              <a:t>：</a:t>
            </a:r>
          </a:p>
          <a:p>
            <a:pPr lvl="1">
              <a:lnSpc>
                <a:spcPct val="150000"/>
              </a:lnSpc>
              <a:buFont typeface="Wingdings" panose="05000000000000000000" pitchFamily="2" charset="2"/>
              <a:buChar char="n"/>
            </a:pPr>
            <a:r>
              <a:rPr lang="zh-CN" altLang="en-US" sz="2200"/>
              <a:t>它鼓励能够形成</a:t>
            </a:r>
            <a:r>
              <a:rPr lang="zh-CN" altLang="en-US" sz="2200">
                <a:solidFill>
                  <a:srgbClr val="D333A1"/>
                </a:solidFill>
              </a:rPr>
              <a:t>沟通</a:t>
            </a:r>
            <a:r>
              <a:rPr lang="zh-CN" altLang="en-US" sz="2200"/>
              <a:t>（组员之间、技术和商务人员之间、软件工程师和经理之间）更便利的团队结构和协作态度。</a:t>
            </a:r>
          </a:p>
          <a:p>
            <a:pPr lvl="1">
              <a:lnSpc>
                <a:spcPct val="150000"/>
              </a:lnSpc>
              <a:buFont typeface="Wingdings" panose="05000000000000000000" pitchFamily="2" charset="2"/>
              <a:buChar char="n"/>
            </a:pPr>
            <a:r>
              <a:rPr lang="zh-CN" altLang="en-US" sz="2200"/>
              <a:t>它强调可运行软件的</a:t>
            </a:r>
            <a:r>
              <a:rPr lang="zh-CN" altLang="en-US" sz="2200">
                <a:solidFill>
                  <a:srgbClr val="D333A1"/>
                </a:solidFill>
              </a:rPr>
              <a:t>快速交付</a:t>
            </a:r>
            <a:r>
              <a:rPr lang="zh-CN" altLang="en-US" sz="2200"/>
              <a:t>而不那么看重中间产品（这并不总是好事情）；</a:t>
            </a:r>
          </a:p>
          <a:p>
            <a:pPr lvl="1">
              <a:lnSpc>
                <a:spcPct val="150000"/>
              </a:lnSpc>
              <a:buFont typeface="Wingdings" panose="05000000000000000000" pitchFamily="2" charset="2"/>
              <a:buChar char="n"/>
            </a:pPr>
            <a:r>
              <a:rPr lang="zh-CN" altLang="en-US" sz="2200"/>
              <a:t>它</a:t>
            </a:r>
            <a:r>
              <a:rPr lang="zh-CN" altLang="en-US" sz="2200">
                <a:solidFill>
                  <a:srgbClr val="D333A1"/>
                </a:solidFill>
              </a:rPr>
              <a:t>将客户作为开发团队的成员</a:t>
            </a:r>
            <a:r>
              <a:rPr lang="zh-CN" altLang="en-US" sz="2200"/>
              <a:t>以消除一直普遍存在多数软件项目中的“区分你我”的态度；</a:t>
            </a:r>
          </a:p>
          <a:p>
            <a:pPr lvl="1">
              <a:lnSpc>
                <a:spcPct val="150000"/>
              </a:lnSpc>
              <a:buFont typeface="Wingdings" panose="05000000000000000000" pitchFamily="2" charset="2"/>
              <a:buChar char="n"/>
            </a:pPr>
            <a:r>
              <a:rPr lang="zh-CN" altLang="en-US" sz="2200"/>
              <a:t>它意识到在不确定的世界里</a:t>
            </a:r>
            <a:r>
              <a:rPr lang="zh-CN" altLang="en-US" sz="2200">
                <a:solidFill>
                  <a:srgbClr val="FA0C34"/>
                </a:solidFill>
              </a:rPr>
              <a:t>计划是有局限性</a:t>
            </a:r>
            <a:r>
              <a:rPr lang="zh-CN" altLang="en-US" sz="2200"/>
              <a:t>的，</a:t>
            </a:r>
            <a:r>
              <a:rPr lang="zh-CN" altLang="en-US" sz="2200">
                <a:solidFill>
                  <a:srgbClr val="D333A1"/>
                </a:solidFill>
              </a:rPr>
              <a:t>项目计划必须是可以灵活调整的</a:t>
            </a:r>
            <a:r>
              <a:rPr lang="zh-CN" altLang="en-US" sz="2200"/>
              <a:t>。</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4995">
                                            <p:txEl>
                                              <p:pRg st="1" end="1"/>
                                            </p:txEl>
                                          </p:spTgt>
                                        </p:tgtEl>
                                        <p:attrNameLst>
                                          <p:attrName>style.visibility</p:attrName>
                                        </p:attrNameLst>
                                      </p:cBhvr>
                                      <p:to>
                                        <p:strVal val="visible"/>
                                      </p:to>
                                    </p:set>
                                    <p:animEffect transition="in" filter="box(in)">
                                      <p:cBhvr>
                                        <p:cTn id="7" dur="1000"/>
                                        <p:tgtEl>
                                          <p:spTgt spid="849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84995">
                                            <p:txEl>
                                              <p:pRg st="2" end="2"/>
                                            </p:txEl>
                                          </p:spTgt>
                                        </p:tgtEl>
                                        <p:attrNameLst>
                                          <p:attrName>style.visibility</p:attrName>
                                        </p:attrNameLst>
                                      </p:cBhvr>
                                      <p:to>
                                        <p:strVal val="visible"/>
                                      </p:to>
                                    </p:set>
                                    <p:animEffect transition="in" filter="box(in)">
                                      <p:cBhvr>
                                        <p:cTn id="12" dur="1000"/>
                                        <p:tgtEl>
                                          <p:spTgt spid="849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84995">
                                            <p:txEl>
                                              <p:pRg st="3" end="3"/>
                                            </p:txEl>
                                          </p:spTgt>
                                        </p:tgtEl>
                                        <p:attrNameLst>
                                          <p:attrName>style.visibility</p:attrName>
                                        </p:attrNameLst>
                                      </p:cBhvr>
                                      <p:to>
                                        <p:strVal val="visible"/>
                                      </p:to>
                                    </p:set>
                                    <p:animEffect transition="in" filter="box(in)">
                                      <p:cBhvr>
                                        <p:cTn id="17" dur="1000"/>
                                        <p:tgtEl>
                                          <p:spTgt spid="84995">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84995">
                                            <p:txEl>
                                              <p:pRg st="4" end="4"/>
                                            </p:txEl>
                                          </p:spTgt>
                                        </p:tgtEl>
                                        <p:attrNameLst>
                                          <p:attrName>style.visibility</p:attrName>
                                        </p:attrNameLst>
                                      </p:cBhvr>
                                      <p:to>
                                        <p:strVal val="visible"/>
                                      </p:to>
                                    </p:set>
                                    <p:animEffect transition="in" filter="box(in)">
                                      <p:cBhvr>
                                        <p:cTn id="22" dur="1000"/>
                                        <p:tgtEl>
                                          <p:spTgt spid="849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6">
            <a:extLst>
              <a:ext uri="{FF2B5EF4-FFF2-40B4-BE49-F238E27FC236}">
                <a16:creationId xmlns:a16="http://schemas.microsoft.com/office/drawing/2014/main" id="{F9EFD641-1638-415C-B47C-4900E08A2AD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5DDE953-BE71-4BCC-9A34-58D82A2DFF76}" type="slidenum">
              <a:rPr lang="en-US" altLang="zh-CN" sz="1400">
                <a:solidFill>
                  <a:srgbClr val="000000"/>
                </a:solidFill>
                <a:latin typeface="Arial" panose="020B0604020202020204" pitchFamily="34" charset="0"/>
              </a:rPr>
              <a:pPr fontAlgn="base">
                <a:spcBef>
                  <a:spcPct val="0"/>
                </a:spcBef>
                <a:spcAft>
                  <a:spcPct val="0"/>
                </a:spcAft>
              </a:pPr>
              <a:t>31</a:t>
            </a:fld>
            <a:endParaRPr lang="en-US" altLang="zh-CN" sz="1400">
              <a:solidFill>
                <a:srgbClr val="000000"/>
              </a:solidFill>
              <a:latin typeface="Arial" panose="020B0604020202020204" pitchFamily="34" charset="0"/>
            </a:endParaRPr>
          </a:p>
        </p:txBody>
      </p:sp>
      <p:sp>
        <p:nvSpPr>
          <p:cNvPr id="18435" name="Rectangle 2">
            <a:extLst>
              <a:ext uri="{FF2B5EF4-FFF2-40B4-BE49-F238E27FC236}">
                <a16:creationId xmlns:a16="http://schemas.microsoft.com/office/drawing/2014/main" id="{46955A99-0D40-57DA-A959-B240B3B5EB73}"/>
              </a:ext>
            </a:extLst>
          </p:cNvPr>
          <p:cNvSpPr>
            <a:spLocks noGrp="1" noChangeArrowheads="1"/>
          </p:cNvSpPr>
          <p:nvPr>
            <p:ph type="title"/>
          </p:nvPr>
        </p:nvSpPr>
        <p:spPr/>
        <p:txBody>
          <a:bodyPr/>
          <a:lstStyle/>
          <a:p>
            <a:r>
              <a:rPr lang="zh-CN" altLang="en-US"/>
              <a:t>本章内容</a:t>
            </a:r>
          </a:p>
        </p:txBody>
      </p:sp>
      <p:sp>
        <p:nvSpPr>
          <p:cNvPr id="18436" name="Rectangle 3">
            <a:extLst>
              <a:ext uri="{FF2B5EF4-FFF2-40B4-BE49-F238E27FC236}">
                <a16:creationId xmlns:a16="http://schemas.microsoft.com/office/drawing/2014/main" id="{8495B57B-72B2-C4D7-4D98-B032B901DB1D}"/>
              </a:ext>
            </a:extLst>
          </p:cNvPr>
          <p:cNvSpPr>
            <a:spLocks noGrp="1" noChangeArrowheads="1"/>
          </p:cNvSpPr>
          <p:nvPr>
            <p:ph type="body" idx="1"/>
          </p:nvPr>
        </p:nvSpPr>
        <p:spPr/>
        <p:txBody>
          <a:bodyPr/>
          <a:lstStyle/>
          <a:p>
            <a:pPr>
              <a:lnSpc>
                <a:spcPct val="160000"/>
              </a:lnSpc>
            </a:pPr>
            <a:r>
              <a:rPr lang="en-US" altLang="zh-CN" sz="2800"/>
              <a:t>5.1 </a:t>
            </a:r>
            <a:r>
              <a:rPr lang="zh-CN" altLang="en-US" sz="2800"/>
              <a:t>什么是敏捷</a:t>
            </a:r>
          </a:p>
          <a:p>
            <a:pPr>
              <a:lnSpc>
                <a:spcPct val="160000"/>
              </a:lnSpc>
            </a:pPr>
            <a:r>
              <a:rPr lang="en-US" altLang="zh-CN" sz="2800">
                <a:solidFill>
                  <a:srgbClr val="D333A1"/>
                </a:solidFill>
              </a:rPr>
              <a:t>5.2 </a:t>
            </a:r>
            <a:r>
              <a:rPr lang="zh-CN" altLang="en-US" sz="2800">
                <a:solidFill>
                  <a:srgbClr val="D333A1"/>
                </a:solidFill>
              </a:rPr>
              <a:t>敏捷及变更成本</a:t>
            </a:r>
          </a:p>
          <a:p>
            <a:pPr>
              <a:lnSpc>
                <a:spcPct val="160000"/>
              </a:lnSpc>
            </a:pPr>
            <a:r>
              <a:rPr lang="en-US" altLang="zh-CN" sz="2800"/>
              <a:t>5.3 </a:t>
            </a:r>
            <a:r>
              <a:rPr lang="zh-CN" altLang="en-US" sz="2800"/>
              <a:t>什么是敏捷过程</a:t>
            </a:r>
          </a:p>
          <a:p>
            <a:pPr>
              <a:lnSpc>
                <a:spcPct val="160000"/>
              </a:lnSpc>
            </a:pPr>
            <a:r>
              <a:rPr lang="en-US" altLang="zh-CN" sz="2800"/>
              <a:t>5.4 </a:t>
            </a:r>
            <a:r>
              <a:rPr lang="zh-CN" altLang="en-US" sz="2800"/>
              <a:t>极限编程</a:t>
            </a:r>
          </a:p>
          <a:p>
            <a:pPr>
              <a:lnSpc>
                <a:spcPct val="160000"/>
              </a:lnSpc>
            </a:pPr>
            <a:r>
              <a:rPr lang="en-US" altLang="zh-CN" sz="2800"/>
              <a:t>5.5 </a:t>
            </a:r>
            <a:r>
              <a:rPr lang="zh-CN" altLang="en-US" sz="2800"/>
              <a:t>其他敏捷过程模型</a:t>
            </a:r>
          </a:p>
          <a:p>
            <a:pPr>
              <a:lnSpc>
                <a:spcPct val="160000"/>
              </a:lnSpc>
            </a:pPr>
            <a:r>
              <a:rPr lang="en-US" altLang="zh-CN" sz="2800"/>
              <a:t>5.6 </a:t>
            </a:r>
            <a:r>
              <a:rPr lang="zh-CN" altLang="en-US" sz="2800"/>
              <a:t>敏捷过程工具集</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6">
            <a:extLst>
              <a:ext uri="{FF2B5EF4-FFF2-40B4-BE49-F238E27FC236}">
                <a16:creationId xmlns:a16="http://schemas.microsoft.com/office/drawing/2014/main" id="{687DBF93-EE26-ABA4-AE8B-0F8F32C6506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25F59D0-5AB6-45B0-A576-6C88D781C689}" type="slidenum">
              <a:rPr lang="en-US" altLang="zh-CN" sz="1400">
                <a:solidFill>
                  <a:srgbClr val="000000"/>
                </a:solidFill>
                <a:latin typeface="Arial" panose="020B0604020202020204" pitchFamily="34" charset="0"/>
              </a:rPr>
              <a:pPr fontAlgn="base">
                <a:spcBef>
                  <a:spcPct val="0"/>
                </a:spcBef>
                <a:spcAft>
                  <a:spcPct val="0"/>
                </a:spcAft>
              </a:pPr>
              <a:t>32</a:t>
            </a:fld>
            <a:endParaRPr lang="en-US" altLang="zh-CN" sz="1400">
              <a:solidFill>
                <a:srgbClr val="000000"/>
              </a:solidFill>
              <a:latin typeface="Arial" panose="020B0604020202020204" pitchFamily="34" charset="0"/>
            </a:endParaRPr>
          </a:p>
        </p:txBody>
      </p:sp>
      <p:sp>
        <p:nvSpPr>
          <p:cNvPr id="19459" name="Rectangle 2">
            <a:extLst>
              <a:ext uri="{FF2B5EF4-FFF2-40B4-BE49-F238E27FC236}">
                <a16:creationId xmlns:a16="http://schemas.microsoft.com/office/drawing/2014/main" id="{FC4378C1-766C-C9F6-0839-70BBEB1443BA}"/>
              </a:ext>
            </a:extLst>
          </p:cNvPr>
          <p:cNvSpPr>
            <a:spLocks noGrp="1" noChangeArrowheads="1"/>
          </p:cNvSpPr>
          <p:nvPr>
            <p:ph type="title"/>
          </p:nvPr>
        </p:nvSpPr>
        <p:spPr/>
        <p:txBody>
          <a:bodyPr/>
          <a:lstStyle/>
          <a:p>
            <a:r>
              <a:rPr lang="en-US" altLang="zh-CN"/>
              <a:t>3.2 </a:t>
            </a:r>
            <a:r>
              <a:rPr lang="zh-CN" altLang="en-US"/>
              <a:t>敏捷变更的成本费用</a:t>
            </a:r>
            <a:endParaRPr lang="en-US" altLang="zh-CN"/>
          </a:p>
        </p:txBody>
      </p:sp>
      <p:sp>
        <p:nvSpPr>
          <p:cNvPr id="86019" name="Rectangle 3">
            <a:extLst>
              <a:ext uri="{FF2B5EF4-FFF2-40B4-BE49-F238E27FC236}">
                <a16:creationId xmlns:a16="http://schemas.microsoft.com/office/drawing/2014/main" id="{D35C502C-A9A1-4BC6-9FA9-9B04ED72CE7F}"/>
              </a:ext>
            </a:extLst>
          </p:cNvPr>
          <p:cNvSpPr>
            <a:spLocks noGrp="1" noChangeArrowheads="1"/>
          </p:cNvSpPr>
          <p:nvPr>
            <p:ph type="body" idx="1"/>
          </p:nvPr>
        </p:nvSpPr>
        <p:spPr>
          <a:xfrm>
            <a:off x="1981200" y="942976"/>
            <a:ext cx="8229600" cy="5078413"/>
          </a:xfrm>
        </p:spPr>
        <p:txBody>
          <a:bodyPr/>
          <a:lstStyle/>
          <a:p>
            <a:pPr>
              <a:lnSpc>
                <a:spcPct val="150000"/>
              </a:lnSpc>
              <a:buFont typeface="Wingdings" panose="05000000000000000000" pitchFamily="2" charset="2"/>
              <a:buChar char="n"/>
            </a:pPr>
            <a:r>
              <a:rPr lang="zh-CN" altLang="en-US"/>
              <a:t>传统软件开发方法的变更：</a:t>
            </a:r>
          </a:p>
          <a:p>
            <a:pPr lvl="1">
              <a:lnSpc>
                <a:spcPct val="150000"/>
              </a:lnSpc>
              <a:buFont typeface="Wingdings" panose="05000000000000000000" pitchFamily="2" charset="2"/>
              <a:buChar char="n"/>
            </a:pPr>
            <a:r>
              <a:rPr lang="zh-CN" altLang="en-US" sz="2100"/>
              <a:t>软件开发的传统方法中（有几十年的开发经验作支持），</a:t>
            </a:r>
            <a:r>
              <a:rPr lang="zh-CN" altLang="en-US" sz="2100">
                <a:solidFill>
                  <a:srgbClr val="D333A1"/>
                </a:solidFill>
              </a:rPr>
              <a:t>变更</a:t>
            </a:r>
            <a:r>
              <a:rPr lang="zh-CN" altLang="en-US" sz="2100"/>
              <a:t>的成本费用</a:t>
            </a:r>
            <a:r>
              <a:rPr lang="zh-CN" altLang="en-US" sz="2100">
                <a:solidFill>
                  <a:srgbClr val="D333A1"/>
                </a:solidFill>
              </a:rPr>
              <a:t>随着计划的进展成非线性增长</a:t>
            </a:r>
            <a:r>
              <a:rPr lang="zh-CN" altLang="en-US" sz="2100"/>
              <a:t>。这种方法在软件开发团队收集需求时（在项目的</a:t>
            </a:r>
            <a:r>
              <a:rPr lang="zh-CN" altLang="en-US" sz="2100">
                <a:solidFill>
                  <a:srgbClr val="FA0C34"/>
                </a:solidFill>
              </a:rPr>
              <a:t>早期</a:t>
            </a:r>
            <a:r>
              <a:rPr lang="zh-CN" altLang="en-US" sz="2100"/>
              <a:t>）相对容易适应变更。</a:t>
            </a:r>
          </a:p>
          <a:p>
            <a:pPr lvl="1">
              <a:lnSpc>
                <a:spcPct val="150000"/>
              </a:lnSpc>
              <a:buFont typeface="Wingdings" panose="05000000000000000000" pitchFamily="2" charset="2"/>
              <a:buChar char="n"/>
            </a:pPr>
            <a:r>
              <a:rPr lang="zh-CN" altLang="en-US" sz="2100"/>
              <a:t>如果我们在经过数月的开发时间之后将会怎么样？团队在进行确认测试的过程中（也许是在项目</a:t>
            </a:r>
            <a:r>
              <a:rPr lang="zh-CN" altLang="en-US" sz="2100">
                <a:solidFill>
                  <a:srgbClr val="FA0C34"/>
                </a:solidFill>
              </a:rPr>
              <a:t>后期</a:t>
            </a:r>
            <a:r>
              <a:rPr lang="zh-CN" altLang="en-US" sz="2100"/>
              <a:t>的某个活动中），一个重要的利益相关者要求变更一个主要的功能：</a:t>
            </a:r>
          </a:p>
          <a:p>
            <a:pPr lvl="2">
              <a:lnSpc>
                <a:spcPct val="150000"/>
              </a:lnSpc>
              <a:buFont typeface="Wingdings" panose="05000000000000000000" pitchFamily="2" charset="2"/>
              <a:buChar char="n"/>
            </a:pPr>
            <a:r>
              <a:rPr lang="zh-CN" altLang="en-US" sz="1900"/>
              <a:t>这一变更需要对软件的</a:t>
            </a:r>
            <a:r>
              <a:rPr lang="zh-CN" altLang="en-US" sz="1900">
                <a:solidFill>
                  <a:srgbClr val="FA0C34"/>
                </a:solidFill>
              </a:rPr>
              <a:t>体系结构设计进行修改</a:t>
            </a:r>
            <a:r>
              <a:rPr lang="zh-CN" altLang="en-US" sz="1900"/>
              <a:t>，包括设计和构建三个新组件，修改另外五个组件，设计新的测试等。费用会迅速升级，而这方面的开销则是可观的。</a:t>
            </a:r>
            <a:r>
              <a:rPr lang="zh-CN" altLang="en-US" sz="21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6019">
                                            <p:txEl>
                                              <p:pRg st="1" end="1"/>
                                            </p:txEl>
                                          </p:spTgt>
                                        </p:tgtEl>
                                        <p:attrNameLst>
                                          <p:attrName>style.visibility</p:attrName>
                                        </p:attrNameLst>
                                      </p:cBhvr>
                                      <p:to>
                                        <p:strVal val="visible"/>
                                      </p:to>
                                    </p:set>
                                    <p:animEffect transition="in" filter="box(in)">
                                      <p:cBhvr>
                                        <p:cTn id="7" dur="1000"/>
                                        <p:tgtEl>
                                          <p:spTgt spid="8601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86019">
                                            <p:txEl>
                                              <p:pRg st="2" end="2"/>
                                            </p:txEl>
                                          </p:spTgt>
                                        </p:tgtEl>
                                        <p:attrNameLst>
                                          <p:attrName>style.visibility</p:attrName>
                                        </p:attrNameLst>
                                      </p:cBhvr>
                                      <p:to>
                                        <p:strVal val="visible"/>
                                      </p:to>
                                    </p:set>
                                    <p:animEffect transition="in" filter="box(in)">
                                      <p:cBhvr>
                                        <p:cTn id="12" dur="1000"/>
                                        <p:tgtEl>
                                          <p:spTgt spid="8601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86019">
                                            <p:txEl>
                                              <p:pRg st="3" end="3"/>
                                            </p:txEl>
                                          </p:spTgt>
                                        </p:tgtEl>
                                        <p:attrNameLst>
                                          <p:attrName>style.visibility</p:attrName>
                                        </p:attrNameLst>
                                      </p:cBhvr>
                                      <p:to>
                                        <p:strVal val="visible"/>
                                      </p:to>
                                    </p:set>
                                    <p:animEffect transition="in" filter="box(in)">
                                      <p:cBhvr>
                                        <p:cTn id="17" dur="1000"/>
                                        <p:tgtEl>
                                          <p:spTgt spid="860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6">
            <a:extLst>
              <a:ext uri="{FF2B5EF4-FFF2-40B4-BE49-F238E27FC236}">
                <a16:creationId xmlns:a16="http://schemas.microsoft.com/office/drawing/2014/main" id="{8B385C01-73E9-4524-81DD-9D0D717D4AF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7959A9E-BFCA-4CE5-923D-D4D25EF2BD31}" type="slidenum">
              <a:rPr lang="en-US" altLang="zh-CN" sz="1400">
                <a:solidFill>
                  <a:srgbClr val="000000"/>
                </a:solidFill>
                <a:latin typeface="Arial" panose="020B0604020202020204" pitchFamily="34" charset="0"/>
              </a:rPr>
              <a:pPr fontAlgn="base">
                <a:spcBef>
                  <a:spcPct val="0"/>
                </a:spcBef>
                <a:spcAft>
                  <a:spcPct val="0"/>
                </a:spcAft>
              </a:pPr>
              <a:t>33</a:t>
            </a:fld>
            <a:endParaRPr lang="en-US" altLang="zh-CN" sz="1400">
              <a:solidFill>
                <a:srgbClr val="000000"/>
              </a:solidFill>
              <a:latin typeface="Arial" panose="020B0604020202020204" pitchFamily="34" charset="0"/>
            </a:endParaRPr>
          </a:p>
        </p:txBody>
      </p:sp>
      <p:sp>
        <p:nvSpPr>
          <p:cNvPr id="20483" name="Rectangle 2">
            <a:extLst>
              <a:ext uri="{FF2B5EF4-FFF2-40B4-BE49-F238E27FC236}">
                <a16:creationId xmlns:a16="http://schemas.microsoft.com/office/drawing/2014/main" id="{F531EC6D-09FF-25BD-9891-5C7A5D881D27}"/>
              </a:ext>
            </a:extLst>
          </p:cNvPr>
          <p:cNvSpPr>
            <a:spLocks noGrp="1" noChangeArrowheads="1"/>
          </p:cNvSpPr>
          <p:nvPr>
            <p:ph type="title"/>
          </p:nvPr>
        </p:nvSpPr>
        <p:spPr/>
        <p:txBody>
          <a:bodyPr/>
          <a:lstStyle/>
          <a:p>
            <a:r>
              <a:rPr lang="en-US" altLang="zh-CN"/>
              <a:t>3.2 </a:t>
            </a:r>
            <a:r>
              <a:rPr lang="zh-CN" altLang="en-US"/>
              <a:t>敏捷变更的成本费用</a:t>
            </a:r>
          </a:p>
        </p:txBody>
      </p:sp>
      <p:sp>
        <p:nvSpPr>
          <p:cNvPr id="87043" name="Rectangle 3">
            <a:extLst>
              <a:ext uri="{FF2B5EF4-FFF2-40B4-BE49-F238E27FC236}">
                <a16:creationId xmlns:a16="http://schemas.microsoft.com/office/drawing/2014/main" id="{5A1AACD3-2FBC-855E-4403-AEB2DB55E62C}"/>
              </a:ext>
            </a:extLst>
          </p:cNvPr>
          <p:cNvSpPr>
            <a:spLocks noGrp="1" noChangeArrowheads="1"/>
          </p:cNvSpPr>
          <p:nvPr>
            <p:ph type="body" idx="1"/>
          </p:nvPr>
        </p:nvSpPr>
        <p:spPr>
          <a:xfrm>
            <a:off x="1981200" y="1230313"/>
            <a:ext cx="8229600" cy="5078412"/>
          </a:xfrm>
        </p:spPr>
        <p:txBody>
          <a:bodyPr/>
          <a:lstStyle/>
          <a:p>
            <a:pPr>
              <a:lnSpc>
                <a:spcPct val="150000"/>
              </a:lnSpc>
              <a:buFont typeface="Wingdings" panose="05000000000000000000" pitchFamily="2" charset="2"/>
              <a:buChar char="n"/>
            </a:pPr>
            <a:r>
              <a:rPr lang="zh-CN" altLang="en-US"/>
              <a:t>敏捷的变更：</a:t>
            </a:r>
          </a:p>
          <a:p>
            <a:pPr lvl="1">
              <a:lnSpc>
                <a:spcPct val="150000"/>
              </a:lnSpc>
              <a:buFont typeface="Wingdings" panose="05000000000000000000" pitchFamily="2" charset="2"/>
              <a:buChar char="n"/>
            </a:pPr>
            <a:r>
              <a:rPr lang="zh-CN" altLang="en-US" sz="2200"/>
              <a:t>敏捷的拥护者认为，一个</a:t>
            </a:r>
            <a:r>
              <a:rPr lang="zh-CN" altLang="en-US" sz="2200">
                <a:solidFill>
                  <a:srgbClr val="D333A1"/>
                </a:solidFill>
              </a:rPr>
              <a:t>设计良好的敏捷过程“拉平”了变更成本曲线</a:t>
            </a:r>
            <a:r>
              <a:rPr lang="zh-CN" altLang="en-US" sz="2200"/>
              <a:t>，使软件开发团队在没有超常规的时间和费用影响的情况下，在软件项目后期能够适应各种变化。</a:t>
            </a:r>
          </a:p>
          <a:p>
            <a:pPr lvl="1">
              <a:lnSpc>
                <a:spcPct val="150000"/>
              </a:lnSpc>
              <a:buFont typeface="Wingdings" panose="05000000000000000000" pitchFamily="2" charset="2"/>
              <a:buChar char="n"/>
            </a:pPr>
            <a:r>
              <a:rPr lang="zh-CN" altLang="en-US" sz="2200"/>
              <a:t>敏捷过程包括</a:t>
            </a:r>
            <a:r>
              <a:rPr lang="zh-CN" altLang="en-US" sz="2200">
                <a:solidFill>
                  <a:srgbClr val="D333A1"/>
                </a:solidFill>
              </a:rPr>
              <a:t>增量交付</a:t>
            </a:r>
            <a:r>
              <a:rPr lang="zh-CN" altLang="en-US" sz="2200"/>
              <a:t>。当增量交付与其他敏捷实践耦合时，例如连续单元测试及结对编程，引起变更的费用会衰减。</a:t>
            </a:r>
          </a:p>
          <a:p>
            <a:pPr lvl="1">
              <a:lnSpc>
                <a:spcPct val="150000"/>
              </a:lnSpc>
              <a:buFont typeface="Wingdings" panose="05000000000000000000" pitchFamily="2" charset="2"/>
              <a:buChar char="n"/>
            </a:pPr>
            <a:r>
              <a:rPr lang="zh-CN" altLang="en-US" sz="2200"/>
              <a:t>虽然关于拉平曲线的程度的讨论仍然在进行，但是证据表明，敏捷变更费用显著降低。</a:t>
            </a:r>
            <a:r>
              <a:rPr lang="zh-CN" altLang="en-US"/>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87043">
                                            <p:txEl>
                                              <p:pRg st="1" end="1"/>
                                            </p:txEl>
                                          </p:spTgt>
                                        </p:tgtEl>
                                        <p:attrNameLst>
                                          <p:attrName>style.visibility</p:attrName>
                                        </p:attrNameLst>
                                      </p:cBhvr>
                                      <p:to>
                                        <p:strVal val="visible"/>
                                      </p:to>
                                    </p:set>
                                    <p:animEffect transition="in" filter="box(in)">
                                      <p:cBhvr>
                                        <p:cTn id="7" dur="1000"/>
                                        <p:tgtEl>
                                          <p:spTgt spid="8704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87043">
                                            <p:txEl>
                                              <p:pRg st="2" end="2"/>
                                            </p:txEl>
                                          </p:spTgt>
                                        </p:tgtEl>
                                        <p:attrNameLst>
                                          <p:attrName>style.visibility</p:attrName>
                                        </p:attrNameLst>
                                      </p:cBhvr>
                                      <p:to>
                                        <p:strVal val="visible"/>
                                      </p:to>
                                    </p:set>
                                    <p:animEffect transition="in" filter="box(in)">
                                      <p:cBhvr>
                                        <p:cTn id="12" dur="1000"/>
                                        <p:tgtEl>
                                          <p:spTgt spid="8704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87043">
                                            <p:txEl>
                                              <p:pRg st="3" end="3"/>
                                            </p:txEl>
                                          </p:spTgt>
                                        </p:tgtEl>
                                        <p:attrNameLst>
                                          <p:attrName>style.visibility</p:attrName>
                                        </p:attrNameLst>
                                      </p:cBhvr>
                                      <p:to>
                                        <p:strVal val="visible"/>
                                      </p:to>
                                    </p:set>
                                    <p:animEffect transition="in" filter="box(in)">
                                      <p:cBhvr>
                                        <p:cTn id="17" dur="1000"/>
                                        <p:tgtEl>
                                          <p:spTgt spid="870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6">
            <a:extLst>
              <a:ext uri="{FF2B5EF4-FFF2-40B4-BE49-F238E27FC236}">
                <a16:creationId xmlns:a16="http://schemas.microsoft.com/office/drawing/2014/main" id="{76633ACE-62E5-1594-599F-EFBD2D99B19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391B3E3-C9B0-46EA-BDA5-4538537CB753}" type="slidenum">
              <a:rPr lang="en-US" altLang="zh-CN" sz="1400">
                <a:solidFill>
                  <a:srgbClr val="000000"/>
                </a:solidFill>
                <a:latin typeface="Arial" panose="020B0604020202020204" pitchFamily="34" charset="0"/>
              </a:rPr>
              <a:pPr fontAlgn="base">
                <a:spcBef>
                  <a:spcPct val="0"/>
                </a:spcBef>
                <a:spcAft>
                  <a:spcPct val="0"/>
                </a:spcAft>
              </a:pPr>
              <a:t>34</a:t>
            </a:fld>
            <a:endParaRPr lang="en-US" altLang="zh-CN" sz="1400">
              <a:solidFill>
                <a:srgbClr val="000000"/>
              </a:solidFill>
              <a:latin typeface="Arial" panose="020B0604020202020204" pitchFamily="34" charset="0"/>
            </a:endParaRPr>
          </a:p>
        </p:txBody>
      </p:sp>
      <p:sp>
        <p:nvSpPr>
          <p:cNvPr id="21507" name="Rectangle 2">
            <a:extLst>
              <a:ext uri="{FF2B5EF4-FFF2-40B4-BE49-F238E27FC236}">
                <a16:creationId xmlns:a16="http://schemas.microsoft.com/office/drawing/2014/main" id="{C3A6D29E-54EB-0B38-6FF3-A57A9392B258}"/>
              </a:ext>
            </a:extLst>
          </p:cNvPr>
          <p:cNvSpPr>
            <a:spLocks noGrp="1" noChangeArrowheads="1"/>
          </p:cNvSpPr>
          <p:nvPr>
            <p:ph type="title"/>
          </p:nvPr>
        </p:nvSpPr>
        <p:spPr/>
        <p:txBody>
          <a:bodyPr/>
          <a:lstStyle/>
          <a:p>
            <a:r>
              <a:rPr lang="zh-CN" altLang="en-US"/>
              <a:t>敏捷变更的成本费用</a:t>
            </a:r>
          </a:p>
        </p:txBody>
      </p:sp>
      <p:pic>
        <p:nvPicPr>
          <p:cNvPr id="21508" name="Picture 3">
            <a:extLst>
              <a:ext uri="{FF2B5EF4-FFF2-40B4-BE49-F238E27FC236}">
                <a16:creationId xmlns:a16="http://schemas.microsoft.com/office/drawing/2014/main" id="{D789C050-25A1-8A04-A119-747D30549F1A}"/>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992313" y="1052513"/>
            <a:ext cx="8229600" cy="5078412"/>
          </a:xfr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6">
            <a:extLst>
              <a:ext uri="{FF2B5EF4-FFF2-40B4-BE49-F238E27FC236}">
                <a16:creationId xmlns:a16="http://schemas.microsoft.com/office/drawing/2014/main" id="{DFE5BB30-859B-267A-B860-E8DE78345BD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FB3920FC-6B76-4D2E-9069-9B801860C19D}" type="slidenum">
              <a:rPr lang="en-US" altLang="zh-CN" sz="1400">
                <a:solidFill>
                  <a:srgbClr val="000000"/>
                </a:solidFill>
                <a:latin typeface="Arial" panose="020B0604020202020204" pitchFamily="34" charset="0"/>
              </a:rPr>
              <a:pPr fontAlgn="base">
                <a:spcBef>
                  <a:spcPct val="0"/>
                </a:spcBef>
                <a:spcAft>
                  <a:spcPct val="0"/>
                </a:spcAft>
              </a:pPr>
              <a:t>35</a:t>
            </a:fld>
            <a:endParaRPr lang="en-US" altLang="zh-CN" sz="1400">
              <a:solidFill>
                <a:srgbClr val="000000"/>
              </a:solidFill>
              <a:latin typeface="Arial" panose="020B0604020202020204" pitchFamily="34" charset="0"/>
            </a:endParaRPr>
          </a:p>
        </p:txBody>
      </p:sp>
      <p:sp>
        <p:nvSpPr>
          <p:cNvPr id="22531" name="Rectangle 2">
            <a:extLst>
              <a:ext uri="{FF2B5EF4-FFF2-40B4-BE49-F238E27FC236}">
                <a16:creationId xmlns:a16="http://schemas.microsoft.com/office/drawing/2014/main" id="{BB68640E-2FE8-EE58-B76E-4737B373D77D}"/>
              </a:ext>
            </a:extLst>
          </p:cNvPr>
          <p:cNvSpPr>
            <a:spLocks noGrp="1" noChangeArrowheads="1"/>
          </p:cNvSpPr>
          <p:nvPr>
            <p:ph type="title"/>
          </p:nvPr>
        </p:nvSpPr>
        <p:spPr/>
        <p:txBody>
          <a:bodyPr/>
          <a:lstStyle/>
          <a:p>
            <a:r>
              <a:rPr lang="zh-CN" altLang="en-US"/>
              <a:t>本章内容</a:t>
            </a:r>
          </a:p>
        </p:txBody>
      </p:sp>
      <p:sp>
        <p:nvSpPr>
          <p:cNvPr id="22532" name="Rectangle 3">
            <a:extLst>
              <a:ext uri="{FF2B5EF4-FFF2-40B4-BE49-F238E27FC236}">
                <a16:creationId xmlns:a16="http://schemas.microsoft.com/office/drawing/2014/main" id="{E79640D1-D148-7D6C-32C8-DD3A071AB5DA}"/>
              </a:ext>
            </a:extLst>
          </p:cNvPr>
          <p:cNvSpPr>
            <a:spLocks noGrp="1" noChangeArrowheads="1"/>
          </p:cNvSpPr>
          <p:nvPr>
            <p:ph type="body" idx="1"/>
          </p:nvPr>
        </p:nvSpPr>
        <p:spPr/>
        <p:txBody>
          <a:bodyPr/>
          <a:lstStyle/>
          <a:p>
            <a:pPr>
              <a:lnSpc>
                <a:spcPct val="160000"/>
              </a:lnSpc>
            </a:pPr>
            <a:r>
              <a:rPr lang="en-US" altLang="zh-CN" sz="2800"/>
              <a:t>5.1 </a:t>
            </a:r>
            <a:r>
              <a:rPr lang="zh-CN" altLang="en-US" sz="2800"/>
              <a:t>什么是敏捷</a:t>
            </a:r>
          </a:p>
          <a:p>
            <a:pPr>
              <a:lnSpc>
                <a:spcPct val="160000"/>
              </a:lnSpc>
            </a:pPr>
            <a:r>
              <a:rPr lang="en-US" altLang="zh-CN" sz="2800"/>
              <a:t>5.2 </a:t>
            </a:r>
            <a:r>
              <a:rPr lang="zh-CN" altLang="en-US" sz="2800"/>
              <a:t>敏捷及变更成本</a:t>
            </a:r>
          </a:p>
          <a:p>
            <a:pPr>
              <a:lnSpc>
                <a:spcPct val="160000"/>
              </a:lnSpc>
            </a:pPr>
            <a:r>
              <a:rPr lang="en-US" altLang="zh-CN" sz="2800">
                <a:solidFill>
                  <a:srgbClr val="D333A1"/>
                </a:solidFill>
              </a:rPr>
              <a:t>5.3 </a:t>
            </a:r>
            <a:r>
              <a:rPr lang="zh-CN" altLang="en-US" sz="2800">
                <a:solidFill>
                  <a:srgbClr val="D333A1"/>
                </a:solidFill>
              </a:rPr>
              <a:t>什么是敏捷过程</a:t>
            </a:r>
          </a:p>
          <a:p>
            <a:pPr>
              <a:lnSpc>
                <a:spcPct val="160000"/>
              </a:lnSpc>
            </a:pPr>
            <a:r>
              <a:rPr lang="en-US" altLang="zh-CN" sz="2800"/>
              <a:t>5.4 </a:t>
            </a:r>
            <a:r>
              <a:rPr lang="zh-CN" altLang="en-US" sz="2800"/>
              <a:t>极限编程</a:t>
            </a:r>
          </a:p>
          <a:p>
            <a:pPr>
              <a:lnSpc>
                <a:spcPct val="160000"/>
              </a:lnSpc>
            </a:pPr>
            <a:r>
              <a:rPr lang="en-US" altLang="zh-CN" sz="2800"/>
              <a:t>5.5 </a:t>
            </a:r>
            <a:r>
              <a:rPr lang="zh-CN" altLang="en-US" sz="2800"/>
              <a:t>其他敏捷过程模型</a:t>
            </a:r>
          </a:p>
          <a:p>
            <a:pPr>
              <a:lnSpc>
                <a:spcPct val="160000"/>
              </a:lnSpc>
            </a:pPr>
            <a:r>
              <a:rPr lang="en-US" altLang="zh-CN" sz="2800"/>
              <a:t>5.6 </a:t>
            </a:r>
            <a:r>
              <a:rPr lang="zh-CN" altLang="en-US" sz="2800"/>
              <a:t>敏捷过程工具集</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a:extLst>
              <a:ext uri="{FF2B5EF4-FFF2-40B4-BE49-F238E27FC236}">
                <a16:creationId xmlns:a16="http://schemas.microsoft.com/office/drawing/2014/main" id="{02F3DBDA-CBC1-427D-642D-5B27249AEC4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93D6DBE-BC84-4B99-B340-712CF7157FB6}" type="slidenum">
              <a:rPr lang="en-US" altLang="zh-CN" sz="1400">
                <a:solidFill>
                  <a:srgbClr val="000000"/>
                </a:solidFill>
                <a:latin typeface="Arial" panose="020B0604020202020204" pitchFamily="34" charset="0"/>
              </a:rPr>
              <a:pPr fontAlgn="base">
                <a:spcBef>
                  <a:spcPct val="0"/>
                </a:spcBef>
                <a:spcAft>
                  <a:spcPct val="0"/>
                </a:spcAft>
              </a:pPr>
              <a:t>36</a:t>
            </a:fld>
            <a:endParaRPr lang="en-US" altLang="zh-CN" sz="1400">
              <a:solidFill>
                <a:srgbClr val="000000"/>
              </a:solidFill>
              <a:latin typeface="Arial" panose="020B0604020202020204" pitchFamily="34" charset="0"/>
            </a:endParaRPr>
          </a:p>
        </p:txBody>
      </p:sp>
      <p:sp>
        <p:nvSpPr>
          <p:cNvPr id="23555" name="Rectangle 2">
            <a:extLst>
              <a:ext uri="{FF2B5EF4-FFF2-40B4-BE49-F238E27FC236}">
                <a16:creationId xmlns:a16="http://schemas.microsoft.com/office/drawing/2014/main" id="{75FEC2B8-D549-DC21-9186-AE4EE071FB99}"/>
              </a:ext>
            </a:extLst>
          </p:cNvPr>
          <p:cNvSpPr>
            <a:spLocks noGrp="1" noChangeArrowheads="1"/>
          </p:cNvSpPr>
          <p:nvPr>
            <p:ph type="title"/>
          </p:nvPr>
        </p:nvSpPr>
        <p:spPr>
          <a:xfrm>
            <a:off x="1992313" y="381000"/>
            <a:ext cx="7772400" cy="685800"/>
          </a:xfrm>
        </p:spPr>
        <p:txBody>
          <a:bodyPr/>
          <a:lstStyle/>
          <a:p>
            <a:pPr eaLnBrk="1" hangingPunct="1"/>
            <a:r>
              <a:rPr lang="zh-CN" altLang="en-US"/>
              <a:t>敏捷原则（</a:t>
            </a:r>
            <a:r>
              <a:rPr lang="en-US" altLang="zh-CN"/>
              <a:t>I</a:t>
            </a:r>
            <a:r>
              <a:rPr lang="zh-CN" altLang="en-US"/>
              <a:t>）</a:t>
            </a:r>
          </a:p>
        </p:txBody>
      </p:sp>
      <p:sp>
        <p:nvSpPr>
          <p:cNvPr id="14339" name="Rectangle 3">
            <a:extLst>
              <a:ext uri="{FF2B5EF4-FFF2-40B4-BE49-F238E27FC236}">
                <a16:creationId xmlns:a16="http://schemas.microsoft.com/office/drawing/2014/main" id="{8B4C13E5-4478-469D-83B3-CD46A40F011F}"/>
              </a:ext>
            </a:extLst>
          </p:cNvPr>
          <p:cNvSpPr>
            <a:spLocks noGrp="1" noChangeArrowheads="1"/>
          </p:cNvSpPr>
          <p:nvPr>
            <p:ph idx="1"/>
          </p:nvPr>
        </p:nvSpPr>
        <p:spPr>
          <a:xfrm>
            <a:off x="1774825" y="1123951"/>
            <a:ext cx="8642350" cy="4968875"/>
          </a:xfrm>
        </p:spPr>
        <p:txBody>
          <a:bodyPr/>
          <a:lstStyle/>
          <a:p>
            <a:pPr>
              <a:lnSpc>
                <a:spcPct val="150000"/>
              </a:lnSpc>
              <a:buFont typeface="Wingdings" panose="05000000000000000000" pitchFamily="2" charset="2"/>
              <a:buChar char="n"/>
            </a:pPr>
            <a:r>
              <a:rPr lang="en-US" altLang="zh-CN" sz="1900"/>
              <a:t>1. </a:t>
            </a:r>
            <a:r>
              <a:rPr lang="zh-CN" altLang="en-US" sz="1900"/>
              <a:t>我们最优先要做的是通过</a:t>
            </a:r>
            <a:r>
              <a:rPr lang="zh-CN" altLang="en-US" sz="1900">
                <a:solidFill>
                  <a:srgbClr val="FA0C34"/>
                </a:solidFill>
              </a:rPr>
              <a:t>尽早</a:t>
            </a:r>
            <a:r>
              <a:rPr lang="zh-CN" altLang="en-US" sz="1900"/>
              <a:t>、</a:t>
            </a:r>
            <a:r>
              <a:rPr lang="zh-CN" altLang="en-US" sz="1900">
                <a:solidFill>
                  <a:srgbClr val="FA0C34"/>
                </a:solidFill>
              </a:rPr>
              <a:t>持续</a:t>
            </a:r>
            <a:r>
              <a:rPr lang="zh-CN" altLang="en-US" sz="1900"/>
              <a:t>地交付有价值的软件来使客户满意。</a:t>
            </a:r>
          </a:p>
          <a:p>
            <a:pPr>
              <a:lnSpc>
                <a:spcPct val="150000"/>
              </a:lnSpc>
              <a:buFont typeface="Wingdings" panose="05000000000000000000" pitchFamily="2" charset="2"/>
              <a:buChar char="n"/>
            </a:pPr>
            <a:r>
              <a:rPr lang="en-US" altLang="zh-CN" sz="1900"/>
              <a:t>2. </a:t>
            </a:r>
            <a:r>
              <a:rPr lang="zh-CN" altLang="en-US" sz="1900"/>
              <a:t>即使在开发的后期，也</a:t>
            </a:r>
            <a:r>
              <a:rPr lang="zh-CN" altLang="en-US" sz="1900">
                <a:solidFill>
                  <a:srgbClr val="FA0C34"/>
                </a:solidFill>
              </a:rPr>
              <a:t>欢迎需求变更</a:t>
            </a:r>
            <a:r>
              <a:rPr lang="zh-CN" altLang="en-US" sz="1900"/>
              <a:t>。敏捷过程</a:t>
            </a:r>
            <a:r>
              <a:rPr lang="zh-CN" altLang="en-US" sz="1900">
                <a:solidFill>
                  <a:srgbClr val="FA0C34"/>
                </a:solidFill>
              </a:rPr>
              <a:t>利用变更为客户创造竞争优势</a:t>
            </a:r>
            <a:r>
              <a:rPr lang="zh-CN" altLang="en-US" sz="1900"/>
              <a:t>。</a:t>
            </a:r>
          </a:p>
          <a:p>
            <a:pPr>
              <a:lnSpc>
                <a:spcPct val="150000"/>
              </a:lnSpc>
              <a:buFont typeface="Wingdings" panose="05000000000000000000" pitchFamily="2" charset="2"/>
              <a:buChar char="n"/>
            </a:pPr>
            <a:r>
              <a:rPr lang="en-US" altLang="zh-CN" sz="1900"/>
              <a:t>3. </a:t>
            </a:r>
            <a:r>
              <a:rPr lang="zh-CN" altLang="en-US" sz="1900">
                <a:solidFill>
                  <a:srgbClr val="FA0C34"/>
                </a:solidFill>
              </a:rPr>
              <a:t>经常交付可运行软件</a:t>
            </a:r>
            <a:r>
              <a:rPr lang="zh-CN" altLang="en-US" sz="1900"/>
              <a:t>，交付的间隔可以从几个星期到几个月，交付的时间间隔越短越好。</a:t>
            </a:r>
          </a:p>
          <a:p>
            <a:pPr>
              <a:lnSpc>
                <a:spcPct val="150000"/>
              </a:lnSpc>
              <a:buFont typeface="Wingdings" panose="05000000000000000000" pitchFamily="2" charset="2"/>
              <a:buChar char="n"/>
            </a:pPr>
            <a:r>
              <a:rPr lang="en-US" altLang="zh-CN" sz="1900"/>
              <a:t>4. </a:t>
            </a:r>
            <a:r>
              <a:rPr lang="zh-CN" altLang="en-US" sz="1900"/>
              <a:t>在整个项目开发期间，业务人员和开发人员必须天天都在</a:t>
            </a:r>
            <a:r>
              <a:rPr lang="zh-CN" altLang="en-US" sz="1900">
                <a:solidFill>
                  <a:srgbClr val="FA0C34"/>
                </a:solidFill>
              </a:rPr>
              <a:t>一起工作</a:t>
            </a:r>
            <a:r>
              <a:rPr lang="zh-CN" altLang="en-US" sz="1900"/>
              <a:t>。</a:t>
            </a:r>
          </a:p>
          <a:p>
            <a:pPr>
              <a:lnSpc>
                <a:spcPct val="150000"/>
              </a:lnSpc>
              <a:buFont typeface="Wingdings" panose="05000000000000000000" pitchFamily="2" charset="2"/>
              <a:buChar char="n"/>
            </a:pPr>
            <a:r>
              <a:rPr lang="en-US" altLang="zh-CN" sz="1900"/>
              <a:t>5. </a:t>
            </a:r>
            <a:r>
              <a:rPr lang="zh-CN" altLang="en-US" sz="1900"/>
              <a:t>围绕有积极性的</a:t>
            </a:r>
            <a:r>
              <a:rPr lang="zh-CN" altLang="en-US" sz="1900">
                <a:solidFill>
                  <a:srgbClr val="FA0C34"/>
                </a:solidFill>
              </a:rPr>
              <a:t>个人</a:t>
            </a:r>
            <a:r>
              <a:rPr lang="zh-CN" altLang="en-US" sz="1900"/>
              <a:t>构建项目。给他们</a:t>
            </a:r>
            <a:r>
              <a:rPr lang="zh-CN" altLang="en-US" sz="1900">
                <a:solidFill>
                  <a:srgbClr val="FA0C34"/>
                </a:solidFill>
              </a:rPr>
              <a:t>提供所需的环境和支持</a:t>
            </a:r>
            <a:r>
              <a:rPr lang="zh-CN" altLang="en-US" sz="1900"/>
              <a:t>，并且</a:t>
            </a:r>
            <a:r>
              <a:rPr lang="zh-CN" altLang="en-US" sz="1900">
                <a:solidFill>
                  <a:srgbClr val="FA0C34"/>
                </a:solidFill>
              </a:rPr>
              <a:t>信任他们</a:t>
            </a:r>
            <a:r>
              <a:rPr lang="zh-CN" altLang="en-US" sz="1900"/>
              <a:t>能够完成工作。</a:t>
            </a:r>
          </a:p>
          <a:p>
            <a:pPr>
              <a:lnSpc>
                <a:spcPct val="150000"/>
              </a:lnSpc>
              <a:buFont typeface="Wingdings" panose="05000000000000000000" pitchFamily="2" charset="2"/>
              <a:buChar char="n"/>
            </a:pPr>
            <a:r>
              <a:rPr lang="en-US" altLang="zh-CN" sz="1900"/>
              <a:t>6. </a:t>
            </a:r>
            <a:r>
              <a:rPr lang="zh-CN" altLang="en-US" sz="1900"/>
              <a:t>在团队内部，最富有效果和效率的信息传递方法是</a:t>
            </a:r>
            <a:r>
              <a:rPr lang="zh-CN" altLang="en-US" sz="1900">
                <a:solidFill>
                  <a:srgbClr val="FA0C34"/>
                </a:solidFill>
              </a:rPr>
              <a:t>面对面交谈</a:t>
            </a:r>
            <a:r>
              <a:rPr lang="zh-CN" altLang="en-US" sz="1900"/>
              <a:t>。</a:t>
            </a:r>
          </a:p>
          <a:p>
            <a:pPr>
              <a:lnSpc>
                <a:spcPct val="150000"/>
              </a:lnSpc>
              <a:buFont typeface="Wingdings" panose="05000000000000000000" pitchFamily="2" charset="2"/>
              <a:buChar char="n"/>
            </a:pPr>
            <a:r>
              <a:rPr lang="en-US" altLang="zh-CN" sz="1900"/>
              <a:t>7. </a:t>
            </a:r>
            <a:r>
              <a:rPr lang="zh-CN" altLang="en-US" sz="1900">
                <a:solidFill>
                  <a:srgbClr val="FA0C34"/>
                </a:solidFill>
              </a:rPr>
              <a:t>可运行软件</a:t>
            </a:r>
            <a:r>
              <a:rPr lang="zh-CN" altLang="en-US" sz="1900"/>
              <a:t>是进度的首要度量标准。</a:t>
            </a:r>
          </a:p>
        </p:txBody>
      </p:sp>
      <p:sp>
        <p:nvSpPr>
          <p:cNvPr id="23557" name="灯片编号占位符 3">
            <a:extLst>
              <a:ext uri="{FF2B5EF4-FFF2-40B4-BE49-F238E27FC236}">
                <a16:creationId xmlns:a16="http://schemas.microsoft.com/office/drawing/2014/main" id="{187179D1-2111-9061-A434-AC820EA2C1E6}"/>
              </a:ext>
            </a:extLst>
          </p:cNvPr>
          <p:cNvSpPr txBox="1">
            <a:spLocks noGrp="1"/>
          </p:cNvSpPr>
          <p:nvPr/>
        </p:nvSpPr>
        <p:spPr bwMode="auto">
          <a:xfrm>
            <a:off x="807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pPr>
            <a:endParaRPr kumimoji="1" lang="en-US" altLang="zh-CN" sz="1200" b="0">
              <a:solidFill>
                <a:srgbClr val="000000"/>
              </a:solidFill>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animEffect transition="in" filter="blinds(horizontal)">
                                      <p:cBhvr>
                                        <p:cTn id="7" dur="500"/>
                                        <p:tgtEl>
                                          <p:spTgt spid="1433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4339">
                                            <p:txEl>
                                              <p:pRg st="1" end="1"/>
                                            </p:txEl>
                                          </p:spTgt>
                                        </p:tgtEl>
                                        <p:attrNameLst>
                                          <p:attrName>style.visibility</p:attrName>
                                        </p:attrNameLst>
                                      </p:cBhvr>
                                      <p:to>
                                        <p:strVal val="visible"/>
                                      </p:to>
                                    </p:set>
                                    <p:animEffect transition="in" filter="blinds(horizontal)">
                                      <p:cBhvr>
                                        <p:cTn id="12" dur="500"/>
                                        <p:tgtEl>
                                          <p:spTgt spid="1433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4339">
                                            <p:txEl>
                                              <p:pRg st="2" end="2"/>
                                            </p:txEl>
                                          </p:spTgt>
                                        </p:tgtEl>
                                        <p:attrNameLst>
                                          <p:attrName>style.visibility</p:attrName>
                                        </p:attrNameLst>
                                      </p:cBhvr>
                                      <p:to>
                                        <p:strVal val="visible"/>
                                      </p:to>
                                    </p:set>
                                    <p:animEffect transition="in" filter="blinds(horizontal)">
                                      <p:cBhvr>
                                        <p:cTn id="17" dur="500"/>
                                        <p:tgtEl>
                                          <p:spTgt spid="1433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4339">
                                            <p:txEl>
                                              <p:pRg st="3" end="3"/>
                                            </p:txEl>
                                          </p:spTgt>
                                        </p:tgtEl>
                                        <p:attrNameLst>
                                          <p:attrName>style.visibility</p:attrName>
                                        </p:attrNameLst>
                                      </p:cBhvr>
                                      <p:to>
                                        <p:strVal val="visible"/>
                                      </p:to>
                                    </p:set>
                                    <p:animEffect transition="in" filter="blinds(horizontal)">
                                      <p:cBhvr>
                                        <p:cTn id="22" dur="500"/>
                                        <p:tgtEl>
                                          <p:spTgt spid="1433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4339">
                                            <p:txEl>
                                              <p:pRg st="4" end="4"/>
                                            </p:txEl>
                                          </p:spTgt>
                                        </p:tgtEl>
                                        <p:attrNameLst>
                                          <p:attrName>style.visibility</p:attrName>
                                        </p:attrNameLst>
                                      </p:cBhvr>
                                      <p:to>
                                        <p:strVal val="visible"/>
                                      </p:to>
                                    </p:set>
                                    <p:animEffect transition="in" filter="blinds(horizontal)">
                                      <p:cBhvr>
                                        <p:cTn id="27" dur="500"/>
                                        <p:tgtEl>
                                          <p:spTgt spid="14339">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4339">
                                            <p:txEl>
                                              <p:pRg st="5" end="5"/>
                                            </p:txEl>
                                          </p:spTgt>
                                        </p:tgtEl>
                                        <p:attrNameLst>
                                          <p:attrName>style.visibility</p:attrName>
                                        </p:attrNameLst>
                                      </p:cBhvr>
                                      <p:to>
                                        <p:strVal val="visible"/>
                                      </p:to>
                                    </p:set>
                                    <p:animEffect transition="in" filter="blinds(horizontal)">
                                      <p:cBhvr>
                                        <p:cTn id="32" dur="500"/>
                                        <p:tgtEl>
                                          <p:spTgt spid="14339">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14339">
                                            <p:txEl>
                                              <p:pRg st="6" end="6"/>
                                            </p:txEl>
                                          </p:spTgt>
                                        </p:tgtEl>
                                        <p:attrNameLst>
                                          <p:attrName>style.visibility</p:attrName>
                                        </p:attrNameLst>
                                      </p:cBhvr>
                                      <p:to>
                                        <p:strVal val="visible"/>
                                      </p:to>
                                    </p:set>
                                    <p:animEffect transition="in" filter="blinds(horizontal)">
                                      <p:cBhvr>
                                        <p:cTn id="37" dur="500"/>
                                        <p:tgtEl>
                                          <p:spTgt spid="1433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6">
            <a:extLst>
              <a:ext uri="{FF2B5EF4-FFF2-40B4-BE49-F238E27FC236}">
                <a16:creationId xmlns:a16="http://schemas.microsoft.com/office/drawing/2014/main" id="{8068DA4C-640A-D2D8-86C0-CDF495C799D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DFF581EE-B6F9-4865-A256-6AA269723C6C}" type="slidenum">
              <a:rPr lang="en-US" altLang="zh-CN" sz="1400">
                <a:solidFill>
                  <a:srgbClr val="000000"/>
                </a:solidFill>
                <a:latin typeface="Arial" panose="020B0604020202020204" pitchFamily="34" charset="0"/>
              </a:rPr>
              <a:pPr fontAlgn="base">
                <a:spcBef>
                  <a:spcPct val="0"/>
                </a:spcBef>
                <a:spcAft>
                  <a:spcPct val="0"/>
                </a:spcAft>
              </a:pPr>
              <a:t>37</a:t>
            </a:fld>
            <a:endParaRPr lang="en-US" altLang="zh-CN" sz="1400">
              <a:solidFill>
                <a:srgbClr val="000000"/>
              </a:solidFill>
              <a:latin typeface="Arial" panose="020B0604020202020204" pitchFamily="34" charset="0"/>
            </a:endParaRPr>
          </a:p>
        </p:txBody>
      </p:sp>
      <p:sp>
        <p:nvSpPr>
          <p:cNvPr id="24579" name="Rectangle 2">
            <a:extLst>
              <a:ext uri="{FF2B5EF4-FFF2-40B4-BE49-F238E27FC236}">
                <a16:creationId xmlns:a16="http://schemas.microsoft.com/office/drawing/2014/main" id="{CB2FF243-8DB4-01EA-2F84-570E8A28BC58}"/>
              </a:ext>
            </a:extLst>
          </p:cNvPr>
          <p:cNvSpPr>
            <a:spLocks noGrp="1" noChangeArrowheads="1"/>
          </p:cNvSpPr>
          <p:nvPr>
            <p:ph type="title"/>
          </p:nvPr>
        </p:nvSpPr>
        <p:spPr>
          <a:xfrm>
            <a:off x="1924050" y="333375"/>
            <a:ext cx="7772400" cy="685800"/>
          </a:xfrm>
        </p:spPr>
        <p:txBody>
          <a:bodyPr/>
          <a:lstStyle/>
          <a:p>
            <a:pPr eaLnBrk="1" hangingPunct="1"/>
            <a:r>
              <a:rPr lang="zh-CN" altLang="en-US"/>
              <a:t>敏捷原则（</a:t>
            </a:r>
            <a:r>
              <a:rPr lang="en-US" altLang="zh-CN"/>
              <a:t>II</a:t>
            </a:r>
            <a:r>
              <a:rPr lang="zh-CN" altLang="en-US"/>
              <a:t>）</a:t>
            </a:r>
          </a:p>
        </p:txBody>
      </p:sp>
      <p:sp>
        <p:nvSpPr>
          <p:cNvPr id="17411" name="Rectangle 3">
            <a:extLst>
              <a:ext uri="{FF2B5EF4-FFF2-40B4-BE49-F238E27FC236}">
                <a16:creationId xmlns:a16="http://schemas.microsoft.com/office/drawing/2014/main" id="{6AAEA148-303F-C2BF-C8B7-710D103E72DB}"/>
              </a:ext>
            </a:extLst>
          </p:cNvPr>
          <p:cNvSpPr>
            <a:spLocks noGrp="1" noChangeArrowheads="1"/>
          </p:cNvSpPr>
          <p:nvPr>
            <p:ph idx="1"/>
          </p:nvPr>
        </p:nvSpPr>
        <p:spPr>
          <a:xfrm>
            <a:off x="1992314" y="1052513"/>
            <a:ext cx="8351837" cy="4945062"/>
          </a:xfrm>
        </p:spPr>
        <p:txBody>
          <a:bodyPr/>
          <a:lstStyle/>
          <a:p>
            <a:pPr>
              <a:lnSpc>
                <a:spcPct val="150000"/>
              </a:lnSpc>
              <a:spcBef>
                <a:spcPct val="35000"/>
              </a:spcBef>
              <a:buFont typeface="Wingdings" panose="05000000000000000000" pitchFamily="2" charset="2"/>
              <a:buChar char="n"/>
              <a:defRPr/>
            </a:pPr>
            <a:r>
              <a:rPr lang="en-US" altLang="zh-CN" sz="2000"/>
              <a:t>8. </a:t>
            </a:r>
            <a:r>
              <a:rPr lang="zh-CN" altLang="en-US" sz="2000"/>
              <a:t>敏捷过程提倡</a:t>
            </a:r>
            <a:r>
              <a:rPr lang="zh-CN" altLang="en-US" sz="2000">
                <a:solidFill>
                  <a:srgbClr val="FA0C34"/>
                </a:solidFill>
              </a:rPr>
              <a:t>可持续的开发速度</a:t>
            </a:r>
            <a:r>
              <a:rPr lang="zh-CN" altLang="en-US" sz="2000"/>
              <a:t>。责任人（</a:t>
            </a:r>
            <a:r>
              <a:rPr lang="en-US" altLang="zh-CN" sz="2000"/>
              <a:t>sponsor</a:t>
            </a:r>
            <a:r>
              <a:rPr lang="zh-CN" altLang="en-US" sz="2000"/>
              <a:t>）、开发者和用户应该能够保持一个</a:t>
            </a:r>
            <a:r>
              <a:rPr lang="zh-CN" altLang="en-US" sz="2000">
                <a:solidFill>
                  <a:srgbClr val="FA0C34"/>
                </a:solidFill>
              </a:rPr>
              <a:t>长期的、恒定的开发速度</a:t>
            </a:r>
            <a:r>
              <a:rPr lang="zh-CN" altLang="en-US" sz="2000"/>
              <a:t> 。</a:t>
            </a:r>
          </a:p>
          <a:p>
            <a:pPr>
              <a:lnSpc>
                <a:spcPct val="150000"/>
              </a:lnSpc>
              <a:spcBef>
                <a:spcPct val="35000"/>
              </a:spcBef>
              <a:buFont typeface="Wingdings" panose="05000000000000000000" pitchFamily="2" charset="2"/>
              <a:buChar char="n"/>
              <a:defRPr/>
            </a:pPr>
            <a:r>
              <a:rPr lang="en-US" altLang="zh-CN" sz="2000"/>
              <a:t>9. </a:t>
            </a:r>
            <a:r>
              <a:rPr lang="zh-CN" altLang="en-US" sz="2000"/>
              <a:t>不断地</a:t>
            </a:r>
            <a:r>
              <a:rPr lang="zh-CN" altLang="en-US" sz="2000">
                <a:solidFill>
                  <a:srgbClr val="FA0C34"/>
                </a:solidFill>
              </a:rPr>
              <a:t>关注优秀的技能和好的设计</a:t>
            </a:r>
            <a:r>
              <a:rPr lang="zh-CN" altLang="en-US" sz="2000"/>
              <a:t>会增强敏捷能力。</a:t>
            </a:r>
          </a:p>
          <a:p>
            <a:pPr>
              <a:lnSpc>
                <a:spcPct val="150000"/>
              </a:lnSpc>
              <a:spcBef>
                <a:spcPct val="35000"/>
              </a:spcBef>
              <a:buFont typeface="Wingdings" panose="05000000000000000000" pitchFamily="2" charset="2"/>
              <a:buChar char="n"/>
              <a:defRPr/>
            </a:pPr>
            <a:r>
              <a:rPr lang="en-US" altLang="zh-CN" sz="2000"/>
              <a:t>10. </a:t>
            </a:r>
            <a:r>
              <a:rPr lang="zh-CN" altLang="en-US" sz="2000">
                <a:solidFill>
                  <a:srgbClr val="FA0C34"/>
                </a:solidFill>
              </a:rPr>
              <a:t>简单</a:t>
            </a:r>
            <a:r>
              <a:rPr lang="zh-CN" altLang="en-US" sz="2000"/>
              <a:t>是必要的。</a:t>
            </a:r>
          </a:p>
          <a:p>
            <a:pPr>
              <a:lnSpc>
                <a:spcPct val="150000"/>
              </a:lnSpc>
              <a:spcBef>
                <a:spcPct val="35000"/>
              </a:spcBef>
              <a:buFont typeface="Wingdings" panose="05000000000000000000" pitchFamily="2" charset="2"/>
              <a:buChar char="n"/>
              <a:defRPr/>
            </a:pPr>
            <a:r>
              <a:rPr lang="en-US" altLang="zh-CN" sz="2000"/>
              <a:t>11. </a:t>
            </a:r>
            <a:r>
              <a:rPr lang="zh-CN" altLang="en-US" sz="2000"/>
              <a:t>最好的架构、需求和设计出自于</a:t>
            </a:r>
            <a:r>
              <a:rPr lang="zh-CN" altLang="en-US" sz="2000">
                <a:solidFill>
                  <a:srgbClr val="FA0C34"/>
                </a:solidFill>
              </a:rPr>
              <a:t>自组织团队</a:t>
            </a:r>
            <a:r>
              <a:rPr lang="zh-CN" altLang="en-US" sz="2000"/>
              <a:t>。</a:t>
            </a:r>
          </a:p>
          <a:p>
            <a:pPr>
              <a:lnSpc>
                <a:spcPct val="150000"/>
              </a:lnSpc>
              <a:spcBef>
                <a:spcPct val="35000"/>
              </a:spcBef>
              <a:buFont typeface="Wingdings" panose="05000000000000000000" pitchFamily="2" charset="2"/>
              <a:buChar char="n"/>
              <a:defRPr/>
            </a:pPr>
            <a:r>
              <a:rPr lang="en-US" altLang="zh-CN" sz="2000"/>
              <a:t>12. </a:t>
            </a:r>
            <a:r>
              <a:rPr lang="zh-CN" altLang="en-US" sz="2000"/>
              <a:t>每隔一定时间，团队会</a:t>
            </a:r>
            <a:r>
              <a:rPr lang="zh-CN" altLang="en-US" sz="2000">
                <a:solidFill>
                  <a:srgbClr val="FA0C34"/>
                </a:solidFill>
              </a:rPr>
              <a:t>反省</a:t>
            </a:r>
            <a:r>
              <a:rPr lang="zh-CN" altLang="en-US" sz="2000"/>
              <a:t>如何才能更有效地工作，并相应</a:t>
            </a:r>
            <a:r>
              <a:rPr lang="zh-CN" altLang="en-US" sz="2000">
                <a:solidFill>
                  <a:srgbClr val="FA0C34"/>
                </a:solidFill>
              </a:rPr>
              <a:t>调整</a:t>
            </a:r>
            <a:r>
              <a:rPr lang="zh-CN" altLang="en-US" sz="2000"/>
              <a:t>自己的行为。</a:t>
            </a:r>
            <a:endParaRPr lang="zh-CN" altLang="en-US" sz="2200" b="0">
              <a:effectLst>
                <a:outerShdw blurRad="38100" dist="38100" dir="2700000" algn="tl">
                  <a:srgbClr val="C0C0C0"/>
                </a:outerShdw>
              </a:effectLst>
            </a:endParaRPr>
          </a:p>
          <a:p>
            <a:pPr>
              <a:lnSpc>
                <a:spcPct val="150000"/>
              </a:lnSpc>
              <a:spcBef>
                <a:spcPct val="35000"/>
              </a:spcBef>
              <a:buFont typeface="Wingdings" panose="05000000000000000000" pitchFamily="2" charset="2"/>
              <a:buChar char="n"/>
              <a:defRPr/>
            </a:pPr>
            <a:r>
              <a:rPr lang="zh-CN" altLang="en-US" sz="2200" b="0">
                <a:effectLst>
                  <a:outerShdw blurRad="38100" dist="38100" dir="2700000" algn="tl">
                    <a:srgbClr val="C0C0C0"/>
                  </a:outerShdw>
                </a:effectLst>
              </a:rPr>
              <a:t>★</a:t>
            </a:r>
            <a:r>
              <a:rPr lang="zh-CN" altLang="en-US" sz="2200"/>
              <a:t>并不是每一个敏捷模型都同等使用这</a:t>
            </a:r>
            <a:r>
              <a:rPr lang="en-US" altLang="zh-CN" sz="2200"/>
              <a:t>12</a:t>
            </a:r>
            <a:r>
              <a:rPr lang="zh-CN" altLang="en-US" sz="2200"/>
              <a:t>项原则，一些模型可以</a:t>
            </a:r>
            <a:r>
              <a:rPr lang="zh-CN" altLang="en-US" sz="2200">
                <a:solidFill>
                  <a:srgbClr val="FA0C34"/>
                </a:solidFill>
              </a:rPr>
              <a:t>选择忽略</a:t>
            </a:r>
            <a:r>
              <a:rPr lang="zh-CN" altLang="en-US" sz="2200"/>
              <a:t>（或至少淡化）一个或多个原则的重要性。</a:t>
            </a:r>
            <a:r>
              <a:rPr lang="zh-CN" altLang="en-US"/>
              <a:t> </a:t>
            </a:r>
          </a:p>
        </p:txBody>
      </p:sp>
      <p:sp>
        <p:nvSpPr>
          <p:cNvPr id="24581" name="灯片编号占位符 3">
            <a:extLst>
              <a:ext uri="{FF2B5EF4-FFF2-40B4-BE49-F238E27FC236}">
                <a16:creationId xmlns:a16="http://schemas.microsoft.com/office/drawing/2014/main" id="{8D213E1C-BCD9-1A24-EC92-D414B622C52F}"/>
              </a:ext>
            </a:extLst>
          </p:cNvPr>
          <p:cNvSpPr txBox="1">
            <a:spLocks noGrp="1"/>
          </p:cNvSpPr>
          <p:nvPr/>
        </p:nvSpPr>
        <p:spPr bwMode="auto">
          <a:xfrm>
            <a:off x="807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pPr>
            <a:endParaRPr kumimoji="1" lang="en-US" altLang="zh-CN" sz="1200" b="0">
              <a:solidFill>
                <a:srgbClr val="000000"/>
              </a:solidFill>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blinds(horizontal)">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blinds(horizontal)">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blinds(horizontal)">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blinds(horizontal)">
                                      <p:cBhvr>
                                        <p:cTn id="22" dur="500"/>
                                        <p:tgtEl>
                                          <p:spTgt spid="17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blinds(horizontal)">
                                      <p:cBhvr>
                                        <p:cTn id="27" dur="500"/>
                                        <p:tgtEl>
                                          <p:spTgt spid="174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7411">
                                            <p:txEl>
                                              <p:pRg st="5" end="5"/>
                                            </p:txEl>
                                          </p:spTgt>
                                        </p:tgtEl>
                                        <p:attrNameLst>
                                          <p:attrName>style.visibility</p:attrName>
                                        </p:attrNameLst>
                                      </p:cBhvr>
                                      <p:to>
                                        <p:strVal val="visible"/>
                                      </p:to>
                                    </p:set>
                                    <p:animEffect transition="in" filter="blinds(horizontal)">
                                      <p:cBhvr>
                                        <p:cTn id="32" dur="500"/>
                                        <p:tgtEl>
                                          <p:spTgt spid="174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6">
            <a:extLst>
              <a:ext uri="{FF2B5EF4-FFF2-40B4-BE49-F238E27FC236}">
                <a16:creationId xmlns:a16="http://schemas.microsoft.com/office/drawing/2014/main" id="{D5FDB1C2-B353-7C82-2AD8-C93785B9B71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9CD7912-892C-464A-8DFC-58D5AC761D52}" type="slidenum">
              <a:rPr lang="en-US" altLang="zh-CN" sz="1400">
                <a:solidFill>
                  <a:srgbClr val="000000"/>
                </a:solidFill>
                <a:latin typeface="Arial" panose="020B0604020202020204" pitchFamily="34" charset="0"/>
              </a:rPr>
              <a:pPr fontAlgn="base">
                <a:spcBef>
                  <a:spcPct val="0"/>
                </a:spcBef>
                <a:spcAft>
                  <a:spcPct val="0"/>
                </a:spcAft>
              </a:pPr>
              <a:t>38</a:t>
            </a:fld>
            <a:endParaRPr lang="en-US" altLang="zh-CN" sz="1400">
              <a:solidFill>
                <a:srgbClr val="000000"/>
              </a:solidFill>
              <a:latin typeface="Arial" panose="020B0604020202020204" pitchFamily="34" charset="0"/>
            </a:endParaRPr>
          </a:p>
        </p:txBody>
      </p:sp>
      <p:sp>
        <p:nvSpPr>
          <p:cNvPr id="25603" name="Rectangle 2">
            <a:extLst>
              <a:ext uri="{FF2B5EF4-FFF2-40B4-BE49-F238E27FC236}">
                <a16:creationId xmlns:a16="http://schemas.microsoft.com/office/drawing/2014/main" id="{1EF8E83E-F8BD-D87F-01FC-F80B55653D1A}"/>
              </a:ext>
            </a:extLst>
          </p:cNvPr>
          <p:cNvSpPr>
            <a:spLocks noGrp="1" noChangeArrowheads="1"/>
          </p:cNvSpPr>
          <p:nvPr>
            <p:ph type="title"/>
          </p:nvPr>
        </p:nvSpPr>
        <p:spPr/>
        <p:txBody>
          <a:bodyPr/>
          <a:lstStyle/>
          <a:p>
            <a:r>
              <a:rPr lang="zh-CN" altLang="en-US"/>
              <a:t>敏捷过程是什么</a:t>
            </a:r>
          </a:p>
        </p:txBody>
      </p:sp>
      <p:sp>
        <p:nvSpPr>
          <p:cNvPr id="25604" name="Rectangle 3">
            <a:extLst>
              <a:ext uri="{FF2B5EF4-FFF2-40B4-BE49-F238E27FC236}">
                <a16:creationId xmlns:a16="http://schemas.microsoft.com/office/drawing/2014/main" id="{0182BF1C-4C2B-FFA2-E373-28D259BD09A6}"/>
              </a:ext>
            </a:extLst>
          </p:cNvPr>
          <p:cNvSpPr>
            <a:spLocks noGrp="1" noChangeArrowheads="1"/>
          </p:cNvSpPr>
          <p:nvPr>
            <p:ph type="body" idx="1"/>
          </p:nvPr>
        </p:nvSpPr>
        <p:spPr>
          <a:xfrm>
            <a:off x="1981200" y="1341439"/>
            <a:ext cx="8229600" cy="4789487"/>
          </a:xfrm>
        </p:spPr>
        <p:txBody>
          <a:bodyPr/>
          <a:lstStyle/>
          <a:p>
            <a:pPr>
              <a:lnSpc>
                <a:spcPct val="150000"/>
              </a:lnSpc>
              <a:spcBef>
                <a:spcPct val="100000"/>
              </a:spcBef>
              <a:buFont typeface="Wingdings" panose="05000000000000000000" pitchFamily="2" charset="2"/>
              <a:buChar char="n"/>
            </a:pPr>
            <a:r>
              <a:rPr lang="zh-CN" altLang="en-US" sz="3200">
                <a:solidFill>
                  <a:srgbClr val="FA0C34"/>
                </a:solidFill>
              </a:rPr>
              <a:t>基于</a:t>
            </a:r>
            <a:r>
              <a:rPr lang="zh-CN" altLang="en-US" sz="3200"/>
              <a:t>敏捷原则进行的软件开发过程，视为敏捷过程。</a:t>
            </a:r>
          </a:p>
          <a:p>
            <a:pPr>
              <a:lnSpc>
                <a:spcPct val="150000"/>
              </a:lnSpc>
              <a:spcBef>
                <a:spcPct val="100000"/>
              </a:spcBef>
              <a:buFont typeface="Wingdings" panose="05000000000000000000" pitchFamily="2" charset="2"/>
              <a:buChar char="n"/>
            </a:pPr>
            <a:r>
              <a:rPr lang="zh-CN" altLang="en-US" sz="3200"/>
              <a:t>所谓“基于”，是指充分考虑，而不是全部包含。</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6">
            <a:extLst>
              <a:ext uri="{FF2B5EF4-FFF2-40B4-BE49-F238E27FC236}">
                <a16:creationId xmlns:a16="http://schemas.microsoft.com/office/drawing/2014/main" id="{3BA670B1-5A3C-9A64-61E8-75B00C3C6E3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2C7DDEB-CA00-4D33-8D86-77EA701C8052}" type="slidenum">
              <a:rPr lang="en-US" altLang="zh-CN" sz="1400">
                <a:solidFill>
                  <a:srgbClr val="000000"/>
                </a:solidFill>
                <a:latin typeface="Arial" panose="020B0604020202020204" pitchFamily="34" charset="0"/>
              </a:rPr>
              <a:pPr fontAlgn="base">
                <a:spcBef>
                  <a:spcPct val="0"/>
                </a:spcBef>
                <a:spcAft>
                  <a:spcPct val="0"/>
                </a:spcAft>
              </a:pPr>
              <a:t>39</a:t>
            </a:fld>
            <a:endParaRPr lang="en-US" altLang="zh-CN" sz="1400">
              <a:solidFill>
                <a:srgbClr val="000000"/>
              </a:solidFill>
              <a:latin typeface="Arial" panose="020B0604020202020204" pitchFamily="34" charset="0"/>
            </a:endParaRPr>
          </a:p>
        </p:txBody>
      </p:sp>
      <p:sp>
        <p:nvSpPr>
          <p:cNvPr id="26627" name="Rectangle 2">
            <a:extLst>
              <a:ext uri="{FF2B5EF4-FFF2-40B4-BE49-F238E27FC236}">
                <a16:creationId xmlns:a16="http://schemas.microsoft.com/office/drawing/2014/main" id="{FF123257-1E00-814D-4233-F41861C38457}"/>
              </a:ext>
            </a:extLst>
          </p:cNvPr>
          <p:cNvSpPr>
            <a:spLocks noGrp="1" noChangeArrowheads="1"/>
          </p:cNvSpPr>
          <p:nvPr>
            <p:ph type="title"/>
          </p:nvPr>
        </p:nvSpPr>
        <p:spPr/>
        <p:txBody>
          <a:bodyPr/>
          <a:lstStyle/>
          <a:p>
            <a:r>
              <a:rPr lang="zh-CN" altLang="en-US"/>
              <a:t>敏捷过程的三大假设</a:t>
            </a:r>
          </a:p>
        </p:txBody>
      </p:sp>
      <p:sp>
        <p:nvSpPr>
          <p:cNvPr id="62467" name="Rectangle 3">
            <a:extLst>
              <a:ext uri="{FF2B5EF4-FFF2-40B4-BE49-F238E27FC236}">
                <a16:creationId xmlns:a16="http://schemas.microsoft.com/office/drawing/2014/main" id="{C00E1A0C-B9AA-1260-475C-CEFFF9BD94C1}"/>
              </a:ext>
            </a:extLst>
          </p:cNvPr>
          <p:cNvSpPr>
            <a:spLocks noGrp="1" noChangeArrowheads="1"/>
          </p:cNvSpPr>
          <p:nvPr>
            <p:ph type="body" idx="1"/>
          </p:nvPr>
        </p:nvSpPr>
        <p:spPr>
          <a:xfrm>
            <a:off x="1981200" y="981076"/>
            <a:ext cx="8229600" cy="5078413"/>
          </a:xfrm>
        </p:spPr>
        <p:txBody>
          <a:bodyPr/>
          <a:lstStyle/>
          <a:p>
            <a:pPr>
              <a:lnSpc>
                <a:spcPct val="150000"/>
              </a:lnSpc>
              <a:spcBef>
                <a:spcPct val="50000"/>
              </a:spcBef>
              <a:buFont typeface="Wingdings" panose="05000000000000000000" pitchFamily="2" charset="2"/>
              <a:buChar char="p"/>
            </a:pPr>
            <a:r>
              <a:rPr lang="zh-CN" altLang="en-US"/>
              <a:t>为什么会用到敏捷过程？</a:t>
            </a:r>
          </a:p>
          <a:p>
            <a:pPr lvl="1">
              <a:lnSpc>
                <a:spcPct val="150000"/>
              </a:lnSpc>
              <a:spcBef>
                <a:spcPct val="50000"/>
              </a:spcBef>
              <a:buFont typeface="Wingdings" panose="05000000000000000000" pitchFamily="2" charset="2"/>
              <a:buChar char="p"/>
            </a:pPr>
            <a:r>
              <a:rPr lang="zh-CN" altLang="en-US" sz="2200"/>
              <a:t>现实的软件开发过程中，</a:t>
            </a:r>
            <a:r>
              <a:rPr lang="zh-CN" altLang="en-US" sz="2200">
                <a:solidFill>
                  <a:srgbClr val="FA0C34"/>
                </a:solidFill>
              </a:rPr>
              <a:t>存在三个普遍的问题，</a:t>
            </a:r>
            <a:r>
              <a:rPr lang="zh-CN" altLang="en-US" sz="2200"/>
              <a:t>正是这些问题为敏捷开发的发育成长提供了土壤：</a:t>
            </a:r>
          </a:p>
          <a:p>
            <a:pPr lvl="2">
              <a:lnSpc>
                <a:spcPct val="150000"/>
              </a:lnSpc>
              <a:spcBef>
                <a:spcPct val="50000"/>
              </a:spcBef>
              <a:buFont typeface="Wingdings" panose="05000000000000000000" pitchFamily="2" charset="2"/>
              <a:buChar char="p"/>
            </a:pPr>
            <a:r>
              <a:rPr lang="zh-CN" altLang="en-US" sz="2000">
                <a:solidFill>
                  <a:srgbClr val="FA0C34"/>
                </a:solidFill>
              </a:rPr>
              <a:t>提前预测需求或变化很难</a:t>
            </a:r>
            <a:r>
              <a:rPr lang="zh-CN" altLang="en-US" sz="2000"/>
              <a:t>，预测优先级也存在困难；</a:t>
            </a:r>
          </a:p>
          <a:p>
            <a:pPr lvl="2">
              <a:lnSpc>
                <a:spcPct val="150000"/>
              </a:lnSpc>
              <a:spcBef>
                <a:spcPct val="50000"/>
              </a:spcBef>
              <a:buFont typeface="Wingdings" panose="05000000000000000000" pitchFamily="2" charset="2"/>
              <a:buChar char="p"/>
            </a:pPr>
            <a:r>
              <a:rPr lang="zh-CN" altLang="en-US" sz="2000"/>
              <a:t>理论上讲，是先有设计，后有构建。但实际上这两步是</a:t>
            </a:r>
            <a:r>
              <a:rPr lang="zh-CN" altLang="en-US" sz="2000">
                <a:solidFill>
                  <a:srgbClr val="FA0C34"/>
                </a:solidFill>
              </a:rPr>
              <a:t>交替反复</a:t>
            </a:r>
            <a:r>
              <a:rPr lang="zh-CN" altLang="en-US" sz="2000"/>
              <a:t>的，因为设计者是人，不是神；</a:t>
            </a:r>
          </a:p>
          <a:p>
            <a:pPr lvl="2">
              <a:lnSpc>
                <a:spcPct val="150000"/>
              </a:lnSpc>
              <a:spcBef>
                <a:spcPct val="50000"/>
              </a:spcBef>
              <a:buFont typeface="Wingdings" panose="05000000000000000000" pitchFamily="2" charset="2"/>
              <a:buChar char="p"/>
            </a:pPr>
            <a:r>
              <a:rPr lang="zh-CN" altLang="en-US" sz="2000"/>
              <a:t>从</a:t>
            </a:r>
            <a:r>
              <a:rPr lang="zh-CN" altLang="en-US" sz="2000">
                <a:solidFill>
                  <a:srgbClr val="FA0C34"/>
                </a:solidFill>
              </a:rPr>
              <a:t>客观角度</a:t>
            </a:r>
            <a:r>
              <a:rPr lang="zh-CN" altLang="en-US" sz="2000"/>
              <a:t>和</a:t>
            </a:r>
            <a:r>
              <a:rPr lang="zh-CN" altLang="en-US" sz="2000">
                <a:solidFill>
                  <a:srgbClr val="FA0C34"/>
                </a:solidFill>
              </a:rPr>
              <a:t>软件开发的经验</a:t>
            </a:r>
            <a:r>
              <a:rPr lang="zh-CN" altLang="en-US" sz="2000"/>
              <a:t>来讲，软件开发的几大</a:t>
            </a:r>
            <a:r>
              <a:rPr lang="zh-CN" altLang="en-US" sz="2000">
                <a:solidFill>
                  <a:srgbClr val="FA0C34"/>
                </a:solidFill>
              </a:rPr>
              <a:t>要素</a:t>
            </a:r>
            <a:r>
              <a:rPr lang="zh-CN" altLang="en-US" sz="2000"/>
              <a:t>（分析、设计、构建和测试）都要不断的</a:t>
            </a:r>
            <a:r>
              <a:rPr lang="zh-CN" altLang="en-US" sz="2000">
                <a:solidFill>
                  <a:srgbClr val="FA0C34"/>
                </a:solidFill>
              </a:rPr>
              <a:t>调整</a:t>
            </a:r>
            <a:r>
              <a:rPr lang="zh-CN" altLang="en-US" sz="2000"/>
              <a:t>、变化，而这正是敏捷的内涵。</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2467">
                                            <p:txEl>
                                              <p:pRg st="1" end="1"/>
                                            </p:txEl>
                                          </p:spTgt>
                                        </p:tgtEl>
                                        <p:attrNameLst>
                                          <p:attrName>style.visibility</p:attrName>
                                        </p:attrNameLst>
                                      </p:cBhvr>
                                      <p:to>
                                        <p:strVal val="visible"/>
                                      </p:to>
                                    </p:set>
                                    <p:anim calcmode="lin" valueType="num">
                                      <p:cBhvr additive="base">
                                        <p:cTn id="7" dur="1000" fill="hold"/>
                                        <p:tgtEl>
                                          <p:spTgt spid="62467">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624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62467">
                                            <p:txEl>
                                              <p:pRg st="2" end="2"/>
                                            </p:txEl>
                                          </p:spTgt>
                                        </p:tgtEl>
                                        <p:attrNameLst>
                                          <p:attrName>style.visibility</p:attrName>
                                        </p:attrNameLst>
                                      </p:cBhvr>
                                      <p:to>
                                        <p:strVal val="visible"/>
                                      </p:to>
                                    </p:set>
                                    <p:animEffect transition="in" filter="blinds(horizontal)">
                                      <p:cBhvr>
                                        <p:cTn id="13" dur="1000"/>
                                        <p:tgtEl>
                                          <p:spTgt spid="6246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2467">
                                            <p:txEl>
                                              <p:pRg st="3" end="3"/>
                                            </p:txEl>
                                          </p:spTgt>
                                        </p:tgtEl>
                                        <p:attrNameLst>
                                          <p:attrName>style.visibility</p:attrName>
                                        </p:attrNameLst>
                                      </p:cBhvr>
                                      <p:to>
                                        <p:strVal val="visible"/>
                                      </p:to>
                                    </p:set>
                                    <p:animEffect transition="in" filter="blinds(horizontal)">
                                      <p:cBhvr>
                                        <p:cTn id="18" dur="1000"/>
                                        <p:tgtEl>
                                          <p:spTgt spid="6246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62467">
                                            <p:txEl>
                                              <p:pRg st="4" end="4"/>
                                            </p:txEl>
                                          </p:spTgt>
                                        </p:tgtEl>
                                        <p:attrNameLst>
                                          <p:attrName>style.visibility</p:attrName>
                                        </p:attrNameLst>
                                      </p:cBhvr>
                                      <p:to>
                                        <p:strVal val="visible"/>
                                      </p:to>
                                    </p:set>
                                    <p:animEffect transition="in" filter="blinds(horizontal)">
                                      <p:cBhvr>
                                        <p:cTn id="23" dur="1000"/>
                                        <p:tgtEl>
                                          <p:spTgt spid="6246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6">
            <a:extLst>
              <a:ext uri="{FF2B5EF4-FFF2-40B4-BE49-F238E27FC236}">
                <a16:creationId xmlns:a16="http://schemas.microsoft.com/office/drawing/2014/main" id="{F2A2BA99-DB2C-36C3-7DFD-69CA692BA77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7BA08FF-C1CA-422C-B8D6-AAD8666A3471}" type="slidenum">
              <a:rPr lang="en-US" altLang="zh-CN" sz="1400">
                <a:solidFill>
                  <a:srgbClr val="000000"/>
                </a:solidFill>
                <a:latin typeface="Arial" panose="020B0604020202020204" pitchFamily="34" charset="0"/>
              </a:rPr>
              <a:pPr fontAlgn="base">
                <a:spcBef>
                  <a:spcPct val="0"/>
                </a:spcBef>
                <a:spcAft>
                  <a:spcPct val="0"/>
                </a:spcAft>
              </a:pPr>
              <a:t>40</a:t>
            </a:fld>
            <a:endParaRPr lang="en-US" altLang="zh-CN" sz="1400">
              <a:solidFill>
                <a:srgbClr val="000000"/>
              </a:solidFill>
              <a:latin typeface="Arial" panose="020B0604020202020204" pitchFamily="34" charset="0"/>
            </a:endParaRPr>
          </a:p>
        </p:txBody>
      </p:sp>
      <p:sp>
        <p:nvSpPr>
          <p:cNvPr id="27651" name="Rectangle 2">
            <a:extLst>
              <a:ext uri="{FF2B5EF4-FFF2-40B4-BE49-F238E27FC236}">
                <a16:creationId xmlns:a16="http://schemas.microsoft.com/office/drawing/2014/main" id="{F7B222CB-DAE8-C7BD-688A-107DD5D7539A}"/>
              </a:ext>
            </a:extLst>
          </p:cNvPr>
          <p:cNvSpPr>
            <a:spLocks noGrp="1" noChangeArrowheads="1"/>
          </p:cNvSpPr>
          <p:nvPr>
            <p:ph type="title"/>
          </p:nvPr>
        </p:nvSpPr>
        <p:spPr/>
        <p:txBody>
          <a:bodyPr/>
          <a:lstStyle/>
          <a:p>
            <a:r>
              <a:rPr lang="zh-CN" altLang="en-US"/>
              <a:t>敏捷过程是什么</a:t>
            </a:r>
          </a:p>
        </p:txBody>
      </p:sp>
      <p:sp>
        <p:nvSpPr>
          <p:cNvPr id="63491" name="Rectangle 3">
            <a:extLst>
              <a:ext uri="{FF2B5EF4-FFF2-40B4-BE49-F238E27FC236}">
                <a16:creationId xmlns:a16="http://schemas.microsoft.com/office/drawing/2014/main" id="{FF207DCD-E75E-4A62-384F-5B3FF4BE1984}"/>
              </a:ext>
            </a:extLst>
          </p:cNvPr>
          <p:cNvSpPr>
            <a:spLocks noGrp="1" noChangeArrowheads="1"/>
          </p:cNvSpPr>
          <p:nvPr>
            <p:ph type="body" idx="1"/>
          </p:nvPr>
        </p:nvSpPr>
        <p:spPr>
          <a:xfrm>
            <a:off x="1919288" y="1412875"/>
            <a:ext cx="8229600" cy="4464050"/>
          </a:xfrm>
        </p:spPr>
        <p:txBody>
          <a:bodyPr/>
          <a:lstStyle/>
          <a:p>
            <a:pPr>
              <a:lnSpc>
                <a:spcPct val="150000"/>
              </a:lnSpc>
              <a:spcBef>
                <a:spcPct val="50000"/>
              </a:spcBef>
              <a:buFont typeface="Wingdings" panose="05000000000000000000" pitchFamily="2" charset="2"/>
              <a:buChar char="p"/>
            </a:pPr>
            <a:r>
              <a:rPr lang="zh-CN" altLang="en-US"/>
              <a:t>解决这些问题，就要求</a:t>
            </a:r>
            <a:r>
              <a:rPr lang="zh-CN" altLang="en-US">
                <a:solidFill>
                  <a:srgbClr val="FA0C34"/>
                </a:solidFill>
              </a:rPr>
              <a:t>不断反馈</a:t>
            </a:r>
            <a:r>
              <a:rPr lang="zh-CN" altLang="en-US"/>
              <a:t>，</a:t>
            </a:r>
            <a:r>
              <a:rPr lang="zh-CN" altLang="en-US">
                <a:solidFill>
                  <a:srgbClr val="FA0C34"/>
                </a:solidFill>
              </a:rPr>
              <a:t>不断调整</a:t>
            </a:r>
            <a:r>
              <a:rPr lang="zh-CN" altLang="en-US"/>
              <a:t>，即工程学中的</a:t>
            </a:r>
            <a:r>
              <a:rPr lang="zh-CN" altLang="en-US">
                <a:solidFill>
                  <a:srgbClr val="FA0C34"/>
                </a:solidFill>
              </a:rPr>
              <a:t>自适应</a:t>
            </a:r>
            <a:r>
              <a:rPr lang="zh-CN" altLang="en-US"/>
              <a:t>。自适应必须有一定的速度和质量，即每一次适应要有</a:t>
            </a:r>
            <a:r>
              <a:rPr lang="zh-CN" altLang="en-US">
                <a:solidFill>
                  <a:srgbClr val="FA0C34"/>
                </a:solidFill>
              </a:rPr>
              <a:t>必要程度的提高</a:t>
            </a:r>
            <a:r>
              <a:rPr lang="zh-CN" altLang="en-US"/>
              <a:t>（具有必要的增量）。</a:t>
            </a:r>
          </a:p>
          <a:p>
            <a:pPr>
              <a:lnSpc>
                <a:spcPct val="150000"/>
              </a:lnSpc>
              <a:spcBef>
                <a:spcPct val="50000"/>
              </a:spcBef>
              <a:buFont typeface="Wingdings" panose="05000000000000000000" pitchFamily="2" charset="2"/>
              <a:buChar char="p"/>
            </a:pPr>
            <a:r>
              <a:rPr lang="zh-CN" altLang="en-US"/>
              <a:t>换言之，有</a:t>
            </a:r>
            <a:r>
              <a:rPr lang="zh-CN" altLang="en-US">
                <a:solidFill>
                  <a:srgbClr val="FA0C34"/>
                </a:solidFill>
              </a:rPr>
              <a:t>自适应</a:t>
            </a:r>
            <a:r>
              <a:rPr lang="zh-CN" altLang="en-US"/>
              <a:t>和</a:t>
            </a:r>
            <a:r>
              <a:rPr lang="zh-CN" altLang="en-US">
                <a:solidFill>
                  <a:srgbClr val="FA0C34"/>
                </a:solidFill>
              </a:rPr>
              <a:t>增量提高的过程</a:t>
            </a:r>
            <a:r>
              <a:rPr lang="zh-CN" altLang="en-US"/>
              <a:t>即是</a:t>
            </a:r>
            <a:r>
              <a:rPr lang="zh-CN" altLang="en-US">
                <a:solidFill>
                  <a:srgbClr val="FA0C34"/>
                </a:solidFill>
              </a:rPr>
              <a:t>敏捷过程</a:t>
            </a:r>
            <a:r>
              <a:rPr lang="zh-CN" altLang="en-US"/>
              <a:t>。</a:t>
            </a:r>
            <a:endParaRPr lang="zh-CN" altLang="en-US">
              <a:solidFill>
                <a:srgbClr val="FA0C34"/>
              </a:solidFill>
            </a:endParaRPr>
          </a:p>
          <a:p>
            <a:pPr>
              <a:lnSpc>
                <a:spcPct val="150000"/>
              </a:lnSpc>
              <a:spcBef>
                <a:spcPct val="50000"/>
              </a:spcBef>
              <a:buFont typeface="Wingdings" panose="05000000000000000000" pitchFamily="2" charset="2"/>
              <a:buChar char="p"/>
            </a:pPr>
            <a:r>
              <a:rPr lang="zh-CN" altLang="en-US"/>
              <a:t>如何</a:t>
            </a:r>
            <a:r>
              <a:rPr lang="zh-CN" altLang="en-US">
                <a:solidFill>
                  <a:srgbClr val="FA0C34"/>
                </a:solidFill>
              </a:rPr>
              <a:t>建立</a:t>
            </a:r>
            <a:r>
              <a:rPr lang="zh-CN" altLang="en-US"/>
              <a:t>能解决不可预测性的</a:t>
            </a:r>
            <a:r>
              <a:rPr lang="zh-CN" altLang="en-US">
                <a:solidFill>
                  <a:srgbClr val="FA0C34"/>
                </a:solidFill>
              </a:rPr>
              <a:t>过程</a:t>
            </a:r>
            <a:r>
              <a:rPr lang="zh-CN" altLang="en-US"/>
              <a:t>？</a:t>
            </a:r>
          </a:p>
          <a:p>
            <a:pPr lvl="1">
              <a:lnSpc>
                <a:spcPct val="150000"/>
              </a:lnSpc>
              <a:spcBef>
                <a:spcPct val="50000"/>
              </a:spcBef>
              <a:buFont typeface="Wingdings" panose="05000000000000000000" pitchFamily="2" charset="2"/>
              <a:buChar char="p"/>
            </a:pPr>
            <a:r>
              <a:rPr lang="zh-CN" altLang="en-US">
                <a:solidFill>
                  <a:srgbClr val="FA0C34"/>
                </a:solidFill>
              </a:rPr>
              <a:t>过程的自适应性。</a:t>
            </a:r>
            <a:endParaRPr lang="en-US" altLang="zh-CN">
              <a:solidFill>
                <a:srgbClr val="FA0C34"/>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3491">
                                            <p:txEl>
                                              <p:pRg st="1" end="1"/>
                                            </p:txEl>
                                          </p:spTgt>
                                        </p:tgtEl>
                                        <p:attrNameLst>
                                          <p:attrName>style.visibility</p:attrName>
                                        </p:attrNameLst>
                                      </p:cBhvr>
                                      <p:to>
                                        <p:strVal val="visible"/>
                                      </p:to>
                                    </p:set>
                                    <p:animEffect transition="in" filter="box(in)">
                                      <p:cBhvr>
                                        <p:cTn id="7" dur="1000"/>
                                        <p:tgtEl>
                                          <p:spTgt spid="6349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3491">
                                            <p:txEl>
                                              <p:pRg st="2" end="2"/>
                                            </p:txEl>
                                          </p:spTgt>
                                        </p:tgtEl>
                                        <p:attrNameLst>
                                          <p:attrName>style.visibility</p:attrName>
                                        </p:attrNameLst>
                                      </p:cBhvr>
                                      <p:to>
                                        <p:strVal val="visible"/>
                                      </p:to>
                                    </p:set>
                                    <p:animEffect transition="in" filter="box(in)">
                                      <p:cBhvr>
                                        <p:cTn id="12" dur="1000"/>
                                        <p:tgtEl>
                                          <p:spTgt spid="6349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3491">
                                            <p:txEl>
                                              <p:pRg st="3" end="3"/>
                                            </p:txEl>
                                          </p:spTgt>
                                        </p:tgtEl>
                                        <p:attrNameLst>
                                          <p:attrName>style.visibility</p:attrName>
                                        </p:attrNameLst>
                                      </p:cBhvr>
                                      <p:to>
                                        <p:strVal val="visible"/>
                                      </p:to>
                                    </p:set>
                                    <p:animEffect transition="in" filter="box(in)">
                                      <p:cBhvr>
                                        <p:cTn id="17" dur="1000"/>
                                        <p:tgtEl>
                                          <p:spTgt spid="6349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6">
            <a:extLst>
              <a:ext uri="{FF2B5EF4-FFF2-40B4-BE49-F238E27FC236}">
                <a16:creationId xmlns:a16="http://schemas.microsoft.com/office/drawing/2014/main" id="{26CE061C-EF16-D21D-A1E9-0547C59D9AE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A96F22B-3B57-465A-84A7-9D3E7BFCE631}" type="slidenum">
              <a:rPr lang="en-US" altLang="zh-CN" sz="1400">
                <a:solidFill>
                  <a:srgbClr val="000000"/>
                </a:solidFill>
                <a:latin typeface="Arial" panose="020B0604020202020204" pitchFamily="34" charset="0"/>
              </a:rPr>
              <a:pPr fontAlgn="base">
                <a:spcBef>
                  <a:spcPct val="0"/>
                </a:spcBef>
                <a:spcAft>
                  <a:spcPct val="0"/>
                </a:spcAft>
              </a:pPr>
              <a:t>41</a:t>
            </a:fld>
            <a:endParaRPr lang="en-US" altLang="zh-CN" sz="1400">
              <a:solidFill>
                <a:srgbClr val="000000"/>
              </a:solidFill>
              <a:latin typeface="Arial" panose="020B0604020202020204" pitchFamily="34" charset="0"/>
            </a:endParaRPr>
          </a:p>
        </p:txBody>
      </p:sp>
      <p:sp>
        <p:nvSpPr>
          <p:cNvPr id="28675" name="Rectangle 2">
            <a:extLst>
              <a:ext uri="{FF2B5EF4-FFF2-40B4-BE49-F238E27FC236}">
                <a16:creationId xmlns:a16="http://schemas.microsoft.com/office/drawing/2014/main" id="{885D01EE-C984-A9A5-5098-59DB76AE176D}"/>
              </a:ext>
            </a:extLst>
          </p:cNvPr>
          <p:cNvSpPr>
            <a:spLocks noGrp="1" noChangeArrowheads="1"/>
          </p:cNvSpPr>
          <p:nvPr>
            <p:ph type="title"/>
          </p:nvPr>
        </p:nvSpPr>
        <p:spPr/>
        <p:txBody>
          <a:bodyPr/>
          <a:lstStyle/>
          <a:p>
            <a:r>
              <a:rPr lang="zh-CN" altLang="en-US"/>
              <a:t>人的因素</a:t>
            </a:r>
          </a:p>
        </p:txBody>
      </p:sp>
      <p:sp>
        <p:nvSpPr>
          <p:cNvPr id="90115" name="Rectangle 3">
            <a:extLst>
              <a:ext uri="{FF2B5EF4-FFF2-40B4-BE49-F238E27FC236}">
                <a16:creationId xmlns:a16="http://schemas.microsoft.com/office/drawing/2014/main" id="{9FFF689B-B4BC-C1E8-DCE3-00B6075B7937}"/>
              </a:ext>
            </a:extLst>
          </p:cNvPr>
          <p:cNvSpPr>
            <a:spLocks noGrp="1" noChangeArrowheads="1"/>
          </p:cNvSpPr>
          <p:nvPr>
            <p:ph type="body" idx="1"/>
          </p:nvPr>
        </p:nvSpPr>
        <p:spPr>
          <a:xfrm>
            <a:off x="1981200" y="981076"/>
            <a:ext cx="8229600" cy="4968875"/>
          </a:xfrm>
        </p:spPr>
        <p:txBody>
          <a:bodyPr/>
          <a:lstStyle/>
          <a:p>
            <a:pPr>
              <a:lnSpc>
                <a:spcPct val="150000"/>
              </a:lnSpc>
              <a:spcBef>
                <a:spcPct val="50000"/>
              </a:spcBef>
              <a:buFont typeface="Wingdings" panose="05000000000000000000" pitchFamily="2" charset="2"/>
              <a:buChar char="p"/>
            </a:pPr>
            <a:r>
              <a:rPr lang="zh-CN" altLang="en-US"/>
              <a:t>“</a:t>
            </a:r>
            <a:r>
              <a:rPr lang="zh-CN" altLang="en-US">
                <a:ea typeface="楷体" panose="02010609060101010101" pitchFamily="49" charset="-122"/>
              </a:rPr>
              <a:t>敏捷开发关注个人的才智和技巧，</a:t>
            </a:r>
            <a:r>
              <a:rPr lang="zh-CN" altLang="en-US">
                <a:solidFill>
                  <a:srgbClr val="FA0C34"/>
                </a:solidFill>
                <a:ea typeface="楷体" panose="02010609060101010101" pitchFamily="49" charset="-122"/>
              </a:rPr>
              <a:t>根据特定人员和团队来塑造过程</a:t>
            </a:r>
            <a:r>
              <a:rPr lang="zh-CN" altLang="en-US"/>
              <a:t>。”这一描述的关键点在于“</a:t>
            </a:r>
            <a:r>
              <a:rPr lang="zh-CN" altLang="en-US">
                <a:solidFill>
                  <a:srgbClr val="FA0C34"/>
                </a:solidFill>
              </a:rPr>
              <a:t>构造可以满足人员及团队需求的过程模型</a:t>
            </a:r>
            <a:r>
              <a:rPr lang="zh-CN" altLang="en-US"/>
              <a:t>”，</a:t>
            </a:r>
            <a:r>
              <a:rPr lang="zh-CN" altLang="en-US">
                <a:solidFill>
                  <a:srgbClr val="D333A1"/>
                </a:solidFill>
              </a:rPr>
              <a:t>而非选择其他的过程模型</a:t>
            </a:r>
            <a:r>
              <a:rPr lang="zh-CN" altLang="en-US"/>
              <a:t>。 </a:t>
            </a:r>
            <a:r>
              <a:rPr lang="en-US" altLang="zh-CN"/>
              <a:t>(</a:t>
            </a:r>
            <a:r>
              <a:rPr lang="zh-CN" altLang="en-US"/>
              <a:t>构造而非选择</a:t>
            </a:r>
            <a:r>
              <a:rPr lang="en-US" altLang="zh-CN"/>
              <a:t>)</a:t>
            </a:r>
          </a:p>
          <a:p>
            <a:pPr>
              <a:lnSpc>
                <a:spcPct val="150000"/>
              </a:lnSpc>
              <a:spcBef>
                <a:spcPct val="50000"/>
              </a:spcBef>
              <a:buFont typeface="Wingdings" panose="05000000000000000000" pitchFamily="2" charset="2"/>
              <a:buChar char="p"/>
            </a:pPr>
            <a:r>
              <a:rPr lang="zh-CN" altLang="en-US"/>
              <a:t>敏捷</a:t>
            </a:r>
            <a:r>
              <a:rPr lang="zh-CN" altLang="en-US">
                <a:solidFill>
                  <a:srgbClr val="FA0C34"/>
                </a:solidFill>
              </a:rPr>
              <a:t>团队成员</a:t>
            </a:r>
            <a:r>
              <a:rPr lang="zh-CN" altLang="en-US"/>
              <a:t>及</a:t>
            </a:r>
            <a:r>
              <a:rPr lang="zh-CN" altLang="en-US">
                <a:solidFill>
                  <a:srgbClr val="FA0C34"/>
                </a:solidFill>
              </a:rPr>
              <a:t>团队本身</a:t>
            </a:r>
            <a:r>
              <a:rPr lang="zh-CN" altLang="en-US"/>
              <a:t>必须具备以下一些特点：</a:t>
            </a:r>
          </a:p>
          <a:p>
            <a:pPr lvl="1">
              <a:lnSpc>
                <a:spcPct val="150000"/>
              </a:lnSpc>
              <a:spcBef>
                <a:spcPct val="50000"/>
              </a:spcBef>
              <a:buFont typeface="Wingdings" panose="05000000000000000000" pitchFamily="2" charset="2"/>
              <a:buChar char="p"/>
            </a:pPr>
            <a:r>
              <a:rPr lang="zh-CN" altLang="en-US" sz="2200">
                <a:solidFill>
                  <a:srgbClr val="FA0C34"/>
                </a:solidFill>
              </a:rPr>
              <a:t>基本能力</a:t>
            </a:r>
            <a:r>
              <a:rPr lang="zh-CN" altLang="en-US" sz="2200"/>
              <a:t>。同在传统软件工程中一样，在敏捷开发中，“能力”一词包含了</a:t>
            </a:r>
            <a:r>
              <a:rPr lang="zh-CN" altLang="en-US" sz="2200">
                <a:solidFill>
                  <a:srgbClr val="FA0C34"/>
                </a:solidFill>
              </a:rPr>
              <a:t>个人内在才能</a:t>
            </a:r>
            <a:r>
              <a:rPr lang="zh-CN" altLang="en-US" sz="2200"/>
              <a:t>、</a:t>
            </a:r>
            <a:r>
              <a:rPr lang="zh-CN" altLang="en-US" sz="2200">
                <a:solidFill>
                  <a:srgbClr val="FA0C34"/>
                </a:solidFill>
              </a:rPr>
              <a:t>特定的软件相关技能</a:t>
            </a:r>
            <a:r>
              <a:rPr lang="zh-CN" altLang="en-US" sz="2200"/>
              <a:t>以及对</a:t>
            </a:r>
            <a:r>
              <a:rPr lang="zh-CN" altLang="en-US" sz="2200">
                <a:solidFill>
                  <a:srgbClr val="FA0C34"/>
                </a:solidFill>
              </a:rPr>
              <a:t>所选过程的全局知识</a:t>
            </a:r>
            <a:r>
              <a:rPr lang="zh-CN" altLang="en-US" sz="22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0115">
                                            <p:txEl>
                                              <p:pRg st="1" end="1"/>
                                            </p:txEl>
                                          </p:spTgt>
                                        </p:tgtEl>
                                        <p:attrNameLst>
                                          <p:attrName>style.visibility</p:attrName>
                                        </p:attrNameLst>
                                      </p:cBhvr>
                                      <p:to>
                                        <p:strVal val="visible"/>
                                      </p:to>
                                    </p:set>
                                    <p:animEffect transition="in" filter="box(in)">
                                      <p:cBhvr>
                                        <p:cTn id="7" dur="1000"/>
                                        <p:tgtEl>
                                          <p:spTgt spid="9011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0115">
                                            <p:txEl>
                                              <p:pRg st="2" end="2"/>
                                            </p:txEl>
                                          </p:spTgt>
                                        </p:tgtEl>
                                        <p:attrNameLst>
                                          <p:attrName>style.visibility</p:attrName>
                                        </p:attrNameLst>
                                      </p:cBhvr>
                                      <p:to>
                                        <p:strVal val="visible"/>
                                      </p:to>
                                    </p:set>
                                    <p:animEffect transition="in" filter="box(in)">
                                      <p:cBhvr>
                                        <p:cTn id="12" dur="1000"/>
                                        <p:tgtEl>
                                          <p:spTgt spid="901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6">
            <a:extLst>
              <a:ext uri="{FF2B5EF4-FFF2-40B4-BE49-F238E27FC236}">
                <a16:creationId xmlns:a16="http://schemas.microsoft.com/office/drawing/2014/main" id="{1D089A0A-24C3-6E2B-7C0A-06499AC28F7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0F43B01-8A2D-4923-8B63-5F20FC6C09BF}" type="slidenum">
              <a:rPr lang="en-US" altLang="zh-CN" sz="1400">
                <a:solidFill>
                  <a:srgbClr val="000000"/>
                </a:solidFill>
                <a:latin typeface="Arial" panose="020B0604020202020204" pitchFamily="34" charset="0"/>
              </a:rPr>
              <a:pPr fontAlgn="base">
                <a:spcBef>
                  <a:spcPct val="0"/>
                </a:spcBef>
                <a:spcAft>
                  <a:spcPct val="0"/>
                </a:spcAft>
              </a:pPr>
              <a:t>42</a:t>
            </a:fld>
            <a:endParaRPr lang="en-US" altLang="zh-CN" sz="1400">
              <a:solidFill>
                <a:srgbClr val="000000"/>
              </a:solidFill>
              <a:latin typeface="Arial" panose="020B0604020202020204" pitchFamily="34" charset="0"/>
            </a:endParaRPr>
          </a:p>
        </p:txBody>
      </p:sp>
      <p:sp>
        <p:nvSpPr>
          <p:cNvPr id="29699" name="Rectangle 2">
            <a:extLst>
              <a:ext uri="{FF2B5EF4-FFF2-40B4-BE49-F238E27FC236}">
                <a16:creationId xmlns:a16="http://schemas.microsoft.com/office/drawing/2014/main" id="{59A60452-7B24-CCFE-43F3-D54D2D9C53C4}"/>
              </a:ext>
            </a:extLst>
          </p:cNvPr>
          <p:cNvSpPr>
            <a:spLocks noGrp="1" noChangeArrowheads="1"/>
          </p:cNvSpPr>
          <p:nvPr>
            <p:ph type="title"/>
          </p:nvPr>
        </p:nvSpPr>
        <p:spPr/>
        <p:txBody>
          <a:bodyPr/>
          <a:lstStyle/>
          <a:p>
            <a:r>
              <a:rPr lang="zh-CN" altLang="en-US"/>
              <a:t>人的因素</a:t>
            </a:r>
          </a:p>
        </p:txBody>
      </p:sp>
      <p:sp>
        <p:nvSpPr>
          <p:cNvPr id="91139" name="Rectangle 3">
            <a:extLst>
              <a:ext uri="{FF2B5EF4-FFF2-40B4-BE49-F238E27FC236}">
                <a16:creationId xmlns:a16="http://schemas.microsoft.com/office/drawing/2014/main" id="{11759363-EFAE-5B1F-E6E3-8DBC1BBD6D30}"/>
              </a:ext>
            </a:extLst>
          </p:cNvPr>
          <p:cNvSpPr>
            <a:spLocks noGrp="1" noChangeArrowheads="1"/>
          </p:cNvSpPr>
          <p:nvPr>
            <p:ph type="body" idx="1"/>
          </p:nvPr>
        </p:nvSpPr>
        <p:spPr>
          <a:xfrm>
            <a:off x="1847850" y="981076"/>
            <a:ext cx="8362950" cy="5078413"/>
          </a:xfrm>
        </p:spPr>
        <p:txBody>
          <a:bodyPr/>
          <a:lstStyle/>
          <a:p>
            <a:pPr lvl="1">
              <a:lnSpc>
                <a:spcPct val="150000"/>
              </a:lnSpc>
              <a:buFont typeface="Wingdings" panose="05000000000000000000" pitchFamily="2" charset="2"/>
              <a:buChar char="p"/>
            </a:pPr>
            <a:r>
              <a:rPr lang="zh-CN" altLang="en-US" sz="2600">
                <a:solidFill>
                  <a:srgbClr val="FA0C34"/>
                </a:solidFill>
              </a:rPr>
              <a:t>共同目标</a:t>
            </a:r>
            <a:r>
              <a:rPr lang="zh-CN" altLang="en-US" sz="2600"/>
              <a:t>。虽然敏捷团队成员能完成</a:t>
            </a:r>
            <a:r>
              <a:rPr lang="zh-CN" altLang="en-US" sz="2600">
                <a:solidFill>
                  <a:srgbClr val="FA0C34"/>
                </a:solidFill>
              </a:rPr>
              <a:t>不同的任务</a:t>
            </a:r>
            <a:r>
              <a:rPr lang="zh-CN" altLang="en-US" sz="2600"/>
              <a:t>，为项目提供</a:t>
            </a:r>
            <a:r>
              <a:rPr lang="zh-CN" altLang="en-US" sz="2600">
                <a:solidFill>
                  <a:srgbClr val="FA0C34"/>
                </a:solidFill>
              </a:rPr>
              <a:t>不同的技能</a:t>
            </a:r>
            <a:r>
              <a:rPr lang="zh-CN" altLang="en-US" sz="2600"/>
              <a:t>，但是所有人必须瞄准</a:t>
            </a:r>
            <a:r>
              <a:rPr lang="zh-CN" altLang="en-US" sz="2600">
                <a:solidFill>
                  <a:srgbClr val="FA0C34"/>
                </a:solidFill>
              </a:rPr>
              <a:t>同一个目标</a:t>
            </a:r>
            <a:r>
              <a:rPr lang="zh-CN" altLang="en-US" sz="2600"/>
              <a:t>，即在承诺的时间内向客户提交可运行的软件增量。为了实现这一目标，项目组还应当做出或大或小的连续的</a:t>
            </a:r>
            <a:r>
              <a:rPr lang="zh-CN" altLang="en-US" sz="2600">
                <a:solidFill>
                  <a:srgbClr val="FA0C34"/>
                </a:solidFill>
              </a:rPr>
              <a:t>适应性变化</a:t>
            </a:r>
            <a:r>
              <a:rPr lang="zh-CN" altLang="en-US" sz="2600"/>
              <a:t>，以</a:t>
            </a:r>
            <a:r>
              <a:rPr lang="zh-CN" altLang="en-US" sz="2600">
                <a:solidFill>
                  <a:srgbClr val="FA0C34"/>
                </a:solidFill>
              </a:rPr>
              <a:t>使过程更适合于团队的需要</a:t>
            </a:r>
            <a:r>
              <a:rPr lang="zh-CN" altLang="en-US" sz="2600"/>
              <a:t>。 </a:t>
            </a:r>
          </a:p>
          <a:p>
            <a:pPr lvl="1">
              <a:lnSpc>
                <a:spcPct val="150000"/>
              </a:lnSpc>
              <a:buFont typeface="Wingdings" panose="05000000000000000000" pitchFamily="2" charset="2"/>
              <a:buChar char="p"/>
            </a:pPr>
            <a:r>
              <a:rPr lang="zh-CN" altLang="en-US" sz="2600">
                <a:solidFill>
                  <a:srgbClr val="FA0C34"/>
                </a:solidFill>
              </a:rPr>
              <a:t>精诚合作</a:t>
            </a:r>
            <a:r>
              <a:rPr lang="zh-CN" altLang="en-US" sz="2600"/>
              <a:t>：项目组成员之间，项目组与所有其他利益相关者之间必须精诚合作。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1139">
                                            <p:txEl>
                                              <p:pRg st="1" end="1"/>
                                            </p:txEl>
                                          </p:spTgt>
                                        </p:tgtEl>
                                        <p:attrNameLst>
                                          <p:attrName>style.visibility</p:attrName>
                                        </p:attrNameLst>
                                      </p:cBhvr>
                                      <p:to>
                                        <p:strVal val="visible"/>
                                      </p:to>
                                    </p:set>
                                    <p:animEffect transition="in" filter="box(in)">
                                      <p:cBhvr>
                                        <p:cTn id="7" dur="1000"/>
                                        <p:tgtEl>
                                          <p:spTgt spid="911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604F9D5C-FBEA-CB15-FADB-17108675C78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2142643-5BCA-4739-9D1B-C3AD7C6A77F5}" type="slidenum">
              <a:rPr lang="en-US" altLang="zh-CN" sz="1400">
                <a:solidFill>
                  <a:srgbClr val="000000"/>
                </a:solidFill>
                <a:latin typeface="Arial" panose="020B0604020202020204" pitchFamily="34" charset="0"/>
              </a:rPr>
              <a:pPr fontAlgn="base">
                <a:spcBef>
                  <a:spcPct val="0"/>
                </a:spcBef>
                <a:spcAft>
                  <a:spcPct val="0"/>
                </a:spcAft>
              </a:pPr>
              <a:t>43</a:t>
            </a:fld>
            <a:endParaRPr lang="en-US" altLang="zh-CN" sz="1400">
              <a:solidFill>
                <a:srgbClr val="000000"/>
              </a:solidFill>
              <a:latin typeface="Arial" panose="020B0604020202020204" pitchFamily="34" charset="0"/>
            </a:endParaRPr>
          </a:p>
        </p:txBody>
      </p:sp>
      <p:sp>
        <p:nvSpPr>
          <p:cNvPr id="30723" name="Rectangle 2">
            <a:extLst>
              <a:ext uri="{FF2B5EF4-FFF2-40B4-BE49-F238E27FC236}">
                <a16:creationId xmlns:a16="http://schemas.microsoft.com/office/drawing/2014/main" id="{F20C222E-A23B-093B-EFA8-285F3DAC7955}"/>
              </a:ext>
            </a:extLst>
          </p:cNvPr>
          <p:cNvSpPr>
            <a:spLocks noGrp="1" noChangeArrowheads="1"/>
          </p:cNvSpPr>
          <p:nvPr>
            <p:ph type="title"/>
          </p:nvPr>
        </p:nvSpPr>
        <p:spPr/>
        <p:txBody>
          <a:bodyPr/>
          <a:lstStyle/>
          <a:p>
            <a:r>
              <a:rPr lang="zh-CN" altLang="en-US"/>
              <a:t>人的因素</a:t>
            </a:r>
          </a:p>
        </p:txBody>
      </p:sp>
      <p:sp>
        <p:nvSpPr>
          <p:cNvPr id="92163" name="Rectangle 3">
            <a:extLst>
              <a:ext uri="{FF2B5EF4-FFF2-40B4-BE49-F238E27FC236}">
                <a16:creationId xmlns:a16="http://schemas.microsoft.com/office/drawing/2014/main" id="{0FDFB2AC-CD82-49C7-2195-7F224EA16CCE}"/>
              </a:ext>
            </a:extLst>
          </p:cNvPr>
          <p:cNvSpPr>
            <a:spLocks noGrp="1" noChangeArrowheads="1"/>
          </p:cNvSpPr>
          <p:nvPr>
            <p:ph type="body" idx="1"/>
          </p:nvPr>
        </p:nvSpPr>
        <p:spPr>
          <a:xfrm>
            <a:off x="1847850" y="1158876"/>
            <a:ext cx="8362950" cy="5078413"/>
          </a:xfrm>
        </p:spPr>
        <p:txBody>
          <a:bodyPr/>
          <a:lstStyle/>
          <a:p>
            <a:pPr lvl="1">
              <a:lnSpc>
                <a:spcPct val="150000"/>
              </a:lnSpc>
              <a:spcBef>
                <a:spcPct val="50000"/>
              </a:spcBef>
              <a:buFont typeface="Wingdings" panose="05000000000000000000" pitchFamily="2" charset="2"/>
              <a:buChar char="p"/>
            </a:pPr>
            <a:r>
              <a:rPr lang="zh-CN" altLang="en-US" sz="2500">
                <a:solidFill>
                  <a:srgbClr val="FA0C34"/>
                </a:solidFill>
              </a:rPr>
              <a:t>决策能力</a:t>
            </a:r>
            <a:r>
              <a:rPr lang="zh-CN" altLang="en-US" sz="2500"/>
              <a:t>。包括敏捷团队在内，任何一个好的软件项目组必须有能够</a:t>
            </a:r>
            <a:r>
              <a:rPr lang="zh-CN" altLang="en-US" sz="2500">
                <a:solidFill>
                  <a:srgbClr val="FA0C34"/>
                </a:solidFill>
              </a:rPr>
              <a:t>掌握自身命运的自由</a:t>
            </a:r>
            <a:r>
              <a:rPr lang="zh-CN" altLang="en-US" sz="2500"/>
              <a:t>。这意味着应当赋予项目组在</a:t>
            </a:r>
            <a:r>
              <a:rPr lang="zh-CN" altLang="en-US" sz="2500">
                <a:solidFill>
                  <a:srgbClr val="FA0C34"/>
                </a:solidFill>
              </a:rPr>
              <a:t>技术</a:t>
            </a:r>
            <a:r>
              <a:rPr lang="zh-CN" altLang="en-US" sz="2500"/>
              <a:t>和</a:t>
            </a:r>
            <a:r>
              <a:rPr lang="zh-CN" altLang="en-US" sz="2500">
                <a:solidFill>
                  <a:srgbClr val="FA0C34"/>
                </a:solidFill>
              </a:rPr>
              <a:t>项目问题</a:t>
            </a:r>
            <a:r>
              <a:rPr lang="zh-CN" altLang="en-US" sz="2500"/>
              <a:t>上的</a:t>
            </a:r>
            <a:r>
              <a:rPr lang="zh-CN" altLang="en-US" sz="2500">
                <a:solidFill>
                  <a:srgbClr val="FA0C34"/>
                </a:solidFill>
              </a:rPr>
              <a:t>自主决策权</a:t>
            </a:r>
            <a:r>
              <a:rPr lang="zh-CN" altLang="en-US" sz="2500"/>
              <a:t>。 </a:t>
            </a:r>
          </a:p>
          <a:p>
            <a:pPr lvl="1">
              <a:lnSpc>
                <a:spcPct val="150000"/>
              </a:lnSpc>
              <a:spcBef>
                <a:spcPct val="50000"/>
              </a:spcBef>
              <a:buFont typeface="Wingdings" panose="05000000000000000000" pitchFamily="2" charset="2"/>
              <a:buChar char="p"/>
            </a:pPr>
            <a:r>
              <a:rPr lang="zh-CN" altLang="en-US" sz="2500">
                <a:solidFill>
                  <a:srgbClr val="FA0C34"/>
                </a:solidFill>
              </a:rPr>
              <a:t>模糊问题解决能力</a:t>
            </a:r>
            <a:r>
              <a:rPr lang="zh-CN" altLang="en-US" sz="2500"/>
              <a:t>。软件项目经理应当认识到：敏捷项目组被迫不断面对不确定的事情，</a:t>
            </a:r>
            <a:r>
              <a:rPr lang="zh-CN" altLang="en-US" sz="2500">
                <a:solidFill>
                  <a:srgbClr val="FA0C34"/>
                </a:solidFill>
              </a:rPr>
              <a:t>被迫不断和变更作斗争</a:t>
            </a:r>
            <a:r>
              <a:rPr lang="zh-CN" altLang="en-US" sz="2500"/>
              <a:t>。有时，项目组不得不接受今天正在解决的问题明天根本不需解决这样的现实。</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2163">
                                            <p:txEl>
                                              <p:pRg st="1" end="1"/>
                                            </p:txEl>
                                          </p:spTgt>
                                        </p:tgtEl>
                                        <p:attrNameLst>
                                          <p:attrName>style.visibility</p:attrName>
                                        </p:attrNameLst>
                                      </p:cBhvr>
                                      <p:to>
                                        <p:strVal val="visible"/>
                                      </p:to>
                                    </p:set>
                                    <p:animEffect transition="in" filter="box(in)">
                                      <p:cBhvr>
                                        <p:cTn id="7" dur="1000"/>
                                        <p:tgtEl>
                                          <p:spTgt spid="9216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6">
            <a:extLst>
              <a:ext uri="{FF2B5EF4-FFF2-40B4-BE49-F238E27FC236}">
                <a16:creationId xmlns:a16="http://schemas.microsoft.com/office/drawing/2014/main" id="{6867DFD3-49CC-B11B-CC7D-445EADAD10C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14A3220-6894-4EFD-82F3-43A61C01223E}" type="slidenum">
              <a:rPr lang="en-US" altLang="zh-CN" sz="1400">
                <a:solidFill>
                  <a:srgbClr val="000000"/>
                </a:solidFill>
                <a:latin typeface="Arial" panose="020B0604020202020204" pitchFamily="34" charset="0"/>
              </a:rPr>
              <a:pPr fontAlgn="base">
                <a:spcBef>
                  <a:spcPct val="0"/>
                </a:spcBef>
                <a:spcAft>
                  <a:spcPct val="0"/>
                </a:spcAft>
              </a:pPr>
              <a:t>44</a:t>
            </a:fld>
            <a:endParaRPr lang="en-US" altLang="zh-CN" sz="1400">
              <a:solidFill>
                <a:srgbClr val="000000"/>
              </a:solidFill>
              <a:latin typeface="Arial" panose="020B0604020202020204" pitchFamily="34" charset="0"/>
            </a:endParaRPr>
          </a:p>
        </p:txBody>
      </p:sp>
      <p:sp>
        <p:nvSpPr>
          <p:cNvPr id="31747" name="Rectangle 2">
            <a:extLst>
              <a:ext uri="{FF2B5EF4-FFF2-40B4-BE49-F238E27FC236}">
                <a16:creationId xmlns:a16="http://schemas.microsoft.com/office/drawing/2014/main" id="{169D337C-8905-6799-3E8F-97D22CFEF746}"/>
              </a:ext>
            </a:extLst>
          </p:cNvPr>
          <p:cNvSpPr>
            <a:spLocks noGrp="1" noChangeArrowheads="1"/>
          </p:cNvSpPr>
          <p:nvPr>
            <p:ph type="title"/>
          </p:nvPr>
        </p:nvSpPr>
        <p:spPr/>
        <p:txBody>
          <a:bodyPr/>
          <a:lstStyle/>
          <a:p>
            <a:r>
              <a:rPr lang="zh-CN" altLang="en-US"/>
              <a:t>人的因素</a:t>
            </a:r>
          </a:p>
        </p:txBody>
      </p:sp>
      <p:sp>
        <p:nvSpPr>
          <p:cNvPr id="66563" name="Rectangle 3">
            <a:extLst>
              <a:ext uri="{FF2B5EF4-FFF2-40B4-BE49-F238E27FC236}">
                <a16:creationId xmlns:a16="http://schemas.microsoft.com/office/drawing/2014/main" id="{68069DF3-F7AB-4F2A-FE13-0F0EAC31526E}"/>
              </a:ext>
            </a:extLst>
          </p:cNvPr>
          <p:cNvSpPr>
            <a:spLocks noGrp="1" noChangeArrowheads="1"/>
          </p:cNvSpPr>
          <p:nvPr>
            <p:ph type="body" idx="1"/>
          </p:nvPr>
        </p:nvSpPr>
        <p:spPr/>
        <p:txBody>
          <a:bodyPr/>
          <a:lstStyle/>
          <a:p>
            <a:pPr>
              <a:lnSpc>
                <a:spcPct val="150000"/>
              </a:lnSpc>
              <a:buFont typeface="Wingdings" panose="05000000000000000000" pitchFamily="2" charset="2"/>
              <a:buChar char="p"/>
            </a:pPr>
            <a:r>
              <a:rPr lang="zh-CN" altLang="en-US">
                <a:solidFill>
                  <a:srgbClr val="FA0C34"/>
                </a:solidFill>
              </a:rPr>
              <a:t>相互信任和尊重</a:t>
            </a:r>
            <a:r>
              <a:rPr lang="zh-CN" altLang="en-US"/>
              <a:t>。敏捷团队必须成为具有</a:t>
            </a:r>
            <a:r>
              <a:rPr lang="zh-CN" altLang="en-US">
                <a:solidFill>
                  <a:srgbClr val="FA0C34"/>
                </a:solidFill>
              </a:rPr>
              <a:t>凝聚力的团队</a:t>
            </a:r>
            <a:r>
              <a:rPr lang="zh-CN" altLang="en-US"/>
              <a:t>，这样的团队展现出的相互信任和尊重使其形成“一个强有力的组织，确保</a:t>
            </a:r>
            <a:r>
              <a:rPr lang="zh-CN" altLang="en-US">
                <a:solidFill>
                  <a:srgbClr val="FA0C34"/>
                </a:solidFill>
              </a:rPr>
              <a:t>整体的实力大于各部分实力之和</a:t>
            </a:r>
            <a:r>
              <a:rPr lang="zh-CN" altLang="en-US"/>
              <a:t>”。 </a:t>
            </a:r>
          </a:p>
          <a:p>
            <a:pPr>
              <a:lnSpc>
                <a:spcPct val="150000"/>
              </a:lnSpc>
              <a:buFont typeface="Wingdings" panose="05000000000000000000" pitchFamily="2" charset="2"/>
              <a:buChar char="p"/>
            </a:pPr>
            <a:r>
              <a:rPr lang="zh-CN" altLang="en-US">
                <a:solidFill>
                  <a:srgbClr val="FA0C34"/>
                </a:solidFill>
              </a:rPr>
              <a:t>自组织</a:t>
            </a:r>
            <a:r>
              <a:rPr lang="zh-CN" altLang="en-US"/>
              <a:t>。自组织在敏捷开发中具有三重含义：</a:t>
            </a:r>
          </a:p>
          <a:p>
            <a:pPr lvl="1">
              <a:lnSpc>
                <a:spcPct val="150000"/>
              </a:lnSpc>
              <a:buFont typeface="Wingdings" panose="05000000000000000000" pitchFamily="2" charset="2"/>
              <a:buChar char="p"/>
            </a:pPr>
            <a:r>
              <a:rPr lang="zh-CN" altLang="en-US" sz="2000"/>
              <a:t>（</a:t>
            </a:r>
            <a:r>
              <a:rPr lang="en-US" altLang="zh-CN" sz="2000"/>
              <a:t>1</a:t>
            </a:r>
            <a:r>
              <a:rPr lang="zh-CN" altLang="en-US" sz="2000"/>
              <a:t>）敏捷团队</a:t>
            </a:r>
            <a:r>
              <a:rPr lang="zh-CN" altLang="en-US" sz="2000">
                <a:solidFill>
                  <a:srgbClr val="FA0C34"/>
                </a:solidFill>
              </a:rPr>
              <a:t>组织自身</a:t>
            </a:r>
            <a:r>
              <a:rPr lang="zh-CN" altLang="en-US" sz="2000"/>
              <a:t>以完成工作 </a:t>
            </a:r>
            <a:r>
              <a:rPr lang="en-US" altLang="zh-CN" sz="2000"/>
              <a:t>(</a:t>
            </a:r>
            <a:r>
              <a:rPr lang="zh-CN" altLang="en-US" sz="2000"/>
              <a:t>组织团队</a:t>
            </a:r>
            <a:r>
              <a:rPr lang="en-US" altLang="zh-CN" sz="2000"/>
              <a:t>)</a:t>
            </a:r>
            <a:r>
              <a:rPr lang="zh-CN" altLang="en-US" sz="2000"/>
              <a:t>；</a:t>
            </a:r>
          </a:p>
          <a:p>
            <a:pPr lvl="1">
              <a:lnSpc>
                <a:spcPct val="150000"/>
              </a:lnSpc>
              <a:buFont typeface="Wingdings" panose="05000000000000000000" pitchFamily="2" charset="2"/>
              <a:buChar char="p"/>
            </a:pPr>
            <a:r>
              <a:rPr lang="zh-CN" altLang="en-US" sz="2000"/>
              <a:t>（</a:t>
            </a:r>
            <a:r>
              <a:rPr lang="en-US" altLang="zh-CN" sz="2000"/>
              <a:t>2</a:t>
            </a:r>
            <a:r>
              <a:rPr lang="zh-CN" altLang="en-US" sz="2000"/>
              <a:t>）团队</a:t>
            </a:r>
            <a:r>
              <a:rPr lang="zh-CN" altLang="en-US" sz="2000">
                <a:solidFill>
                  <a:srgbClr val="FA0C34"/>
                </a:solidFill>
              </a:rPr>
              <a:t>组织</a:t>
            </a:r>
            <a:r>
              <a:rPr lang="zh-CN" altLang="en-US" sz="2000"/>
              <a:t>最能适应当前环境的</a:t>
            </a:r>
            <a:r>
              <a:rPr lang="zh-CN" altLang="en-US" sz="2000">
                <a:solidFill>
                  <a:srgbClr val="FA0C34"/>
                </a:solidFill>
              </a:rPr>
              <a:t>过程 </a:t>
            </a:r>
            <a:r>
              <a:rPr lang="en-US" altLang="zh-CN" sz="2000"/>
              <a:t>(</a:t>
            </a:r>
            <a:r>
              <a:rPr lang="zh-CN" altLang="en-US" sz="2000"/>
              <a:t>组织过程</a:t>
            </a:r>
            <a:r>
              <a:rPr lang="en-US" altLang="zh-CN" sz="2000"/>
              <a:t>)</a:t>
            </a:r>
            <a:r>
              <a:rPr lang="zh-CN" altLang="en-US" sz="2000"/>
              <a:t>；</a:t>
            </a:r>
          </a:p>
          <a:p>
            <a:pPr lvl="1">
              <a:lnSpc>
                <a:spcPct val="150000"/>
              </a:lnSpc>
              <a:buFont typeface="Wingdings" panose="05000000000000000000" pitchFamily="2" charset="2"/>
              <a:buChar char="p"/>
            </a:pPr>
            <a:r>
              <a:rPr lang="zh-CN" altLang="en-US" sz="2000"/>
              <a:t>（</a:t>
            </a:r>
            <a:r>
              <a:rPr lang="en-US" altLang="zh-CN" sz="2000"/>
              <a:t>3</a:t>
            </a:r>
            <a:r>
              <a:rPr lang="zh-CN" altLang="en-US" sz="2000"/>
              <a:t>）团队</a:t>
            </a:r>
            <a:r>
              <a:rPr lang="zh-CN" altLang="en-US" sz="2000">
                <a:solidFill>
                  <a:srgbClr val="FA0C34"/>
                </a:solidFill>
              </a:rPr>
              <a:t>组织</a:t>
            </a:r>
            <a:r>
              <a:rPr lang="zh-CN" altLang="en-US" sz="2000"/>
              <a:t>最好的</a:t>
            </a:r>
            <a:r>
              <a:rPr lang="zh-CN" altLang="en-US" sz="2000">
                <a:solidFill>
                  <a:srgbClr val="FA0C34"/>
                </a:solidFill>
              </a:rPr>
              <a:t>进度安排</a:t>
            </a:r>
            <a:r>
              <a:rPr lang="zh-CN" altLang="en-US" sz="2000"/>
              <a:t>以完成软件增量交付 </a:t>
            </a:r>
            <a:r>
              <a:rPr lang="en-US" altLang="zh-CN" sz="2000"/>
              <a:t>(</a:t>
            </a:r>
            <a:r>
              <a:rPr lang="zh-CN" altLang="en-US" sz="2000"/>
              <a:t>组织进度</a:t>
            </a:r>
            <a:r>
              <a:rPr lang="en-US" altLang="zh-CN" sz="2000"/>
              <a:t>)</a:t>
            </a:r>
            <a:r>
              <a:rPr lang="zh-CN" altLang="en-US" sz="2000"/>
              <a:t>。</a:t>
            </a:r>
          </a:p>
          <a:p>
            <a:pPr lvl="1">
              <a:lnSpc>
                <a:spcPct val="150000"/>
              </a:lnSpc>
              <a:buFont typeface="Wingdings" panose="05000000000000000000" pitchFamily="2" charset="2"/>
              <a:buChar char="p"/>
            </a:pPr>
            <a:r>
              <a:rPr lang="zh-CN" altLang="en-US" sz="2000"/>
              <a:t>自组织具有一些技术上的好处，但是更为重要的是它能促进合作，</a:t>
            </a:r>
            <a:r>
              <a:rPr lang="zh-CN" altLang="en-US" sz="2000">
                <a:solidFill>
                  <a:srgbClr val="FA0C34"/>
                </a:solidFill>
              </a:rPr>
              <a:t>鼓舞士气</a:t>
            </a:r>
            <a:r>
              <a:rPr lang="zh-CN" altLang="en-US" sz="2000"/>
              <a:t>。本质上，这也就是项目组的</a:t>
            </a:r>
            <a:r>
              <a:rPr lang="zh-CN" altLang="en-US" sz="2000">
                <a:solidFill>
                  <a:srgbClr val="FA0C34"/>
                </a:solidFill>
              </a:rPr>
              <a:t>自我管理</a:t>
            </a:r>
            <a:r>
              <a:rPr lang="zh-CN" altLang="en-US" sz="20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66563">
                                            <p:txEl>
                                              <p:pRg st="1" end="1"/>
                                            </p:txEl>
                                          </p:spTgt>
                                        </p:tgtEl>
                                        <p:attrNameLst>
                                          <p:attrName>style.visibility</p:attrName>
                                        </p:attrNameLst>
                                      </p:cBhvr>
                                      <p:to>
                                        <p:strVal val="visible"/>
                                      </p:to>
                                    </p:set>
                                    <p:animEffect transition="in" filter="diamond(in)">
                                      <p:cBhvr>
                                        <p:cTn id="7" dur="1000"/>
                                        <p:tgtEl>
                                          <p:spTgt spid="6656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66563">
                                            <p:txEl>
                                              <p:pRg st="2" end="2"/>
                                            </p:txEl>
                                          </p:spTgt>
                                        </p:tgtEl>
                                        <p:attrNameLst>
                                          <p:attrName>style.visibility</p:attrName>
                                        </p:attrNameLst>
                                      </p:cBhvr>
                                      <p:to>
                                        <p:strVal val="visible"/>
                                      </p:to>
                                    </p:set>
                                    <p:animEffect transition="in" filter="diamond(in)">
                                      <p:cBhvr>
                                        <p:cTn id="12" dur="1000"/>
                                        <p:tgtEl>
                                          <p:spTgt spid="66563">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66563">
                                            <p:txEl>
                                              <p:pRg st="3" end="3"/>
                                            </p:txEl>
                                          </p:spTgt>
                                        </p:tgtEl>
                                        <p:attrNameLst>
                                          <p:attrName>style.visibility</p:attrName>
                                        </p:attrNameLst>
                                      </p:cBhvr>
                                      <p:to>
                                        <p:strVal val="visible"/>
                                      </p:to>
                                    </p:set>
                                    <p:animEffect transition="in" filter="diamond(in)">
                                      <p:cBhvr>
                                        <p:cTn id="17" dur="1000"/>
                                        <p:tgtEl>
                                          <p:spTgt spid="66563">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66563">
                                            <p:txEl>
                                              <p:pRg st="4" end="4"/>
                                            </p:txEl>
                                          </p:spTgt>
                                        </p:tgtEl>
                                        <p:attrNameLst>
                                          <p:attrName>style.visibility</p:attrName>
                                        </p:attrNameLst>
                                      </p:cBhvr>
                                      <p:to>
                                        <p:strVal val="visible"/>
                                      </p:to>
                                    </p:set>
                                    <p:animEffect transition="in" filter="diamond(in)">
                                      <p:cBhvr>
                                        <p:cTn id="22" dur="1000"/>
                                        <p:tgtEl>
                                          <p:spTgt spid="66563">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66563">
                                            <p:txEl>
                                              <p:pRg st="5" end="5"/>
                                            </p:txEl>
                                          </p:spTgt>
                                        </p:tgtEl>
                                        <p:attrNameLst>
                                          <p:attrName>style.visibility</p:attrName>
                                        </p:attrNameLst>
                                      </p:cBhvr>
                                      <p:to>
                                        <p:strVal val="visible"/>
                                      </p:to>
                                    </p:set>
                                    <p:animEffect transition="in" filter="diamond(in)">
                                      <p:cBhvr>
                                        <p:cTn id="27" dur="1000"/>
                                        <p:tgtEl>
                                          <p:spTgt spid="6656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6">
            <a:extLst>
              <a:ext uri="{FF2B5EF4-FFF2-40B4-BE49-F238E27FC236}">
                <a16:creationId xmlns:a16="http://schemas.microsoft.com/office/drawing/2014/main" id="{8CD2815B-A138-62B1-508D-4DA52EBC7F0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17EAB71-E7C0-49CA-B687-E0F25269B421}" type="slidenum">
              <a:rPr lang="en-US" altLang="zh-CN" sz="1400">
                <a:solidFill>
                  <a:srgbClr val="000000"/>
                </a:solidFill>
                <a:latin typeface="Arial" panose="020B0604020202020204" pitchFamily="34" charset="0"/>
              </a:rPr>
              <a:pPr fontAlgn="base">
                <a:spcBef>
                  <a:spcPct val="0"/>
                </a:spcBef>
                <a:spcAft>
                  <a:spcPct val="0"/>
                </a:spcAft>
              </a:pPr>
              <a:t>45</a:t>
            </a:fld>
            <a:endParaRPr lang="en-US" altLang="zh-CN" sz="1400">
              <a:solidFill>
                <a:srgbClr val="000000"/>
              </a:solidFill>
              <a:latin typeface="Arial" panose="020B0604020202020204" pitchFamily="34" charset="0"/>
            </a:endParaRPr>
          </a:p>
        </p:txBody>
      </p:sp>
      <p:sp>
        <p:nvSpPr>
          <p:cNvPr id="32771" name="Rectangle 2">
            <a:extLst>
              <a:ext uri="{FF2B5EF4-FFF2-40B4-BE49-F238E27FC236}">
                <a16:creationId xmlns:a16="http://schemas.microsoft.com/office/drawing/2014/main" id="{367A6A57-8739-58D2-A58C-35C3661E179C}"/>
              </a:ext>
            </a:extLst>
          </p:cNvPr>
          <p:cNvSpPr>
            <a:spLocks noGrp="1" noChangeArrowheads="1"/>
          </p:cNvSpPr>
          <p:nvPr>
            <p:ph type="title"/>
          </p:nvPr>
        </p:nvSpPr>
        <p:spPr/>
        <p:txBody>
          <a:bodyPr/>
          <a:lstStyle/>
          <a:p>
            <a:r>
              <a:rPr lang="zh-CN" altLang="en-US"/>
              <a:t>本章内容</a:t>
            </a:r>
          </a:p>
        </p:txBody>
      </p:sp>
      <p:sp>
        <p:nvSpPr>
          <p:cNvPr id="32772" name="Rectangle 3">
            <a:extLst>
              <a:ext uri="{FF2B5EF4-FFF2-40B4-BE49-F238E27FC236}">
                <a16:creationId xmlns:a16="http://schemas.microsoft.com/office/drawing/2014/main" id="{CBF9AE1E-D246-577C-9863-543475418F9D}"/>
              </a:ext>
            </a:extLst>
          </p:cNvPr>
          <p:cNvSpPr>
            <a:spLocks noGrp="1" noChangeArrowheads="1"/>
          </p:cNvSpPr>
          <p:nvPr>
            <p:ph type="body" idx="1"/>
          </p:nvPr>
        </p:nvSpPr>
        <p:spPr/>
        <p:txBody>
          <a:bodyPr/>
          <a:lstStyle/>
          <a:p>
            <a:pPr>
              <a:lnSpc>
                <a:spcPct val="160000"/>
              </a:lnSpc>
            </a:pPr>
            <a:r>
              <a:rPr lang="en-US" altLang="zh-CN" sz="2800"/>
              <a:t>5.1 </a:t>
            </a:r>
            <a:r>
              <a:rPr lang="zh-CN" altLang="en-US" sz="2800"/>
              <a:t>什么是敏捷</a:t>
            </a:r>
          </a:p>
          <a:p>
            <a:pPr>
              <a:lnSpc>
                <a:spcPct val="160000"/>
              </a:lnSpc>
            </a:pPr>
            <a:r>
              <a:rPr lang="en-US" altLang="zh-CN" sz="2800"/>
              <a:t>5.2 </a:t>
            </a:r>
            <a:r>
              <a:rPr lang="zh-CN" altLang="en-US" sz="2800"/>
              <a:t>敏捷及变更成本</a:t>
            </a:r>
          </a:p>
          <a:p>
            <a:pPr>
              <a:lnSpc>
                <a:spcPct val="160000"/>
              </a:lnSpc>
            </a:pPr>
            <a:r>
              <a:rPr lang="en-US" altLang="zh-CN" sz="2800"/>
              <a:t>5.3 </a:t>
            </a:r>
            <a:r>
              <a:rPr lang="zh-CN" altLang="en-US" sz="2800"/>
              <a:t>什么是敏捷过程</a:t>
            </a:r>
          </a:p>
          <a:p>
            <a:pPr>
              <a:lnSpc>
                <a:spcPct val="160000"/>
              </a:lnSpc>
            </a:pPr>
            <a:r>
              <a:rPr lang="en-US" altLang="zh-CN" sz="2800">
                <a:solidFill>
                  <a:srgbClr val="D333A1"/>
                </a:solidFill>
              </a:rPr>
              <a:t>5.4 </a:t>
            </a:r>
            <a:r>
              <a:rPr lang="zh-CN" altLang="en-US" sz="2800">
                <a:solidFill>
                  <a:srgbClr val="D333A1"/>
                </a:solidFill>
              </a:rPr>
              <a:t>极限编程</a:t>
            </a:r>
          </a:p>
          <a:p>
            <a:pPr>
              <a:lnSpc>
                <a:spcPct val="160000"/>
              </a:lnSpc>
            </a:pPr>
            <a:r>
              <a:rPr lang="en-US" altLang="zh-CN" sz="2800"/>
              <a:t>5.5 </a:t>
            </a:r>
            <a:r>
              <a:rPr lang="zh-CN" altLang="en-US" sz="2800"/>
              <a:t>其他敏捷过程模型</a:t>
            </a:r>
          </a:p>
          <a:p>
            <a:pPr>
              <a:lnSpc>
                <a:spcPct val="160000"/>
              </a:lnSpc>
            </a:pPr>
            <a:r>
              <a:rPr lang="en-US" altLang="zh-CN" sz="2800"/>
              <a:t>5.6 </a:t>
            </a:r>
            <a:r>
              <a:rPr lang="zh-CN" altLang="en-US" sz="2800"/>
              <a:t>敏捷过程工具集</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6">
            <a:extLst>
              <a:ext uri="{FF2B5EF4-FFF2-40B4-BE49-F238E27FC236}">
                <a16:creationId xmlns:a16="http://schemas.microsoft.com/office/drawing/2014/main" id="{6A66C285-5345-E59C-9CFF-D131EA8C343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012A869-BF5C-4DA0-A1CE-C2875D5A70A7}" type="slidenum">
              <a:rPr lang="en-US" altLang="zh-CN" sz="1400">
                <a:solidFill>
                  <a:srgbClr val="000000"/>
                </a:solidFill>
                <a:latin typeface="Arial" panose="020B0604020202020204" pitchFamily="34" charset="0"/>
              </a:rPr>
              <a:pPr fontAlgn="base">
                <a:spcBef>
                  <a:spcPct val="0"/>
                </a:spcBef>
                <a:spcAft>
                  <a:spcPct val="0"/>
                </a:spcAft>
              </a:pPr>
              <a:t>46</a:t>
            </a:fld>
            <a:endParaRPr lang="en-US" altLang="zh-CN" sz="1400">
              <a:solidFill>
                <a:srgbClr val="000000"/>
              </a:solidFill>
              <a:latin typeface="Arial" panose="020B0604020202020204" pitchFamily="34" charset="0"/>
            </a:endParaRPr>
          </a:p>
        </p:txBody>
      </p:sp>
      <p:sp>
        <p:nvSpPr>
          <p:cNvPr id="33795" name="Rectangle 2">
            <a:extLst>
              <a:ext uri="{FF2B5EF4-FFF2-40B4-BE49-F238E27FC236}">
                <a16:creationId xmlns:a16="http://schemas.microsoft.com/office/drawing/2014/main" id="{B90C00D5-3C39-0C6C-8CE7-8ABCEA5D6176}"/>
              </a:ext>
            </a:extLst>
          </p:cNvPr>
          <p:cNvSpPr>
            <a:spLocks noGrp="1" noChangeArrowheads="1"/>
          </p:cNvSpPr>
          <p:nvPr>
            <p:ph type="title"/>
          </p:nvPr>
        </p:nvSpPr>
        <p:spPr>
          <a:xfrm>
            <a:off x="1919288" y="282576"/>
            <a:ext cx="7772400" cy="625475"/>
          </a:xfrm>
        </p:spPr>
        <p:txBody>
          <a:bodyPr/>
          <a:lstStyle/>
          <a:p>
            <a:pPr eaLnBrk="1" hangingPunct="1"/>
            <a:r>
              <a:rPr lang="zh-CN" altLang="en-US"/>
              <a:t>极限编程</a:t>
            </a:r>
            <a:r>
              <a:rPr lang="en-US" altLang="zh-CN" sz="3200"/>
              <a:t>E</a:t>
            </a:r>
            <a:r>
              <a:rPr lang="en-US" altLang="zh-CN" sz="3200">
                <a:solidFill>
                  <a:srgbClr val="FA0C34"/>
                </a:solidFill>
              </a:rPr>
              <a:t>x</a:t>
            </a:r>
            <a:r>
              <a:rPr lang="en-US" altLang="zh-CN" sz="3200"/>
              <a:t>treme </a:t>
            </a:r>
            <a:r>
              <a:rPr lang="en-US" altLang="zh-CN" sz="3200">
                <a:solidFill>
                  <a:srgbClr val="FA0C34"/>
                </a:solidFill>
              </a:rPr>
              <a:t>P</a:t>
            </a:r>
            <a:r>
              <a:rPr lang="en-US" altLang="zh-CN" sz="3200"/>
              <a:t>rogramming</a:t>
            </a:r>
            <a:r>
              <a:rPr lang="en-US" altLang="zh-CN"/>
              <a:t> </a:t>
            </a:r>
          </a:p>
        </p:txBody>
      </p:sp>
      <p:sp>
        <p:nvSpPr>
          <p:cNvPr id="9219" name="Rectangle 3">
            <a:extLst>
              <a:ext uri="{FF2B5EF4-FFF2-40B4-BE49-F238E27FC236}">
                <a16:creationId xmlns:a16="http://schemas.microsoft.com/office/drawing/2014/main" id="{6474CB00-4B60-9AFF-EBC7-8570006DC211}"/>
              </a:ext>
            </a:extLst>
          </p:cNvPr>
          <p:cNvSpPr>
            <a:spLocks noGrp="1" noChangeArrowheads="1"/>
          </p:cNvSpPr>
          <p:nvPr>
            <p:ph idx="1"/>
          </p:nvPr>
        </p:nvSpPr>
        <p:spPr>
          <a:xfrm>
            <a:off x="1849438" y="1485900"/>
            <a:ext cx="8494712" cy="4535488"/>
          </a:xfrm>
        </p:spPr>
        <p:txBody>
          <a:bodyPr/>
          <a:lstStyle/>
          <a:p>
            <a:pPr eaLnBrk="1" hangingPunct="1">
              <a:lnSpc>
                <a:spcPct val="150000"/>
              </a:lnSpc>
              <a:spcBef>
                <a:spcPct val="50000"/>
              </a:spcBef>
              <a:buFont typeface="Wingdings" panose="05000000000000000000" pitchFamily="2" charset="2"/>
              <a:buChar char="p"/>
            </a:pPr>
            <a:r>
              <a:rPr lang="zh-CN" altLang="en-US" sz="2800"/>
              <a:t>使用得最为广泛的</a:t>
            </a:r>
            <a:r>
              <a:rPr lang="zh-CN" altLang="en-US" sz="2800">
                <a:solidFill>
                  <a:srgbClr val="FA0C34"/>
                </a:solidFill>
              </a:rPr>
              <a:t>敏捷过程。</a:t>
            </a:r>
          </a:p>
          <a:p>
            <a:pPr eaLnBrk="1" hangingPunct="1">
              <a:lnSpc>
                <a:spcPct val="150000"/>
              </a:lnSpc>
              <a:spcBef>
                <a:spcPct val="50000"/>
              </a:spcBef>
              <a:buFont typeface="Wingdings" panose="05000000000000000000" pitchFamily="2" charset="2"/>
              <a:buChar char="p"/>
            </a:pPr>
            <a:r>
              <a:rPr lang="zh-CN" altLang="en-US" sz="2800"/>
              <a:t>三个特点：</a:t>
            </a:r>
          </a:p>
          <a:p>
            <a:pPr lvl="1" eaLnBrk="1" hangingPunct="1">
              <a:lnSpc>
                <a:spcPct val="150000"/>
              </a:lnSpc>
              <a:spcBef>
                <a:spcPct val="50000"/>
              </a:spcBef>
              <a:buFont typeface="Wingdings" panose="05000000000000000000" pitchFamily="2" charset="2"/>
              <a:buChar char="p"/>
            </a:pPr>
            <a:r>
              <a:rPr lang="zh-CN" altLang="en-US"/>
              <a:t>是一些相互关联的</a:t>
            </a:r>
            <a:r>
              <a:rPr lang="zh-CN" altLang="en-US">
                <a:solidFill>
                  <a:schemeClr val="accent2"/>
                </a:solidFill>
              </a:rPr>
              <a:t>准则</a:t>
            </a:r>
            <a:r>
              <a:rPr lang="zh-CN" altLang="en-US"/>
              <a:t>和</a:t>
            </a:r>
            <a:r>
              <a:rPr lang="zh-CN" altLang="en-US">
                <a:solidFill>
                  <a:schemeClr val="accent2"/>
                </a:solidFill>
              </a:rPr>
              <a:t>惯例</a:t>
            </a:r>
            <a:r>
              <a:rPr lang="zh-CN" altLang="en-US"/>
              <a:t>的集合；</a:t>
            </a:r>
          </a:p>
          <a:p>
            <a:pPr lvl="1" eaLnBrk="1" hangingPunct="1">
              <a:lnSpc>
                <a:spcPct val="150000"/>
              </a:lnSpc>
              <a:spcBef>
                <a:spcPct val="50000"/>
              </a:spcBef>
              <a:buFont typeface="Wingdings" panose="05000000000000000000" pitchFamily="2" charset="2"/>
              <a:buChar char="p"/>
            </a:pPr>
            <a:r>
              <a:rPr lang="zh-CN" altLang="en-US"/>
              <a:t>追求</a:t>
            </a:r>
            <a:r>
              <a:rPr lang="zh-CN" altLang="en-US">
                <a:solidFill>
                  <a:schemeClr val="accent2"/>
                </a:solidFill>
              </a:rPr>
              <a:t>变更曲线</a:t>
            </a:r>
            <a:r>
              <a:rPr lang="zh-CN" altLang="en-US"/>
              <a:t>平坦化；</a:t>
            </a:r>
          </a:p>
          <a:p>
            <a:pPr lvl="1" eaLnBrk="1" hangingPunct="1">
              <a:lnSpc>
                <a:spcPct val="150000"/>
              </a:lnSpc>
              <a:spcBef>
                <a:spcPct val="50000"/>
              </a:spcBef>
              <a:buFont typeface="Wingdings" panose="05000000000000000000" pitchFamily="2" charset="2"/>
              <a:buChar char="p"/>
            </a:pPr>
            <a:r>
              <a:rPr lang="zh-CN" altLang="en-US"/>
              <a:t>适合于小团队、高风险的项目。</a:t>
            </a:r>
          </a:p>
        </p:txBody>
      </p:sp>
      <p:sp>
        <p:nvSpPr>
          <p:cNvPr id="33797" name="灯片编号占位符 3">
            <a:extLst>
              <a:ext uri="{FF2B5EF4-FFF2-40B4-BE49-F238E27FC236}">
                <a16:creationId xmlns:a16="http://schemas.microsoft.com/office/drawing/2014/main" id="{EF5A3248-4E47-5873-E076-E2D04E737C08}"/>
              </a:ext>
            </a:extLst>
          </p:cNvPr>
          <p:cNvSpPr txBox="1">
            <a:spLocks noGrp="1"/>
          </p:cNvSpPr>
          <p:nvPr/>
        </p:nvSpPr>
        <p:spPr bwMode="auto">
          <a:xfrm>
            <a:off x="8077200" y="6243638"/>
            <a:ext cx="2133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6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accent1"/>
              </a:buClr>
              <a:buSzPct val="65000"/>
              <a:buFont typeface="Wingdings" panose="05000000000000000000" pitchFamily="2" charset="2"/>
              <a:defRPr sz="2200" b="1">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9pPr>
          </a:lstStyle>
          <a:p>
            <a:pPr algn="r" fontAlgn="base">
              <a:spcBef>
                <a:spcPct val="0"/>
              </a:spcBef>
              <a:spcAft>
                <a:spcPct val="0"/>
              </a:spcAft>
              <a:buClrTx/>
              <a:buSzTx/>
            </a:pPr>
            <a:endParaRPr kumimoji="1" lang="en-US" altLang="zh-CN" sz="1200" b="0">
              <a:solidFill>
                <a:srgbClr val="000000"/>
              </a:solidFill>
              <a:latin typeface="Garamond" panose="02020404030301010803"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9219">
                                            <p:txEl>
                                              <p:pRg st="0" end="0"/>
                                            </p:txEl>
                                          </p:spTgt>
                                        </p:tgtEl>
                                        <p:attrNameLst>
                                          <p:attrName>style.visibility</p:attrName>
                                        </p:attrNameLst>
                                      </p:cBhvr>
                                      <p:to>
                                        <p:strVal val="visible"/>
                                      </p:to>
                                    </p:set>
                                    <p:animEffect transition="in" filter="diamond(in)">
                                      <p:cBhvr>
                                        <p:cTn id="7" dur="1000"/>
                                        <p:tgtEl>
                                          <p:spTgt spid="921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9219">
                                            <p:txEl>
                                              <p:pRg st="1" end="1"/>
                                            </p:txEl>
                                          </p:spTgt>
                                        </p:tgtEl>
                                        <p:attrNameLst>
                                          <p:attrName>style.visibility</p:attrName>
                                        </p:attrNameLst>
                                      </p:cBhvr>
                                      <p:to>
                                        <p:strVal val="visible"/>
                                      </p:to>
                                    </p:set>
                                    <p:animEffect transition="in" filter="diamond(in)">
                                      <p:cBhvr>
                                        <p:cTn id="12" dur="1000"/>
                                        <p:tgtEl>
                                          <p:spTgt spid="9219">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9219">
                                            <p:txEl>
                                              <p:pRg st="2" end="2"/>
                                            </p:txEl>
                                          </p:spTgt>
                                        </p:tgtEl>
                                        <p:attrNameLst>
                                          <p:attrName>style.visibility</p:attrName>
                                        </p:attrNameLst>
                                      </p:cBhvr>
                                      <p:to>
                                        <p:strVal val="visible"/>
                                      </p:to>
                                    </p:set>
                                    <p:animEffect transition="in" filter="diamond(in)">
                                      <p:cBhvr>
                                        <p:cTn id="17" dur="1000"/>
                                        <p:tgtEl>
                                          <p:spTgt spid="9219">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8" presetClass="entr" presetSubtype="16" fill="hold" nodeType="clickEffect">
                                  <p:stCondLst>
                                    <p:cond delay="0"/>
                                  </p:stCondLst>
                                  <p:childTnLst>
                                    <p:set>
                                      <p:cBhvr>
                                        <p:cTn id="21" dur="1" fill="hold">
                                          <p:stCondLst>
                                            <p:cond delay="0"/>
                                          </p:stCondLst>
                                        </p:cTn>
                                        <p:tgtEl>
                                          <p:spTgt spid="9219">
                                            <p:txEl>
                                              <p:pRg st="3" end="3"/>
                                            </p:txEl>
                                          </p:spTgt>
                                        </p:tgtEl>
                                        <p:attrNameLst>
                                          <p:attrName>style.visibility</p:attrName>
                                        </p:attrNameLst>
                                      </p:cBhvr>
                                      <p:to>
                                        <p:strVal val="visible"/>
                                      </p:to>
                                    </p:set>
                                    <p:animEffect transition="in" filter="diamond(in)">
                                      <p:cBhvr>
                                        <p:cTn id="22" dur="1000"/>
                                        <p:tgtEl>
                                          <p:spTgt spid="9219">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8" presetClass="entr" presetSubtype="16" fill="hold" nodeType="clickEffect">
                                  <p:stCondLst>
                                    <p:cond delay="0"/>
                                  </p:stCondLst>
                                  <p:childTnLst>
                                    <p:set>
                                      <p:cBhvr>
                                        <p:cTn id="26" dur="1" fill="hold">
                                          <p:stCondLst>
                                            <p:cond delay="0"/>
                                          </p:stCondLst>
                                        </p:cTn>
                                        <p:tgtEl>
                                          <p:spTgt spid="9219">
                                            <p:txEl>
                                              <p:pRg st="4" end="4"/>
                                            </p:txEl>
                                          </p:spTgt>
                                        </p:tgtEl>
                                        <p:attrNameLst>
                                          <p:attrName>style.visibility</p:attrName>
                                        </p:attrNameLst>
                                      </p:cBhvr>
                                      <p:to>
                                        <p:strVal val="visible"/>
                                      </p:to>
                                    </p:set>
                                    <p:animEffect transition="in" filter="diamond(in)">
                                      <p:cBhvr>
                                        <p:cTn id="27" dur="1000"/>
                                        <p:tgtEl>
                                          <p:spTgt spid="921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6">
            <a:extLst>
              <a:ext uri="{FF2B5EF4-FFF2-40B4-BE49-F238E27FC236}">
                <a16:creationId xmlns:a16="http://schemas.microsoft.com/office/drawing/2014/main" id="{C0D2180F-3E27-A265-1FFA-DD3C5C02536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7BBB2EF-04FA-4F10-8330-F8D2E6BD73A8}" type="slidenum">
              <a:rPr lang="en-US" altLang="zh-CN" sz="1400">
                <a:solidFill>
                  <a:srgbClr val="000000"/>
                </a:solidFill>
                <a:latin typeface="Arial" panose="020B0604020202020204" pitchFamily="34" charset="0"/>
              </a:rPr>
              <a:pPr fontAlgn="base">
                <a:spcBef>
                  <a:spcPct val="0"/>
                </a:spcBef>
                <a:spcAft>
                  <a:spcPct val="0"/>
                </a:spcAft>
              </a:pPr>
              <a:t>47</a:t>
            </a:fld>
            <a:endParaRPr lang="en-US" altLang="zh-CN" sz="1400">
              <a:solidFill>
                <a:srgbClr val="000000"/>
              </a:solidFill>
              <a:latin typeface="Arial" panose="020B0604020202020204" pitchFamily="34" charset="0"/>
            </a:endParaRPr>
          </a:p>
        </p:txBody>
      </p:sp>
      <p:sp>
        <p:nvSpPr>
          <p:cNvPr id="34819" name="Rectangle 2">
            <a:extLst>
              <a:ext uri="{FF2B5EF4-FFF2-40B4-BE49-F238E27FC236}">
                <a16:creationId xmlns:a16="http://schemas.microsoft.com/office/drawing/2014/main" id="{E2186E18-8021-5819-E473-52940FAC81A2}"/>
              </a:ext>
            </a:extLst>
          </p:cNvPr>
          <p:cNvSpPr>
            <a:spLocks noGrp="1" noChangeArrowheads="1"/>
          </p:cNvSpPr>
          <p:nvPr>
            <p:ph type="title"/>
          </p:nvPr>
        </p:nvSpPr>
        <p:spPr/>
        <p:txBody>
          <a:bodyPr/>
          <a:lstStyle/>
          <a:p>
            <a:r>
              <a:rPr lang="zh-CN" altLang="en-US"/>
              <a:t>极限编程</a:t>
            </a:r>
          </a:p>
        </p:txBody>
      </p:sp>
      <p:sp>
        <p:nvSpPr>
          <p:cNvPr id="34820" name="Rectangle 3">
            <a:extLst>
              <a:ext uri="{FF2B5EF4-FFF2-40B4-BE49-F238E27FC236}">
                <a16:creationId xmlns:a16="http://schemas.microsoft.com/office/drawing/2014/main" id="{1D00886B-D465-1943-1371-AC165764FCE1}"/>
              </a:ext>
            </a:extLst>
          </p:cNvPr>
          <p:cNvSpPr>
            <a:spLocks noGrp="1" noChangeArrowheads="1"/>
          </p:cNvSpPr>
          <p:nvPr>
            <p:ph type="body" idx="1"/>
          </p:nvPr>
        </p:nvSpPr>
        <p:spPr>
          <a:xfrm>
            <a:off x="1703389" y="1412875"/>
            <a:ext cx="2674937" cy="4103688"/>
          </a:xfrm>
        </p:spPr>
        <p:txBody>
          <a:bodyPr/>
          <a:lstStyle/>
          <a:p>
            <a:pPr>
              <a:lnSpc>
                <a:spcPct val="150000"/>
              </a:lnSpc>
              <a:buFont typeface="Wingdings" panose="05000000000000000000" pitchFamily="2" charset="2"/>
              <a:buChar char="n"/>
            </a:pPr>
            <a:r>
              <a:rPr lang="en-US" altLang="zh-CN"/>
              <a:t>XP</a:t>
            </a:r>
            <a:r>
              <a:rPr lang="zh-CN" altLang="en-US"/>
              <a:t>使用</a:t>
            </a:r>
            <a:r>
              <a:rPr lang="zh-CN" altLang="en-US">
                <a:solidFill>
                  <a:srgbClr val="FA0C34"/>
                </a:solidFill>
              </a:rPr>
              <a:t>面向对象</a:t>
            </a:r>
            <a:r>
              <a:rPr lang="zh-CN" altLang="en-US"/>
              <a:t>方法作为推荐的开发范型，它包含了</a:t>
            </a:r>
            <a:r>
              <a:rPr lang="zh-CN" altLang="en-US">
                <a:solidFill>
                  <a:srgbClr val="FA0C34"/>
                </a:solidFill>
              </a:rPr>
              <a:t>策划</a:t>
            </a:r>
            <a:r>
              <a:rPr lang="zh-CN" altLang="en-US"/>
              <a:t>、</a:t>
            </a:r>
            <a:r>
              <a:rPr lang="zh-CN" altLang="en-US">
                <a:solidFill>
                  <a:srgbClr val="FA0C34"/>
                </a:solidFill>
              </a:rPr>
              <a:t>设计</a:t>
            </a:r>
            <a:r>
              <a:rPr lang="zh-CN" altLang="en-US"/>
              <a:t>、</a:t>
            </a:r>
            <a:r>
              <a:rPr lang="zh-CN" altLang="en-US">
                <a:solidFill>
                  <a:srgbClr val="FA0C34"/>
                </a:solidFill>
              </a:rPr>
              <a:t>编码</a:t>
            </a:r>
            <a:r>
              <a:rPr lang="zh-CN" altLang="en-US"/>
              <a:t>和</a:t>
            </a:r>
            <a:r>
              <a:rPr lang="zh-CN" altLang="en-US">
                <a:solidFill>
                  <a:srgbClr val="FA0C34"/>
                </a:solidFill>
              </a:rPr>
              <a:t>测试</a:t>
            </a:r>
            <a:r>
              <a:rPr lang="en-US" altLang="zh-CN"/>
              <a:t>4</a:t>
            </a:r>
            <a:r>
              <a:rPr lang="zh-CN" altLang="en-US"/>
              <a:t>个框架活动的规则和实践。 </a:t>
            </a:r>
          </a:p>
        </p:txBody>
      </p:sp>
      <p:pic>
        <p:nvPicPr>
          <p:cNvPr id="34821" name="Picture 4">
            <a:extLst>
              <a:ext uri="{FF2B5EF4-FFF2-40B4-BE49-F238E27FC236}">
                <a16:creationId xmlns:a16="http://schemas.microsoft.com/office/drawing/2014/main" id="{AC00BE6E-E049-8E66-22FE-253ED676B2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1676" y="557213"/>
            <a:ext cx="5699125" cy="5116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6">
            <a:extLst>
              <a:ext uri="{FF2B5EF4-FFF2-40B4-BE49-F238E27FC236}">
                <a16:creationId xmlns:a16="http://schemas.microsoft.com/office/drawing/2014/main" id="{90FCB7DC-D44C-107E-E1FA-E654D849BA3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2B1C15A-879D-499E-A354-6ECE481704E6}" type="slidenum">
              <a:rPr lang="en-US" altLang="zh-CN" sz="1400">
                <a:solidFill>
                  <a:srgbClr val="000000"/>
                </a:solidFill>
                <a:latin typeface="Arial" panose="020B0604020202020204" pitchFamily="34" charset="0"/>
              </a:rPr>
              <a:pPr fontAlgn="base">
                <a:spcBef>
                  <a:spcPct val="0"/>
                </a:spcBef>
                <a:spcAft>
                  <a:spcPct val="0"/>
                </a:spcAft>
              </a:pPr>
              <a:t>48</a:t>
            </a:fld>
            <a:endParaRPr lang="en-US" altLang="zh-CN" sz="1400">
              <a:solidFill>
                <a:srgbClr val="000000"/>
              </a:solidFill>
              <a:latin typeface="Arial" panose="020B0604020202020204" pitchFamily="34" charset="0"/>
            </a:endParaRPr>
          </a:p>
        </p:txBody>
      </p:sp>
      <p:sp>
        <p:nvSpPr>
          <p:cNvPr id="35843" name="Rectangle 2">
            <a:extLst>
              <a:ext uri="{FF2B5EF4-FFF2-40B4-BE49-F238E27FC236}">
                <a16:creationId xmlns:a16="http://schemas.microsoft.com/office/drawing/2014/main" id="{2C201009-75E6-50F7-22CB-E2359A855631}"/>
              </a:ext>
            </a:extLst>
          </p:cNvPr>
          <p:cNvSpPr>
            <a:spLocks noGrp="1" noChangeArrowheads="1"/>
          </p:cNvSpPr>
          <p:nvPr>
            <p:ph type="title"/>
          </p:nvPr>
        </p:nvSpPr>
        <p:spPr/>
        <p:txBody>
          <a:bodyPr/>
          <a:lstStyle/>
          <a:p>
            <a:r>
              <a:rPr lang="zh-CN" altLang="en-US"/>
              <a:t>极限编程过程</a:t>
            </a:r>
          </a:p>
        </p:txBody>
      </p:sp>
      <p:sp>
        <p:nvSpPr>
          <p:cNvPr id="67587" name="Rectangle 3">
            <a:extLst>
              <a:ext uri="{FF2B5EF4-FFF2-40B4-BE49-F238E27FC236}">
                <a16:creationId xmlns:a16="http://schemas.microsoft.com/office/drawing/2014/main" id="{F77FCBFD-4A25-D7D4-D542-C9A1279FB2E0}"/>
              </a:ext>
            </a:extLst>
          </p:cNvPr>
          <p:cNvSpPr>
            <a:spLocks noGrp="1" noChangeArrowheads="1"/>
          </p:cNvSpPr>
          <p:nvPr>
            <p:ph type="body" idx="1"/>
          </p:nvPr>
        </p:nvSpPr>
        <p:spPr>
          <a:xfrm>
            <a:off x="1981200" y="908050"/>
            <a:ext cx="8229600" cy="5329238"/>
          </a:xfrm>
        </p:spPr>
        <p:txBody>
          <a:bodyPr/>
          <a:lstStyle/>
          <a:p>
            <a:pPr>
              <a:lnSpc>
                <a:spcPct val="135000"/>
              </a:lnSpc>
              <a:buFont typeface="Wingdings" panose="05000000000000000000" pitchFamily="2" charset="2"/>
              <a:buChar char="p"/>
            </a:pPr>
            <a:r>
              <a:rPr lang="zh-CN" altLang="en-US" sz="2600"/>
              <a:t> </a:t>
            </a:r>
            <a:r>
              <a:rPr lang="en-US" altLang="zh-CN"/>
              <a:t>(1) </a:t>
            </a:r>
            <a:r>
              <a:rPr lang="zh-CN" altLang="en-US">
                <a:solidFill>
                  <a:srgbClr val="FA0C34"/>
                </a:solidFill>
              </a:rPr>
              <a:t>策划：</a:t>
            </a:r>
          </a:p>
          <a:p>
            <a:pPr lvl="1">
              <a:lnSpc>
                <a:spcPct val="135000"/>
              </a:lnSpc>
              <a:buFont typeface="Wingdings" panose="05000000000000000000" pitchFamily="2" charset="2"/>
              <a:buChar char="p"/>
            </a:pPr>
            <a:r>
              <a:rPr lang="zh-CN" altLang="en-US" sz="2000">
                <a:solidFill>
                  <a:srgbClr val="FA0C34"/>
                </a:solidFill>
              </a:rPr>
              <a:t>建立</a:t>
            </a:r>
            <a:r>
              <a:rPr lang="zh-CN" altLang="en-US" sz="2000"/>
              <a:t>一系列描述待开发软件必要</a:t>
            </a:r>
            <a:r>
              <a:rPr lang="zh-CN" altLang="en-US" sz="2000">
                <a:solidFill>
                  <a:srgbClr val="FA0C34"/>
                </a:solidFill>
              </a:rPr>
              <a:t>特征</a:t>
            </a:r>
            <a:r>
              <a:rPr lang="zh-CN" altLang="en-US" sz="2000"/>
              <a:t>与功能的“</a:t>
            </a:r>
            <a:r>
              <a:rPr lang="zh-CN" altLang="en-US" sz="2000">
                <a:solidFill>
                  <a:srgbClr val="FA0C34"/>
                </a:solidFill>
              </a:rPr>
              <a:t>故事</a:t>
            </a:r>
            <a:r>
              <a:rPr lang="zh-CN" altLang="en-US" sz="2000"/>
              <a:t>” </a:t>
            </a:r>
            <a:r>
              <a:rPr lang="en-US" altLang="zh-CN" sz="2000"/>
              <a:t>(</a:t>
            </a:r>
            <a:r>
              <a:rPr lang="zh-CN" altLang="en-US" sz="2000"/>
              <a:t>故事：由</a:t>
            </a:r>
            <a:r>
              <a:rPr lang="zh-CN" altLang="en-US" sz="2000">
                <a:solidFill>
                  <a:srgbClr val="FA0C34"/>
                </a:solidFill>
              </a:rPr>
              <a:t>客户</a:t>
            </a:r>
            <a:r>
              <a:rPr lang="zh-CN" altLang="en-US" sz="2000"/>
              <a:t>谈论</a:t>
            </a:r>
            <a:r>
              <a:rPr lang="zh-CN" altLang="en-US" sz="2000">
                <a:solidFill>
                  <a:srgbClr val="FA0C34"/>
                </a:solidFill>
              </a:rPr>
              <a:t>系统应该完成什么功能</a:t>
            </a:r>
            <a:r>
              <a:rPr lang="zh-CN" altLang="en-US" sz="2000"/>
              <a:t>，然后用</a:t>
            </a:r>
            <a:r>
              <a:rPr lang="zh-CN" altLang="en-US" sz="2000">
                <a:solidFill>
                  <a:srgbClr val="FA0C34"/>
                </a:solidFill>
              </a:rPr>
              <a:t>通俗的自然语言</a:t>
            </a:r>
            <a:r>
              <a:rPr lang="zh-CN" altLang="en-US" sz="2000"/>
              <a:t>，使用自己的语汇，将其写在卡片上</a:t>
            </a:r>
            <a:r>
              <a:rPr lang="en-US" altLang="zh-CN" sz="2000"/>
              <a:t>)</a:t>
            </a:r>
            <a:r>
              <a:rPr lang="zh-CN" altLang="en-US" sz="2000"/>
              <a:t>；</a:t>
            </a:r>
          </a:p>
          <a:p>
            <a:pPr lvl="1">
              <a:lnSpc>
                <a:spcPct val="135000"/>
              </a:lnSpc>
              <a:buFont typeface="Wingdings" panose="05000000000000000000" pitchFamily="2" charset="2"/>
              <a:buChar char="p"/>
            </a:pPr>
            <a:r>
              <a:rPr lang="zh-CN" altLang="en-US" sz="2000">
                <a:solidFill>
                  <a:srgbClr val="FA0C34"/>
                </a:solidFill>
              </a:rPr>
              <a:t>评估</a:t>
            </a:r>
            <a:r>
              <a:rPr lang="zh-CN" altLang="en-US" sz="2000"/>
              <a:t>每一个故事，并给出以开发</a:t>
            </a:r>
            <a:r>
              <a:rPr lang="zh-CN" altLang="en-US" sz="2000">
                <a:solidFill>
                  <a:srgbClr val="FA0C34"/>
                </a:solidFill>
              </a:rPr>
              <a:t>周数</a:t>
            </a:r>
            <a:r>
              <a:rPr lang="zh-CN" altLang="en-US" sz="2000"/>
              <a:t>为度量单位的</a:t>
            </a:r>
            <a:r>
              <a:rPr lang="zh-CN" altLang="en-US" sz="2000">
                <a:solidFill>
                  <a:srgbClr val="FA0C34"/>
                </a:solidFill>
              </a:rPr>
              <a:t>成本；</a:t>
            </a:r>
          </a:p>
          <a:p>
            <a:pPr lvl="1">
              <a:lnSpc>
                <a:spcPct val="135000"/>
              </a:lnSpc>
              <a:buFont typeface="Wingdings" panose="05000000000000000000" pitchFamily="2" charset="2"/>
              <a:buChar char="p"/>
            </a:pPr>
            <a:r>
              <a:rPr lang="zh-CN" altLang="en-US" sz="2000"/>
              <a:t>客户和</a:t>
            </a:r>
            <a:r>
              <a:rPr lang="en-US" altLang="zh-CN" sz="2000"/>
              <a:t>XP</a:t>
            </a:r>
            <a:r>
              <a:rPr lang="zh-CN" altLang="en-US" sz="2000"/>
              <a:t>团队共同决定如何对</a:t>
            </a:r>
            <a:r>
              <a:rPr lang="zh-CN" altLang="en-US" sz="2000">
                <a:solidFill>
                  <a:srgbClr val="FA0C34"/>
                </a:solidFill>
              </a:rPr>
              <a:t>故事分组，</a:t>
            </a:r>
            <a:r>
              <a:rPr lang="zh-CN" altLang="en-US" sz="2000"/>
              <a:t>并置于将要开发的下一个发行版本中（下一个软件增量）；</a:t>
            </a:r>
          </a:p>
          <a:p>
            <a:pPr lvl="1">
              <a:lnSpc>
                <a:spcPct val="135000"/>
              </a:lnSpc>
              <a:buFont typeface="Wingdings" panose="05000000000000000000" pitchFamily="2" charset="2"/>
              <a:buChar char="p"/>
            </a:pPr>
            <a:r>
              <a:rPr lang="zh-CN" altLang="en-US" sz="2000">
                <a:solidFill>
                  <a:srgbClr val="FA0C34"/>
                </a:solidFill>
              </a:rPr>
              <a:t>形成</a:t>
            </a:r>
            <a:r>
              <a:rPr lang="zh-CN" altLang="en-US" sz="2000"/>
              <a:t>关于一个发布版本的</a:t>
            </a:r>
            <a:r>
              <a:rPr lang="zh-CN" altLang="en-US" sz="2000">
                <a:solidFill>
                  <a:srgbClr val="FA0C34"/>
                </a:solidFill>
              </a:rPr>
              <a:t>基本承诺；</a:t>
            </a:r>
          </a:p>
          <a:p>
            <a:pPr lvl="1">
              <a:lnSpc>
                <a:spcPct val="135000"/>
              </a:lnSpc>
              <a:buFont typeface="Wingdings" panose="05000000000000000000" pitchFamily="2" charset="2"/>
              <a:buChar char="p"/>
            </a:pPr>
            <a:r>
              <a:rPr lang="zh-CN" altLang="en-US" sz="2000"/>
              <a:t>对有待开发的故事进行</a:t>
            </a:r>
            <a:r>
              <a:rPr lang="zh-CN" altLang="en-US" sz="2000">
                <a:solidFill>
                  <a:srgbClr val="FA0C34"/>
                </a:solidFill>
              </a:rPr>
              <a:t>排序</a:t>
            </a:r>
            <a:r>
              <a:rPr lang="zh-CN" altLang="en-US" sz="2000"/>
              <a:t>：（</a:t>
            </a:r>
            <a:r>
              <a:rPr lang="en-US" altLang="zh-CN" sz="2000"/>
              <a:t>1</a:t>
            </a:r>
            <a:r>
              <a:rPr lang="zh-CN" altLang="en-US" sz="2000"/>
              <a:t>）所有选定故事 </a:t>
            </a:r>
            <a:r>
              <a:rPr lang="en-US" altLang="zh-CN" sz="2000"/>
              <a:t>(</a:t>
            </a:r>
            <a:r>
              <a:rPr lang="zh-CN" altLang="en-US" sz="2000"/>
              <a:t>下一个增量</a:t>
            </a:r>
            <a:r>
              <a:rPr lang="en-US" altLang="zh-CN" sz="2000"/>
              <a:t>)</a:t>
            </a:r>
            <a:r>
              <a:rPr lang="zh-CN" altLang="en-US" sz="2000"/>
              <a:t>将在几周之内尽快实现；（</a:t>
            </a:r>
            <a:r>
              <a:rPr lang="en-US" altLang="zh-CN" sz="2000"/>
              <a:t>2</a:t>
            </a:r>
            <a:r>
              <a:rPr lang="zh-CN" altLang="en-US" sz="2000"/>
              <a:t>）具有</a:t>
            </a:r>
            <a:r>
              <a:rPr lang="zh-CN" altLang="en-US" sz="2000">
                <a:solidFill>
                  <a:srgbClr val="FA0C34"/>
                </a:solidFill>
              </a:rPr>
              <a:t>最高权值</a:t>
            </a:r>
            <a:r>
              <a:rPr lang="zh-CN" altLang="en-US" sz="2000"/>
              <a:t>的故事将移到进度表的前面并首先实现；（</a:t>
            </a:r>
            <a:r>
              <a:rPr lang="en-US" altLang="zh-CN" sz="2000"/>
              <a:t>3</a:t>
            </a:r>
            <a:r>
              <a:rPr lang="zh-CN" altLang="en-US" sz="2000"/>
              <a:t>）</a:t>
            </a:r>
            <a:r>
              <a:rPr lang="zh-CN" altLang="en-US" sz="2000">
                <a:solidFill>
                  <a:srgbClr val="FA0C34"/>
                </a:solidFill>
              </a:rPr>
              <a:t>高风险</a:t>
            </a:r>
            <a:r>
              <a:rPr lang="zh-CN" altLang="en-US" sz="2000"/>
              <a:t>故事将首先实现。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67587">
                                            <p:txEl>
                                              <p:pRg st="0" end="0"/>
                                            </p:txEl>
                                          </p:spTgt>
                                        </p:tgtEl>
                                        <p:attrNameLst>
                                          <p:attrName>style.visibility</p:attrName>
                                        </p:attrNameLst>
                                      </p:cBhvr>
                                      <p:to>
                                        <p:strVal val="visible"/>
                                      </p:to>
                                    </p:set>
                                    <p:animEffect transition="in" filter="circle(in)">
                                      <p:cBhvr>
                                        <p:cTn id="7" dur="1000"/>
                                        <p:tgtEl>
                                          <p:spTgt spid="6758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67587">
                                            <p:txEl>
                                              <p:pRg st="1" end="1"/>
                                            </p:txEl>
                                          </p:spTgt>
                                        </p:tgtEl>
                                        <p:attrNameLst>
                                          <p:attrName>style.visibility</p:attrName>
                                        </p:attrNameLst>
                                      </p:cBhvr>
                                      <p:to>
                                        <p:strVal val="visible"/>
                                      </p:to>
                                    </p:set>
                                    <p:animEffect transition="in" filter="circle(in)">
                                      <p:cBhvr>
                                        <p:cTn id="12" dur="1000"/>
                                        <p:tgtEl>
                                          <p:spTgt spid="6758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67587">
                                            <p:txEl>
                                              <p:pRg st="2" end="2"/>
                                            </p:txEl>
                                          </p:spTgt>
                                        </p:tgtEl>
                                        <p:attrNameLst>
                                          <p:attrName>style.visibility</p:attrName>
                                        </p:attrNameLst>
                                      </p:cBhvr>
                                      <p:to>
                                        <p:strVal val="visible"/>
                                      </p:to>
                                    </p:set>
                                    <p:animEffect transition="in" filter="circle(in)">
                                      <p:cBhvr>
                                        <p:cTn id="17" dur="1000"/>
                                        <p:tgtEl>
                                          <p:spTgt spid="6758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6" presetClass="entr" presetSubtype="16" fill="hold" nodeType="clickEffect">
                                  <p:stCondLst>
                                    <p:cond delay="0"/>
                                  </p:stCondLst>
                                  <p:childTnLst>
                                    <p:set>
                                      <p:cBhvr>
                                        <p:cTn id="21" dur="1" fill="hold">
                                          <p:stCondLst>
                                            <p:cond delay="0"/>
                                          </p:stCondLst>
                                        </p:cTn>
                                        <p:tgtEl>
                                          <p:spTgt spid="67587">
                                            <p:txEl>
                                              <p:pRg st="3" end="3"/>
                                            </p:txEl>
                                          </p:spTgt>
                                        </p:tgtEl>
                                        <p:attrNameLst>
                                          <p:attrName>style.visibility</p:attrName>
                                        </p:attrNameLst>
                                      </p:cBhvr>
                                      <p:to>
                                        <p:strVal val="visible"/>
                                      </p:to>
                                    </p:set>
                                    <p:animEffect transition="in" filter="circle(in)">
                                      <p:cBhvr>
                                        <p:cTn id="22" dur="1000"/>
                                        <p:tgtEl>
                                          <p:spTgt spid="67587">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6" presetClass="entr" presetSubtype="16" fill="hold" nodeType="clickEffect">
                                  <p:stCondLst>
                                    <p:cond delay="0"/>
                                  </p:stCondLst>
                                  <p:childTnLst>
                                    <p:set>
                                      <p:cBhvr>
                                        <p:cTn id="26" dur="1" fill="hold">
                                          <p:stCondLst>
                                            <p:cond delay="0"/>
                                          </p:stCondLst>
                                        </p:cTn>
                                        <p:tgtEl>
                                          <p:spTgt spid="67587">
                                            <p:txEl>
                                              <p:pRg st="4" end="4"/>
                                            </p:txEl>
                                          </p:spTgt>
                                        </p:tgtEl>
                                        <p:attrNameLst>
                                          <p:attrName>style.visibility</p:attrName>
                                        </p:attrNameLst>
                                      </p:cBhvr>
                                      <p:to>
                                        <p:strVal val="visible"/>
                                      </p:to>
                                    </p:set>
                                    <p:animEffect transition="in" filter="circle(in)">
                                      <p:cBhvr>
                                        <p:cTn id="27" dur="1000"/>
                                        <p:tgtEl>
                                          <p:spTgt spid="67587">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6" presetClass="entr" presetSubtype="16" fill="hold" nodeType="clickEffect">
                                  <p:stCondLst>
                                    <p:cond delay="0"/>
                                  </p:stCondLst>
                                  <p:childTnLst>
                                    <p:set>
                                      <p:cBhvr>
                                        <p:cTn id="31" dur="1" fill="hold">
                                          <p:stCondLst>
                                            <p:cond delay="0"/>
                                          </p:stCondLst>
                                        </p:cTn>
                                        <p:tgtEl>
                                          <p:spTgt spid="67587">
                                            <p:txEl>
                                              <p:pRg st="5" end="5"/>
                                            </p:txEl>
                                          </p:spTgt>
                                        </p:tgtEl>
                                        <p:attrNameLst>
                                          <p:attrName>style.visibility</p:attrName>
                                        </p:attrNameLst>
                                      </p:cBhvr>
                                      <p:to>
                                        <p:strVal val="visible"/>
                                      </p:to>
                                    </p:set>
                                    <p:animEffect transition="in" filter="circle(in)">
                                      <p:cBhvr>
                                        <p:cTn id="32" dur="1000"/>
                                        <p:tgtEl>
                                          <p:spTgt spid="6758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6">
            <a:extLst>
              <a:ext uri="{FF2B5EF4-FFF2-40B4-BE49-F238E27FC236}">
                <a16:creationId xmlns:a16="http://schemas.microsoft.com/office/drawing/2014/main" id="{C02149A3-3E21-C28D-F04C-7E71673AF9D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C9F6C72A-4601-4A02-BB2E-C9E18887ADE7}" type="slidenum">
              <a:rPr lang="en-US" altLang="zh-CN" sz="1400">
                <a:solidFill>
                  <a:srgbClr val="000000"/>
                </a:solidFill>
                <a:latin typeface="Arial" panose="020B0604020202020204" pitchFamily="34" charset="0"/>
              </a:rPr>
              <a:pPr fontAlgn="base">
                <a:spcBef>
                  <a:spcPct val="0"/>
                </a:spcBef>
                <a:spcAft>
                  <a:spcPct val="0"/>
                </a:spcAft>
              </a:pPr>
              <a:t>49</a:t>
            </a:fld>
            <a:endParaRPr lang="en-US" altLang="zh-CN" sz="1400">
              <a:solidFill>
                <a:srgbClr val="000000"/>
              </a:solidFill>
              <a:latin typeface="Arial" panose="020B0604020202020204" pitchFamily="34" charset="0"/>
            </a:endParaRPr>
          </a:p>
        </p:txBody>
      </p:sp>
      <p:sp>
        <p:nvSpPr>
          <p:cNvPr id="36867" name="Rectangle 2">
            <a:extLst>
              <a:ext uri="{FF2B5EF4-FFF2-40B4-BE49-F238E27FC236}">
                <a16:creationId xmlns:a16="http://schemas.microsoft.com/office/drawing/2014/main" id="{A8A06D94-332D-C336-2B5F-D1880942AF32}"/>
              </a:ext>
            </a:extLst>
          </p:cNvPr>
          <p:cNvSpPr>
            <a:spLocks noGrp="1" noChangeArrowheads="1"/>
          </p:cNvSpPr>
          <p:nvPr>
            <p:ph type="title"/>
          </p:nvPr>
        </p:nvSpPr>
        <p:spPr/>
        <p:txBody>
          <a:bodyPr/>
          <a:lstStyle/>
          <a:p>
            <a:r>
              <a:rPr lang="zh-CN" altLang="en-US"/>
              <a:t>策划</a:t>
            </a:r>
            <a:r>
              <a:rPr lang="en-US" altLang="zh-CN"/>
              <a:t>(2)</a:t>
            </a:r>
          </a:p>
        </p:txBody>
      </p:sp>
      <p:sp>
        <p:nvSpPr>
          <p:cNvPr id="96259" name="Rectangle 3">
            <a:extLst>
              <a:ext uri="{FF2B5EF4-FFF2-40B4-BE49-F238E27FC236}">
                <a16:creationId xmlns:a16="http://schemas.microsoft.com/office/drawing/2014/main" id="{201E3D65-4A8B-8E83-2C18-F0C27C2C3319}"/>
              </a:ext>
            </a:extLst>
          </p:cNvPr>
          <p:cNvSpPr>
            <a:spLocks noGrp="1" noChangeArrowheads="1"/>
          </p:cNvSpPr>
          <p:nvPr>
            <p:ph type="body" idx="1"/>
          </p:nvPr>
        </p:nvSpPr>
        <p:spPr>
          <a:xfrm>
            <a:off x="1703388" y="1125539"/>
            <a:ext cx="8640762" cy="5005387"/>
          </a:xfrm>
        </p:spPr>
        <p:txBody>
          <a:bodyPr/>
          <a:lstStyle/>
          <a:p>
            <a:pPr lvl="1">
              <a:lnSpc>
                <a:spcPct val="150000"/>
              </a:lnSpc>
              <a:spcBef>
                <a:spcPct val="50000"/>
              </a:spcBef>
              <a:buFont typeface="Wingdings" panose="05000000000000000000" pitchFamily="2" charset="2"/>
              <a:buChar char="p"/>
            </a:pPr>
            <a:r>
              <a:rPr lang="zh-CN" altLang="en-US" sz="2200"/>
              <a:t>在第一个版本发布之后，</a:t>
            </a:r>
            <a:r>
              <a:rPr lang="en-US" altLang="zh-CN" sz="2200"/>
              <a:t>XP</a:t>
            </a:r>
            <a:r>
              <a:rPr lang="zh-CN" altLang="en-US" sz="2200"/>
              <a:t>团队</a:t>
            </a:r>
            <a:r>
              <a:rPr lang="zh-CN" altLang="en-US" sz="2200">
                <a:solidFill>
                  <a:srgbClr val="FA0C34"/>
                </a:solidFill>
              </a:rPr>
              <a:t>计算</a:t>
            </a:r>
            <a:r>
              <a:rPr lang="zh-CN" altLang="en-US" sz="2200"/>
              <a:t>项目的</a:t>
            </a:r>
            <a:r>
              <a:rPr lang="zh-CN" altLang="en-US" sz="2200">
                <a:solidFill>
                  <a:srgbClr val="FA0C34"/>
                </a:solidFill>
              </a:rPr>
              <a:t>速度</a:t>
            </a:r>
            <a:r>
              <a:rPr lang="zh-CN" altLang="en-US" sz="2200"/>
              <a:t>。项目</a:t>
            </a:r>
            <a:r>
              <a:rPr lang="zh-CN" altLang="en-US" sz="2200">
                <a:solidFill>
                  <a:srgbClr val="FA0C34"/>
                </a:solidFill>
              </a:rPr>
              <a:t>速度</a:t>
            </a:r>
            <a:r>
              <a:rPr lang="zh-CN" altLang="en-US" sz="2200"/>
              <a:t>由第一个发行版本中实现的</a:t>
            </a:r>
            <a:r>
              <a:rPr lang="zh-CN" altLang="en-US" sz="2200">
                <a:solidFill>
                  <a:srgbClr val="FA0C34"/>
                </a:solidFill>
              </a:rPr>
              <a:t>客户故事个数</a:t>
            </a:r>
            <a:r>
              <a:rPr lang="zh-CN" altLang="en-US" sz="2200"/>
              <a:t>来决定。项目速度将用于：</a:t>
            </a:r>
          </a:p>
          <a:p>
            <a:pPr lvl="2">
              <a:lnSpc>
                <a:spcPct val="150000"/>
              </a:lnSpc>
              <a:spcBef>
                <a:spcPct val="50000"/>
              </a:spcBef>
              <a:buFont typeface="Wingdings" panose="05000000000000000000" pitchFamily="2" charset="2"/>
              <a:buChar char="p"/>
            </a:pPr>
            <a:r>
              <a:rPr lang="en-US" altLang="zh-CN" sz="2000"/>
              <a:t>(1) </a:t>
            </a:r>
            <a:r>
              <a:rPr lang="zh-CN" altLang="en-US" sz="2000"/>
              <a:t>帮助</a:t>
            </a:r>
            <a:r>
              <a:rPr lang="zh-CN" altLang="en-US" sz="2000">
                <a:solidFill>
                  <a:srgbClr val="D333A1"/>
                </a:solidFill>
              </a:rPr>
              <a:t>估计</a:t>
            </a:r>
            <a:r>
              <a:rPr lang="zh-CN" altLang="en-US" sz="2000"/>
              <a:t>后续发行版本的</a:t>
            </a:r>
            <a:r>
              <a:rPr lang="zh-CN" altLang="en-US" sz="2000">
                <a:solidFill>
                  <a:srgbClr val="D333A1"/>
                </a:solidFill>
              </a:rPr>
              <a:t>发布日期</a:t>
            </a:r>
            <a:r>
              <a:rPr lang="zh-CN" altLang="en-US" sz="2000"/>
              <a:t>和</a:t>
            </a:r>
            <a:r>
              <a:rPr lang="zh-CN" altLang="en-US" sz="2000">
                <a:solidFill>
                  <a:srgbClr val="D333A1"/>
                </a:solidFill>
              </a:rPr>
              <a:t>进度安排</a:t>
            </a:r>
            <a:r>
              <a:rPr lang="zh-CN" altLang="en-US" sz="2000"/>
              <a:t>；</a:t>
            </a:r>
          </a:p>
          <a:p>
            <a:pPr lvl="2">
              <a:lnSpc>
                <a:spcPct val="150000"/>
              </a:lnSpc>
              <a:spcBef>
                <a:spcPct val="50000"/>
              </a:spcBef>
              <a:buFont typeface="Wingdings" panose="05000000000000000000" pitchFamily="2" charset="2"/>
              <a:buChar char="p"/>
            </a:pPr>
            <a:r>
              <a:rPr lang="en-US" altLang="zh-CN" sz="2000"/>
              <a:t>(2)</a:t>
            </a:r>
            <a:r>
              <a:rPr lang="en-US" altLang="zh-CN" sz="2000">
                <a:solidFill>
                  <a:srgbClr val="D333A1"/>
                </a:solidFill>
              </a:rPr>
              <a:t> </a:t>
            </a:r>
            <a:r>
              <a:rPr lang="zh-CN" altLang="en-US" sz="2000">
                <a:solidFill>
                  <a:srgbClr val="D333A1"/>
                </a:solidFill>
              </a:rPr>
              <a:t>确定</a:t>
            </a:r>
            <a:r>
              <a:rPr lang="zh-CN" altLang="en-US" sz="2000"/>
              <a:t>是否对整个开发项目中的所有故事有</a:t>
            </a:r>
            <a:r>
              <a:rPr lang="zh-CN" altLang="en-US" sz="2000">
                <a:solidFill>
                  <a:srgbClr val="D333A1"/>
                </a:solidFill>
              </a:rPr>
              <a:t>过分承诺</a:t>
            </a:r>
            <a:r>
              <a:rPr lang="zh-CN" altLang="en-US" sz="2000"/>
              <a:t>。一旦发生过分承诺，则调整软件发行版本的内容或者改变最终交付日期。 </a:t>
            </a:r>
          </a:p>
          <a:p>
            <a:pPr lvl="1">
              <a:lnSpc>
                <a:spcPct val="150000"/>
              </a:lnSpc>
              <a:spcBef>
                <a:spcPct val="50000"/>
              </a:spcBef>
              <a:buFont typeface="Wingdings" panose="05000000000000000000" pitchFamily="2" charset="2"/>
              <a:buChar char="p"/>
            </a:pPr>
            <a:r>
              <a:rPr lang="zh-CN" altLang="en-US" sz="2200"/>
              <a:t>在开发过程中，客户可以</a:t>
            </a:r>
            <a:r>
              <a:rPr lang="zh-CN" altLang="en-US" sz="2200">
                <a:solidFill>
                  <a:srgbClr val="D333A1"/>
                </a:solidFill>
              </a:rPr>
              <a:t>增加故事</a:t>
            </a:r>
            <a:r>
              <a:rPr lang="zh-CN" altLang="en-US" sz="2200"/>
              <a:t>，</a:t>
            </a:r>
            <a:r>
              <a:rPr lang="zh-CN" altLang="en-US" sz="2200">
                <a:solidFill>
                  <a:srgbClr val="D333A1"/>
                </a:solidFill>
              </a:rPr>
              <a:t>改变故事的权值</a:t>
            </a:r>
            <a:r>
              <a:rPr lang="zh-CN" altLang="en-US" sz="2200"/>
              <a:t>，</a:t>
            </a:r>
            <a:r>
              <a:rPr lang="zh-CN" altLang="en-US" sz="2200">
                <a:solidFill>
                  <a:srgbClr val="D333A1"/>
                </a:solidFill>
              </a:rPr>
              <a:t>分解或者去掉故事</a:t>
            </a:r>
            <a:r>
              <a:rPr lang="zh-CN" altLang="en-US" sz="2200"/>
              <a:t>。然后由</a:t>
            </a:r>
            <a:r>
              <a:rPr lang="en-US" altLang="zh-CN" sz="2200"/>
              <a:t>XP</a:t>
            </a:r>
            <a:r>
              <a:rPr lang="zh-CN" altLang="en-US" sz="2200"/>
              <a:t>团队重新考虑并修改计划。</a:t>
            </a:r>
            <a:endParaRPr lang="en-US" altLang="zh-CN" sz="21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96259">
                                            <p:txEl>
                                              <p:pRg st="1" end="1"/>
                                            </p:txEl>
                                          </p:spTgt>
                                        </p:tgtEl>
                                        <p:attrNameLst>
                                          <p:attrName>style.visibility</p:attrName>
                                        </p:attrNameLst>
                                      </p:cBhvr>
                                      <p:to>
                                        <p:strVal val="visible"/>
                                      </p:to>
                                    </p:set>
                                    <p:anim calcmode="lin" valueType="num">
                                      <p:cBhvr additive="base">
                                        <p:cTn id="7" dur="1000" fill="hold"/>
                                        <p:tgtEl>
                                          <p:spTgt spid="96259">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9625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96259">
                                            <p:txEl>
                                              <p:pRg st="2" end="2"/>
                                            </p:txEl>
                                          </p:spTgt>
                                        </p:tgtEl>
                                        <p:attrNameLst>
                                          <p:attrName>style.visibility</p:attrName>
                                        </p:attrNameLst>
                                      </p:cBhvr>
                                      <p:to>
                                        <p:strVal val="visible"/>
                                      </p:to>
                                    </p:set>
                                    <p:anim calcmode="lin" valueType="num">
                                      <p:cBhvr additive="base">
                                        <p:cTn id="13" dur="1000" fill="hold"/>
                                        <p:tgtEl>
                                          <p:spTgt spid="96259">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9625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96259">
                                            <p:txEl>
                                              <p:pRg st="3" end="3"/>
                                            </p:txEl>
                                          </p:spTgt>
                                        </p:tgtEl>
                                        <p:attrNameLst>
                                          <p:attrName>style.visibility</p:attrName>
                                        </p:attrNameLst>
                                      </p:cBhvr>
                                      <p:to>
                                        <p:strVal val="visible"/>
                                      </p:to>
                                    </p:set>
                                    <p:anim calcmode="lin" valueType="num">
                                      <p:cBhvr additive="base">
                                        <p:cTn id="19" dur="1000" fill="hold"/>
                                        <p:tgtEl>
                                          <p:spTgt spid="96259">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96259">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6">
            <a:extLst>
              <a:ext uri="{FF2B5EF4-FFF2-40B4-BE49-F238E27FC236}">
                <a16:creationId xmlns:a16="http://schemas.microsoft.com/office/drawing/2014/main" id="{9E257983-BC73-0123-799B-14CD74D1AC1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27E588D-1969-4C3E-AC66-633FD4F9A362}" type="slidenum">
              <a:rPr lang="en-US" altLang="zh-CN" sz="1400">
                <a:solidFill>
                  <a:srgbClr val="000000"/>
                </a:solidFill>
                <a:latin typeface="Arial" panose="020B0604020202020204" pitchFamily="34" charset="0"/>
              </a:rPr>
              <a:pPr fontAlgn="base">
                <a:spcBef>
                  <a:spcPct val="0"/>
                </a:spcBef>
                <a:spcAft>
                  <a:spcPct val="0"/>
                </a:spcAft>
              </a:pPr>
              <a:t>50</a:t>
            </a:fld>
            <a:endParaRPr lang="en-US" altLang="zh-CN" sz="1400">
              <a:solidFill>
                <a:srgbClr val="000000"/>
              </a:solidFill>
              <a:latin typeface="Arial" panose="020B0604020202020204" pitchFamily="34" charset="0"/>
            </a:endParaRPr>
          </a:p>
        </p:txBody>
      </p:sp>
      <p:sp>
        <p:nvSpPr>
          <p:cNvPr id="37891" name="Rectangle 2">
            <a:extLst>
              <a:ext uri="{FF2B5EF4-FFF2-40B4-BE49-F238E27FC236}">
                <a16:creationId xmlns:a16="http://schemas.microsoft.com/office/drawing/2014/main" id="{4CF70BFA-7327-66AE-A60F-C3C1824D481F}"/>
              </a:ext>
            </a:extLst>
          </p:cNvPr>
          <p:cNvSpPr>
            <a:spLocks noGrp="1" noChangeArrowheads="1"/>
          </p:cNvSpPr>
          <p:nvPr>
            <p:ph type="title"/>
          </p:nvPr>
        </p:nvSpPr>
        <p:spPr/>
        <p:txBody>
          <a:bodyPr/>
          <a:lstStyle/>
          <a:p>
            <a:r>
              <a:rPr lang="zh-CN" altLang="en-US"/>
              <a:t>极限编程过程</a:t>
            </a:r>
          </a:p>
        </p:txBody>
      </p:sp>
      <p:sp>
        <p:nvSpPr>
          <p:cNvPr id="68611" name="Rectangle 3">
            <a:extLst>
              <a:ext uri="{FF2B5EF4-FFF2-40B4-BE49-F238E27FC236}">
                <a16:creationId xmlns:a16="http://schemas.microsoft.com/office/drawing/2014/main" id="{EE610AE4-0080-B6A7-E9F0-78D0FD8464D5}"/>
              </a:ext>
            </a:extLst>
          </p:cNvPr>
          <p:cNvSpPr>
            <a:spLocks noGrp="1" noChangeArrowheads="1"/>
          </p:cNvSpPr>
          <p:nvPr>
            <p:ph type="body" idx="1"/>
          </p:nvPr>
        </p:nvSpPr>
        <p:spPr>
          <a:xfrm>
            <a:off x="1981200" y="908051"/>
            <a:ext cx="8229600" cy="5078413"/>
          </a:xfrm>
        </p:spPr>
        <p:txBody>
          <a:bodyPr/>
          <a:lstStyle/>
          <a:p>
            <a:pPr>
              <a:lnSpc>
                <a:spcPct val="150000"/>
              </a:lnSpc>
              <a:spcBef>
                <a:spcPct val="50000"/>
              </a:spcBef>
              <a:buFont typeface="Wingdings" panose="05000000000000000000" pitchFamily="2" charset="2"/>
              <a:buChar char="p"/>
            </a:pPr>
            <a:r>
              <a:rPr lang="en-US" altLang="zh-CN" sz="2600">
                <a:solidFill>
                  <a:srgbClr val="FA0C34"/>
                </a:solidFill>
              </a:rPr>
              <a:t>(2) </a:t>
            </a:r>
            <a:r>
              <a:rPr lang="zh-CN" altLang="en-US" sz="2600">
                <a:solidFill>
                  <a:srgbClr val="FA0C34"/>
                </a:solidFill>
              </a:rPr>
              <a:t>设计：</a:t>
            </a:r>
            <a:endParaRPr lang="en-US" altLang="zh-CN" sz="2600">
              <a:solidFill>
                <a:srgbClr val="FA0C34"/>
              </a:solidFill>
            </a:endParaRPr>
          </a:p>
          <a:p>
            <a:pPr lvl="1">
              <a:lnSpc>
                <a:spcPct val="150000"/>
              </a:lnSpc>
              <a:spcBef>
                <a:spcPct val="50000"/>
              </a:spcBef>
              <a:buFont typeface="Wingdings" panose="05000000000000000000" pitchFamily="2" charset="2"/>
              <a:buChar char="p"/>
            </a:pPr>
            <a:r>
              <a:rPr lang="zh-CN" altLang="en-US" sz="2100"/>
              <a:t>严格遵循</a:t>
            </a:r>
            <a:r>
              <a:rPr lang="en-US" altLang="zh-CN" sz="2100">
                <a:solidFill>
                  <a:srgbClr val="FA0C34"/>
                </a:solidFill>
              </a:rPr>
              <a:t>KIS </a:t>
            </a:r>
            <a:r>
              <a:rPr lang="en-US" altLang="zh-CN" sz="2100"/>
              <a:t>(Keep it simple)</a:t>
            </a:r>
            <a:r>
              <a:rPr lang="zh-CN" altLang="en-US" sz="2100"/>
              <a:t>原则，即使用简单而不是复杂的表述。不鼓励额外功能性（因开发者假定以后会用到）设计。</a:t>
            </a:r>
          </a:p>
          <a:p>
            <a:pPr lvl="1">
              <a:lnSpc>
                <a:spcPct val="150000"/>
              </a:lnSpc>
              <a:spcBef>
                <a:spcPct val="50000"/>
              </a:spcBef>
              <a:buFont typeface="Wingdings" panose="05000000000000000000" pitchFamily="2" charset="2"/>
              <a:buChar char="p"/>
            </a:pPr>
            <a:r>
              <a:rPr lang="zh-CN" altLang="en-US" sz="2100"/>
              <a:t>鼓励使用</a:t>
            </a:r>
            <a:r>
              <a:rPr lang="en-US" altLang="zh-CN" sz="2100">
                <a:solidFill>
                  <a:srgbClr val="FA0C34"/>
                </a:solidFill>
              </a:rPr>
              <a:t>CRC</a:t>
            </a:r>
            <a:r>
              <a:rPr lang="zh-CN" altLang="en-US" sz="2100"/>
              <a:t>卡（类</a:t>
            </a:r>
            <a:r>
              <a:rPr lang="en-US" altLang="zh-CN" sz="2100"/>
              <a:t>-</a:t>
            </a:r>
            <a:r>
              <a:rPr lang="zh-CN" altLang="en-US" sz="2100"/>
              <a:t>责任</a:t>
            </a:r>
            <a:r>
              <a:rPr lang="en-US" altLang="zh-CN" sz="2100"/>
              <a:t>-</a:t>
            </a:r>
            <a:r>
              <a:rPr lang="zh-CN" altLang="en-US" sz="2100"/>
              <a:t>协作者）确定与当前软件</a:t>
            </a:r>
            <a:r>
              <a:rPr lang="zh-CN" altLang="en-US" sz="2100">
                <a:solidFill>
                  <a:srgbClr val="FA0C34"/>
                </a:solidFill>
              </a:rPr>
              <a:t>增量相关的面向对象的类</a:t>
            </a:r>
            <a:r>
              <a:rPr lang="zh-CN" altLang="en-US" sz="2100"/>
              <a:t>。 </a:t>
            </a:r>
          </a:p>
          <a:p>
            <a:pPr lvl="1">
              <a:lnSpc>
                <a:spcPct val="150000"/>
              </a:lnSpc>
              <a:spcBef>
                <a:spcPct val="50000"/>
              </a:spcBef>
              <a:buFont typeface="Wingdings" panose="05000000000000000000" pitchFamily="2" charset="2"/>
              <a:buChar char="p"/>
            </a:pPr>
            <a:r>
              <a:rPr lang="zh-CN" altLang="en-US" sz="2100"/>
              <a:t>在某个故事设计中遇到困难时，立即</a:t>
            </a:r>
            <a:r>
              <a:rPr lang="zh-CN" altLang="en-US" sz="2100">
                <a:solidFill>
                  <a:srgbClr val="FA0C34"/>
                </a:solidFill>
              </a:rPr>
              <a:t>建立</a:t>
            </a:r>
            <a:r>
              <a:rPr lang="zh-CN" altLang="en-US" sz="2100"/>
              <a:t>这部分设计的</a:t>
            </a:r>
            <a:r>
              <a:rPr lang="zh-CN" altLang="en-US" sz="2100">
                <a:solidFill>
                  <a:srgbClr val="FA0C34"/>
                </a:solidFill>
              </a:rPr>
              <a:t>可执行原型</a:t>
            </a:r>
            <a:r>
              <a:rPr lang="zh-CN" altLang="en-US" sz="2100"/>
              <a:t>，实现并</a:t>
            </a:r>
            <a:r>
              <a:rPr lang="zh-CN" altLang="en-US" sz="2100">
                <a:solidFill>
                  <a:srgbClr val="FA0C34"/>
                </a:solidFill>
              </a:rPr>
              <a:t>评估</a:t>
            </a:r>
            <a:r>
              <a:rPr lang="zh-CN" altLang="en-US" sz="2100"/>
              <a:t>设计原型 </a:t>
            </a:r>
            <a:r>
              <a:rPr lang="en-US" altLang="zh-CN" sz="2100"/>
              <a:t>(</a:t>
            </a:r>
            <a:r>
              <a:rPr lang="en-US" altLang="zh-CN" sz="2100">
                <a:solidFill>
                  <a:srgbClr val="FA0C34"/>
                </a:solidFill>
              </a:rPr>
              <a:t>Spike</a:t>
            </a:r>
            <a:r>
              <a:rPr lang="zh-CN" altLang="en-US" sz="2100">
                <a:solidFill>
                  <a:srgbClr val="FA0C34"/>
                </a:solidFill>
              </a:rPr>
              <a:t>解决方案</a:t>
            </a:r>
            <a:r>
              <a:rPr lang="zh-CN" altLang="en-US" sz="2100"/>
              <a:t>：</a:t>
            </a:r>
            <a:r>
              <a:rPr lang="en-US" altLang="zh-CN" sz="2100"/>
              <a:t>让不明确的评估成为明确的评估)</a:t>
            </a:r>
            <a:r>
              <a:rPr lang="zh-CN" altLang="en-US" sz="2100"/>
              <a:t>，其目的是在真正的实现开始时</a:t>
            </a:r>
            <a:r>
              <a:rPr lang="zh-CN" altLang="en-US" sz="2100">
                <a:solidFill>
                  <a:srgbClr val="FA0C34"/>
                </a:solidFill>
              </a:rPr>
              <a:t>降低风险</a:t>
            </a:r>
            <a:r>
              <a:rPr lang="zh-CN" altLang="en-US" sz="2100"/>
              <a:t>，对可能存在设计问题的故事确认其最初的估计。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68611">
                                            <p:txEl>
                                              <p:pRg st="1" end="1"/>
                                            </p:txEl>
                                          </p:spTgt>
                                        </p:tgtEl>
                                        <p:attrNameLst>
                                          <p:attrName>style.visibility</p:attrName>
                                        </p:attrNameLst>
                                      </p:cBhvr>
                                      <p:to>
                                        <p:strVal val="visible"/>
                                      </p:to>
                                    </p:set>
                                    <p:animEffect transition="in" filter="box(in)">
                                      <p:cBhvr>
                                        <p:cTn id="7" dur="2000"/>
                                        <p:tgtEl>
                                          <p:spTgt spid="6861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68611">
                                            <p:txEl>
                                              <p:pRg st="2" end="2"/>
                                            </p:txEl>
                                          </p:spTgt>
                                        </p:tgtEl>
                                        <p:attrNameLst>
                                          <p:attrName>style.visibility</p:attrName>
                                        </p:attrNameLst>
                                      </p:cBhvr>
                                      <p:to>
                                        <p:strVal val="visible"/>
                                      </p:to>
                                    </p:set>
                                    <p:animEffect transition="in" filter="box(in)">
                                      <p:cBhvr>
                                        <p:cTn id="12" dur="2000"/>
                                        <p:tgtEl>
                                          <p:spTgt spid="68611">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68611">
                                            <p:txEl>
                                              <p:pRg st="3" end="3"/>
                                            </p:txEl>
                                          </p:spTgt>
                                        </p:tgtEl>
                                        <p:attrNameLst>
                                          <p:attrName>style.visibility</p:attrName>
                                        </p:attrNameLst>
                                      </p:cBhvr>
                                      <p:to>
                                        <p:strVal val="visible"/>
                                      </p:to>
                                    </p:set>
                                    <p:animEffect transition="in" filter="box(in)">
                                      <p:cBhvr>
                                        <p:cTn id="17" dur="2000"/>
                                        <p:tgtEl>
                                          <p:spTgt spid="6861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6">
            <a:extLst>
              <a:ext uri="{FF2B5EF4-FFF2-40B4-BE49-F238E27FC236}">
                <a16:creationId xmlns:a16="http://schemas.microsoft.com/office/drawing/2014/main" id="{725A94DA-11E7-406D-32D1-A8B4D14B4418}"/>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C329CE0-6232-4641-918A-29A87FD6AA7C}" type="slidenum">
              <a:rPr lang="en-US" altLang="zh-CN" sz="1400">
                <a:solidFill>
                  <a:srgbClr val="000000"/>
                </a:solidFill>
                <a:latin typeface="Arial" panose="020B0604020202020204" pitchFamily="34" charset="0"/>
              </a:rPr>
              <a:pPr fontAlgn="base">
                <a:spcBef>
                  <a:spcPct val="0"/>
                </a:spcBef>
                <a:spcAft>
                  <a:spcPct val="0"/>
                </a:spcAft>
              </a:pPr>
              <a:t>51</a:t>
            </a:fld>
            <a:endParaRPr lang="en-US" altLang="zh-CN" sz="1400">
              <a:solidFill>
                <a:srgbClr val="000000"/>
              </a:solidFill>
              <a:latin typeface="Arial" panose="020B0604020202020204" pitchFamily="34" charset="0"/>
            </a:endParaRPr>
          </a:p>
        </p:txBody>
      </p:sp>
      <p:sp>
        <p:nvSpPr>
          <p:cNvPr id="38915" name="Rectangle 2">
            <a:extLst>
              <a:ext uri="{FF2B5EF4-FFF2-40B4-BE49-F238E27FC236}">
                <a16:creationId xmlns:a16="http://schemas.microsoft.com/office/drawing/2014/main" id="{42A2D065-4CA7-ED9C-0F67-B24D8327CBCF}"/>
              </a:ext>
            </a:extLst>
          </p:cNvPr>
          <p:cNvSpPr>
            <a:spLocks noGrp="1" noChangeArrowheads="1"/>
          </p:cNvSpPr>
          <p:nvPr>
            <p:ph type="title"/>
          </p:nvPr>
        </p:nvSpPr>
        <p:spPr/>
        <p:txBody>
          <a:bodyPr/>
          <a:lstStyle/>
          <a:p>
            <a:r>
              <a:rPr lang="zh-CN" altLang="en-US"/>
              <a:t>设计</a:t>
            </a:r>
            <a:r>
              <a:rPr lang="en-US" altLang="zh-CN"/>
              <a:t>(2)</a:t>
            </a:r>
          </a:p>
        </p:txBody>
      </p:sp>
      <p:sp>
        <p:nvSpPr>
          <p:cNvPr id="38916" name="Rectangle 3">
            <a:extLst>
              <a:ext uri="{FF2B5EF4-FFF2-40B4-BE49-F238E27FC236}">
                <a16:creationId xmlns:a16="http://schemas.microsoft.com/office/drawing/2014/main" id="{4DDA6750-95DD-5464-3E16-4A2FADB27524}"/>
              </a:ext>
            </a:extLst>
          </p:cNvPr>
          <p:cNvSpPr>
            <a:spLocks noGrp="1" noChangeArrowheads="1"/>
          </p:cNvSpPr>
          <p:nvPr>
            <p:ph type="body" idx="1"/>
          </p:nvPr>
        </p:nvSpPr>
        <p:spPr>
          <a:xfrm>
            <a:off x="1774826" y="1052514"/>
            <a:ext cx="8435975" cy="5005387"/>
          </a:xfrm>
        </p:spPr>
        <p:txBody>
          <a:bodyPr/>
          <a:lstStyle/>
          <a:p>
            <a:pPr lvl="1">
              <a:lnSpc>
                <a:spcPct val="150000"/>
              </a:lnSpc>
              <a:spcBef>
                <a:spcPct val="50000"/>
              </a:spcBef>
              <a:buFont typeface="Wingdings" panose="05000000000000000000" pitchFamily="2" charset="2"/>
              <a:buChar char="p"/>
            </a:pPr>
            <a:r>
              <a:rPr lang="zh-CN" altLang="en-US" sz="2800"/>
              <a:t>鼓励“</a:t>
            </a:r>
            <a:r>
              <a:rPr lang="zh-CN" altLang="en-US" sz="2800">
                <a:solidFill>
                  <a:srgbClr val="FA0C34"/>
                </a:solidFill>
              </a:rPr>
              <a:t>重构</a:t>
            </a:r>
            <a:r>
              <a:rPr lang="zh-CN" altLang="en-US" sz="2800"/>
              <a:t>”：</a:t>
            </a:r>
          </a:p>
          <a:p>
            <a:pPr lvl="2">
              <a:lnSpc>
                <a:spcPct val="150000"/>
              </a:lnSpc>
              <a:spcBef>
                <a:spcPct val="50000"/>
              </a:spcBef>
              <a:buFont typeface="Wingdings" panose="05000000000000000000" pitchFamily="2" charset="2"/>
              <a:buChar char="p"/>
            </a:pPr>
            <a:r>
              <a:rPr lang="zh-CN" altLang="en-US" sz="2600"/>
              <a:t>重构：是以</a:t>
            </a:r>
            <a:r>
              <a:rPr lang="zh-CN" altLang="en-US" sz="2600">
                <a:solidFill>
                  <a:srgbClr val="FA0C34"/>
                </a:solidFill>
              </a:rPr>
              <a:t>不改变代码外部行为</a:t>
            </a:r>
            <a:r>
              <a:rPr lang="zh-CN" altLang="en-US" sz="2600"/>
              <a:t>而</a:t>
            </a:r>
            <a:r>
              <a:rPr lang="zh-CN" altLang="en-US" sz="2600">
                <a:solidFill>
                  <a:srgbClr val="FA0C34"/>
                </a:solidFill>
              </a:rPr>
              <a:t>改进</a:t>
            </a:r>
            <a:r>
              <a:rPr lang="zh-CN" altLang="en-US" sz="2600"/>
              <a:t>其</a:t>
            </a:r>
            <a:r>
              <a:rPr lang="zh-CN" altLang="en-US" sz="2600">
                <a:solidFill>
                  <a:srgbClr val="FA0C34"/>
                </a:solidFill>
              </a:rPr>
              <a:t>内部结构</a:t>
            </a:r>
            <a:r>
              <a:rPr lang="zh-CN" altLang="en-US" sz="2600"/>
              <a:t>的方式来修改软件系统的</a:t>
            </a:r>
            <a:r>
              <a:rPr lang="zh-CN" altLang="en-US" sz="2600">
                <a:solidFill>
                  <a:srgbClr val="FA0C34"/>
                </a:solidFill>
              </a:rPr>
              <a:t>过程</a:t>
            </a:r>
            <a:r>
              <a:rPr lang="zh-CN" altLang="en-US" sz="2600"/>
              <a:t>。实质上，重构就是在</a:t>
            </a:r>
            <a:r>
              <a:rPr lang="zh-CN" altLang="en-US" sz="2600">
                <a:solidFill>
                  <a:srgbClr val="FA0C34"/>
                </a:solidFill>
              </a:rPr>
              <a:t>编码完成之后</a:t>
            </a:r>
            <a:r>
              <a:rPr lang="zh-CN" altLang="en-US" sz="2600"/>
              <a:t>改进代码设计 </a:t>
            </a:r>
            <a:r>
              <a:rPr lang="en-US" altLang="zh-CN" sz="2600"/>
              <a:t>(</a:t>
            </a:r>
            <a:r>
              <a:rPr lang="zh-CN" altLang="en-US" sz="2600"/>
              <a:t>设计优化，代码优化</a:t>
            </a:r>
            <a:r>
              <a:rPr lang="en-US" altLang="zh-CN" sz="2600"/>
              <a:t>)</a:t>
            </a:r>
            <a:r>
              <a:rPr lang="zh-CN" altLang="en-US" sz="2600"/>
              <a:t>。</a:t>
            </a:r>
          </a:p>
          <a:p>
            <a:pPr lvl="2">
              <a:lnSpc>
                <a:spcPct val="150000"/>
              </a:lnSpc>
              <a:spcBef>
                <a:spcPct val="50000"/>
              </a:spcBef>
              <a:buFont typeface="Wingdings" panose="05000000000000000000" pitchFamily="2" charset="2"/>
              <a:buChar char="p"/>
            </a:pPr>
            <a:r>
              <a:rPr lang="zh-CN" altLang="en-US" sz="2600"/>
              <a:t>重构所需</a:t>
            </a:r>
            <a:r>
              <a:rPr lang="zh-CN" altLang="en-US" sz="2600">
                <a:solidFill>
                  <a:srgbClr val="FA0C34"/>
                </a:solidFill>
              </a:rPr>
              <a:t>工作量</a:t>
            </a:r>
            <a:r>
              <a:rPr lang="zh-CN" altLang="en-US" sz="2600"/>
              <a:t>随着应用软件规模的增长而急剧增长。</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a:extLst>
              <a:ext uri="{FF2B5EF4-FFF2-40B4-BE49-F238E27FC236}">
                <a16:creationId xmlns:a16="http://schemas.microsoft.com/office/drawing/2014/main" id="{7372B7AA-6049-2102-2AC2-FE936992A34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88924EC-3369-4016-8B3C-F44288971E46}" type="slidenum">
              <a:rPr lang="en-US" altLang="zh-CN" sz="1400">
                <a:solidFill>
                  <a:srgbClr val="000000"/>
                </a:solidFill>
                <a:latin typeface="Arial" panose="020B0604020202020204" pitchFamily="34" charset="0"/>
              </a:rPr>
              <a:pPr fontAlgn="base">
                <a:spcBef>
                  <a:spcPct val="0"/>
                </a:spcBef>
                <a:spcAft>
                  <a:spcPct val="0"/>
                </a:spcAft>
              </a:pPr>
              <a:t>52</a:t>
            </a:fld>
            <a:endParaRPr lang="en-US" altLang="zh-CN" sz="1400">
              <a:solidFill>
                <a:srgbClr val="000000"/>
              </a:solidFill>
              <a:latin typeface="Arial" panose="020B0604020202020204" pitchFamily="34" charset="0"/>
            </a:endParaRPr>
          </a:p>
        </p:txBody>
      </p:sp>
      <p:sp>
        <p:nvSpPr>
          <p:cNvPr id="39939" name="Rectangle 2">
            <a:extLst>
              <a:ext uri="{FF2B5EF4-FFF2-40B4-BE49-F238E27FC236}">
                <a16:creationId xmlns:a16="http://schemas.microsoft.com/office/drawing/2014/main" id="{579316D8-0080-1C0D-5C44-550B3A39B2C9}"/>
              </a:ext>
            </a:extLst>
          </p:cNvPr>
          <p:cNvSpPr>
            <a:spLocks noGrp="1" noChangeArrowheads="1"/>
          </p:cNvSpPr>
          <p:nvPr>
            <p:ph type="title"/>
          </p:nvPr>
        </p:nvSpPr>
        <p:spPr/>
        <p:txBody>
          <a:bodyPr/>
          <a:lstStyle/>
          <a:p>
            <a:r>
              <a:rPr lang="zh-CN" altLang="en-US"/>
              <a:t>极限编程过程</a:t>
            </a:r>
          </a:p>
        </p:txBody>
      </p:sp>
      <p:sp>
        <p:nvSpPr>
          <p:cNvPr id="69635" name="Rectangle 3">
            <a:extLst>
              <a:ext uri="{FF2B5EF4-FFF2-40B4-BE49-F238E27FC236}">
                <a16:creationId xmlns:a16="http://schemas.microsoft.com/office/drawing/2014/main" id="{9E1064F3-9466-3B9B-6FCD-FC820A8F718B}"/>
              </a:ext>
            </a:extLst>
          </p:cNvPr>
          <p:cNvSpPr>
            <a:spLocks noGrp="1" noChangeArrowheads="1"/>
          </p:cNvSpPr>
          <p:nvPr>
            <p:ph type="body" idx="1"/>
          </p:nvPr>
        </p:nvSpPr>
        <p:spPr>
          <a:xfrm>
            <a:off x="1981200" y="692150"/>
            <a:ext cx="8362950" cy="5473700"/>
          </a:xfrm>
        </p:spPr>
        <p:txBody>
          <a:bodyPr/>
          <a:lstStyle/>
          <a:p>
            <a:pPr>
              <a:lnSpc>
                <a:spcPct val="150000"/>
              </a:lnSpc>
              <a:buFont typeface="Wingdings" panose="05000000000000000000" pitchFamily="2" charset="2"/>
              <a:buChar char="p"/>
            </a:pPr>
            <a:r>
              <a:rPr lang="en-US" altLang="zh-CN">
                <a:solidFill>
                  <a:srgbClr val="FA0C34"/>
                </a:solidFill>
              </a:rPr>
              <a:t>(3) </a:t>
            </a:r>
            <a:r>
              <a:rPr lang="zh-CN" altLang="en-US">
                <a:solidFill>
                  <a:srgbClr val="FA0C34"/>
                </a:solidFill>
              </a:rPr>
              <a:t>编码：</a:t>
            </a:r>
          </a:p>
          <a:p>
            <a:pPr lvl="1">
              <a:lnSpc>
                <a:spcPct val="150000"/>
              </a:lnSpc>
              <a:buFont typeface="Wingdings" panose="05000000000000000000" pitchFamily="2" charset="2"/>
              <a:buChar char="p"/>
            </a:pPr>
            <a:r>
              <a:rPr lang="en-US" altLang="zh-CN" sz="2000"/>
              <a:t>XP</a:t>
            </a:r>
            <a:r>
              <a:rPr lang="zh-CN" altLang="en-US" sz="2000"/>
              <a:t>推荐在故事开发和初步设计完成之后，团队</a:t>
            </a:r>
            <a:r>
              <a:rPr lang="zh-CN" altLang="en-US" sz="2000">
                <a:solidFill>
                  <a:srgbClr val="FA0C34"/>
                </a:solidFill>
              </a:rPr>
              <a:t>不是直接开始编码</a:t>
            </a:r>
            <a:r>
              <a:rPr lang="zh-CN" altLang="en-US" sz="2000"/>
              <a:t>，而是</a:t>
            </a:r>
            <a:r>
              <a:rPr lang="zh-CN" altLang="en-US" sz="2000">
                <a:solidFill>
                  <a:srgbClr val="FA0C34"/>
                </a:solidFill>
              </a:rPr>
              <a:t>开发</a:t>
            </a:r>
            <a:r>
              <a:rPr lang="zh-CN" altLang="en-US" sz="2000"/>
              <a:t>一系列用于检测本次（软件增量）发布的包括所有故事的</a:t>
            </a:r>
            <a:r>
              <a:rPr lang="zh-CN" altLang="en-US" sz="2000">
                <a:solidFill>
                  <a:srgbClr val="FA0C34"/>
                </a:solidFill>
              </a:rPr>
              <a:t>单元测试</a:t>
            </a:r>
            <a:r>
              <a:rPr lang="zh-CN" altLang="en-US" sz="2000"/>
              <a:t>。一旦编码完成，就可以立即完成单元测试，从而向开发者提供即时的反馈。</a:t>
            </a:r>
            <a:r>
              <a:rPr lang="en-US" altLang="zh-CN" sz="2000"/>
              <a:t>(</a:t>
            </a:r>
            <a:r>
              <a:rPr lang="zh-CN" altLang="en-US" sz="2000">
                <a:solidFill>
                  <a:srgbClr val="FA0C34"/>
                </a:solidFill>
              </a:rPr>
              <a:t>先开发测试用例，然后再编码</a:t>
            </a:r>
            <a:r>
              <a:rPr lang="en-US" altLang="zh-CN" sz="2000"/>
              <a:t>)</a:t>
            </a:r>
          </a:p>
          <a:p>
            <a:pPr lvl="1">
              <a:lnSpc>
                <a:spcPct val="150000"/>
              </a:lnSpc>
              <a:buFont typeface="Wingdings" panose="05000000000000000000" pitchFamily="2" charset="2"/>
              <a:buChar char="p"/>
            </a:pPr>
            <a:r>
              <a:rPr lang="zh-CN" altLang="en-US" sz="2000">
                <a:solidFill>
                  <a:srgbClr val="FA0C34"/>
                </a:solidFill>
              </a:rPr>
              <a:t>结对编程</a:t>
            </a:r>
            <a:r>
              <a:rPr lang="zh-CN" altLang="en-US" sz="2000"/>
              <a:t>。</a:t>
            </a:r>
            <a:r>
              <a:rPr lang="en-US" altLang="zh-CN" sz="2000"/>
              <a:t>XP</a:t>
            </a:r>
            <a:r>
              <a:rPr lang="zh-CN" altLang="en-US" sz="2000"/>
              <a:t>建议</a:t>
            </a:r>
            <a:r>
              <a:rPr lang="zh-CN" altLang="en-US" sz="2000">
                <a:solidFill>
                  <a:srgbClr val="FA0C34"/>
                </a:solidFill>
              </a:rPr>
              <a:t>两个人面对同一台计算机</a:t>
            </a:r>
            <a:r>
              <a:rPr lang="zh-CN" altLang="en-US" sz="2000"/>
              <a:t>共同为一个故事开发代码。这一方案提供了</a:t>
            </a:r>
            <a:r>
              <a:rPr lang="zh-CN" altLang="en-US" sz="2000">
                <a:solidFill>
                  <a:srgbClr val="FA0C34"/>
                </a:solidFill>
              </a:rPr>
              <a:t>实时解决问题 </a:t>
            </a:r>
            <a:r>
              <a:rPr lang="en-US" altLang="zh-CN" sz="2000"/>
              <a:t>(</a:t>
            </a:r>
            <a:r>
              <a:rPr lang="zh-CN" altLang="en-US" sz="2000"/>
              <a:t>两个人总比一个人强</a:t>
            </a:r>
            <a:r>
              <a:rPr lang="en-US" altLang="zh-CN" sz="2000"/>
              <a:t>)</a:t>
            </a:r>
            <a:r>
              <a:rPr lang="zh-CN" altLang="en-US" sz="2000"/>
              <a:t>和</a:t>
            </a:r>
            <a:r>
              <a:rPr lang="zh-CN" altLang="en-US" sz="2000">
                <a:solidFill>
                  <a:srgbClr val="FA0C34"/>
                </a:solidFill>
              </a:rPr>
              <a:t>实时质量保证的机制 </a:t>
            </a:r>
            <a:r>
              <a:rPr lang="en-US" altLang="zh-CN" sz="2000"/>
              <a:t>(</a:t>
            </a:r>
            <a:r>
              <a:rPr lang="zh-CN" altLang="en-US" sz="2000"/>
              <a:t>在代码写出后及时得到复审</a:t>
            </a:r>
            <a:r>
              <a:rPr lang="en-US" altLang="zh-CN" sz="2000"/>
              <a:t>)</a:t>
            </a:r>
            <a:r>
              <a:rPr lang="zh-CN" altLang="en-US" sz="2000"/>
              <a:t>，同时也使得开发者能集中精力于手头的问题。</a:t>
            </a:r>
          </a:p>
          <a:p>
            <a:pPr lvl="2">
              <a:lnSpc>
                <a:spcPct val="150000"/>
              </a:lnSpc>
              <a:buFont typeface="Wingdings" panose="05000000000000000000" pitchFamily="2" charset="2"/>
              <a:buChar char="p"/>
            </a:pPr>
            <a:r>
              <a:rPr lang="zh-CN" altLang="en-US" sz="1900"/>
              <a:t>实施中</a:t>
            </a:r>
            <a:r>
              <a:rPr lang="zh-CN" altLang="en-US" sz="1900">
                <a:solidFill>
                  <a:srgbClr val="FA0C34"/>
                </a:solidFill>
              </a:rPr>
              <a:t>不同成员担任的角色略有不同</a:t>
            </a:r>
            <a:r>
              <a:rPr lang="zh-CN" altLang="en-US" sz="1900"/>
              <a:t>，例如，一名成员考虑设计特定部分的</a:t>
            </a:r>
            <a:r>
              <a:rPr lang="zh-CN" altLang="en-US" sz="1900">
                <a:solidFill>
                  <a:srgbClr val="FA0C34"/>
                </a:solidFill>
              </a:rPr>
              <a:t>编码细节</a:t>
            </a:r>
            <a:r>
              <a:rPr lang="zh-CN" altLang="en-US" sz="1900"/>
              <a:t>；而另一名成员确保编码遵循的</a:t>
            </a:r>
            <a:r>
              <a:rPr lang="zh-CN" altLang="en-US" sz="1900">
                <a:solidFill>
                  <a:srgbClr val="FA0C34"/>
                </a:solidFill>
              </a:rPr>
              <a:t>标准</a:t>
            </a:r>
            <a:r>
              <a:rPr lang="zh-CN" altLang="en-US" sz="19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6" presetClass="entr" presetSubtype="16" fill="hold" nodeType="clickEffect">
                                  <p:stCondLst>
                                    <p:cond delay="0"/>
                                  </p:stCondLst>
                                  <p:childTnLst>
                                    <p:set>
                                      <p:cBhvr>
                                        <p:cTn id="6" dur="1" fill="hold">
                                          <p:stCondLst>
                                            <p:cond delay="0"/>
                                          </p:stCondLst>
                                        </p:cTn>
                                        <p:tgtEl>
                                          <p:spTgt spid="69635">
                                            <p:txEl>
                                              <p:pRg st="1" end="1"/>
                                            </p:txEl>
                                          </p:spTgt>
                                        </p:tgtEl>
                                        <p:attrNameLst>
                                          <p:attrName>style.visibility</p:attrName>
                                        </p:attrNameLst>
                                      </p:cBhvr>
                                      <p:to>
                                        <p:strVal val="visible"/>
                                      </p:to>
                                    </p:set>
                                    <p:animEffect transition="in" filter="circle(in)">
                                      <p:cBhvr>
                                        <p:cTn id="7" dur="2000"/>
                                        <p:tgtEl>
                                          <p:spTgt spid="6963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6" presetClass="entr" presetSubtype="16" fill="hold" nodeType="clickEffect">
                                  <p:stCondLst>
                                    <p:cond delay="0"/>
                                  </p:stCondLst>
                                  <p:childTnLst>
                                    <p:set>
                                      <p:cBhvr>
                                        <p:cTn id="11" dur="1" fill="hold">
                                          <p:stCondLst>
                                            <p:cond delay="0"/>
                                          </p:stCondLst>
                                        </p:cTn>
                                        <p:tgtEl>
                                          <p:spTgt spid="69635">
                                            <p:txEl>
                                              <p:pRg st="2" end="2"/>
                                            </p:txEl>
                                          </p:spTgt>
                                        </p:tgtEl>
                                        <p:attrNameLst>
                                          <p:attrName>style.visibility</p:attrName>
                                        </p:attrNameLst>
                                      </p:cBhvr>
                                      <p:to>
                                        <p:strVal val="visible"/>
                                      </p:to>
                                    </p:set>
                                    <p:animEffect transition="in" filter="circle(in)">
                                      <p:cBhvr>
                                        <p:cTn id="12" dur="2000"/>
                                        <p:tgtEl>
                                          <p:spTgt spid="6963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6" presetClass="entr" presetSubtype="16" fill="hold" nodeType="clickEffect">
                                  <p:stCondLst>
                                    <p:cond delay="0"/>
                                  </p:stCondLst>
                                  <p:childTnLst>
                                    <p:set>
                                      <p:cBhvr>
                                        <p:cTn id="16" dur="1" fill="hold">
                                          <p:stCondLst>
                                            <p:cond delay="0"/>
                                          </p:stCondLst>
                                        </p:cTn>
                                        <p:tgtEl>
                                          <p:spTgt spid="69635">
                                            <p:txEl>
                                              <p:pRg st="3" end="3"/>
                                            </p:txEl>
                                          </p:spTgt>
                                        </p:tgtEl>
                                        <p:attrNameLst>
                                          <p:attrName>style.visibility</p:attrName>
                                        </p:attrNameLst>
                                      </p:cBhvr>
                                      <p:to>
                                        <p:strVal val="visible"/>
                                      </p:to>
                                    </p:set>
                                    <p:animEffect transition="in" filter="circle(in)">
                                      <p:cBhvr>
                                        <p:cTn id="17" dur="2000"/>
                                        <p:tgtEl>
                                          <p:spTgt spid="69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a:extLst>
              <a:ext uri="{FF2B5EF4-FFF2-40B4-BE49-F238E27FC236}">
                <a16:creationId xmlns:a16="http://schemas.microsoft.com/office/drawing/2014/main" id="{AC7ECB6A-1C42-7E5B-0D41-CA13264D5FF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D0C0F6C8-AF28-4A2D-B40B-AFE68B5899A3}" type="slidenum">
              <a:rPr lang="en-US" altLang="zh-CN" sz="1400">
                <a:solidFill>
                  <a:srgbClr val="000000"/>
                </a:solidFill>
                <a:latin typeface="Arial" panose="020B0604020202020204" pitchFamily="34" charset="0"/>
              </a:rPr>
              <a:pPr fontAlgn="base">
                <a:spcBef>
                  <a:spcPct val="0"/>
                </a:spcBef>
                <a:spcAft>
                  <a:spcPct val="0"/>
                </a:spcAft>
              </a:pPr>
              <a:t>53</a:t>
            </a:fld>
            <a:endParaRPr lang="en-US" altLang="zh-CN" sz="1400">
              <a:solidFill>
                <a:srgbClr val="000000"/>
              </a:solidFill>
              <a:latin typeface="Arial" panose="020B0604020202020204" pitchFamily="34" charset="0"/>
            </a:endParaRPr>
          </a:p>
        </p:txBody>
      </p:sp>
      <p:sp>
        <p:nvSpPr>
          <p:cNvPr id="40963" name="Rectangle 2">
            <a:extLst>
              <a:ext uri="{FF2B5EF4-FFF2-40B4-BE49-F238E27FC236}">
                <a16:creationId xmlns:a16="http://schemas.microsoft.com/office/drawing/2014/main" id="{6938E63E-6B02-AED6-0832-0B3969915991}"/>
              </a:ext>
            </a:extLst>
          </p:cNvPr>
          <p:cNvSpPr>
            <a:spLocks noGrp="1" noChangeArrowheads="1"/>
          </p:cNvSpPr>
          <p:nvPr>
            <p:ph type="title"/>
          </p:nvPr>
        </p:nvSpPr>
        <p:spPr/>
        <p:txBody>
          <a:bodyPr/>
          <a:lstStyle/>
          <a:p>
            <a:r>
              <a:rPr lang="zh-CN" altLang="en-US"/>
              <a:t>编码 </a:t>
            </a:r>
            <a:r>
              <a:rPr lang="en-US" altLang="zh-CN"/>
              <a:t>(2)</a:t>
            </a:r>
          </a:p>
        </p:txBody>
      </p:sp>
      <p:sp>
        <p:nvSpPr>
          <p:cNvPr id="98307" name="Rectangle 3">
            <a:extLst>
              <a:ext uri="{FF2B5EF4-FFF2-40B4-BE49-F238E27FC236}">
                <a16:creationId xmlns:a16="http://schemas.microsoft.com/office/drawing/2014/main" id="{48140A16-42E6-3FB4-C4F2-81661545142C}"/>
              </a:ext>
            </a:extLst>
          </p:cNvPr>
          <p:cNvSpPr>
            <a:spLocks noGrp="1" noChangeArrowheads="1"/>
          </p:cNvSpPr>
          <p:nvPr>
            <p:ph type="body" idx="1"/>
          </p:nvPr>
        </p:nvSpPr>
        <p:spPr>
          <a:xfrm>
            <a:off x="1919288" y="1341438"/>
            <a:ext cx="8229600" cy="4430712"/>
          </a:xfrm>
        </p:spPr>
        <p:txBody>
          <a:bodyPr/>
          <a:lstStyle/>
          <a:p>
            <a:pPr>
              <a:lnSpc>
                <a:spcPct val="150000"/>
              </a:lnSpc>
              <a:spcBef>
                <a:spcPct val="50000"/>
              </a:spcBef>
              <a:buFont typeface="Wingdings" panose="05000000000000000000" pitchFamily="2" charset="2"/>
              <a:buChar char="n"/>
            </a:pPr>
            <a:r>
              <a:rPr lang="zh-CN" altLang="en-US" sz="2800"/>
              <a:t>当结对的两人完成其工作，他们所开发的代码将与其他人的</a:t>
            </a:r>
            <a:r>
              <a:rPr lang="zh-CN" altLang="en-US" sz="2800">
                <a:solidFill>
                  <a:srgbClr val="FA0C34"/>
                </a:solidFill>
              </a:rPr>
              <a:t>工作集成</a:t>
            </a:r>
            <a:r>
              <a:rPr lang="zh-CN" altLang="en-US" sz="2800"/>
              <a:t>起来：</a:t>
            </a:r>
          </a:p>
          <a:p>
            <a:pPr lvl="1">
              <a:lnSpc>
                <a:spcPct val="150000"/>
              </a:lnSpc>
              <a:spcBef>
                <a:spcPct val="50000"/>
              </a:spcBef>
              <a:buFont typeface="Wingdings" panose="05000000000000000000" pitchFamily="2" charset="2"/>
              <a:buChar char="n"/>
            </a:pPr>
            <a:r>
              <a:rPr lang="zh-CN" altLang="en-US" sz="2600"/>
              <a:t>有些情况下，</a:t>
            </a:r>
            <a:r>
              <a:rPr lang="zh-CN" altLang="en-US" sz="2600">
                <a:solidFill>
                  <a:srgbClr val="D333A1"/>
                </a:solidFill>
              </a:rPr>
              <a:t>团队</a:t>
            </a:r>
            <a:r>
              <a:rPr lang="en-US" altLang="zh-CN" sz="2600">
                <a:solidFill>
                  <a:srgbClr val="D333A1"/>
                </a:solidFill>
              </a:rPr>
              <a:t>(</a:t>
            </a:r>
            <a:r>
              <a:rPr lang="zh-CN" altLang="en-US" sz="2600">
                <a:solidFill>
                  <a:srgbClr val="D333A1"/>
                </a:solidFill>
              </a:rPr>
              <a:t>专人</a:t>
            </a:r>
            <a:r>
              <a:rPr lang="en-US" altLang="zh-CN" sz="2600">
                <a:solidFill>
                  <a:srgbClr val="D333A1"/>
                </a:solidFill>
              </a:rPr>
              <a:t>)</a:t>
            </a:r>
            <a:r>
              <a:rPr lang="zh-CN" altLang="en-US" sz="2600">
                <a:solidFill>
                  <a:srgbClr val="D333A1"/>
                </a:solidFill>
              </a:rPr>
              <a:t>进行集成</a:t>
            </a:r>
            <a:r>
              <a:rPr lang="zh-CN" altLang="en-US" sz="2600"/>
              <a:t>。</a:t>
            </a:r>
          </a:p>
          <a:p>
            <a:pPr lvl="1">
              <a:lnSpc>
                <a:spcPct val="150000"/>
              </a:lnSpc>
              <a:spcBef>
                <a:spcPct val="50000"/>
              </a:spcBef>
              <a:buFont typeface="Wingdings" panose="05000000000000000000" pitchFamily="2" charset="2"/>
              <a:buChar char="n"/>
            </a:pPr>
            <a:r>
              <a:rPr lang="zh-CN" altLang="en-US" sz="2600"/>
              <a:t>还有一些情况下，</a:t>
            </a:r>
            <a:r>
              <a:rPr lang="zh-CN" altLang="en-US" sz="2600">
                <a:solidFill>
                  <a:srgbClr val="FA0C34"/>
                </a:solidFill>
              </a:rPr>
              <a:t>结对者自己负责集成</a:t>
            </a:r>
            <a:r>
              <a:rPr lang="zh-CN" altLang="en-US" sz="2600"/>
              <a:t>，这种“连续集成”策略</a:t>
            </a:r>
            <a:r>
              <a:rPr lang="zh-CN" altLang="en-US" sz="2600">
                <a:solidFill>
                  <a:srgbClr val="D333A1"/>
                </a:solidFill>
              </a:rPr>
              <a:t>有助于避免兼容性和接口问题</a:t>
            </a:r>
            <a:r>
              <a:rPr lang="zh-CN" altLang="en-US" sz="2600"/>
              <a:t>。</a:t>
            </a:r>
            <a:r>
              <a:rPr lang="zh-CN" altLang="en-US" sz="28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98307">
                                            <p:txEl>
                                              <p:pRg st="1" end="1"/>
                                            </p:txEl>
                                          </p:spTgt>
                                        </p:tgtEl>
                                        <p:attrNameLst>
                                          <p:attrName>style.visibility</p:attrName>
                                        </p:attrNameLst>
                                      </p:cBhvr>
                                      <p:to>
                                        <p:strVal val="visible"/>
                                      </p:to>
                                    </p:set>
                                    <p:animEffect transition="in" filter="box(in)">
                                      <p:cBhvr>
                                        <p:cTn id="7" dur="1000"/>
                                        <p:tgtEl>
                                          <p:spTgt spid="983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98307">
                                            <p:txEl>
                                              <p:pRg st="2" end="2"/>
                                            </p:txEl>
                                          </p:spTgt>
                                        </p:tgtEl>
                                        <p:attrNameLst>
                                          <p:attrName>style.visibility</p:attrName>
                                        </p:attrNameLst>
                                      </p:cBhvr>
                                      <p:to>
                                        <p:strVal val="visible"/>
                                      </p:to>
                                    </p:set>
                                    <p:animEffect transition="in" filter="box(in)">
                                      <p:cBhvr>
                                        <p:cTn id="12" dur="1000"/>
                                        <p:tgtEl>
                                          <p:spTgt spid="983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6">
            <a:extLst>
              <a:ext uri="{FF2B5EF4-FFF2-40B4-BE49-F238E27FC236}">
                <a16:creationId xmlns:a16="http://schemas.microsoft.com/office/drawing/2014/main" id="{8B1B7325-2074-633B-5681-49EB5D4F7B6D}"/>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BB943652-9AE3-478C-9E13-542BFBFB2D6D}" type="slidenum">
              <a:rPr lang="en-US" altLang="zh-CN" sz="1400">
                <a:solidFill>
                  <a:srgbClr val="000000"/>
                </a:solidFill>
                <a:latin typeface="Arial" panose="020B0604020202020204" pitchFamily="34" charset="0"/>
              </a:rPr>
              <a:pPr fontAlgn="base">
                <a:spcBef>
                  <a:spcPct val="0"/>
                </a:spcBef>
                <a:spcAft>
                  <a:spcPct val="0"/>
                </a:spcAft>
              </a:pPr>
              <a:t>54</a:t>
            </a:fld>
            <a:endParaRPr lang="en-US" altLang="zh-CN" sz="1400">
              <a:solidFill>
                <a:srgbClr val="000000"/>
              </a:solidFill>
              <a:latin typeface="Arial" panose="020B0604020202020204" pitchFamily="34" charset="0"/>
            </a:endParaRPr>
          </a:p>
        </p:txBody>
      </p:sp>
      <p:sp>
        <p:nvSpPr>
          <p:cNvPr id="41987" name="Rectangle 2">
            <a:extLst>
              <a:ext uri="{FF2B5EF4-FFF2-40B4-BE49-F238E27FC236}">
                <a16:creationId xmlns:a16="http://schemas.microsoft.com/office/drawing/2014/main" id="{0076B196-B578-6295-43EC-38FA195CE175}"/>
              </a:ext>
            </a:extLst>
          </p:cNvPr>
          <p:cNvSpPr>
            <a:spLocks noGrp="1" noChangeArrowheads="1"/>
          </p:cNvSpPr>
          <p:nvPr>
            <p:ph type="title"/>
          </p:nvPr>
        </p:nvSpPr>
        <p:spPr/>
        <p:txBody>
          <a:bodyPr/>
          <a:lstStyle/>
          <a:p>
            <a:r>
              <a:rPr lang="zh-CN" altLang="en-US"/>
              <a:t>极限编程过程</a:t>
            </a:r>
          </a:p>
        </p:txBody>
      </p:sp>
      <p:sp>
        <p:nvSpPr>
          <p:cNvPr id="70659" name="Rectangle 3">
            <a:extLst>
              <a:ext uri="{FF2B5EF4-FFF2-40B4-BE49-F238E27FC236}">
                <a16:creationId xmlns:a16="http://schemas.microsoft.com/office/drawing/2014/main" id="{80F564F3-0774-B4E5-8D37-FF94163D366E}"/>
              </a:ext>
            </a:extLst>
          </p:cNvPr>
          <p:cNvSpPr>
            <a:spLocks noGrp="1" noChangeArrowheads="1"/>
          </p:cNvSpPr>
          <p:nvPr>
            <p:ph type="body" idx="1"/>
          </p:nvPr>
        </p:nvSpPr>
        <p:spPr>
          <a:xfrm>
            <a:off x="1774825" y="836613"/>
            <a:ext cx="8497888" cy="5078412"/>
          </a:xfrm>
        </p:spPr>
        <p:txBody>
          <a:bodyPr/>
          <a:lstStyle/>
          <a:p>
            <a:pPr>
              <a:lnSpc>
                <a:spcPct val="150000"/>
              </a:lnSpc>
              <a:spcBef>
                <a:spcPct val="30000"/>
              </a:spcBef>
              <a:buFont typeface="Wingdings" panose="05000000000000000000" pitchFamily="2" charset="2"/>
              <a:buChar char="p"/>
            </a:pPr>
            <a:r>
              <a:rPr lang="en-US" altLang="zh-CN">
                <a:solidFill>
                  <a:srgbClr val="FA0C34"/>
                </a:solidFill>
              </a:rPr>
              <a:t>(4) </a:t>
            </a:r>
            <a:r>
              <a:rPr lang="zh-CN" altLang="en-US">
                <a:solidFill>
                  <a:srgbClr val="FA0C34"/>
                </a:solidFill>
              </a:rPr>
              <a:t>测试：</a:t>
            </a:r>
          </a:p>
          <a:p>
            <a:pPr lvl="1">
              <a:lnSpc>
                <a:spcPct val="150000"/>
              </a:lnSpc>
              <a:spcBef>
                <a:spcPct val="30000"/>
              </a:spcBef>
              <a:buFont typeface="Wingdings" panose="05000000000000000000" pitchFamily="2" charset="2"/>
              <a:buChar char="p"/>
            </a:pPr>
            <a:r>
              <a:rPr lang="zh-CN" altLang="en-US" sz="2000"/>
              <a:t>建立的</a:t>
            </a:r>
            <a:r>
              <a:rPr lang="zh-CN" altLang="en-US" sz="2000">
                <a:solidFill>
                  <a:srgbClr val="FA0C34"/>
                </a:solidFill>
              </a:rPr>
              <a:t>单元测试</a:t>
            </a:r>
            <a:r>
              <a:rPr lang="zh-CN" altLang="en-US" sz="2000"/>
              <a:t>应当使用一个可以</a:t>
            </a:r>
            <a:r>
              <a:rPr lang="zh-CN" altLang="en-US" sz="2000">
                <a:solidFill>
                  <a:srgbClr val="FA0C34"/>
                </a:solidFill>
              </a:rPr>
              <a:t>自动实施的框架</a:t>
            </a:r>
            <a:r>
              <a:rPr lang="zh-CN" altLang="en-US" sz="2000"/>
              <a:t>（因此易于执行并可重复），这种方式</a:t>
            </a:r>
            <a:r>
              <a:rPr lang="zh-CN" altLang="en-US" sz="2000">
                <a:solidFill>
                  <a:srgbClr val="FA0C34"/>
                </a:solidFill>
              </a:rPr>
              <a:t>支持</a:t>
            </a:r>
            <a:r>
              <a:rPr lang="zh-CN" altLang="en-US" sz="2000"/>
              <a:t>代码修改之后即时的</a:t>
            </a:r>
            <a:r>
              <a:rPr lang="zh-CN" altLang="en-US" sz="2000">
                <a:solidFill>
                  <a:srgbClr val="FA0C34"/>
                </a:solidFill>
              </a:rPr>
              <a:t>回归测试策略。</a:t>
            </a:r>
          </a:p>
          <a:p>
            <a:pPr lvl="1">
              <a:lnSpc>
                <a:spcPct val="150000"/>
              </a:lnSpc>
              <a:spcBef>
                <a:spcPct val="30000"/>
              </a:spcBef>
              <a:buFont typeface="Wingdings" panose="05000000000000000000" pitchFamily="2" charset="2"/>
              <a:buChar char="p"/>
            </a:pPr>
            <a:r>
              <a:rPr lang="zh-CN" altLang="en-US" sz="2000"/>
              <a:t>将个人单元测试组织到一个“</a:t>
            </a:r>
            <a:r>
              <a:rPr lang="zh-CN" altLang="en-US" sz="2000">
                <a:solidFill>
                  <a:srgbClr val="FA0C34"/>
                </a:solidFill>
              </a:rPr>
              <a:t>通用测试集</a:t>
            </a:r>
            <a:r>
              <a:rPr lang="zh-CN" altLang="en-US" sz="2000"/>
              <a:t>”，</a:t>
            </a:r>
            <a:r>
              <a:rPr lang="zh-CN" altLang="en-US" sz="2000">
                <a:solidFill>
                  <a:srgbClr val="FA0C34"/>
                </a:solidFill>
              </a:rPr>
              <a:t>每天 </a:t>
            </a:r>
            <a:r>
              <a:rPr lang="en-US" altLang="zh-CN" sz="2000"/>
              <a:t>(</a:t>
            </a:r>
            <a:r>
              <a:rPr lang="zh-CN" altLang="en-US" sz="2000"/>
              <a:t>与传统方式不同</a:t>
            </a:r>
            <a:r>
              <a:rPr lang="en-US" altLang="zh-CN" sz="2000"/>
              <a:t>)</a:t>
            </a:r>
            <a:r>
              <a:rPr lang="zh-CN" altLang="en-US" sz="2000"/>
              <a:t>都可以进行系统的</a:t>
            </a:r>
            <a:r>
              <a:rPr lang="zh-CN" altLang="en-US" sz="2000">
                <a:solidFill>
                  <a:srgbClr val="FA0C34"/>
                </a:solidFill>
              </a:rPr>
              <a:t>集成</a:t>
            </a:r>
            <a:r>
              <a:rPr lang="zh-CN" altLang="en-US" sz="2000"/>
              <a:t>和</a:t>
            </a:r>
            <a:r>
              <a:rPr lang="zh-CN" altLang="en-US" sz="2000">
                <a:solidFill>
                  <a:srgbClr val="FA0C34"/>
                </a:solidFill>
              </a:rPr>
              <a:t>确认测试</a:t>
            </a:r>
            <a:r>
              <a:rPr lang="zh-CN" altLang="en-US" sz="2000"/>
              <a:t>，可以为</a:t>
            </a:r>
            <a:r>
              <a:rPr lang="en-US" altLang="zh-CN" sz="2000"/>
              <a:t>XP</a:t>
            </a:r>
            <a:r>
              <a:rPr lang="zh-CN" altLang="en-US" sz="2000"/>
              <a:t>团队提供连续的</a:t>
            </a:r>
            <a:r>
              <a:rPr lang="zh-CN" altLang="en-US" sz="2000">
                <a:solidFill>
                  <a:srgbClr val="FA0C34"/>
                </a:solidFill>
              </a:rPr>
              <a:t>进展指示</a:t>
            </a:r>
            <a:r>
              <a:rPr lang="zh-CN" altLang="en-US" sz="2000"/>
              <a:t>，也可在一旦发生问题的时候及早提出</a:t>
            </a:r>
            <a:r>
              <a:rPr lang="zh-CN" altLang="en-US" sz="2000">
                <a:solidFill>
                  <a:srgbClr val="FA0C34"/>
                </a:solidFill>
              </a:rPr>
              <a:t>预警</a:t>
            </a:r>
            <a:r>
              <a:rPr lang="zh-CN" altLang="en-US" sz="2000"/>
              <a:t>。</a:t>
            </a:r>
            <a:r>
              <a:rPr lang="en-US" altLang="zh-CN" sz="2000"/>
              <a:t> </a:t>
            </a:r>
            <a:r>
              <a:rPr lang="zh-CN" altLang="en-US" sz="2000"/>
              <a:t>“</a:t>
            </a:r>
            <a:r>
              <a:rPr lang="zh-CN" altLang="en-US" sz="2000">
                <a:ea typeface="楷体_GB2312" pitchFamily="49" charset="-122"/>
              </a:rPr>
              <a:t>每几个小时修改一些小问题，比仅在最后截止期之前修正大问题要节省时间</a:t>
            </a:r>
            <a:r>
              <a:rPr lang="zh-CN" altLang="en-US" sz="2000"/>
              <a:t>。”</a:t>
            </a:r>
          </a:p>
          <a:p>
            <a:pPr lvl="1">
              <a:lnSpc>
                <a:spcPct val="150000"/>
              </a:lnSpc>
              <a:spcBef>
                <a:spcPct val="30000"/>
              </a:spcBef>
              <a:buFont typeface="Wingdings" panose="05000000000000000000" pitchFamily="2" charset="2"/>
              <a:buChar char="p"/>
            </a:pPr>
            <a:r>
              <a:rPr lang="en-US" altLang="zh-CN" sz="2000"/>
              <a:t>XP</a:t>
            </a:r>
            <a:r>
              <a:rPr lang="zh-CN" altLang="en-US" sz="2000">
                <a:solidFill>
                  <a:srgbClr val="FA0C34"/>
                </a:solidFill>
              </a:rPr>
              <a:t>验收测试</a:t>
            </a:r>
            <a:r>
              <a:rPr lang="zh-CN" altLang="en-US" sz="2000"/>
              <a:t>，也称为</a:t>
            </a:r>
            <a:r>
              <a:rPr lang="zh-CN" altLang="en-US" sz="2000">
                <a:solidFill>
                  <a:srgbClr val="FA0C34"/>
                </a:solidFill>
              </a:rPr>
              <a:t>客户测试 </a:t>
            </a:r>
            <a:r>
              <a:rPr lang="en-US" altLang="zh-CN" sz="2000">
                <a:solidFill>
                  <a:srgbClr val="FA0C34"/>
                </a:solidFill>
              </a:rPr>
              <a:t>(</a:t>
            </a:r>
            <a:r>
              <a:rPr lang="zh-CN" altLang="en-US" sz="2000">
                <a:solidFill>
                  <a:srgbClr val="FA0C34"/>
                </a:solidFill>
              </a:rPr>
              <a:t>客户主导</a:t>
            </a:r>
            <a:r>
              <a:rPr lang="en-US" altLang="zh-CN" sz="2000">
                <a:solidFill>
                  <a:srgbClr val="FA0C34"/>
                </a:solidFill>
              </a:rPr>
              <a:t>)</a:t>
            </a:r>
            <a:r>
              <a:rPr lang="zh-CN" altLang="en-US" sz="2000"/>
              <a:t>，由</a:t>
            </a:r>
            <a:r>
              <a:rPr lang="zh-CN" altLang="en-US" sz="2000">
                <a:solidFill>
                  <a:srgbClr val="FA0C34"/>
                </a:solidFill>
              </a:rPr>
              <a:t>客户</a:t>
            </a:r>
            <a:r>
              <a:rPr lang="zh-CN" altLang="en-US" sz="2000"/>
              <a:t>规定技术条件，并且着眼于客户可见的、可评审的</a:t>
            </a:r>
            <a:r>
              <a:rPr lang="zh-CN" altLang="en-US" sz="2000">
                <a:solidFill>
                  <a:srgbClr val="FA0C34"/>
                </a:solidFill>
              </a:rPr>
              <a:t>系统级的特征和功能</a:t>
            </a:r>
            <a:r>
              <a:rPr lang="zh-CN" altLang="en-US" sz="2000"/>
              <a:t>。验收测试根据本次软件发布中所实现的</a:t>
            </a:r>
            <a:r>
              <a:rPr lang="zh-CN" altLang="en-US" sz="2000">
                <a:solidFill>
                  <a:srgbClr val="FA0C34"/>
                </a:solidFill>
              </a:rPr>
              <a:t>用户故事</a:t>
            </a:r>
            <a:r>
              <a:rPr lang="zh-CN" altLang="en-US" sz="2000"/>
              <a:t>而确定。</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0659">
                                            <p:txEl>
                                              <p:pRg st="1" end="1"/>
                                            </p:txEl>
                                          </p:spTgt>
                                        </p:tgtEl>
                                        <p:attrNameLst>
                                          <p:attrName>style.visibility</p:attrName>
                                        </p:attrNameLst>
                                      </p:cBhvr>
                                      <p:to>
                                        <p:strVal val="visible"/>
                                      </p:to>
                                    </p:set>
                                    <p:animEffect transition="in" filter="box(in)">
                                      <p:cBhvr>
                                        <p:cTn id="7" dur="1000"/>
                                        <p:tgtEl>
                                          <p:spTgt spid="70659">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0659">
                                            <p:txEl>
                                              <p:pRg st="2" end="2"/>
                                            </p:txEl>
                                          </p:spTgt>
                                        </p:tgtEl>
                                        <p:attrNameLst>
                                          <p:attrName>style.visibility</p:attrName>
                                        </p:attrNameLst>
                                      </p:cBhvr>
                                      <p:to>
                                        <p:strVal val="visible"/>
                                      </p:to>
                                    </p:set>
                                    <p:animEffect transition="in" filter="box(in)">
                                      <p:cBhvr>
                                        <p:cTn id="12" dur="1000"/>
                                        <p:tgtEl>
                                          <p:spTgt spid="70659">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70659">
                                            <p:txEl>
                                              <p:pRg st="3" end="3"/>
                                            </p:txEl>
                                          </p:spTgt>
                                        </p:tgtEl>
                                        <p:attrNameLst>
                                          <p:attrName>style.visibility</p:attrName>
                                        </p:attrNameLst>
                                      </p:cBhvr>
                                      <p:to>
                                        <p:strVal val="visible"/>
                                      </p:to>
                                    </p:set>
                                    <p:animEffect transition="in" filter="box(in)">
                                      <p:cBhvr>
                                        <p:cTn id="17" dur="1000"/>
                                        <p:tgtEl>
                                          <p:spTgt spid="7065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6">
            <a:extLst>
              <a:ext uri="{FF2B5EF4-FFF2-40B4-BE49-F238E27FC236}">
                <a16:creationId xmlns:a16="http://schemas.microsoft.com/office/drawing/2014/main" id="{194D11AB-6FC1-16AB-D047-643D1E723D8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3844DAC-324B-46EC-8037-2B91CC2AA53C}" type="slidenum">
              <a:rPr lang="en-US" altLang="zh-CN" sz="1400">
                <a:solidFill>
                  <a:srgbClr val="000000"/>
                </a:solidFill>
                <a:latin typeface="Arial" panose="020B0604020202020204" pitchFamily="34" charset="0"/>
              </a:rPr>
              <a:pPr fontAlgn="base">
                <a:spcBef>
                  <a:spcPct val="0"/>
                </a:spcBef>
                <a:spcAft>
                  <a:spcPct val="0"/>
                </a:spcAft>
              </a:pPr>
              <a:t>55</a:t>
            </a:fld>
            <a:endParaRPr lang="en-US" altLang="zh-CN" sz="1400">
              <a:solidFill>
                <a:srgbClr val="000000"/>
              </a:solidFill>
              <a:latin typeface="Arial" panose="020B0604020202020204" pitchFamily="34" charset="0"/>
            </a:endParaRPr>
          </a:p>
        </p:txBody>
      </p:sp>
      <p:sp>
        <p:nvSpPr>
          <p:cNvPr id="43011" name="Rectangle 2">
            <a:extLst>
              <a:ext uri="{FF2B5EF4-FFF2-40B4-BE49-F238E27FC236}">
                <a16:creationId xmlns:a16="http://schemas.microsoft.com/office/drawing/2014/main" id="{80CBDE7F-A4E7-1289-A896-68165AA99DCA}"/>
              </a:ext>
            </a:extLst>
          </p:cNvPr>
          <p:cNvSpPr>
            <a:spLocks noGrp="1" noChangeArrowheads="1"/>
          </p:cNvSpPr>
          <p:nvPr>
            <p:ph type="title"/>
          </p:nvPr>
        </p:nvSpPr>
        <p:spPr/>
        <p:txBody>
          <a:bodyPr/>
          <a:lstStyle/>
          <a:p>
            <a:r>
              <a:rPr lang="zh-CN" altLang="en-US"/>
              <a:t>工业极限编程</a:t>
            </a:r>
          </a:p>
        </p:txBody>
      </p:sp>
      <p:sp>
        <p:nvSpPr>
          <p:cNvPr id="43012" name="Rectangle 3">
            <a:extLst>
              <a:ext uri="{FF2B5EF4-FFF2-40B4-BE49-F238E27FC236}">
                <a16:creationId xmlns:a16="http://schemas.microsoft.com/office/drawing/2014/main" id="{BFE66A15-63BE-458F-0492-F2944090650B}"/>
              </a:ext>
            </a:extLst>
          </p:cNvPr>
          <p:cNvSpPr>
            <a:spLocks noGrp="1" noChangeArrowheads="1"/>
          </p:cNvSpPr>
          <p:nvPr>
            <p:ph type="body" idx="1"/>
          </p:nvPr>
        </p:nvSpPr>
        <p:spPr/>
        <p:txBody>
          <a:bodyPr/>
          <a:lstStyle/>
          <a:p>
            <a:pPr>
              <a:lnSpc>
                <a:spcPct val="150000"/>
              </a:lnSpc>
              <a:spcBef>
                <a:spcPct val="35000"/>
              </a:spcBef>
              <a:buFont typeface="Wingdings" panose="05000000000000000000" pitchFamily="2" charset="2"/>
              <a:buChar char="n"/>
            </a:pPr>
            <a:r>
              <a:rPr lang="zh-CN" altLang="en-US"/>
              <a:t>工业极限编程（</a:t>
            </a:r>
            <a:r>
              <a:rPr lang="en-US" altLang="zh-CN"/>
              <a:t>IXP</a:t>
            </a:r>
            <a:r>
              <a:rPr lang="zh-CN" altLang="en-US"/>
              <a:t>）是</a:t>
            </a:r>
            <a:r>
              <a:rPr lang="en-US" altLang="zh-CN"/>
              <a:t>XP</a:t>
            </a:r>
            <a:r>
              <a:rPr lang="zh-CN" altLang="en-US"/>
              <a:t>的一种有机进化。</a:t>
            </a:r>
            <a:r>
              <a:rPr lang="en-US" altLang="zh-CN"/>
              <a:t>IXP</a:t>
            </a:r>
            <a:r>
              <a:rPr lang="zh-CN" altLang="en-US"/>
              <a:t>合并了</a:t>
            </a:r>
            <a:r>
              <a:rPr lang="zh-CN" altLang="en-US">
                <a:solidFill>
                  <a:srgbClr val="D333A1"/>
                </a:solidFill>
              </a:rPr>
              <a:t>六个新实践</a:t>
            </a:r>
            <a:r>
              <a:rPr lang="zh-CN" altLang="en-US"/>
              <a:t>：</a:t>
            </a:r>
            <a:r>
              <a:rPr lang="zh-CN" altLang="en-US" sz="2800"/>
              <a:t> </a:t>
            </a:r>
          </a:p>
          <a:p>
            <a:pPr lvl="1">
              <a:lnSpc>
                <a:spcPct val="150000"/>
              </a:lnSpc>
              <a:spcBef>
                <a:spcPct val="35000"/>
              </a:spcBef>
              <a:buFont typeface="Wingdings" panose="05000000000000000000" pitchFamily="2" charset="2"/>
              <a:buChar char="n"/>
            </a:pPr>
            <a:r>
              <a:rPr lang="zh-CN" altLang="en-US" sz="2200"/>
              <a:t>准备评估</a:t>
            </a:r>
          </a:p>
          <a:p>
            <a:pPr lvl="1">
              <a:lnSpc>
                <a:spcPct val="150000"/>
              </a:lnSpc>
              <a:spcBef>
                <a:spcPct val="35000"/>
              </a:spcBef>
              <a:buFont typeface="Wingdings" panose="05000000000000000000" pitchFamily="2" charset="2"/>
              <a:buChar char="n"/>
            </a:pPr>
            <a:r>
              <a:rPr lang="zh-CN" altLang="en-US" sz="2200"/>
              <a:t>项目社区</a:t>
            </a:r>
          </a:p>
          <a:p>
            <a:pPr lvl="1">
              <a:lnSpc>
                <a:spcPct val="150000"/>
              </a:lnSpc>
              <a:spcBef>
                <a:spcPct val="35000"/>
              </a:spcBef>
              <a:buFont typeface="Wingdings" panose="05000000000000000000" pitchFamily="2" charset="2"/>
              <a:buChar char="n"/>
            </a:pPr>
            <a:r>
              <a:rPr lang="zh-CN" altLang="en-US" sz="2200"/>
              <a:t>项目特许</a:t>
            </a:r>
          </a:p>
          <a:p>
            <a:pPr lvl="1">
              <a:lnSpc>
                <a:spcPct val="150000"/>
              </a:lnSpc>
              <a:spcBef>
                <a:spcPct val="35000"/>
              </a:spcBef>
              <a:buFont typeface="Wingdings" panose="05000000000000000000" pitchFamily="2" charset="2"/>
              <a:buChar char="n"/>
            </a:pPr>
            <a:r>
              <a:rPr lang="zh-CN" altLang="en-US" sz="2200"/>
              <a:t>测试驱动管理</a:t>
            </a:r>
          </a:p>
          <a:p>
            <a:pPr lvl="1">
              <a:lnSpc>
                <a:spcPct val="150000"/>
              </a:lnSpc>
              <a:spcBef>
                <a:spcPct val="35000"/>
              </a:spcBef>
              <a:buFont typeface="Wingdings" panose="05000000000000000000" pitchFamily="2" charset="2"/>
              <a:buChar char="n"/>
            </a:pPr>
            <a:r>
              <a:rPr lang="zh-CN" altLang="en-US" sz="2200"/>
              <a:t>回顾</a:t>
            </a:r>
          </a:p>
          <a:p>
            <a:pPr lvl="1">
              <a:lnSpc>
                <a:spcPct val="150000"/>
              </a:lnSpc>
              <a:spcBef>
                <a:spcPct val="35000"/>
              </a:spcBef>
              <a:buFont typeface="Wingdings" panose="05000000000000000000" pitchFamily="2" charset="2"/>
              <a:buChar char="n"/>
            </a:pPr>
            <a:r>
              <a:rPr lang="zh-CN" altLang="en-US" sz="2200"/>
              <a:t>持续学习</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a:extLst>
              <a:ext uri="{FF2B5EF4-FFF2-40B4-BE49-F238E27FC236}">
                <a16:creationId xmlns:a16="http://schemas.microsoft.com/office/drawing/2014/main" id="{23857CB5-5412-C970-D36E-90A02D3ED9E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AEBBA1F5-0F2E-45E9-BE2E-2977551A2E29}" type="slidenum">
              <a:rPr lang="en-US" altLang="zh-CN" sz="1400">
                <a:solidFill>
                  <a:srgbClr val="000000"/>
                </a:solidFill>
                <a:latin typeface="Arial" panose="020B0604020202020204" pitchFamily="34" charset="0"/>
              </a:rPr>
              <a:pPr fontAlgn="base">
                <a:spcBef>
                  <a:spcPct val="0"/>
                </a:spcBef>
                <a:spcAft>
                  <a:spcPct val="0"/>
                </a:spcAft>
              </a:pPr>
              <a:t>56</a:t>
            </a:fld>
            <a:endParaRPr lang="en-US" altLang="zh-CN" sz="1400">
              <a:solidFill>
                <a:srgbClr val="000000"/>
              </a:solidFill>
              <a:latin typeface="Arial" panose="020B0604020202020204" pitchFamily="34" charset="0"/>
            </a:endParaRPr>
          </a:p>
        </p:txBody>
      </p:sp>
      <p:sp>
        <p:nvSpPr>
          <p:cNvPr id="44035" name="Rectangle 2">
            <a:extLst>
              <a:ext uri="{FF2B5EF4-FFF2-40B4-BE49-F238E27FC236}">
                <a16:creationId xmlns:a16="http://schemas.microsoft.com/office/drawing/2014/main" id="{08C4334D-7360-16D0-8DE5-D47652A53FE2}"/>
              </a:ext>
            </a:extLst>
          </p:cNvPr>
          <p:cNvSpPr>
            <a:spLocks noGrp="1" noChangeArrowheads="1"/>
          </p:cNvSpPr>
          <p:nvPr>
            <p:ph type="title"/>
          </p:nvPr>
        </p:nvSpPr>
        <p:spPr/>
        <p:txBody>
          <a:bodyPr/>
          <a:lstStyle/>
          <a:p>
            <a:r>
              <a:rPr lang="zh-CN" altLang="en-US"/>
              <a:t>工业极限编程的六个实践</a:t>
            </a:r>
          </a:p>
        </p:txBody>
      </p:sp>
      <p:sp>
        <p:nvSpPr>
          <p:cNvPr id="44036" name="Rectangle 3">
            <a:extLst>
              <a:ext uri="{FF2B5EF4-FFF2-40B4-BE49-F238E27FC236}">
                <a16:creationId xmlns:a16="http://schemas.microsoft.com/office/drawing/2014/main" id="{87371424-22E0-D650-25DD-0C3C43870378}"/>
              </a:ext>
            </a:extLst>
          </p:cNvPr>
          <p:cNvSpPr>
            <a:spLocks noGrp="1" noChangeArrowheads="1"/>
          </p:cNvSpPr>
          <p:nvPr>
            <p:ph type="body" idx="1"/>
          </p:nvPr>
        </p:nvSpPr>
        <p:spPr>
          <a:xfrm>
            <a:off x="1981200" y="981076"/>
            <a:ext cx="8362950" cy="5078413"/>
          </a:xfrm>
        </p:spPr>
        <p:txBody>
          <a:bodyPr/>
          <a:lstStyle/>
          <a:p>
            <a:pPr>
              <a:lnSpc>
                <a:spcPct val="150000"/>
              </a:lnSpc>
              <a:spcBef>
                <a:spcPct val="50000"/>
              </a:spcBef>
              <a:buFont typeface="Wingdings" panose="05000000000000000000" pitchFamily="2" charset="2"/>
              <a:buChar char="n"/>
            </a:pPr>
            <a:r>
              <a:rPr lang="zh-CN" altLang="en-US" sz="2600">
                <a:solidFill>
                  <a:srgbClr val="D333A1"/>
                </a:solidFill>
              </a:rPr>
              <a:t>准备评估</a:t>
            </a:r>
            <a:r>
              <a:rPr lang="zh-CN" altLang="en-US" sz="2600"/>
              <a:t>。在</a:t>
            </a:r>
            <a:r>
              <a:rPr lang="en-US" altLang="zh-CN" sz="2600"/>
              <a:t>IXP</a:t>
            </a:r>
            <a:r>
              <a:rPr lang="zh-CN" altLang="en-US" sz="2600"/>
              <a:t>项目开始执行前，组织机构应进行准备评估</a:t>
            </a:r>
            <a:r>
              <a:rPr lang="en-US" altLang="zh-CN" sz="2600"/>
              <a:t>(readiness assessment)</a:t>
            </a:r>
            <a:r>
              <a:rPr lang="zh-CN" altLang="en-US" sz="2600"/>
              <a:t>。评估应确定是否：</a:t>
            </a:r>
            <a:endParaRPr lang="en-US" altLang="zh-CN" sz="2600"/>
          </a:p>
          <a:p>
            <a:pPr lvl="1">
              <a:lnSpc>
                <a:spcPct val="150000"/>
              </a:lnSpc>
              <a:spcBef>
                <a:spcPct val="50000"/>
              </a:spcBef>
              <a:buFont typeface="Wingdings" panose="05000000000000000000" pitchFamily="2" charset="2"/>
              <a:buChar char="n"/>
            </a:pPr>
            <a:r>
              <a:rPr lang="en-US" altLang="zh-CN"/>
              <a:t>(1) </a:t>
            </a:r>
            <a:r>
              <a:rPr lang="zh-CN" altLang="en-US"/>
              <a:t>存在支持</a:t>
            </a:r>
            <a:r>
              <a:rPr lang="en-US" altLang="zh-CN"/>
              <a:t>IXP</a:t>
            </a:r>
            <a:r>
              <a:rPr lang="zh-CN" altLang="en-US"/>
              <a:t>的</a:t>
            </a:r>
            <a:r>
              <a:rPr lang="zh-CN" altLang="en-US">
                <a:solidFill>
                  <a:srgbClr val="D333A1"/>
                </a:solidFill>
              </a:rPr>
              <a:t>适合的开发环境</a:t>
            </a:r>
            <a:r>
              <a:rPr lang="zh-CN" altLang="en-US"/>
              <a:t>；</a:t>
            </a:r>
            <a:endParaRPr lang="zh-CN" altLang="en-US">
              <a:solidFill>
                <a:srgbClr val="D333A1"/>
              </a:solidFill>
            </a:endParaRPr>
          </a:p>
          <a:p>
            <a:pPr lvl="1">
              <a:lnSpc>
                <a:spcPct val="150000"/>
              </a:lnSpc>
              <a:spcBef>
                <a:spcPct val="50000"/>
              </a:spcBef>
              <a:buFont typeface="Wingdings" panose="05000000000000000000" pitchFamily="2" charset="2"/>
              <a:buChar char="n"/>
            </a:pPr>
            <a:r>
              <a:rPr lang="en-US" altLang="zh-CN"/>
              <a:t>(2) </a:t>
            </a:r>
            <a:r>
              <a:rPr lang="zh-CN" altLang="en-US">
                <a:solidFill>
                  <a:srgbClr val="D333A1"/>
                </a:solidFill>
              </a:rPr>
              <a:t>开发团队</a:t>
            </a:r>
            <a:r>
              <a:rPr lang="zh-CN" altLang="en-US"/>
              <a:t>由合适的利益相关者组成；</a:t>
            </a:r>
          </a:p>
          <a:p>
            <a:pPr lvl="1">
              <a:lnSpc>
                <a:spcPct val="150000"/>
              </a:lnSpc>
              <a:spcBef>
                <a:spcPct val="50000"/>
              </a:spcBef>
              <a:buFont typeface="Wingdings" panose="05000000000000000000" pitchFamily="2" charset="2"/>
              <a:buChar char="n"/>
            </a:pPr>
            <a:r>
              <a:rPr lang="en-US" altLang="zh-CN"/>
              <a:t>(3) </a:t>
            </a:r>
            <a:r>
              <a:rPr lang="zh-CN" altLang="en-US">
                <a:solidFill>
                  <a:srgbClr val="D333A1"/>
                </a:solidFill>
              </a:rPr>
              <a:t>组织机构</a:t>
            </a:r>
            <a:r>
              <a:rPr lang="zh-CN" altLang="en-US"/>
              <a:t>具有</a:t>
            </a:r>
            <a:r>
              <a:rPr lang="zh-CN" altLang="en-US">
                <a:solidFill>
                  <a:srgbClr val="D333A1"/>
                </a:solidFill>
              </a:rPr>
              <a:t>清晰的质量大纲</a:t>
            </a:r>
            <a:r>
              <a:rPr lang="zh-CN" altLang="en-US"/>
              <a:t>并且支持</a:t>
            </a:r>
            <a:r>
              <a:rPr lang="zh-CN" altLang="en-US">
                <a:solidFill>
                  <a:srgbClr val="D333A1"/>
                </a:solidFill>
              </a:rPr>
              <a:t>连续的改进</a:t>
            </a:r>
            <a:r>
              <a:rPr lang="zh-CN" altLang="en-US"/>
              <a:t>；</a:t>
            </a:r>
            <a:endParaRPr lang="zh-CN" altLang="en-US">
              <a:solidFill>
                <a:srgbClr val="D333A1"/>
              </a:solidFill>
            </a:endParaRPr>
          </a:p>
          <a:p>
            <a:pPr lvl="1">
              <a:lnSpc>
                <a:spcPct val="150000"/>
              </a:lnSpc>
              <a:spcBef>
                <a:spcPct val="50000"/>
              </a:spcBef>
              <a:buFont typeface="Wingdings" panose="05000000000000000000" pitchFamily="2" charset="2"/>
              <a:buChar char="n"/>
            </a:pPr>
            <a:r>
              <a:rPr lang="en-US" altLang="zh-CN"/>
              <a:t>(4) </a:t>
            </a:r>
            <a:r>
              <a:rPr lang="zh-CN" altLang="en-US">
                <a:solidFill>
                  <a:srgbClr val="D333A1"/>
                </a:solidFill>
              </a:rPr>
              <a:t>组织文化</a:t>
            </a:r>
            <a:r>
              <a:rPr lang="zh-CN" altLang="en-US"/>
              <a:t>会</a:t>
            </a:r>
            <a:r>
              <a:rPr lang="zh-CN" altLang="en-US">
                <a:solidFill>
                  <a:srgbClr val="D333A1"/>
                </a:solidFill>
              </a:rPr>
              <a:t>支持一个敏捷团队</a:t>
            </a:r>
            <a:r>
              <a:rPr lang="zh-CN" altLang="en-US"/>
              <a:t>；</a:t>
            </a:r>
            <a:endParaRPr lang="zh-CN" altLang="en-US">
              <a:solidFill>
                <a:srgbClr val="D333A1"/>
              </a:solidFill>
            </a:endParaRPr>
          </a:p>
          <a:p>
            <a:pPr lvl="1">
              <a:lnSpc>
                <a:spcPct val="150000"/>
              </a:lnSpc>
              <a:spcBef>
                <a:spcPct val="50000"/>
              </a:spcBef>
              <a:buFont typeface="Wingdings" panose="05000000000000000000" pitchFamily="2" charset="2"/>
              <a:buChar char="n"/>
            </a:pPr>
            <a:r>
              <a:rPr lang="en-US" altLang="zh-CN"/>
              <a:t>(5) </a:t>
            </a:r>
            <a:r>
              <a:rPr lang="zh-CN" altLang="en-US"/>
              <a:t>组成较为</a:t>
            </a:r>
            <a:r>
              <a:rPr lang="zh-CN" altLang="en-US">
                <a:solidFill>
                  <a:srgbClr val="D333A1"/>
                </a:solidFill>
              </a:rPr>
              <a:t>广泛的项目社区 </a:t>
            </a:r>
            <a:r>
              <a:rPr lang="en-US" altLang="zh-CN">
                <a:solidFill>
                  <a:srgbClr val="D333A1"/>
                </a:solidFill>
              </a:rPr>
              <a:t>(</a:t>
            </a:r>
            <a:r>
              <a:rPr lang="zh-CN" altLang="en-US">
                <a:solidFill>
                  <a:srgbClr val="D333A1"/>
                </a:solidFill>
              </a:rPr>
              <a:t>大项目，人多</a:t>
            </a:r>
            <a:r>
              <a:rPr lang="en-US" altLang="zh-CN">
                <a:solidFill>
                  <a:srgbClr val="D333A1"/>
                </a:solidFill>
              </a:rPr>
              <a:t>)</a:t>
            </a:r>
            <a:r>
              <a:rPr lang="zh-CN" altLang="en-US"/>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6">
            <a:extLst>
              <a:ext uri="{FF2B5EF4-FFF2-40B4-BE49-F238E27FC236}">
                <a16:creationId xmlns:a16="http://schemas.microsoft.com/office/drawing/2014/main" id="{09AD28A1-4312-AD24-DF44-0F2028E53523}"/>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16A7C26-2A15-48FF-9C09-319565C67E20}" type="slidenum">
              <a:rPr lang="en-US" altLang="zh-CN" sz="1400">
                <a:solidFill>
                  <a:srgbClr val="000000"/>
                </a:solidFill>
                <a:latin typeface="Arial" panose="020B0604020202020204" pitchFamily="34" charset="0"/>
              </a:rPr>
              <a:pPr fontAlgn="base">
                <a:spcBef>
                  <a:spcPct val="0"/>
                </a:spcBef>
                <a:spcAft>
                  <a:spcPct val="0"/>
                </a:spcAft>
              </a:pPr>
              <a:t>57</a:t>
            </a:fld>
            <a:endParaRPr lang="en-US" altLang="zh-CN" sz="1400">
              <a:solidFill>
                <a:srgbClr val="000000"/>
              </a:solidFill>
              <a:latin typeface="Arial" panose="020B0604020202020204" pitchFamily="34" charset="0"/>
            </a:endParaRPr>
          </a:p>
        </p:txBody>
      </p:sp>
      <p:sp>
        <p:nvSpPr>
          <p:cNvPr id="45059" name="Rectangle 2">
            <a:extLst>
              <a:ext uri="{FF2B5EF4-FFF2-40B4-BE49-F238E27FC236}">
                <a16:creationId xmlns:a16="http://schemas.microsoft.com/office/drawing/2014/main" id="{452AB10A-407D-1162-05FB-E236D28B8888}"/>
              </a:ext>
            </a:extLst>
          </p:cNvPr>
          <p:cNvSpPr>
            <a:spLocks noGrp="1" noChangeArrowheads="1"/>
          </p:cNvSpPr>
          <p:nvPr>
            <p:ph type="title"/>
          </p:nvPr>
        </p:nvSpPr>
        <p:spPr/>
        <p:txBody>
          <a:bodyPr/>
          <a:lstStyle/>
          <a:p>
            <a:r>
              <a:rPr lang="zh-CN" altLang="en-US"/>
              <a:t>工业极限编程的六个实践</a:t>
            </a:r>
          </a:p>
        </p:txBody>
      </p:sp>
      <p:sp>
        <p:nvSpPr>
          <p:cNvPr id="45060" name="Rectangle 3">
            <a:extLst>
              <a:ext uri="{FF2B5EF4-FFF2-40B4-BE49-F238E27FC236}">
                <a16:creationId xmlns:a16="http://schemas.microsoft.com/office/drawing/2014/main" id="{8E64C853-922E-725D-ED66-A891604616B8}"/>
              </a:ext>
            </a:extLst>
          </p:cNvPr>
          <p:cNvSpPr>
            <a:spLocks noGrp="1" noChangeArrowheads="1"/>
          </p:cNvSpPr>
          <p:nvPr>
            <p:ph type="body" idx="1"/>
          </p:nvPr>
        </p:nvSpPr>
        <p:spPr>
          <a:xfrm>
            <a:off x="1981200" y="836613"/>
            <a:ext cx="8229600" cy="5472112"/>
          </a:xfrm>
        </p:spPr>
        <p:txBody>
          <a:bodyPr/>
          <a:lstStyle/>
          <a:p>
            <a:pPr>
              <a:lnSpc>
                <a:spcPct val="140000"/>
              </a:lnSpc>
              <a:buFont typeface="Wingdings" panose="05000000000000000000" pitchFamily="2" charset="2"/>
              <a:buChar char="n"/>
            </a:pPr>
            <a:r>
              <a:rPr lang="zh-CN" altLang="en-US">
                <a:solidFill>
                  <a:srgbClr val="D333A1"/>
                </a:solidFill>
              </a:rPr>
              <a:t>项目社区：</a:t>
            </a:r>
            <a:endParaRPr lang="zh-CN" altLang="en-US"/>
          </a:p>
          <a:p>
            <a:pPr lvl="1">
              <a:lnSpc>
                <a:spcPct val="140000"/>
              </a:lnSpc>
              <a:buFont typeface="Wingdings" panose="05000000000000000000" pitchFamily="2" charset="2"/>
              <a:buChar char="n"/>
            </a:pPr>
            <a:r>
              <a:rPr lang="zh-CN" altLang="en-US" sz="2000"/>
              <a:t>经典</a:t>
            </a:r>
            <a:r>
              <a:rPr lang="en-US" altLang="zh-CN" sz="2000"/>
              <a:t>XP</a:t>
            </a:r>
            <a:r>
              <a:rPr lang="zh-CN" altLang="en-US" sz="2000"/>
              <a:t>建议选择适合的人员组成敏捷团队可以确保成功。就是说团队成员必须经过</a:t>
            </a:r>
            <a:r>
              <a:rPr lang="zh-CN" altLang="en-US" sz="2000">
                <a:solidFill>
                  <a:srgbClr val="FA0C34"/>
                </a:solidFill>
              </a:rPr>
              <a:t>良好的训练</a:t>
            </a:r>
            <a:r>
              <a:rPr lang="zh-CN" altLang="en-US" sz="2000"/>
              <a:t>，具有</a:t>
            </a:r>
            <a:r>
              <a:rPr lang="zh-CN" altLang="en-US" sz="2000">
                <a:solidFill>
                  <a:srgbClr val="FA0C34"/>
                </a:solidFill>
              </a:rPr>
              <a:t>良好的适应性和技能</a:t>
            </a:r>
            <a:r>
              <a:rPr lang="zh-CN" altLang="en-US" sz="2000"/>
              <a:t>，以及</a:t>
            </a:r>
            <a:r>
              <a:rPr lang="zh-CN" altLang="en-US" sz="2000">
                <a:solidFill>
                  <a:srgbClr val="FA0C34"/>
                </a:solidFill>
              </a:rPr>
              <a:t>适宜的性格</a:t>
            </a:r>
            <a:r>
              <a:rPr lang="zh-CN" altLang="en-US" sz="2000"/>
              <a:t>为自组织团队做出贡献。</a:t>
            </a:r>
          </a:p>
          <a:p>
            <a:pPr lvl="1">
              <a:lnSpc>
                <a:spcPct val="140000"/>
              </a:lnSpc>
              <a:buFont typeface="Wingdings" panose="05000000000000000000" pitchFamily="2" charset="2"/>
              <a:buChar char="n"/>
            </a:pPr>
            <a:r>
              <a:rPr lang="zh-CN" altLang="en-US" sz="2000"/>
              <a:t>当在一个</a:t>
            </a:r>
            <a:r>
              <a:rPr lang="zh-CN" altLang="en-US" sz="2000">
                <a:solidFill>
                  <a:srgbClr val="D333A1"/>
                </a:solidFill>
              </a:rPr>
              <a:t>大型组织</a:t>
            </a:r>
            <a:r>
              <a:rPr lang="zh-CN" altLang="en-US" sz="2000"/>
              <a:t>内将</a:t>
            </a:r>
            <a:r>
              <a:rPr lang="en-US" altLang="zh-CN" sz="2000"/>
              <a:t>IXP</a:t>
            </a:r>
            <a:r>
              <a:rPr lang="zh-CN" altLang="en-US" sz="2000"/>
              <a:t>应用于重要的项目，</a:t>
            </a:r>
            <a:r>
              <a:rPr lang="zh-CN" altLang="en-US" sz="2000">
                <a:solidFill>
                  <a:srgbClr val="FA0C34"/>
                </a:solidFill>
              </a:rPr>
              <a:t>团队的概念就变成社区</a:t>
            </a:r>
            <a:r>
              <a:rPr lang="zh-CN" altLang="en-US" sz="2000"/>
              <a:t>。一个社区可能拥有一个</a:t>
            </a:r>
            <a:r>
              <a:rPr lang="zh-CN" altLang="en-US" sz="2000">
                <a:solidFill>
                  <a:srgbClr val="D333A1"/>
                </a:solidFill>
              </a:rPr>
              <a:t>技术专家</a:t>
            </a:r>
            <a:r>
              <a:rPr lang="zh-CN" altLang="en-US" sz="2000"/>
              <a:t>，处于项目成功核心地位的</a:t>
            </a:r>
            <a:r>
              <a:rPr lang="zh-CN" altLang="en-US" sz="2000">
                <a:solidFill>
                  <a:srgbClr val="D333A1"/>
                </a:solidFill>
              </a:rPr>
              <a:t>客户</a:t>
            </a:r>
            <a:r>
              <a:rPr lang="zh-CN" altLang="en-US" sz="2000"/>
              <a:t>们，以及</a:t>
            </a:r>
            <a:r>
              <a:rPr lang="zh-CN" altLang="en-US" sz="2000">
                <a:solidFill>
                  <a:srgbClr val="D333A1"/>
                </a:solidFill>
              </a:rPr>
              <a:t>其他利益相关者</a:t>
            </a:r>
            <a:r>
              <a:rPr lang="zh-CN" altLang="en-US" sz="2000"/>
              <a:t>（例如，法律人员、质量检验员、生产或销售人员），“他们通常位于</a:t>
            </a:r>
            <a:r>
              <a:rPr lang="en-US" altLang="zh-CN" sz="2000"/>
              <a:t>IXP</a:t>
            </a:r>
            <a:r>
              <a:rPr lang="zh-CN" altLang="en-US" sz="2000"/>
              <a:t>计划的周边，但在项目中他们扮演着重要的角色”。</a:t>
            </a:r>
          </a:p>
          <a:p>
            <a:pPr lvl="1">
              <a:lnSpc>
                <a:spcPct val="140000"/>
              </a:lnSpc>
              <a:buFont typeface="Wingdings" panose="05000000000000000000" pitchFamily="2" charset="2"/>
              <a:buChar char="n"/>
            </a:pPr>
            <a:r>
              <a:rPr lang="zh-CN" altLang="en-US" sz="2000"/>
              <a:t>在</a:t>
            </a:r>
            <a:r>
              <a:rPr lang="en-US" altLang="zh-CN" sz="2000"/>
              <a:t>IXP</a:t>
            </a:r>
            <a:r>
              <a:rPr lang="zh-CN" altLang="en-US" sz="2000"/>
              <a:t>内，应明确定义社区成员和他们的角色，应建立社区成员之间交流和合作机制。</a:t>
            </a:r>
            <a:r>
              <a:rPr lang="zh-CN" altLang="en-US"/>
              <a:t> </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a:extLst>
              <a:ext uri="{FF2B5EF4-FFF2-40B4-BE49-F238E27FC236}">
                <a16:creationId xmlns:a16="http://schemas.microsoft.com/office/drawing/2014/main" id="{A9C5B4D0-FAAA-3AE8-0021-80904A282A5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9DB2B1C-D438-42C5-902D-9C75F61A41B9}" type="slidenum">
              <a:rPr lang="en-US" altLang="zh-CN" sz="1400">
                <a:solidFill>
                  <a:srgbClr val="000000"/>
                </a:solidFill>
                <a:latin typeface="Arial" panose="020B0604020202020204" pitchFamily="34" charset="0"/>
              </a:rPr>
              <a:pPr fontAlgn="base">
                <a:spcBef>
                  <a:spcPct val="0"/>
                </a:spcBef>
                <a:spcAft>
                  <a:spcPct val="0"/>
                </a:spcAft>
              </a:pPr>
              <a:t>58</a:t>
            </a:fld>
            <a:endParaRPr lang="en-US" altLang="zh-CN" sz="1400">
              <a:solidFill>
                <a:srgbClr val="000000"/>
              </a:solidFill>
              <a:latin typeface="Arial" panose="020B0604020202020204" pitchFamily="34" charset="0"/>
            </a:endParaRPr>
          </a:p>
        </p:txBody>
      </p:sp>
      <p:sp>
        <p:nvSpPr>
          <p:cNvPr id="46083" name="Rectangle 2">
            <a:extLst>
              <a:ext uri="{FF2B5EF4-FFF2-40B4-BE49-F238E27FC236}">
                <a16:creationId xmlns:a16="http://schemas.microsoft.com/office/drawing/2014/main" id="{EFA81702-73EE-FC59-089E-0BCAFE43EADE}"/>
              </a:ext>
            </a:extLst>
          </p:cNvPr>
          <p:cNvSpPr>
            <a:spLocks noGrp="1" noChangeArrowheads="1"/>
          </p:cNvSpPr>
          <p:nvPr>
            <p:ph type="title"/>
          </p:nvPr>
        </p:nvSpPr>
        <p:spPr/>
        <p:txBody>
          <a:bodyPr/>
          <a:lstStyle/>
          <a:p>
            <a:r>
              <a:rPr lang="zh-CN" altLang="en-US"/>
              <a:t>工业极限编程的六个实践</a:t>
            </a:r>
          </a:p>
        </p:txBody>
      </p:sp>
      <p:sp>
        <p:nvSpPr>
          <p:cNvPr id="46084" name="Rectangle 3">
            <a:extLst>
              <a:ext uri="{FF2B5EF4-FFF2-40B4-BE49-F238E27FC236}">
                <a16:creationId xmlns:a16="http://schemas.microsoft.com/office/drawing/2014/main" id="{ADAEBF5E-9B2C-ADDA-F751-B1A01C34393B}"/>
              </a:ext>
            </a:extLst>
          </p:cNvPr>
          <p:cNvSpPr>
            <a:spLocks noGrp="1" noChangeArrowheads="1"/>
          </p:cNvSpPr>
          <p:nvPr>
            <p:ph type="body" idx="1"/>
          </p:nvPr>
        </p:nvSpPr>
        <p:spPr/>
        <p:txBody>
          <a:bodyPr/>
          <a:lstStyle/>
          <a:p>
            <a:pPr>
              <a:lnSpc>
                <a:spcPct val="150000"/>
              </a:lnSpc>
              <a:spcBef>
                <a:spcPct val="50000"/>
              </a:spcBef>
              <a:buFont typeface="Wingdings" panose="05000000000000000000" pitchFamily="2" charset="2"/>
              <a:buChar char="n"/>
            </a:pPr>
            <a:r>
              <a:rPr lang="zh-CN" altLang="en-US" sz="2800">
                <a:solidFill>
                  <a:srgbClr val="D333A1"/>
                </a:solidFill>
              </a:rPr>
              <a:t>项目特许：</a:t>
            </a:r>
            <a:endParaRPr lang="zh-CN" altLang="en-US" sz="2800"/>
          </a:p>
          <a:p>
            <a:pPr lvl="1">
              <a:lnSpc>
                <a:spcPct val="150000"/>
              </a:lnSpc>
              <a:spcBef>
                <a:spcPct val="50000"/>
              </a:spcBef>
              <a:buFont typeface="Wingdings" panose="05000000000000000000" pitchFamily="2" charset="2"/>
              <a:buChar char="n"/>
            </a:pPr>
            <a:r>
              <a:rPr lang="zh-CN" altLang="en-US"/>
              <a:t>通过</a:t>
            </a:r>
            <a:r>
              <a:rPr lang="zh-CN" altLang="en-US">
                <a:solidFill>
                  <a:srgbClr val="D333A1"/>
                </a:solidFill>
              </a:rPr>
              <a:t>对项目本身进行评估</a:t>
            </a:r>
            <a:r>
              <a:rPr lang="zh-CN" altLang="en-US"/>
              <a:t>来确定：</a:t>
            </a:r>
            <a:r>
              <a:rPr lang="en-US" altLang="zh-CN"/>
              <a:t>(1) </a:t>
            </a:r>
            <a:r>
              <a:rPr lang="zh-CN" altLang="en-US"/>
              <a:t>对于项目的合适的</a:t>
            </a:r>
            <a:r>
              <a:rPr lang="zh-CN" altLang="en-US">
                <a:solidFill>
                  <a:srgbClr val="FA0C34"/>
                </a:solidFill>
              </a:rPr>
              <a:t>商业调整是否存在</a:t>
            </a:r>
            <a:r>
              <a:rPr lang="zh-CN" altLang="en-US"/>
              <a:t>；</a:t>
            </a:r>
            <a:r>
              <a:rPr lang="en-US" altLang="zh-CN"/>
              <a:t>(2) </a:t>
            </a:r>
            <a:r>
              <a:rPr lang="zh-CN" altLang="en-US"/>
              <a:t>是否可以进一步</a:t>
            </a:r>
            <a:r>
              <a:rPr lang="zh-CN" altLang="en-US">
                <a:solidFill>
                  <a:srgbClr val="FA0C34"/>
                </a:solidFill>
              </a:rPr>
              <a:t>深化组织机构的全部目标</a:t>
            </a:r>
            <a:r>
              <a:rPr lang="zh-CN" altLang="en-US"/>
              <a:t>。</a:t>
            </a:r>
          </a:p>
          <a:p>
            <a:pPr>
              <a:lnSpc>
                <a:spcPct val="150000"/>
              </a:lnSpc>
              <a:spcBef>
                <a:spcPct val="50000"/>
              </a:spcBef>
              <a:buFont typeface="Wingdings" panose="05000000000000000000" pitchFamily="2" charset="2"/>
              <a:buChar char="n"/>
            </a:pPr>
            <a:r>
              <a:rPr lang="zh-CN" altLang="en-US" sz="2800">
                <a:solidFill>
                  <a:srgbClr val="D333A1"/>
                </a:solidFill>
              </a:rPr>
              <a:t>测试驱动管理：</a:t>
            </a:r>
            <a:endParaRPr lang="zh-CN" altLang="en-US" sz="2800"/>
          </a:p>
          <a:p>
            <a:pPr lvl="1">
              <a:lnSpc>
                <a:spcPct val="150000"/>
              </a:lnSpc>
              <a:spcBef>
                <a:spcPct val="50000"/>
              </a:spcBef>
              <a:buFont typeface="Wingdings" panose="05000000000000000000" pitchFamily="2" charset="2"/>
              <a:buChar char="n"/>
            </a:pPr>
            <a:r>
              <a:rPr lang="zh-CN" altLang="en-US"/>
              <a:t>需要</a:t>
            </a:r>
            <a:r>
              <a:rPr lang="zh-CN" altLang="en-US">
                <a:solidFill>
                  <a:srgbClr val="D333A1"/>
                </a:solidFill>
              </a:rPr>
              <a:t>可测量的标准</a:t>
            </a:r>
            <a:r>
              <a:rPr lang="zh-CN" altLang="en-US"/>
              <a:t>来</a:t>
            </a:r>
            <a:r>
              <a:rPr lang="zh-CN" altLang="en-US">
                <a:solidFill>
                  <a:srgbClr val="FA0C34"/>
                </a:solidFill>
              </a:rPr>
              <a:t>评估</a:t>
            </a:r>
            <a:r>
              <a:rPr lang="zh-CN" altLang="en-US"/>
              <a:t>项目的</a:t>
            </a:r>
            <a:r>
              <a:rPr lang="zh-CN" altLang="en-US">
                <a:solidFill>
                  <a:srgbClr val="FA0C34"/>
                </a:solidFill>
              </a:rPr>
              <a:t>状态</a:t>
            </a:r>
            <a:r>
              <a:rPr lang="zh-CN" altLang="en-US"/>
              <a:t>和迄今为止的</a:t>
            </a:r>
            <a:r>
              <a:rPr lang="zh-CN" altLang="en-US">
                <a:solidFill>
                  <a:srgbClr val="FA0C34"/>
                </a:solidFill>
              </a:rPr>
              <a:t>进展情况</a:t>
            </a:r>
            <a:r>
              <a:rPr lang="zh-CN" altLang="en-US"/>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6">
            <a:extLst>
              <a:ext uri="{FF2B5EF4-FFF2-40B4-BE49-F238E27FC236}">
                <a16:creationId xmlns:a16="http://schemas.microsoft.com/office/drawing/2014/main" id="{21A723A9-F6ED-44D0-55D1-5D7E520A2069}"/>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F5CF749-9D02-44F7-960A-44F47386C0BE}" type="slidenum">
              <a:rPr lang="en-US" altLang="zh-CN" sz="1400">
                <a:solidFill>
                  <a:srgbClr val="000000"/>
                </a:solidFill>
                <a:latin typeface="Arial" panose="020B0604020202020204" pitchFamily="34" charset="0"/>
              </a:rPr>
              <a:pPr fontAlgn="base">
                <a:spcBef>
                  <a:spcPct val="0"/>
                </a:spcBef>
                <a:spcAft>
                  <a:spcPct val="0"/>
                </a:spcAft>
              </a:pPr>
              <a:t>59</a:t>
            </a:fld>
            <a:endParaRPr lang="en-US" altLang="zh-CN" sz="1400">
              <a:solidFill>
                <a:srgbClr val="000000"/>
              </a:solidFill>
              <a:latin typeface="Arial" panose="020B0604020202020204" pitchFamily="34" charset="0"/>
            </a:endParaRPr>
          </a:p>
        </p:txBody>
      </p:sp>
      <p:sp>
        <p:nvSpPr>
          <p:cNvPr id="47107" name="Rectangle 2">
            <a:extLst>
              <a:ext uri="{FF2B5EF4-FFF2-40B4-BE49-F238E27FC236}">
                <a16:creationId xmlns:a16="http://schemas.microsoft.com/office/drawing/2014/main" id="{670BA90D-DD9A-B13E-AEF9-9698CDD51C4C}"/>
              </a:ext>
            </a:extLst>
          </p:cNvPr>
          <p:cNvSpPr>
            <a:spLocks noGrp="1" noChangeArrowheads="1"/>
          </p:cNvSpPr>
          <p:nvPr>
            <p:ph type="title"/>
          </p:nvPr>
        </p:nvSpPr>
        <p:spPr/>
        <p:txBody>
          <a:bodyPr/>
          <a:lstStyle/>
          <a:p>
            <a:r>
              <a:rPr lang="zh-CN" altLang="en-US"/>
              <a:t>工业极限编程</a:t>
            </a:r>
          </a:p>
        </p:txBody>
      </p:sp>
      <p:sp>
        <p:nvSpPr>
          <p:cNvPr id="47108" name="Rectangle 3">
            <a:extLst>
              <a:ext uri="{FF2B5EF4-FFF2-40B4-BE49-F238E27FC236}">
                <a16:creationId xmlns:a16="http://schemas.microsoft.com/office/drawing/2014/main" id="{30E794A0-307B-F558-8F39-1E6546C72E77}"/>
              </a:ext>
            </a:extLst>
          </p:cNvPr>
          <p:cNvSpPr>
            <a:spLocks noGrp="1" noChangeArrowheads="1"/>
          </p:cNvSpPr>
          <p:nvPr>
            <p:ph type="body" idx="1"/>
          </p:nvPr>
        </p:nvSpPr>
        <p:spPr/>
        <p:txBody>
          <a:bodyPr/>
          <a:lstStyle/>
          <a:p>
            <a:pPr>
              <a:lnSpc>
                <a:spcPct val="150000"/>
              </a:lnSpc>
              <a:buFont typeface="Wingdings" panose="05000000000000000000" pitchFamily="2" charset="2"/>
              <a:buChar char="n"/>
            </a:pPr>
            <a:r>
              <a:rPr lang="zh-CN" altLang="en-US">
                <a:solidFill>
                  <a:srgbClr val="D333A1"/>
                </a:solidFill>
              </a:rPr>
              <a:t>回顾：</a:t>
            </a:r>
          </a:p>
          <a:p>
            <a:pPr lvl="1">
              <a:lnSpc>
                <a:spcPct val="150000"/>
              </a:lnSpc>
              <a:buFont typeface="Wingdings" panose="05000000000000000000" pitchFamily="2" charset="2"/>
              <a:buChar char="n"/>
            </a:pPr>
            <a:r>
              <a:rPr lang="en-US" altLang="zh-CN" sz="2200"/>
              <a:t>IXP</a:t>
            </a:r>
            <a:r>
              <a:rPr lang="zh-CN" altLang="en-US" sz="2200"/>
              <a:t>团队在</a:t>
            </a:r>
            <a:r>
              <a:rPr lang="zh-CN" altLang="en-US" sz="2200">
                <a:solidFill>
                  <a:srgbClr val="FA0C34"/>
                </a:solidFill>
              </a:rPr>
              <a:t>一个软件增量交付</a:t>
            </a:r>
            <a:r>
              <a:rPr lang="zh-CN" altLang="en-US" sz="2200"/>
              <a:t>之后要实施特定的</a:t>
            </a:r>
            <a:r>
              <a:rPr lang="zh-CN" altLang="en-US" sz="2200">
                <a:solidFill>
                  <a:srgbClr val="FA0C34"/>
                </a:solidFill>
              </a:rPr>
              <a:t>技术评审</a:t>
            </a:r>
            <a:r>
              <a:rPr lang="zh-CN" altLang="en-US" sz="2200"/>
              <a:t>。这种评审称为回顾，在</a:t>
            </a:r>
            <a:r>
              <a:rPr lang="zh-CN" altLang="en-US" sz="2200">
                <a:solidFill>
                  <a:srgbClr val="D333A1"/>
                </a:solidFill>
              </a:rPr>
              <a:t>软件增量过程</a:t>
            </a:r>
            <a:r>
              <a:rPr lang="zh-CN" altLang="en-US" sz="2200"/>
              <a:t>中与全部软件的</a:t>
            </a:r>
            <a:r>
              <a:rPr lang="zh-CN" altLang="en-US" sz="2200">
                <a:solidFill>
                  <a:srgbClr val="D333A1"/>
                </a:solidFill>
              </a:rPr>
              <a:t>发布过程</a:t>
            </a:r>
            <a:r>
              <a:rPr lang="zh-CN" altLang="en-US" sz="2200"/>
              <a:t>中复查“</a:t>
            </a:r>
            <a:r>
              <a:rPr lang="zh-CN" altLang="en-US" sz="2200">
                <a:solidFill>
                  <a:srgbClr val="FA0C34"/>
                </a:solidFill>
              </a:rPr>
              <a:t>问题、事件以及教训</a:t>
            </a:r>
            <a:r>
              <a:rPr lang="zh-CN" altLang="en-US" sz="2200"/>
              <a:t>”。这样做的目的是为了改善</a:t>
            </a:r>
            <a:r>
              <a:rPr lang="en-US" altLang="zh-CN" sz="2200"/>
              <a:t>IXP</a:t>
            </a:r>
            <a:r>
              <a:rPr lang="zh-CN" altLang="en-US" sz="2200"/>
              <a:t>过程。</a:t>
            </a:r>
          </a:p>
          <a:p>
            <a:pPr>
              <a:lnSpc>
                <a:spcPct val="150000"/>
              </a:lnSpc>
              <a:buFont typeface="Wingdings" panose="05000000000000000000" pitchFamily="2" charset="2"/>
              <a:buChar char="n"/>
            </a:pPr>
            <a:r>
              <a:rPr lang="zh-CN" altLang="en-US">
                <a:solidFill>
                  <a:srgbClr val="D333A1"/>
                </a:solidFill>
              </a:rPr>
              <a:t>持续学习：</a:t>
            </a:r>
          </a:p>
          <a:p>
            <a:pPr lvl="1">
              <a:lnSpc>
                <a:spcPct val="150000"/>
              </a:lnSpc>
              <a:buFont typeface="Wingdings" panose="05000000000000000000" pitchFamily="2" charset="2"/>
              <a:buChar char="n"/>
            </a:pPr>
            <a:r>
              <a:rPr lang="zh-CN" altLang="en-US" sz="2200"/>
              <a:t>由于学习是</a:t>
            </a:r>
            <a:r>
              <a:rPr lang="zh-CN" altLang="en-US" sz="2200">
                <a:solidFill>
                  <a:srgbClr val="D333A1"/>
                </a:solidFill>
              </a:rPr>
              <a:t>持续过程改进</a:t>
            </a:r>
            <a:r>
              <a:rPr lang="zh-CN" altLang="en-US" sz="2200"/>
              <a:t>中至关重要的组成部分，因此，鼓励（可能激励）</a:t>
            </a:r>
            <a:r>
              <a:rPr lang="en-US" altLang="zh-CN" sz="2200"/>
              <a:t>XP</a:t>
            </a:r>
            <a:r>
              <a:rPr lang="zh-CN" altLang="en-US" sz="2200"/>
              <a:t>团队的成员去学习新的方法和技术来提高软件产品质量。</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6">
            <a:extLst>
              <a:ext uri="{FF2B5EF4-FFF2-40B4-BE49-F238E27FC236}">
                <a16:creationId xmlns:a16="http://schemas.microsoft.com/office/drawing/2014/main" id="{42351DEA-68B6-91C4-4A32-F0DA167F7E3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66119C7-CEA0-4062-8BD5-B3841BC6A877}" type="slidenum">
              <a:rPr lang="en-US" altLang="zh-CN" sz="1400">
                <a:solidFill>
                  <a:srgbClr val="000000"/>
                </a:solidFill>
                <a:latin typeface="Arial" panose="020B0604020202020204" pitchFamily="34" charset="0"/>
              </a:rPr>
              <a:pPr fontAlgn="base">
                <a:spcBef>
                  <a:spcPct val="0"/>
                </a:spcBef>
                <a:spcAft>
                  <a:spcPct val="0"/>
                </a:spcAft>
              </a:pPr>
              <a:t>60</a:t>
            </a:fld>
            <a:endParaRPr lang="en-US" altLang="zh-CN" sz="1400">
              <a:solidFill>
                <a:srgbClr val="000000"/>
              </a:solidFill>
              <a:latin typeface="Arial" panose="020B0604020202020204" pitchFamily="34" charset="0"/>
            </a:endParaRPr>
          </a:p>
        </p:txBody>
      </p:sp>
      <p:sp>
        <p:nvSpPr>
          <p:cNvPr id="48131" name="Rectangle 2">
            <a:extLst>
              <a:ext uri="{FF2B5EF4-FFF2-40B4-BE49-F238E27FC236}">
                <a16:creationId xmlns:a16="http://schemas.microsoft.com/office/drawing/2014/main" id="{32C60310-CE67-43BD-9E88-57A1207764C0}"/>
              </a:ext>
            </a:extLst>
          </p:cNvPr>
          <p:cNvSpPr>
            <a:spLocks noGrp="1" noChangeArrowheads="1"/>
          </p:cNvSpPr>
          <p:nvPr>
            <p:ph type="title"/>
          </p:nvPr>
        </p:nvSpPr>
        <p:spPr/>
        <p:txBody>
          <a:bodyPr/>
          <a:lstStyle/>
          <a:p>
            <a:r>
              <a:rPr lang="zh-CN" altLang="en-US"/>
              <a:t>关于</a:t>
            </a:r>
            <a:r>
              <a:rPr lang="en-US" altLang="zh-CN"/>
              <a:t>XP</a:t>
            </a:r>
            <a:r>
              <a:rPr lang="zh-CN" altLang="en-US"/>
              <a:t>的争论</a:t>
            </a:r>
          </a:p>
        </p:txBody>
      </p:sp>
      <p:sp>
        <p:nvSpPr>
          <p:cNvPr id="71683" name="Rectangle 3">
            <a:extLst>
              <a:ext uri="{FF2B5EF4-FFF2-40B4-BE49-F238E27FC236}">
                <a16:creationId xmlns:a16="http://schemas.microsoft.com/office/drawing/2014/main" id="{47DA9094-4BE4-C0E5-014E-DD149C1A4371}"/>
              </a:ext>
            </a:extLst>
          </p:cNvPr>
          <p:cNvSpPr>
            <a:spLocks noGrp="1" noChangeArrowheads="1"/>
          </p:cNvSpPr>
          <p:nvPr>
            <p:ph type="body" idx="1"/>
          </p:nvPr>
        </p:nvSpPr>
        <p:spPr>
          <a:xfrm>
            <a:off x="1981200" y="1125539"/>
            <a:ext cx="8229600" cy="5005387"/>
          </a:xfrm>
        </p:spPr>
        <p:txBody>
          <a:bodyPr/>
          <a:lstStyle/>
          <a:p>
            <a:pPr>
              <a:lnSpc>
                <a:spcPct val="150000"/>
              </a:lnSpc>
              <a:spcBef>
                <a:spcPct val="50000"/>
              </a:spcBef>
              <a:buFont typeface="Wingdings" panose="05000000000000000000" pitchFamily="2" charset="2"/>
              <a:buChar char="p"/>
            </a:pPr>
            <a:r>
              <a:rPr lang="zh-CN" altLang="en-US" sz="2800"/>
              <a:t>批评意见：</a:t>
            </a:r>
          </a:p>
          <a:p>
            <a:pPr lvl="1">
              <a:lnSpc>
                <a:spcPct val="150000"/>
              </a:lnSpc>
              <a:spcBef>
                <a:spcPct val="50000"/>
              </a:spcBef>
              <a:buFont typeface="Wingdings" panose="05000000000000000000" pitchFamily="2" charset="2"/>
              <a:buChar char="p"/>
            </a:pPr>
            <a:r>
              <a:rPr lang="zh-CN" altLang="en-US">
                <a:solidFill>
                  <a:srgbClr val="FA0C34"/>
                </a:solidFill>
              </a:rPr>
              <a:t>需求易变</a:t>
            </a:r>
            <a:r>
              <a:rPr lang="zh-CN" altLang="en-US"/>
              <a:t>。因为客户是</a:t>
            </a:r>
            <a:r>
              <a:rPr lang="en-US" altLang="zh-CN"/>
              <a:t>XP</a:t>
            </a:r>
            <a:r>
              <a:rPr lang="zh-CN" altLang="en-US"/>
              <a:t>团队的成员，对需求的改变</a:t>
            </a:r>
            <a:r>
              <a:rPr lang="zh-CN" altLang="en-US">
                <a:solidFill>
                  <a:srgbClr val="FA0C34"/>
                </a:solidFill>
              </a:rPr>
              <a:t>不是正式</a:t>
            </a:r>
            <a:r>
              <a:rPr lang="zh-CN" altLang="en-US"/>
              <a:t>地提出。结果是，项目的</a:t>
            </a:r>
            <a:r>
              <a:rPr lang="zh-CN" altLang="en-US">
                <a:solidFill>
                  <a:srgbClr val="FA0C34"/>
                </a:solidFill>
              </a:rPr>
              <a:t>范围会发生变化</a:t>
            </a:r>
            <a:r>
              <a:rPr lang="zh-CN" altLang="en-US"/>
              <a:t>，早期的工作或许要进行修改来适应当前的要求。</a:t>
            </a:r>
          </a:p>
          <a:p>
            <a:pPr lvl="1">
              <a:lnSpc>
                <a:spcPct val="150000"/>
              </a:lnSpc>
              <a:spcBef>
                <a:spcPct val="50000"/>
              </a:spcBef>
              <a:buFont typeface="Wingdings" panose="05000000000000000000" pitchFamily="2" charset="2"/>
              <a:buChar char="p"/>
            </a:pPr>
            <a:r>
              <a:rPr lang="zh-CN" altLang="en-US">
                <a:solidFill>
                  <a:srgbClr val="FA0C34"/>
                </a:solidFill>
              </a:rPr>
              <a:t>矛盾的客户需求</a:t>
            </a:r>
            <a:r>
              <a:rPr lang="zh-CN" altLang="en-US"/>
              <a:t>。许多项目都有众多客户，每个客户都有自己的一套需求。在</a:t>
            </a:r>
            <a:r>
              <a:rPr lang="en-US" altLang="zh-CN"/>
              <a:t>XP</a:t>
            </a:r>
            <a:r>
              <a:rPr lang="zh-CN" altLang="en-US"/>
              <a:t>中，团队自身需要</a:t>
            </a:r>
            <a:r>
              <a:rPr lang="zh-CN" altLang="en-US">
                <a:solidFill>
                  <a:srgbClr val="FA0C34"/>
                </a:solidFill>
              </a:rPr>
              <a:t>吸纳不同客户的要求</a:t>
            </a:r>
            <a:r>
              <a:rPr lang="zh-CN" altLang="en-US"/>
              <a:t>，这项工作可能超出了自己的职权范围。</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1683">
                                            <p:txEl>
                                              <p:pRg st="1" end="1"/>
                                            </p:txEl>
                                          </p:spTgt>
                                        </p:tgtEl>
                                        <p:attrNameLst>
                                          <p:attrName>style.visibility</p:attrName>
                                        </p:attrNameLst>
                                      </p:cBhvr>
                                      <p:to>
                                        <p:strVal val="visible"/>
                                      </p:to>
                                    </p:set>
                                    <p:animEffect transition="in" filter="box(in)">
                                      <p:cBhvr>
                                        <p:cTn id="7" dur="1000"/>
                                        <p:tgtEl>
                                          <p:spTgt spid="71683">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1683">
                                            <p:txEl>
                                              <p:pRg st="2" end="2"/>
                                            </p:txEl>
                                          </p:spTgt>
                                        </p:tgtEl>
                                        <p:attrNameLst>
                                          <p:attrName>style.visibility</p:attrName>
                                        </p:attrNameLst>
                                      </p:cBhvr>
                                      <p:to>
                                        <p:strVal val="visible"/>
                                      </p:to>
                                    </p:set>
                                    <p:animEffect transition="in" filter="box(in)">
                                      <p:cBhvr>
                                        <p:cTn id="12" dur="1000"/>
                                        <p:tgtEl>
                                          <p:spTgt spid="716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6">
            <a:extLst>
              <a:ext uri="{FF2B5EF4-FFF2-40B4-BE49-F238E27FC236}">
                <a16:creationId xmlns:a16="http://schemas.microsoft.com/office/drawing/2014/main" id="{7022C233-DB14-D3F4-418E-F3B8E53E9FD7}"/>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513D262-25FC-4BDC-B2BC-C7C4B33B53AA}" type="slidenum">
              <a:rPr lang="en-US" altLang="zh-CN" sz="1400">
                <a:solidFill>
                  <a:srgbClr val="000000"/>
                </a:solidFill>
                <a:latin typeface="Arial" panose="020B0604020202020204" pitchFamily="34" charset="0"/>
              </a:rPr>
              <a:pPr fontAlgn="base">
                <a:spcBef>
                  <a:spcPct val="0"/>
                </a:spcBef>
                <a:spcAft>
                  <a:spcPct val="0"/>
                </a:spcAft>
              </a:pPr>
              <a:t>61</a:t>
            </a:fld>
            <a:endParaRPr lang="en-US" altLang="zh-CN" sz="1400">
              <a:solidFill>
                <a:srgbClr val="000000"/>
              </a:solidFill>
              <a:latin typeface="Arial" panose="020B0604020202020204" pitchFamily="34" charset="0"/>
            </a:endParaRPr>
          </a:p>
        </p:txBody>
      </p:sp>
      <p:sp>
        <p:nvSpPr>
          <p:cNvPr id="49155" name="Rectangle 2">
            <a:extLst>
              <a:ext uri="{FF2B5EF4-FFF2-40B4-BE49-F238E27FC236}">
                <a16:creationId xmlns:a16="http://schemas.microsoft.com/office/drawing/2014/main" id="{DD4D9215-9CFE-DB4C-F85D-9404A7103EF8}"/>
              </a:ext>
            </a:extLst>
          </p:cNvPr>
          <p:cNvSpPr>
            <a:spLocks noGrp="1" noChangeArrowheads="1"/>
          </p:cNvSpPr>
          <p:nvPr>
            <p:ph type="title"/>
          </p:nvPr>
        </p:nvSpPr>
        <p:spPr/>
        <p:txBody>
          <a:bodyPr/>
          <a:lstStyle/>
          <a:p>
            <a:r>
              <a:rPr lang="zh-CN" altLang="en-US"/>
              <a:t>批评意见</a:t>
            </a:r>
          </a:p>
        </p:txBody>
      </p:sp>
      <p:sp>
        <p:nvSpPr>
          <p:cNvPr id="72707" name="Rectangle 3">
            <a:extLst>
              <a:ext uri="{FF2B5EF4-FFF2-40B4-BE49-F238E27FC236}">
                <a16:creationId xmlns:a16="http://schemas.microsoft.com/office/drawing/2014/main" id="{734E5494-5C84-3473-701C-63138876ED93}"/>
              </a:ext>
            </a:extLst>
          </p:cNvPr>
          <p:cNvSpPr>
            <a:spLocks noGrp="1" noChangeArrowheads="1"/>
          </p:cNvSpPr>
          <p:nvPr>
            <p:ph type="body" idx="1"/>
          </p:nvPr>
        </p:nvSpPr>
        <p:spPr>
          <a:xfrm>
            <a:off x="1631951" y="836614"/>
            <a:ext cx="8569325" cy="5400675"/>
          </a:xfrm>
        </p:spPr>
        <p:txBody>
          <a:bodyPr/>
          <a:lstStyle/>
          <a:p>
            <a:pPr lvl="1">
              <a:lnSpc>
                <a:spcPct val="140000"/>
              </a:lnSpc>
              <a:spcBef>
                <a:spcPct val="30000"/>
              </a:spcBef>
              <a:buFont typeface="Wingdings" panose="05000000000000000000" pitchFamily="2" charset="2"/>
              <a:buChar char="p"/>
            </a:pPr>
            <a:r>
              <a:rPr lang="zh-CN" altLang="en-US" sz="2000">
                <a:solidFill>
                  <a:srgbClr val="FA0C34"/>
                </a:solidFill>
              </a:rPr>
              <a:t>需求的非正规表示</a:t>
            </a:r>
            <a:r>
              <a:rPr lang="zh-CN" altLang="en-US" sz="2000"/>
              <a:t>：</a:t>
            </a:r>
          </a:p>
          <a:p>
            <a:pPr lvl="2">
              <a:lnSpc>
                <a:spcPct val="140000"/>
              </a:lnSpc>
              <a:spcBef>
                <a:spcPct val="30000"/>
              </a:spcBef>
              <a:buFont typeface="Wingdings" panose="05000000000000000000" pitchFamily="2" charset="2"/>
              <a:buChar char="p"/>
            </a:pPr>
            <a:r>
              <a:rPr lang="zh-CN" altLang="en-US" sz="1800">
                <a:solidFill>
                  <a:srgbClr val="FA0C34"/>
                </a:solidFill>
              </a:rPr>
              <a:t>批评者</a:t>
            </a:r>
            <a:r>
              <a:rPr lang="zh-CN" altLang="en-US" sz="1800"/>
              <a:t>指出需要更</a:t>
            </a:r>
            <a:r>
              <a:rPr lang="zh-CN" altLang="en-US" sz="1800">
                <a:solidFill>
                  <a:srgbClr val="FA0C34"/>
                </a:solidFill>
              </a:rPr>
              <a:t>正规的模型</a:t>
            </a:r>
            <a:r>
              <a:rPr lang="zh-CN" altLang="en-US" sz="1800"/>
              <a:t>或</a:t>
            </a:r>
            <a:r>
              <a:rPr lang="zh-CN" altLang="en-US" sz="1800">
                <a:solidFill>
                  <a:srgbClr val="FA0C34"/>
                </a:solidFill>
              </a:rPr>
              <a:t>规格说明</a:t>
            </a:r>
            <a:r>
              <a:rPr lang="zh-CN" altLang="en-US" sz="1800"/>
              <a:t>来保证遗漏、不一致以及错误在系统建立前就被发现。</a:t>
            </a:r>
          </a:p>
          <a:p>
            <a:pPr lvl="2">
              <a:lnSpc>
                <a:spcPct val="140000"/>
              </a:lnSpc>
              <a:spcBef>
                <a:spcPct val="30000"/>
              </a:spcBef>
              <a:buFont typeface="Wingdings" panose="05000000000000000000" pitchFamily="2" charset="2"/>
              <a:buChar char="p"/>
            </a:pPr>
            <a:r>
              <a:rPr lang="zh-CN" altLang="en-US" sz="1800">
                <a:solidFill>
                  <a:srgbClr val="FA0C34"/>
                </a:solidFill>
              </a:rPr>
              <a:t>拥护者</a:t>
            </a:r>
            <a:r>
              <a:rPr lang="zh-CN" altLang="en-US" sz="1800"/>
              <a:t>则认为，</a:t>
            </a:r>
            <a:r>
              <a:rPr lang="zh-CN" altLang="en-US" sz="1800">
                <a:solidFill>
                  <a:srgbClr val="FA0C34"/>
                </a:solidFill>
              </a:rPr>
              <a:t>需求的变化</a:t>
            </a:r>
            <a:r>
              <a:rPr lang="zh-CN" altLang="en-US" sz="1800"/>
              <a:t>特性在其发展时使这些模型和规格说明变得</a:t>
            </a:r>
            <a:r>
              <a:rPr lang="zh-CN" altLang="en-US" sz="1800">
                <a:solidFill>
                  <a:srgbClr val="FA0C34"/>
                </a:solidFill>
              </a:rPr>
              <a:t>过时</a:t>
            </a:r>
            <a:r>
              <a:rPr lang="zh-CN" altLang="en-US" sz="1800"/>
              <a:t>。</a:t>
            </a:r>
          </a:p>
          <a:p>
            <a:pPr lvl="1">
              <a:lnSpc>
                <a:spcPct val="140000"/>
              </a:lnSpc>
              <a:spcBef>
                <a:spcPct val="30000"/>
              </a:spcBef>
              <a:buFont typeface="Wingdings" panose="05000000000000000000" pitchFamily="2" charset="2"/>
              <a:buChar char="p"/>
            </a:pPr>
            <a:r>
              <a:rPr lang="zh-CN" altLang="en-US" sz="2000">
                <a:solidFill>
                  <a:srgbClr val="FA0C34"/>
                </a:solidFill>
              </a:rPr>
              <a:t>正规设计的缺乏</a:t>
            </a:r>
            <a:r>
              <a:rPr lang="zh-CN" altLang="en-US" sz="2000"/>
              <a:t>。</a:t>
            </a:r>
            <a:r>
              <a:rPr lang="en-US" altLang="zh-CN" sz="2000"/>
              <a:t>XP</a:t>
            </a:r>
            <a:r>
              <a:rPr lang="zh-CN" altLang="en-US" sz="2000">
                <a:solidFill>
                  <a:srgbClr val="FA0C34"/>
                </a:solidFill>
              </a:rPr>
              <a:t>削弱了对体系结构的设计的要求</a:t>
            </a:r>
            <a:r>
              <a:rPr lang="zh-CN" altLang="en-US" sz="2000"/>
              <a:t>，在许多案例建议所有类型的设计都不必那么正规：</a:t>
            </a:r>
          </a:p>
          <a:p>
            <a:pPr lvl="2">
              <a:lnSpc>
                <a:spcPct val="140000"/>
              </a:lnSpc>
              <a:spcBef>
                <a:spcPct val="30000"/>
              </a:spcBef>
              <a:buFont typeface="Wingdings" panose="05000000000000000000" pitchFamily="2" charset="2"/>
              <a:buChar char="p"/>
            </a:pPr>
            <a:r>
              <a:rPr lang="zh-CN" altLang="en-US" sz="1800">
                <a:solidFill>
                  <a:srgbClr val="FA0C34"/>
                </a:solidFill>
              </a:rPr>
              <a:t>批评者</a:t>
            </a:r>
            <a:r>
              <a:rPr lang="zh-CN" altLang="en-US" sz="1800"/>
              <a:t>主张当开发复杂的系统时，必须</a:t>
            </a:r>
            <a:r>
              <a:rPr lang="zh-CN" altLang="en-US" sz="1800">
                <a:solidFill>
                  <a:srgbClr val="FA0C34"/>
                </a:solidFill>
              </a:rPr>
              <a:t>强调设计</a:t>
            </a:r>
            <a:r>
              <a:rPr lang="zh-CN" altLang="en-US" sz="1800"/>
              <a:t>以保证软件的体系结构能够展示其质量和可维护性。</a:t>
            </a:r>
          </a:p>
          <a:p>
            <a:pPr lvl="2">
              <a:lnSpc>
                <a:spcPct val="140000"/>
              </a:lnSpc>
              <a:spcBef>
                <a:spcPct val="30000"/>
              </a:spcBef>
              <a:buFont typeface="Wingdings" panose="05000000000000000000" pitchFamily="2" charset="2"/>
              <a:buChar char="p"/>
            </a:pPr>
            <a:r>
              <a:rPr lang="zh-CN" altLang="en-US" sz="1800">
                <a:solidFill>
                  <a:srgbClr val="FA0C34"/>
                </a:solidFill>
              </a:rPr>
              <a:t>拥护者</a:t>
            </a:r>
            <a:r>
              <a:rPr lang="zh-CN" altLang="en-US" sz="1800"/>
              <a:t>指出</a:t>
            </a:r>
            <a:r>
              <a:rPr lang="en-US" altLang="zh-CN" sz="1800"/>
              <a:t>XP</a:t>
            </a:r>
            <a:r>
              <a:rPr lang="zh-CN" altLang="en-US" sz="1800"/>
              <a:t>过程的</a:t>
            </a:r>
            <a:r>
              <a:rPr lang="zh-CN" altLang="en-US" sz="1800">
                <a:solidFill>
                  <a:srgbClr val="FA0C34"/>
                </a:solidFill>
              </a:rPr>
              <a:t>增量特性限制了复杂性</a:t>
            </a:r>
            <a:r>
              <a:rPr lang="zh-CN" altLang="en-US" sz="1800"/>
              <a:t>（简单性是其核心价值），因此</a:t>
            </a:r>
            <a:r>
              <a:rPr lang="zh-CN" altLang="en-US" sz="1800">
                <a:solidFill>
                  <a:srgbClr val="FA0C34"/>
                </a:solidFill>
              </a:rPr>
              <a:t>降低了扩展设计的必要性 </a:t>
            </a:r>
            <a:r>
              <a:rPr lang="en-US" altLang="zh-CN" sz="1800"/>
              <a:t>(</a:t>
            </a:r>
            <a:r>
              <a:rPr lang="zh-CN" altLang="en-US" sz="1800"/>
              <a:t>设计简单点，不考虑扩展性，用增量的方式来改进设计</a:t>
            </a:r>
            <a:r>
              <a:rPr lang="en-US" altLang="zh-CN" sz="1800"/>
              <a:t>)</a:t>
            </a:r>
            <a:r>
              <a:rPr lang="zh-CN" altLang="en-US" sz="18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2707">
                                            <p:txEl>
                                              <p:pRg st="1" end="1"/>
                                            </p:txEl>
                                          </p:spTgt>
                                        </p:tgtEl>
                                        <p:attrNameLst>
                                          <p:attrName>style.visibility</p:attrName>
                                        </p:attrNameLst>
                                      </p:cBhvr>
                                      <p:to>
                                        <p:strVal val="visible"/>
                                      </p:to>
                                    </p:set>
                                    <p:animEffect transition="in" filter="box(in)">
                                      <p:cBhvr>
                                        <p:cTn id="7" dur="1000"/>
                                        <p:tgtEl>
                                          <p:spTgt spid="727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2707">
                                            <p:txEl>
                                              <p:pRg st="2" end="2"/>
                                            </p:txEl>
                                          </p:spTgt>
                                        </p:tgtEl>
                                        <p:attrNameLst>
                                          <p:attrName>style.visibility</p:attrName>
                                        </p:attrNameLst>
                                      </p:cBhvr>
                                      <p:to>
                                        <p:strVal val="visible"/>
                                      </p:to>
                                    </p:set>
                                    <p:animEffect transition="in" filter="box(in)">
                                      <p:cBhvr>
                                        <p:cTn id="12" dur="1000"/>
                                        <p:tgtEl>
                                          <p:spTgt spid="7270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72707">
                                            <p:txEl>
                                              <p:pRg st="3" end="3"/>
                                            </p:txEl>
                                          </p:spTgt>
                                        </p:tgtEl>
                                        <p:attrNameLst>
                                          <p:attrName>style.visibility</p:attrName>
                                        </p:attrNameLst>
                                      </p:cBhvr>
                                      <p:to>
                                        <p:strVal val="visible"/>
                                      </p:to>
                                    </p:set>
                                    <p:animEffect transition="in" filter="box(in)">
                                      <p:cBhvr>
                                        <p:cTn id="17" dur="1000"/>
                                        <p:tgtEl>
                                          <p:spTgt spid="72707">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4" presetClass="entr" presetSubtype="16" fill="hold" nodeType="clickEffect">
                                  <p:stCondLst>
                                    <p:cond delay="0"/>
                                  </p:stCondLst>
                                  <p:childTnLst>
                                    <p:set>
                                      <p:cBhvr>
                                        <p:cTn id="21" dur="1" fill="hold">
                                          <p:stCondLst>
                                            <p:cond delay="0"/>
                                          </p:stCondLst>
                                        </p:cTn>
                                        <p:tgtEl>
                                          <p:spTgt spid="72707">
                                            <p:txEl>
                                              <p:pRg st="4" end="4"/>
                                            </p:txEl>
                                          </p:spTgt>
                                        </p:tgtEl>
                                        <p:attrNameLst>
                                          <p:attrName>style.visibility</p:attrName>
                                        </p:attrNameLst>
                                      </p:cBhvr>
                                      <p:to>
                                        <p:strVal val="visible"/>
                                      </p:to>
                                    </p:set>
                                    <p:animEffect transition="in" filter="box(in)">
                                      <p:cBhvr>
                                        <p:cTn id="22" dur="1000"/>
                                        <p:tgtEl>
                                          <p:spTgt spid="72707">
                                            <p:txEl>
                                              <p:pRg st="4" end="4"/>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nodeType="clickEffect">
                                  <p:stCondLst>
                                    <p:cond delay="0"/>
                                  </p:stCondLst>
                                  <p:childTnLst>
                                    <p:set>
                                      <p:cBhvr>
                                        <p:cTn id="26" dur="1" fill="hold">
                                          <p:stCondLst>
                                            <p:cond delay="0"/>
                                          </p:stCondLst>
                                        </p:cTn>
                                        <p:tgtEl>
                                          <p:spTgt spid="72707">
                                            <p:txEl>
                                              <p:pRg st="5" end="5"/>
                                            </p:txEl>
                                          </p:spTgt>
                                        </p:tgtEl>
                                        <p:attrNameLst>
                                          <p:attrName>style.visibility</p:attrName>
                                        </p:attrNameLst>
                                      </p:cBhvr>
                                      <p:to>
                                        <p:strVal val="visible"/>
                                      </p:to>
                                    </p:set>
                                    <p:animEffect transition="in" filter="box(in)">
                                      <p:cBhvr>
                                        <p:cTn id="27" dur="1000"/>
                                        <p:tgtEl>
                                          <p:spTgt spid="7270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6">
            <a:extLst>
              <a:ext uri="{FF2B5EF4-FFF2-40B4-BE49-F238E27FC236}">
                <a16:creationId xmlns:a16="http://schemas.microsoft.com/office/drawing/2014/main" id="{A06D8432-8839-7DA0-41B6-2CAB908A9DEA}"/>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05C1ADB-6216-4F0F-9E85-094CE0A969EE}" type="slidenum">
              <a:rPr lang="en-US" altLang="zh-CN" sz="1400">
                <a:solidFill>
                  <a:srgbClr val="000000"/>
                </a:solidFill>
                <a:latin typeface="Arial" panose="020B0604020202020204" pitchFamily="34" charset="0"/>
              </a:rPr>
              <a:pPr fontAlgn="base">
                <a:spcBef>
                  <a:spcPct val="0"/>
                </a:spcBef>
                <a:spcAft>
                  <a:spcPct val="0"/>
                </a:spcAft>
              </a:pPr>
              <a:t>62</a:t>
            </a:fld>
            <a:endParaRPr lang="en-US" altLang="zh-CN" sz="1400">
              <a:solidFill>
                <a:srgbClr val="000000"/>
              </a:solidFill>
              <a:latin typeface="Arial" panose="020B0604020202020204" pitchFamily="34" charset="0"/>
            </a:endParaRPr>
          </a:p>
        </p:txBody>
      </p:sp>
      <p:sp>
        <p:nvSpPr>
          <p:cNvPr id="50179" name="Rectangle 2">
            <a:extLst>
              <a:ext uri="{FF2B5EF4-FFF2-40B4-BE49-F238E27FC236}">
                <a16:creationId xmlns:a16="http://schemas.microsoft.com/office/drawing/2014/main" id="{47EE5C1E-E421-EA79-D6DD-1D373343F60A}"/>
              </a:ext>
            </a:extLst>
          </p:cNvPr>
          <p:cNvSpPr>
            <a:spLocks noGrp="1" noChangeArrowheads="1"/>
          </p:cNvSpPr>
          <p:nvPr>
            <p:ph type="title"/>
          </p:nvPr>
        </p:nvSpPr>
        <p:spPr/>
        <p:txBody>
          <a:bodyPr/>
          <a:lstStyle/>
          <a:p>
            <a:r>
              <a:rPr lang="zh-CN" altLang="en-US"/>
              <a:t>本章内容</a:t>
            </a:r>
          </a:p>
        </p:txBody>
      </p:sp>
      <p:sp>
        <p:nvSpPr>
          <p:cNvPr id="50180" name="Rectangle 3">
            <a:extLst>
              <a:ext uri="{FF2B5EF4-FFF2-40B4-BE49-F238E27FC236}">
                <a16:creationId xmlns:a16="http://schemas.microsoft.com/office/drawing/2014/main" id="{F81ECEFE-BE14-51DC-8DE7-B1A912FC40DB}"/>
              </a:ext>
            </a:extLst>
          </p:cNvPr>
          <p:cNvSpPr>
            <a:spLocks noGrp="1" noChangeArrowheads="1"/>
          </p:cNvSpPr>
          <p:nvPr>
            <p:ph type="body" idx="1"/>
          </p:nvPr>
        </p:nvSpPr>
        <p:spPr/>
        <p:txBody>
          <a:bodyPr/>
          <a:lstStyle/>
          <a:p>
            <a:pPr>
              <a:lnSpc>
                <a:spcPct val="160000"/>
              </a:lnSpc>
            </a:pPr>
            <a:r>
              <a:rPr lang="en-US" altLang="zh-CN" sz="2800"/>
              <a:t>5.1 </a:t>
            </a:r>
            <a:r>
              <a:rPr lang="zh-CN" altLang="en-US" sz="2800"/>
              <a:t>什么是敏捷</a:t>
            </a:r>
          </a:p>
          <a:p>
            <a:pPr>
              <a:lnSpc>
                <a:spcPct val="160000"/>
              </a:lnSpc>
            </a:pPr>
            <a:r>
              <a:rPr lang="en-US" altLang="zh-CN" sz="2800"/>
              <a:t>5.2 </a:t>
            </a:r>
            <a:r>
              <a:rPr lang="zh-CN" altLang="en-US" sz="2800"/>
              <a:t>敏捷及变更成本</a:t>
            </a:r>
          </a:p>
          <a:p>
            <a:pPr>
              <a:lnSpc>
                <a:spcPct val="160000"/>
              </a:lnSpc>
            </a:pPr>
            <a:r>
              <a:rPr lang="en-US" altLang="zh-CN" sz="2800"/>
              <a:t>5.3 </a:t>
            </a:r>
            <a:r>
              <a:rPr lang="zh-CN" altLang="en-US" sz="2800"/>
              <a:t>什么是敏捷过程</a:t>
            </a:r>
          </a:p>
          <a:p>
            <a:pPr>
              <a:lnSpc>
                <a:spcPct val="160000"/>
              </a:lnSpc>
            </a:pPr>
            <a:r>
              <a:rPr lang="en-US" altLang="zh-CN" sz="2800"/>
              <a:t>5.4 </a:t>
            </a:r>
            <a:r>
              <a:rPr lang="zh-CN" altLang="en-US" sz="2800"/>
              <a:t>极限编程</a:t>
            </a:r>
          </a:p>
          <a:p>
            <a:pPr>
              <a:lnSpc>
                <a:spcPct val="160000"/>
              </a:lnSpc>
            </a:pPr>
            <a:r>
              <a:rPr lang="en-US" altLang="zh-CN" sz="2800">
                <a:solidFill>
                  <a:srgbClr val="D333A1"/>
                </a:solidFill>
              </a:rPr>
              <a:t>5.5 </a:t>
            </a:r>
            <a:r>
              <a:rPr lang="zh-CN" altLang="en-US" sz="2800">
                <a:solidFill>
                  <a:srgbClr val="D333A1"/>
                </a:solidFill>
              </a:rPr>
              <a:t>其他敏捷过程模型</a:t>
            </a:r>
          </a:p>
          <a:p>
            <a:pPr>
              <a:lnSpc>
                <a:spcPct val="160000"/>
              </a:lnSpc>
            </a:pPr>
            <a:r>
              <a:rPr lang="en-US" altLang="zh-CN" sz="2800"/>
              <a:t>5.6 </a:t>
            </a:r>
            <a:r>
              <a:rPr lang="zh-CN" altLang="en-US" sz="2800"/>
              <a:t>敏捷过程工具集</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6">
            <a:extLst>
              <a:ext uri="{FF2B5EF4-FFF2-40B4-BE49-F238E27FC236}">
                <a16:creationId xmlns:a16="http://schemas.microsoft.com/office/drawing/2014/main" id="{C4915D67-AB3F-B56B-AFDE-5E89912E8A2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A05E80F-B2A5-4792-BAE1-1C37281DE4F9}" type="slidenum">
              <a:rPr lang="en-US" altLang="zh-CN" sz="1400">
                <a:solidFill>
                  <a:srgbClr val="000000"/>
                </a:solidFill>
                <a:latin typeface="Arial" panose="020B0604020202020204" pitchFamily="34" charset="0"/>
              </a:rPr>
              <a:pPr fontAlgn="base">
                <a:spcBef>
                  <a:spcPct val="0"/>
                </a:spcBef>
                <a:spcAft>
                  <a:spcPct val="0"/>
                </a:spcAft>
              </a:pPr>
              <a:t>63</a:t>
            </a:fld>
            <a:endParaRPr lang="en-US" altLang="zh-CN" sz="1400">
              <a:solidFill>
                <a:srgbClr val="000000"/>
              </a:solidFill>
              <a:latin typeface="Arial" panose="020B0604020202020204" pitchFamily="34" charset="0"/>
            </a:endParaRPr>
          </a:p>
        </p:txBody>
      </p:sp>
      <p:sp>
        <p:nvSpPr>
          <p:cNvPr id="51203" name="Rectangle 2">
            <a:extLst>
              <a:ext uri="{FF2B5EF4-FFF2-40B4-BE49-F238E27FC236}">
                <a16:creationId xmlns:a16="http://schemas.microsoft.com/office/drawing/2014/main" id="{1F680D54-18F0-DFE6-0AD6-7EBE77F7BAFD}"/>
              </a:ext>
            </a:extLst>
          </p:cNvPr>
          <p:cNvSpPr>
            <a:spLocks noGrp="1" noChangeArrowheads="1"/>
          </p:cNvSpPr>
          <p:nvPr>
            <p:ph type="title"/>
          </p:nvPr>
        </p:nvSpPr>
        <p:spPr/>
        <p:txBody>
          <a:bodyPr/>
          <a:lstStyle/>
          <a:p>
            <a:r>
              <a:rPr lang="en-US" altLang="zh-CN"/>
              <a:t>3.5 </a:t>
            </a:r>
            <a:r>
              <a:rPr lang="zh-CN" altLang="en-US"/>
              <a:t>其他敏捷过程模型</a:t>
            </a:r>
          </a:p>
        </p:txBody>
      </p:sp>
      <p:sp>
        <p:nvSpPr>
          <p:cNvPr id="51204" name="Rectangle 3">
            <a:extLst>
              <a:ext uri="{FF2B5EF4-FFF2-40B4-BE49-F238E27FC236}">
                <a16:creationId xmlns:a16="http://schemas.microsoft.com/office/drawing/2014/main" id="{5623CB24-A580-9C8B-0D78-EAC3A2EF93CB}"/>
              </a:ext>
            </a:extLst>
          </p:cNvPr>
          <p:cNvSpPr>
            <a:spLocks noGrp="1" noChangeArrowheads="1"/>
          </p:cNvSpPr>
          <p:nvPr>
            <p:ph type="body" idx="1"/>
          </p:nvPr>
        </p:nvSpPr>
        <p:spPr/>
        <p:txBody>
          <a:bodyPr/>
          <a:lstStyle/>
          <a:p>
            <a:pPr>
              <a:lnSpc>
                <a:spcPct val="150000"/>
              </a:lnSpc>
              <a:spcBef>
                <a:spcPct val="50000"/>
              </a:spcBef>
              <a:buFont typeface="Wingdings" panose="05000000000000000000" pitchFamily="2" charset="2"/>
              <a:buChar char="n"/>
            </a:pPr>
            <a:r>
              <a:rPr lang="zh-CN" altLang="en-US" sz="2800"/>
              <a:t>在所有敏捷过程模型中使用最广泛的就是</a:t>
            </a:r>
            <a:r>
              <a:rPr lang="en-US" altLang="zh-CN" sz="2800"/>
              <a:t>XP</a:t>
            </a:r>
            <a:r>
              <a:rPr lang="zh-CN" altLang="en-US" sz="2800"/>
              <a:t>。一些其他敏捷过程模型也在行业中使用，最普遍的有： </a:t>
            </a:r>
            <a:endParaRPr lang="zh-CN" altLang="en-US"/>
          </a:p>
          <a:p>
            <a:pPr lvl="1">
              <a:lnSpc>
                <a:spcPct val="150000"/>
              </a:lnSpc>
              <a:spcBef>
                <a:spcPct val="50000"/>
              </a:spcBef>
              <a:buFont typeface="Wingdings" panose="05000000000000000000" pitchFamily="2" charset="2"/>
              <a:buChar char="n"/>
            </a:pPr>
            <a:r>
              <a:rPr lang="en-US" altLang="zh-CN"/>
              <a:t>Scrum</a:t>
            </a:r>
          </a:p>
          <a:p>
            <a:pPr lvl="1">
              <a:lnSpc>
                <a:spcPct val="150000"/>
              </a:lnSpc>
              <a:spcBef>
                <a:spcPct val="50000"/>
              </a:spcBef>
              <a:buFont typeface="Wingdings" panose="05000000000000000000" pitchFamily="2" charset="2"/>
              <a:buChar char="n"/>
            </a:pPr>
            <a:r>
              <a:rPr lang="zh-CN" altLang="en-US"/>
              <a:t>动态系统开发方法（</a:t>
            </a:r>
            <a:r>
              <a:rPr lang="en-US" altLang="zh-CN"/>
              <a:t>DSDM</a:t>
            </a:r>
            <a:r>
              <a:rPr lang="zh-CN" altLang="en-US"/>
              <a:t>）</a:t>
            </a:r>
          </a:p>
          <a:p>
            <a:pPr lvl="1">
              <a:lnSpc>
                <a:spcPct val="150000"/>
              </a:lnSpc>
              <a:spcBef>
                <a:spcPct val="50000"/>
              </a:spcBef>
              <a:buFont typeface="Wingdings" panose="05000000000000000000" pitchFamily="2" charset="2"/>
              <a:buChar char="n"/>
            </a:pPr>
            <a:r>
              <a:rPr lang="zh-CN" altLang="en-US"/>
              <a:t>敏捷建模（</a:t>
            </a:r>
            <a:r>
              <a:rPr lang="en-US" altLang="zh-CN"/>
              <a:t>AM</a:t>
            </a:r>
            <a:r>
              <a:rPr lang="zh-CN" altLang="en-US"/>
              <a:t>）</a:t>
            </a:r>
          </a:p>
          <a:p>
            <a:pPr lvl="1">
              <a:lnSpc>
                <a:spcPct val="150000"/>
              </a:lnSpc>
              <a:spcBef>
                <a:spcPct val="50000"/>
              </a:spcBef>
              <a:buFont typeface="Wingdings" panose="05000000000000000000" pitchFamily="2" charset="2"/>
              <a:buChar char="n"/>
            </a:pPr>
            <a:r>
              <a:rPr lang="zh-CN" altLang="en-US"/>
              <a:t>敏捷统一过程（</a:t>
            </a:r>
            <a:r>
              <a:rPr lang="en-US" altLang="zh-CN"/>
              <a:t>AUP</a:t>
            </a:r>
            <a:r>
              <a:rPr lang="zh-CN" altLang="en-US"/>
              <a:t>）</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a:extLst>
              <a:ext uri="{FF2B5EF4-FFF2-40B4-BE49-F238E27FC236}">
                <a16:creationId xmlns:a16="http://schemas.microsoft.com/office/drawing/2014/main" id="{CFA39E47-ED80-BD99-B922-4819BD89CB85}"/>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3B2331A-26E6-4B73-84B8-DDC924C1FFED}" type="slidenum">
              <a:rPr lang="en-US" altLang="zh-CN" sz="1400">
                <a:solidFill>
                  <a:srgbClr val="000000"/>
                </a:solidFill>
                <a:latin typeface="Arial" panose="020B0604020202020204" pitchFamily="34" charset="0"/>
              </a:rPr>
              <a:pPr fontAlgn="base">
                <a:spcBef>
                  <a:spcPct val="0"/>
                </a:spcBef>
                <a:spcAft>
                  <a:spcPct val="0"/>
                </a:spcAft>
              </a:pPr>
              <a:t>64</a:t>
            </a:fld>
            <a:endParaRPr lang="en-US" altLang="zh-CN" sz="1400">
              <a:solidFill>
                <a:srgbClr val="000000"/>
              </a:solidFill>
              <a:latin typeface="Arial" panose="020B0604020202020204" pitchFamily="34" charset="0"/>
            </a:endParaRPr>
          </a:p>
        </p:txBody>
      </p:sp>
      <p:sp>
        <p:nvSpPr>
          <p:cNvPr id="52227" name="Rectangle 2">
            <a:extLst>
              <a:ext uri="{FF2B5EF4-FFF2-40B4-BE49-F238E27FC236}">
                <a16:creationId xmlns:a16="http://schemas.microsoft.com/office/drawing/2014/main" id="{7102BC56-C471-0076-E2E1-95985478E446}"/>
              </a:ext>
            </a:extLst>
          </p:cNvPr>
          <p:cNvSpPr>
            <a:spLocks noGrp="1" noChangeArrowheads="1"/>
          </p:cNvSpPr>
          <p:nvPr>
            <p:ph type="title"/>
          </p:nvPr>
        </p:nvSpPr>
        <p:spPr/>
        <p:txBody>
          <a:bodyPr/>
          <a:lstStyle/>
          <a:p>
            <a:r>
              <a:rPr lang="en-US" altLang="zh-CN"/>
              <a:t>Scrum</a:t>
            </a:r>
          </a:p>
        </p:txBody>
      </p:sp>
      <p:sp>
        <p:nvSpPr>
          <p:cNvPr id="52228" name="Rectangle 3">
            <a:extLst>
              <a:ext uri="{FF2B5EF4-FFF2-40B4-BE49-F238E27FC236}">
                <a16:creationId xmlns:a16="http://schemas.microsoft.com/office/drawing/2014/main" id="{7275D2C6-0851-FC88-5D0C-F77270340C26}"/>
              </a:ext>
            </a:extLst>
          </p:cNvPr>
          <p:cNvSpPr>
            <a:spLocks noGrp="1" noChangeArrowheads="1"/>
          </p:cNvSpPr>
          <p:nvPr>
            <p:ph type="body" idx="1"/>
          </p:nvPr>
        </p:nvSpPr>
        <p:spPr>
          <a:xfrm>
            <a:off x="1981200" y="1196975"/>
            <a:ext cx="8229600" cy="4933950"/>
          </a:xfrm>
        </p:spPr>
        <p:txBody>
          <a:bodyPr/>
          <a:lstStyle/>
          <a:p>
            <a:pPr>
              <a:lnSpc>
                <a:spcPct val="150000"/>
              </a:lnSpc>
              <a:buFont typeface="Wingdings" panose="05000000000000000000" pitchFamily="2" charset="2"/>
              <a:buChar char="p"/>
            </a:pPr>
            <a:r>
              <a:rPr lang="en-US" altLang="zh-CN" sz="2200"/>
              <a:t>Scrum</a:t>
            </a:r>
            <a:r>
              <a:rPr lang="zh-CN" altLang="en-US" sz="2200"/>
              <a:t>得名于橄榄球比赛。 </a:t>
            </a:r>
          </a:p>
          <a:p>
            <a:pPr>
              <a:lnSpc>
                <a:spcPct val="150000"/>
              </a:lnSpc>
              <a:buFont typeface="Wingdings" panose="05000000000000000000" pitchFamily="2" charset="2"/>
              <a:buChar char="p"/>
            </a:pPr>
            <a:r>
              <a:rPr lang="en-US" altLang="zh-CN" sz="2200"/>
              <a:t>Scrum</a:t>
            </a:r>
            <a:r>
              <a:rPr lang="zh-CN" altLang="en-US" sz="2200"/>
              <a:t>原则与敏捷宣言是一致的，应用</a:t>
            </a:r>
            <a:r>
              <a:rPr lang="en-US" altLang="zh-CN" sz="2200"/>
              <a:t>Scrum</a:t>
            </a:r>
            <a:r>
              <a:rPr lang="zh-CN" altLang="en-US" sz="2200"/>
              <a:t>原则指导过程中的开发活动，过程由“</a:t>
            </a:r>
            <a:r>
              <a:rPr lang="zh-CN" altLang="en-US" sz="2200">
                <a:solidFill>
                  <a:srgbClr val="FA0C34"/>
                </a:solidFill>
              </a:rPr>
              <a:t>需求</a:t>
            </a:r>
            <a:r>
              <a:rPr lang="zh-CN" altLang="en-US" sz="2200"/>
              <a:t>、</a:t>
            </a:r>
            <a:r>
              <a:rPr lang="zh-CN" altLang="en-US" sz="2200">
                <a:solidFill>
                  <a:srgbClr val="FA0C34"/>
                </a:solidFill>
              </a:rPr>
              <a:t>分析</a:t>
            </a:r>
            <a:r>
              <a:rPr lang="zh-CN" altLang="en-US" sz="2200"/>
              <a:t>、</a:t>
            </a:r>
            <a:r>
              <a:rPr lang="zh-CN" altLang="en-US" sz="2200">
                <a:solidFill>
                  <a:srgbClr val="FA0C34"/>
                </a:solidFill>
              </a:rPr>
              <a:t>设计</a:t>
            </a:r>
            <a:r>
              <a:rPr lang="zh-CN" altLang="en-US" sz="2200"/>
              <a:t>、</a:t>
            </a:r>
            <a:r>
              <a:rPr lang="zh-CN" altLang="en-US" sz="2200">
                <a:solidFill>
                  <a:srgbClr val="FA0C34"/>
                </a:solidFill>
              </a:rPr>
              <a:t>演化</a:t>
            </a:r>
            <a:r>
              <a:rPr lang="zh-CN" altLang="en-US" sz="2200"/>
              <a:t>和</a:t>
            </a:r>
            <a:r>
              <a:rPr lang="zh-CN" altLang="en-US" sz="2200">
                <a:solidFill>
                  <a:srgbClr val="FA0C34"/>
                </a:solidFill>
              </a:rPr>
              <a:t>交付</a:t>
            </a:r>
            <a:r>
              <a:rPr lang="zh-CN" altLang="en-US" sz="2200"/>
              <a:t>”等框架性活动组成。</a:t>
            </a:r>
          </a:p>
          <a:p>
            <a:pPr>
              <a:lnSpc>
                <a:spcPct val="150000"/>
              </a:lnSpc>
              <a:buFont typeface="Wingdings" panose="05000000000000000000" pitchFamily="2" charset="2"/>
              <a:buChar char="p"/>
            </a:pPr>
            <a:r>
              <a:rPr lang="zh-CN" altLang="en-US" sz="2200"/>
              <a:t>每一个框架活动中，发生于一个过程模式中的</a:t>
            </a:r>
            <a:r>
              <a:rPr lang="zh-CN" altLang="en-US" sz="2200">
                <a:solidFill>
                  <a:srgbClr val="FA0C34"/>
                </a:solidFill>
              </a:rPr>
              <a:t>工作任务</a:t>
            </a:r>
            <a:r>
              <a:rPr lang="zh-CN" altLang="en-US" sz="2200"/>
              <a:t>称为一个</a:t>
            </a:r>
            <a:r>
              <a:rPr lang="zh-CN" altLang="en-US" sz="2200">
                <a:solidFill>
                  <a:srgbClr val="FA0C34"/>
                </a:solidFill>
              </a:rPr>
              <a:t>冲刺</a:t>
            </a:r>
            <a:r>
              <a:rPr lang="zh-CN" altLang="en-US" sz="2200"/>
              <a:t>（</a:t>
            </a:r>
            <a:r>
              <a:rPr lang="en-US" altLang="zh-CN" sz="2200"/>
              <a:t>sprint</a:t>
            </a:r>
            <a:r>
              <a:rPr lang="zh-CN" altLang="en-US" sz="2200"/>
              <a:t>）。冲刺中进行的工作（每一个框架活动中的冲刺的数目根据产品</a:t>
            </a:r>
            <a:r>
              <a:rPr lang="zh-CN" altLang="en-US" sz="2200">
                <a:solidFill>
                  <a:srgbClr val="FA0C34"/>
                </a:solidFill>
              </a:rPr>
              <a:t>复杂度</a:t>
            </a:r>
            <a:r>
              <a:rPr lang="zh-CN" altLang="en-US" sz="2200"/>
              <a:t>和</a:t>
            </a:r>
            <a:r>
              <a:rPr lang="zh-CN" altLang="en-US" sz="2200">
                <a:solidFill>
                  <a:srgbClr val="FA0C34"/>
                </a:solidFill>
              </a:rPr>
              <a:t>规模大小</a:t>
            </a:r>
            <a:r>
              <a:rPr lang="zh-CN" altLang="en-US" sz="2200"/>
              <a:t>而有所不同）适应于当前的问题，由</a:t>
            </a:r>
            <a:r>
              <a:rPr lang="en-US" altLang="zh-CN" sz="2200"/>
              <a:t>Scrum</a:t>
            </a:r>
            <a:r>
              <a:rPr lang="zh-CN" altLang="en-US" sz="2200"/>
              <a:t>团队规定并常常作实时修改。</a:t>
            </a:r>
            <a:r>
              <a:rPr lang="zh-CN" altLang="en-US" sz="2000"/>
              <a:t> </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6">
            <a:extLst>
              <a:ext uri="{FF2B5EF4-FFF2-40B4-BE49-F238E27FC236}">
                <a16:creationId xmlns:a16="http://schemas.microsoft.com/office/drawing/2014/main" id="{443DF593-FFD9-81C2-A8E9-E6709BA0F50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36466782-1F7C-4896-8E4E-4D0B454C5D77}" type="slidenum">
              <a:rPr lang="en-US" altLang="zh-CN" sz="1400">
                <a:solidFill>
                  <a:srgbClr val="000000"/>
                </a:solidFill>
                <a:latin typeface="Arial" panose="020B0604020202020204" pitchFamily="34" charset="0"/>
              </a:rPr>
              <a:pPr fontAlgn="base">
                <a:spcBef>
                  <a:spcPct val="0"/>
                </a:spcBef>
                <a:spcAft>
                  <a:spcPct val="0"/>
                </a:spcAft>
              </a:pPr>
              <a:t>65</a:t>
            </a:fld>
            <a:endParaRPr lang="en-US" altLang="zh-CN" sz="1400">
              <a:solidFill>
                <a:srgbClr val="000000"/>
              </a:solidFill>
              <a:latin typeface="Arial" panose="020B0604020202020204" pitchFamily="34" charset="0"/>
            </a:endParaRPr>
          </a:p>
        </p:txBody>
      </p:sp>
      <p:sp>
        <p:nvSpPr>
          <p:cNvPr id="53251" name="Rectangle 2">
            <a:extLst>
              <a:ext uri="{FF2B5EF4-FFF2-40B4-BE49-F238E27FC236}">
                <a16:creationId xmlns:a16="http://schemas.microsoft.com/office/drawing/2014/main" id="{066C1475-6532-C8E8-7D84-354D8FCD293E}"/>
              </a:ext>
            </a:extLst>
          </p:cNvPr>
          <p:cNvSpPr>
            <a:spLocks noGrp="1" noChangeArrowheads="1"/>
          </p:cNvSpPr>
          <p:nvPr>
            <p:ph type="title"/>
          </p:nvPr>
        </p:nvSpPr>
        <p:spPr/>
        <p:txBody>
          <a:bodyPr/>
          <a:lstStyle/>
          <a:p>
            <a:r>
              <a:rPr lang="en-US" altLang="zh-CN"/>
              <a:t>Scrum</a:t>
            </a:r>
            <a:r>
              <a:rPr lang="zh-CN" altLang="en-US"/>
              <a:t>的活动</a:t>
            </a:r>
          </a:p>
        </p:txBody>
      </p:sp>
      <p:sp>
        <p:nvSpPr>
          <p:cNvPr id="109571" name="Rectangle 3">
            <a:extLst>
              <a:ext uri="{FF2B5EF4-FFF2-40B4-BE49-F238E27FC236}">
                <a16:creationId xmlns:a16="http://schemas.microsoft.com/office/drawing/2014/main" id="{B9BA80FB-A00C-17AE-AEA5-B3BA07F34859}"/>
              </a:ext>
            </a:extLst>
          </p:cNvPr>
          <p:cNvSpPr>
            <a:spLocks noGrp="1" noChangeArrowheads="1"/>
          </p:cNvSpPr>
          <p:nvPr>
            <p:ph type="body" idx="1"/>
          </p:nvPr>
        </p:nvSpPr>
        <p:spPr/>
        <p:txBody>
          <a:bodyPr/>
          <a:lstStyle/>
          <a:p>
            <a:pPr>
              <a:lnSpc>
                <a:spcPct val="150000"/>
              </a:lnSpc>
              <a:buFont typeface="Wingdings" panose="05000000000000000000" pitchFamily="2" charset="2"/>
              <a:buChar char="n"/>
            </a:pPr>
            <a:r>
              <a:rPr lang="zh-CN" altLang="en-US" sz="2600"/>
              <a:t>每一个过程模式定义一系列开发活动：</a:t>
            </a:r>
          </a:p>
          <a:p>
            <a:pPr lvl="1">
              <a:lnSpc>
                <a:spcPct val="150000"/>
              </a:lnSpc>
              <a:buFont typeface="Wingdings" panose="05000000000000000000" pitchFamily="2" charset="2"/>
              <a:buChar char="n"/>
            </a:pPr>
            <a:r>
              <a:rPr lang="zh-CN" altLang="en-US" sz="2200">
                <a:solidFill>
                  <a:srgbClr val="D333A1"/>
                </a:solidFill>
              </a:rPr>
              <a:t>待定项</a:t>
            </a:r>
            <a:r>
              <a:rPr lang="en-US" altLang="zh-CN" sz="2200"/>
              <a:t>(backlog)</a:t>
            </a:r>
            <a:r>
              <a:rPr lang="zh-CN" altLang="en-US" sz="2200"/>
              <a:t>：能为用户提供商业价值的</a:t>
            </a:r>
            <a:r>
              <a:rPr lang="zh-CN" altLang="en-US" sz="2200">
                <a:solidFill>
                  <a:srgbClr val="D333A1"/>
                </a:solidFill>
              </a:rPr>
              <a:t>项目需求</a:t>
            </a:r>
            <a:r>
              <a:rPr lang="zh-CN" altLang="en-US" sz="2200"/>
              <a:t>或</a:t>
            </a:r>
            <a:r>
              <a:rPr lang="zh-CN" altLang="en-US" sz="2200">
                <a:solidFill>
                  <a:srgbClr val="D333A1"/>
                </a:solidFill>
              </a:rPr>
              <a:t>特征的优先级列表</a:t>
            </a:r>
            <a:r>
              <a:rPr lang="zh-CN" altLang="en-US" sz="2200"/>
              <a:t>。待定项中可以随时加入新项</a:t>
            </a:r>
            <a:r>
              <a:rPr lang="en-US" altLang="zh-CN" sz="2200"/>
              <a:t>(</a:t>
            </a:r>
            <a:r>
              <a:rPr lang="zh-CN" altLang="en-US" sz="2200"/>
              <a:t>即变更的引入</a:t>
            </a:r>
            <a:r>
              <a:rPr lang="en-US" altLang="zh-CN" sz="2200"/>
              <a:t>)</a:t>
            </a:r>
            <a:r>
              <a:rPr lang="zh-CN" altLang="en-US" sz="2200"/>
              <a:t>。产品经理根据需要</a:t>
            </a:r>
            <a:r>
              <a:rPr lang="zh-CN" altLang="en-US" sz="2200">
                <a:solidFill>
                  <a:srgbClr val="D333A1"/>
                </a:solidFill>
              </a:rPr>
              <a:t>评估待定项并修改优先级</a:t>
            </a:r>
            <a:r>
              <a:rPr lang="zh-CN" altLang="en-US" sz="2200"/>
              <a:t>。</a:t>
            </a:r>
          </a:p>
          <a:p>
            <a:pPr lvl="1">
              <a:lnSpc>
                <a:spcPct val="150000"/>
              </a:lnSpc>
              <a:buFont typeface="Wingdings" panose="05000000000000000000" pitchFamily="2" charset="2"/>
              <a:buChar char="n"/>
            </a:pPr>
            <a:r>
              <a:rPr lang="zh-CN" altLang="en-US" sz="2200">
                <a:solidFill>
                  <a:srgbClr val="D333A1"/>
                </a:solidFill>
              </a:rPr>
              <a:t>冲刺</a:t>
            </a:r>
            <a:r>
              <a:rPr lang="en-US" altLang="zh-CN" sz="2200"/>
              <a:t>(sprint) (</a:t>
            </a:r>
            <a:r>
              <a:rPr lang="zh-CN" altLang="en-US" sz="2200"/>
              <a:t>待定项的一部分，眼前具体的任务</a:t>
            </a:r>
            <a:r>
              <a:rPr lang="en-US" altLang="zh-CN" sz="2200"/>
              <a:t>)</a:t>
            </a:r>
            <a:r>
              <a:rPr lang="zh-CN" altLang="en-US" sz="2200"/>
              <a:t> 。</a:t>
            </a:r>
            <a:r>
              <a:rPr lang="zh-CN" altLang="en-US" sz="2200">
                <a:solidFill>
                  <a:srgbClr val="D333A1"/>
                </a:solidFill>
              </a:rPr>
              <a:t>由一些工作单元组成 </a:t>
            </a:r>
            <a:r>
              <a:rPr lang="zh-CN" altLang="en-US" sz="2200"/>
              <a:t>，并且必须能在预定的</a:t>
            </a:r>
            <a:r>
              <a:rPr lang="zh-CN" altLang="en-US" sz="2200">
                <a:solidFill>
                  <a:srgbClr val="D333A1"/>
                </a:solidFill>
              </a:rPr>
              <a:t>时间段 </a:t>
            </a:r>
            <a:r>
              <a:rPr lang="en-US" altLang="zh-CN" sz="2200"/>
              <a:t>(time-box)</a:t>
            </a:r>
            <a:r>
              <a:rPr lang="zh-CN" altLang="en-US" sz="2200"/>
              <a:t>内</a:t>
            </a:r>
            <a:r>
              <a:rPr lang="en-US" altLang="zh-CN" sz="2200"/>
              <a:t>(</a:t>
            </a:r>
            <a:r>
              <a:rPr lang="zh-CN" altLang="en-US" sz="2200"/>
              <a:t>一般情况下为</a:t>
            </a:r>
            <a:r>
              <a:rPr lang="en-US" altLang="zh-CN" sz="2200"/>
              <a:t>30</a:t>
            </a:r>
            <a:r>
              <a:rPr lang="zh-CN" altLang="en-US" sz="2200"/>
              <a:t>天</a:t>
            </a:r>
            <a:r>
              <a:rPr lang="en-US" altLang="zh-CN" sz="2200"/>
              <a:t>)</a:t>
            </a:r>
            <a:r>
              <a:rPr lang="zh-CN" altLang="en-US" sz="2200"/>
              <a:t>完成。</a:t>
            </a:r>
            <a:r>
              <a:rPr lang="zh-CN" altLang="en-US" sz="2200">
                <a:solidFill>
                  <a:srgbClr val="D333A1"/>
                </a:solidFill>
              </a:rPr>
              <a:t>冲刺过程中不允许有变更</a:t>
            </a:r>
            <a:r>
              <a:rPr lang="en-US" altLang="zh-CN" sz="2200"/>
              <a:t>(</a:t>
            </a:r>
            <a:r>
              <a:rPr lang="zh-CN" altLang="en-US" sz="2200"/>
              <a:t>例如，积压工作项</a:t>
            </a:r>
            <a:r>
              <a:rPr lang="en-US" altLang="zh-CN" sz="2200"/>
              <a:t>)</a:t>
            </a:r>
            <a:r>
              <a:rPr lang="zh-CN" altLang="en-US" sz="2200"/>
              <a:t>。因此，冲刺给开发团队成员的工作提供了</a:t>
            </a:r>
            <a:r>
              <a:rPr lang="zh-CN" altLang="en-US" sz="2200">
                <a:solidFill>
                  <a:srgbClr val="D333A1"/>
                </a:solidFill>
              </a:rPr>
              <a:t>短期但稳定的环境</a:t>
            </a:r>
            <a:r>
              <a:rPr lang="zh-CN" altLang="en-US" sz="2200"/>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9571">
                                            <p:txEl>
                                              <p:pRg st="1" end="1"/>
                                            </p:txEl>
                                          </p:spTgt>
                                        </p:tgtEl>
                                        <p:attrNameLst>
                                          <p:attrName>style.visibility</p:attrName>
                                        </p:attrNameLst>
                                      </p:cBhvr>
                                      <p:to>
                                        <p:strVal val="visible"/>
                                      </p:to>
                                    </p:set>
                                    <p:animEffect transition="in" filter="wipe(left)">
                                      <p:cBhvr>
                                        <p:cTn id="7" dur="2000"/>
                                        <p:tgtEl>
                                          <p:spTgt spid="10957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9571">
                                            <p:txEl>
                                              <p:pRg st="2" end="2"/>
                                            </p:txEl>
                                          </p:spTgt>
                                        </p:tgtEl>
                                        <p:attrNameLst>
                                          <p:attrName>style.visibility</p:attrName>
                                        </p:attrNameLst>
                                      </p:cBhvr>
                                      <p:to>
                                        <p:strVal val="visible"/>
                                      </p:to>
                                    </p:set>
                                    <p:animEffect transition="in" filter="wipe(left)">
                                      <p:cBhvr>
                                        <p:cTn id="12" dur="2000"/>
                                        <p:tgtEl>
                                          <p:spTgt spid="10957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a:extLst>
              <a:ext uri="{FF2B5EF4-FFF2-40B4-BE49-F238E27FC236}">
                <a16:creationId xmlns:a16="http://schemas.microsoft.com/office/drawing/2014/main" id="{02E3CCA1-C9D6-5E84-6642-63A0A43CD67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C820700-BAD4-4934-AB34-AF767F1D9CC7}" type="slidenum">
              <a:rPr lang="en-US" altLang="zh-CN" sz="1400">
                <a:solidFill>
                  <a:srgbClr val="000000"/>
                </a:solidFill>
                <a:latin typeface="Arial" panose="020B0604020202020204" pitchFamily="34" charset="0"/>
              </a:rPr>
              <a:pPr fontAlgn="base">
                <a:spcBef>
                  <a:spcPct val="0"/>
                </a:spcBef>
                <a:spcAft>
                  <a:spcPct val="0"/>
                </a:spcAft>
              </a:pPr>
              <a:t>66</a:t>
            </a:fld>
            <a:endParaRPr lang="en-US" altLang="zh-CN" sz="1400">
              <a:solidFill>
                <a:srgbClr val="000000"/>
              </a:solidFill>
              <a:latin typeface="Arial" panose="020B0604020202020204" pitchFamily="34" charset="0"/>
            </a:endParaRPr>
          </a:p>
        </p:txBody>
      </p:sp>
      <p:sp>
        <p:nvSpPr>
          <p:cNvPr id="54275" name="Rectangle 2">
            <a:extLst>
              <a:ext uri="{FF2B5EF4-FFF2-40B4-BE49-F238E27FC236}">
                <a16:creationId xmlns:a16="http://schemas.microsoft.com/office/drawing/2014/main" id="{53BB4577-EDD0-DF02-288D-4DE3543F3DB8}"/>
              </a:ext>
            </a:extLst>
          </p:cNvPr>
          <p:cNvSpPr>
            <a:spLocks noGrp="1" noChangeArrowheads="1"/>
          </p:cNvSpPr>
          <p:nvPr>
            <p:ph type="title"/>
          </p:nvPr>
        </p:nvSpPr>
        <p:spPr/>
        <p:txBody>
          <a:bodyPr/>
          <a:lstStyle/>
          <a:p>
            <a:r>
              <a:rPr lang="en-US" altLang="zh-CN"/>
              <a:t>Scrum</a:t>
            </a:r>
            <a:r>
              <a:rPr lang="zh-CN" altLang="en-US"/>
              <a:t>的活动</a:t>
            </a:r>
            <a:endParaRPr lang="en-US" altLang="zh-CN"/>
          </a:p>
        </p:txBody>
      </p:sp>
      <p:sp>
        <p:nvSpPr>
          <p:cNvPr id="110595" name="Rectangle 3">
            <a:extLst>
              <a:ext uri="{FF2B5EF4-FFF2-40B4-BE49-F238E27FC236}">
                <a16:creationId xmlns:a16="http://schemas.microsoft.com/office/drawing/2014/main" id="{43253325-CBA6-90AA-DDDA-DBAB5F42309C}"/>
              </a:ext>
            </a:extLst>
          </p:cNvPr>
          <p:cNvSpPr>
            <a:spLocks noGrp="1" noChangeArrowheads="1"/>
          </p:cNvSpPr>
          <p:nvPr>
            <p:ph type="body" idx="1"/>
          </p:nvPr>
        </p:nvSpPr>
        <p:spPr/>
        <p:txBody>
          <a:bodyPr/>
          <a:lstStyle/>
          <a:p>
            <a:pPr>
              <a:lnSpc>
                <a:spcPct val="150000"/>
              </a:lnSpc>
              <a:buFont typeface="Wingdings" panose="05000000000000000000" pitchFamily="2" charset="2"/>
              <a:buChar char="n"/>
            </a:pPr>
            <a:r>
              <a:rPr lang="en-US" altLang="zh-CN" sz="2600">
                <a:solidFill>
                  <a:srgbClr val="D333A1"/>
                </a:solidFill>
              </a:rPr>
              <a:t>Scrum</a:t>
            </a:r>
            <a:r>
              <a:rPr lang="zh-CN" altLang="en-US" sz="2600">
                <a:solidFill>
                  <a:srgbClr val="D333A1"/>
                </a:solidFill>
              </a:rPr>
              <a:t>例会：</a:t>
            </a:r>
          </a:p>
          <a:p>
            <a:pPr lvl="1">
              <a:lnSpc>
                <a:spcPct val="150000"/>
              </a:lnSpc>
              <a:buFont typeface="Wingdings" panose="05000000000000000000" pitchFamily="2" charset="2"/>
              <a:buChar char="n"/>
            </a:pPr>
            <a:r>
              <a:rPr lang="en-US" altLang="zh-CN" sz="2200"/>
              <a:t>Scrum</a:t>
            </a:r>
            <a:r>
              <a:rPr lang="zh-CN" altLang="en-US" sz="2200"/>
              <a:t>团队</a:t>
            </a:r>
            <a:r>
              <a:rPr lang="zh-CN" altLang="en-US" sz="2200">
                <a:solidFill>
                  <a:srgbClr val="FA0C34"/>
                </a:solidFill>
              </a:rPr>
              <a:t>每天召开的短会</a:t>
            </a:r>
            <a:r>
              <a:rPr lang="zh-CN" altLang="en-US" sz="2200"/>
              <a:t>（一般情况为</a:t>
            </a:r>
            <a:r>
              <a:rPr lang="en-US" altLang="zh-CN" sz="2200"/>
              <a:t>15</a:t>
            </a:r>
            <a:r>
              <a:rPr lang="zh-CN" altLang="en-US" sz="2200"/>
              <a:t>分钟），会上所有成员要回答三个问题：</a:t>
            </a:r>
          </a:p>
          <a:p>
            <a:pPr lvl="2">
              <a:lnSpc>
                <a:spcPct val="150000"/>
              </a:lnSpc>
              <a:buFont typeface="Wingdings" panose="05000000000000000000" pitchFamily="2" charset="2"/>
              <a:buChar char="n"/>
            </a:pPr>
            <a:r>
              <a:rPr lang="zh-CN" altLang="en-US" sz="2000"/>
              <a:t>上次例会后做了什么？</a:t>
            </a:r>
          </a:p>
          <a:p>
            <a:pPr lvl="2">
              <a:lnSpc>
                <a:spcPct val="150000"/>
              </a:lnSpc>
              <a:buFont typeface="Wingdings" panose="05000000000000000000" pitchFamily="2" charset="2"/>
              <a:buChar char="n"/>
            </a:pPr>
            <a:r>
              <a:rPr lang="zh-CN" altLang="en-US" sz="2000"/>
              <a:t>遇到了什么困难？</a:t>
            </a:r>
          </a:p>
          <a:p>
            <a:pPr lvl="2">
              <a:lnSpc>
                <a:spcPct val="150000"/>
              </a:lnSpc>
              <a:buFont typeface="Wingdings" panose="05000000000000000000" pitchFamily="2" charset="2"/>
              <a:buChar char="n"/>
            </a:pPr>
            <a:r>
              <a:rPr lang="zh-CN" altLang="en-US" sz="2000"/>
              <a:t>下次例会前计划做些什么？</a:t>
            </a:r>
          </a:p>
          <a:p>
            <a:pPr lvl="1">
              <a:lnSpc>
                <a:spcPct val="150000"/>
              </a:lnSpc>
              <a:buFont typeface="Wingdings" panose="05000000000000000000" pitchFamily="2" charset="2"/>
              <a:buChar char="n"/>
            </a:pPr>
            <a:r>
              <a:rPr lang="zh-CN" altLang="en-US" sz="2200"/>
              <a:t>团队领导（也称为</a:t>
            </a:r>
            <a:r>
              <a:rPr lang="en-US" altLang="zh-CN" sz="2200"/>
              <a:t>Scrum</a:t>
            </a:r>
            <a:r>
              <a:rPr lang="zh-CN" altLang="en-US" sz="2200"/>
              <a:t>主持人）主持会议并评价每个团队成员的表现。</a:t>
            </a:r>
            <a:r>
              <a:rPr lang="en-US" altLang="zh-CN" sz="2200"/>
              <a:t>Scrum</a:t>
            </a:r>
            <a:r>
              <a:rPr lang="zh-CN" altLang="en-US" sz="2200"/>
              <a:t>会议帮助团队</a:t>
            </a:r>
            <a:r>
              <a:rPr lang="zh-CN" altLang="en-US" sz="2200">
                <a:solidFill>
                  <a:srgbClr val="D333A1"/>
                </a:solidFill>
              </a:rPr>
              <a:t>尽早发现潜在的问题</a:t>
            </a:r>
            <a:r>
              <a:rPr lang="zh-CN" altLang="en-US" sz="2200"/>
              <a:t>。同时，每日例会进一步促进自我组织团队的建设。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10595">
                                            <p:txEl>
                                              <p:pRg st="1" end="1"/>
                                            </p:txEl>
                                          </p:spTgt>
                                        </p:tgtEl>
                                        <p:attrNameLst>
                                          <p:attrName>style.visibility</p:attrName>
                                        </p:attrNameLst>
                                      </p:cBhvr>
                                      <p:to>
                                        <p:strVal val="visible"/>
                                      </p:to>
                                    </p:set>
                                    <p:anim calcmode="lin" valueType="num">
                                      <p:cBhvr additive="base">
                                        <p:cTn id="7" dur="1000" fill="hold"/>
                                        <p:tgtEl>
                                          <p:spTgt spid="110595">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105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10595">
                                            <p:txEl>
                                              <p:pRg st="2" end="2"/>
                                            </p:txEl>
                                          </p:spTgt>
                                        </p:tgtEl>
                                        <p:attrNameLst>
                                          <p:attrName>style.visibility</p:attrName>
                                        </p:attrNameLst>
                                      </p:cBhvr>
                                      <p:to>
                                        <p:strVal val="visible"/>
                                      </p:to>
                                    </p:set>
                                    <p:anim calcmode="lin" valueType="num">
                                      <p:cBhvr additive="base">
                                        <p:cTn id="13" dur="1000" fill="hold"/>
                                        <p:tgtEl>
                                          <p:spTgt spid="110595">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1059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10595">
                                            <p:txEl>
                                              <p:pRg st="3" end="3"/>
                                            </p:txEl>
                                          </p:spTgt>
                                        </p:tgtEl>
                                        <p:attrNameLst>
                                          <p:attrName>style.visibility</p:attrName>
                                        </p:attrNameLst>
                                      </p:cBhvr>
                                      <p:to>
                                        <p:strVal val="visible"/>
                                      </p:to>
                                    </p:set>
                                    <p:anim calcmode="lin" valueType="num">
                                      <p:cBhvr additive="base">
                                        <p:cTn id="19" dur="1000" fill="hold"/>
                                        <p:tgtEl>
                                          <p:spTgt spid="110595">
                                            <p:txEl>
                                              <p:pRg st="3" end="3"/>
                                            </p:txEl>
                                          </p:spTgt>
                                        </p:tgtEl>
                                        <p:attrNameLst>
                                          <p:attrName>ppt_x</p:attrName>
                                        </p:attrNameLst>
                                      </p:cBhvr>
                                      <p:tavLst>
                                        <p:tav tm="0">
                                          <p:val>
                                            <p:strVal val="#ppt_x"/>
                                          </p:val>
                                        </p:tav>
                                        <p:tav tm="100000">
                                          <p:val>
                                            <p:strVal val="#ppt_x"/>
                                          </p:val>
                                        </p:tav>
                                      </p:tavLst>
                                    </p:anim>
                                    <p:anim calcmode="lin" valueType="num">
                                      <p:cBhvr additive="base">
                                        <p:cTn id="20" dur="1000" fill="hold"/>
                                        <p:tgtEl>
                                          <p:spTgt spid="1105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10595">
                                            <p:txEl>
                                              <p:pRg st="4" end="4"/>
                                            </p:txEl>
                                          </p:spTgt>
                                        </p:tgtEl>
                                        <p:attrNameLst>
                                          <p:attrName>style.visibility</p:attrName>
                                        </p:attrNameLst>
                                      </p:cBhvr>
                                      <p:to>
                                        <p:strVal val="visible"/>
                                      </p:to>
                                    </p:set>
                                    <p:anim calcmode="lin" valueType="num">
                                      <p:cBhvr additive="base">
                                        <p:cTn id="25" dur="1000" fill="hold"/>
                                        <p:tgtEl>
                                          <p:spTgt spid="110595">
                                            <p:txEl>
                                              <p:pRg st="4" end="4"/>
                                            </p:txEl>
                                          </p:spTgt>
                                        </p:tgtEl>
                                        <p:attrNameLst>
                                          <p:attrName>ppt_x</p:attrName>
                                        </p:attrNameLst>
                                      </p:cBhvr>
                                      <p:tavLst>
                                        <p:tav tm="0">
                                          <p:val>
                                            <p:strVal val="#ppt_x"/>
                                          </p:val>
                                        </p:tav>
                                        <p:tav tm="100000">
                                          <p:val>
                                            <p:strVal val="#ppt_x"/>
                                          </p:val>
                                        </p:tav>
                                      </p:tavLst>
                                    </p:anim>
                                    <p:anim calcmode="lin" valueType="num">
                                      <p:cBhvr additive="base">
                                        <p:cTn id="26" dur="1000" fill="hold"/>
                                        <p:tgtEl>
                                          <p:spTgt spid="11059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10595">
                                            <p:txEl>
                                              <p:pRg st="5" end="5"/>
                                            </p:txEl>
                                          </p:spTgt>
                                        </p:tgtEl>
                                        <p:attrNameLst>
                                          <p:attrName>style.visibility</p:attrName>
                                        </p:attrNameLst>
                                      </p:cBhvr>
                                      <p:to>
                                        <p:strVal val="visible"/>
                                      </p:to>
                                    </p:set>
                                    <p:anim calcmode="lin" valueType="num">
                                      <p:cBhvr additive="base">
                                        <p:cTn id="31" dur="1000" fill="hold"/>
                                        <p:tgtEl>
                                          <p:spTgt spid="110595">
                                            <p:txEl>
                                              <p:pRg st="5" end="5"/>
                                            </p:txEl>
                                          </p:spTgt>
                                        </p:tgtEl>
                                        <p:attrNameLst>
                                          <p:attrName>ppt_x</p:attrName>
                                        </p:attrNameLst>
                                      </p:cBhvr>
                                      <p:tavLst>
                                        <p:tav tm="0">
                                          <p:val>
                                            <p:strVal val="#ppt_x"/>
                                          </p:val>
                                        </p:tav>
                                        <p:tav tm="100000">
                                          <p:val>
                                            <p:strVal val="#ppt_x"/>
                                          </p:val>
                                        </p:tav>
                                      </p:tavLst>
                                    </p:anim>
                                    <p:anim calcmode="lin" valueType="num">
                                      <p:cBhvr additive="base">
                                        <p:cTn id="32" dur="1000" fill="hold"/>
                                        <p:tgtEl>
                                          <p:spTgt spid="1105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6">
            <a:extLst>
              <a:ext uri="{FF2B5EF4-FFF2-40B4-BE49-F238E27FC236}">
                <a16:creationId xmlns:a16="http://schemas.microsoft.com/office/drawing/2014/main" id="{250A4454-5636-F082-6280-248B3C50E1B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21A8BEAE-0036-46B4-A458-2412D78CFCC8}" type="slidenum">
              <a:rPr lang="en-US" altLang="zh-CN" sz="1400">
                <a:solidFill>
                  <a:srgbClr val="000000"/>
                </a:solidFill>
                <a:latin typeface="Arial" panose="020B0604020202020204" pitchFamily="34" charset="0"/>
              </a:rPr>
              <a:pPr fontAlgn="base">
                <a:spcBef>
                  <a:spcPct val="0"/>
                </a:spcBef>
                <a:spcAft>
                  <a:spcPct val="0"/>
                </a:spcAft>
              </a:pPr>
              <a:t>67</a:t>
            </a:fld>
            <a:endParaRPr lang="en-US" altLang="zh-CN" sz="1400">
              <a:solidFill>
                <a:srgbClr val="000000"/>
              </a:solidFill>
              <a:latin typeface="Arial" panose="020B0604020202020204" pitchFamily="34" charset="0"/>
            </a:endParaRPr>
          </a:p>
        </p:txBody>
      </p:sp>
      <p:sp>
        <p:nvSpPr>
          <p:cNvPr id="55299" name="Rectangle 2">
            <a:extLst>
              <a:ext uri="{FF2B5EF4-FFF2-40B4-BE49-F238E27FC236}">
                <a16:creationId xmlns:a16="http://schemas.microsoft.com/office/drawing/2014/main" id="{1B010589-277B-06B9-7FCD-A2CDFA870B9A}"/>
              </a:ext>
            </a:extLst>
          </p:cNvPr>
          <p:cNvSpPr>
            <a:spLocks noGrp="1" noChangeArrowheads="1"/>
          </p:cNvSpPr>
          <p:nvPr>
            <p:ph type="title"/>
          </p:nvPr>
        </p:nvSpPr>
        <p:spPr/>
        <p:txBody>
          <a:bodyPr/>
          <a:lstStyle/>
          <a:p>
            <a:r>
              <a:rPr lang="en-US" altLang="zh-CN"/>
              <a:t>Scrum</a:t>
            </a:r>
            <a:r>
              <a:rPr lang="zh-CN" altLang="en-US"/>
              <a:t>过程流</a:t>
            </a:r>
          </a:p>
        </p:txBody>
      </p:sp>
      <p:pic>
        <p:nvPicPr>
          <p:cNvPr id="55300" name="Picture 3">
            <a:extLst>
              <a:ext uri="{FF2B5EF4-FFF2-40B4-BE49-F238E27FC236}">
                <a16:creationId xmlns:a16="http://schemas.microsoft.com/office/drawing/2014/main" id="{0D9F500D-F112-E6E7-6DEF-10316E7702EF}"/>
              </a:ext>
            </a:extLst>
          </p:cNvPr>
          <p:cNvPicPr>
            <a:picLocks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1981200" y="908051"/>
            <a:ext cx="8229600" cy="5078413"/>
          </a:xfr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6">
            <a:extLst>
              <a:ext uri="{FF2B5EF4-FFF2-40B4-BE49-F238E27FC236}">
                <a16:creationId xmlns:a16="http://schemas.microsoft.com/office/drawing/2014/main" id="{C043D388-6792-5A6D-52DD-4053A4F83710}"/>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CEB9EDC-BD99-4754-86E2-101B461E6ED1}" type="slidenum">
              <a:rPr lang="en-US" altLang="zh-CN" sz="1400">
                <a:solidFill>
                  <a:srgbClr val="000000"/>
                </a:solidFill>
                <a:latin typeface="Arial" panose="020B0604020202020204" pitchFamily="34" charset="0"/>
              </a:rPr>
              <a:pPr fontAlgn="base">
                <a:spcBef>
                  <a:spcPct val="0"/>
                </a:spcBef>
                <a:spcAft>
                  <a:spcPct val="0"/>
                </a:spcAft>
              </a:pPr>
              <a:t>68</a:t>
            </a:fld>
            <a:endParaRPr lang="en-US" altLang="zh-CN" sz="1400">
              <a:solidFill>
                <a:srgbClr val="000000"/>
              </a:solidFill>
              <a:latin typeface="Arial" panose="020B0604020202020204" pitchFamily="34" charset="0"/>
            </a:endParaRPr>
          </a:p>
        </p:txBody>
      </p:sp>
      <p:sp>
        <p:nvSpPr>
          <p:cNvPr id="56323" name="Rectangle 2">
            <a:extLst>
              <a:ext uri="{FF2B5EF4-FFF2-40B4-BE49-F238E27FC236}">
                <a16:creationId xmlns:a16="http://schemas.microsoft.com/office/drawing/2014/main" id="{87EB7657-06C6-2A9F-B1B9-29A598D3F7AE}"/>
              </a:ext>
            </a:extLst>
          </p:cNvPr>
          <p:cNvSpPr>
            <a:spLocks noGrp="1" noChangeArrowheads="1"/>
          </p:cNvSpPr>
          <p:nvPr>
            <p:ph type="title"/>
          </p:nvPr>
        </p:nvSpPr>
        <p:spPr/>
        <p:txBody>
          <a:bodyPr/>
          <a:lstStyle/>
          <a:p>
            <a:r>
              <a:rPr lang="zh-CN" altLang="en-US"/>
              <a:t>动态系统开发</a:t>
            </a:r>
          </a:p>
        </p:txBody>
      </p:sp>
      <p:sp>
        <p:nvSpPr>
          <p:cNvPr id="77827" name="Rectangle 3">
            <a:extLst>
              <a:ext uri="{FF2B5EF4-FFF2-40B4-BE49-F238E27FC236}">
                <a16:creationId xmlns:a16="http://schemas.microsoft.com/office/drawing/2014/main" id="{7F1CC7D4-3678-2D94-C4B9-C78F4FF1949F}"/>
              </a:ext>
            </a:extLst>
          </p:cNvPr>
          <p:cNvSpPr>
            <a:spLocks noGrp="1" noChangeArrowheads="1"/>
          </p:cNvSpPr>
          <p:nvPr>
            <p:ph type="body" idx="1"/>
          </p:nvPr>
        </p:nvSpPr>
        <p:spPr>
          <a:xfrm>
            <a:off x="1981200" y="1196975"/>
            <a:ext cx="8229600" cy="4933950"/>
          </a:xfrm>
        </p:spPr>
        <p:txBody>
          <a:bodyPr/>
          <a:lstStyle/>
          <a:p>
            <a:pPr>
              <a:lnSpc>
                <a:spcPct val="150000"/>
              </a:lnSpc>
              <a:spcBef>
                <a:spcPct val="50000"/>
              </a:spcBef>
              <a:buFont typeface="Wingdings" panose="05000000000000000000" pitchFamily="2" charset="2"/>
              <a:buChar char="p"/>
            </a:pPr>
            <a:r>
              <a:rPr lang="zh-CN" altLang="en-US" sz="2200"/>
              <a:t>动态系统开发方法（</a:t>
            </a:r>
            <a:r>
              <a:rPr lang="en-US" altLang="zh-CN" sz="2200"/>
              <a:t>Dynamic System Development Method</a:t>
            </a:r>
            <a:r>
              <a:rPr lang="zh-CN" altLang="en-US" sz="2200"/>
              <a:t>，</a:t>
            </a:r>
            <a:r>
              <a:rPr lang="en-US" altLang="zh-CN" sz="2200"/>
              <a:t>DSDM</a:t>
            </a:r>
            <a:r>
              <a:rPr lang="zh-CN" altLang="en-US" sz="2200"/>
              <a:t>）提供一种框架，使其“通过在可控项目环境中</a:t>
            </a:r>
            <a:r>
              <a:rPr lang="zh-CN" altLang="en-US" sz="2200">
                <a:solidFill>
                  <a:srgbClr val="FA0C34"/>
                </a:solidFill>
              </a:rPr>
              <a:t>使用增量原型开发模式</a:t>
            </a:r>
            <a:r>
              <a:rPr lang="zh-CN" altLang="en-US" sz="2200"/>
              <a:t>来满足</a:t>
            </a:r>
            <a:r>
              <a:rPr lang="zh-CN" altLang="en-US" sz="2200">
                <a:solidFill>
                  <a:srgbClr val="FA0C34"/>
                </a:solidFill>
              </a:rPr>
              <a:t>对时间有约束系统</a:t>
            </a:r>
            <a:r>
              <a:rPr lang="zh-CN" altLang="en-US" sz="2200"/>
              <a:t>的</a:t>
            </a:r>
            <a:r>
              <a:rPr lang="zh-CN" altLang="en-US" sz="2200">
                <a:solidFill>
                  <a:srgbClr val="FA0C34"/>
                </a:solidFill>
              </a:rPr>
              <a:t>构建</a:t>
            </a:r>
            <a:r>
              <a:rPr lang="zh-CN" altLang="en-US" sz="2200"/>
              <a:t>和</a:t>
            </a:r>
            <a:r>
              <a:rPr lang="zh-CN" altLang="en-US" sz="2200">
                <a:solidFill>
                  <a:srgbClr val="FA0C34"/>
                </a:solidFill>
              </a:rPr>
              <a:t>维护</a:t>
            </a:r>
            <a:r>
              <a:rPr lang="zh-CN" altLang="en-US" sz="2200"/>
              <a:t>”。</a:t>
            </a:r>
          </a:p>
          <a:p>
            <a:pPr>
              <a:lnSpc>
                <a:spcPct val="150000"/>
              </a:lnSpc>
              <a:spcBef>
                <a:spcPct val="50000"/>
              </a:spcBef>
              <a:buFont typeface="Wingdings" panose="05000000000000000000" pitchFamily="2" charset="2"/>
              <a:buChar char="p"/>
            </a:pPr>
            <a:r>
              <a:rPr lang="zh-CN" altLang="en-US" sz="2200"/>
              <a:t>如果交付整个应用系统需用</a:t>
            </a:r>
            <a:r>
              <a:rPr lang="en-US" altLang="zh-CN" sz="2200"/>
              <a:t>100%</a:t>
            </a:r>
            <a:r>
              <a:rPr lang="zh-CN" altLang="en-US" sz="2200"/>
              <a:t>时间，那么</a:t>
            </a:r>
            <a:r>
              <a:rPr lang="en-US" altLang="zh-CN" sz="2200">
                <a:solidFill>
                  <a:srgbClr val="FA0C34"/>
                </a:solidFill>
              </a:rPr>
              <a:t>80%</a:t>
            </a:r>
            <a:r>
              <a:rPr lang="zh-CN" altLang="en-US" sz="2200">
                <a:solidFill>
                  <a:srgbClr val="FA0C34"/>
                </a:solidFill>
              </a:rPr>
              <a:t>的应用系统</a:t>
            </a:r>
            <a:r>
              <a:rPr lang="zh-CN" altLang="en-US" sz="2200"/>
              <a:t>可以用</a:t>
            </a:r>
            <a:r>
              <a:rPr lang="en-US" altLang="zh-CN" sz="2200">
                <a:solidFill>
                  <a:srgbClr val="FA0C34"/>
                </a:solidFill>
              </a:rPr>
              <a:t>20%</a:t>
            </a:r>
            <a:r>
              <a:rPr lang="zh-CN" altLang="en-US" sz="2200">
                <a:solidFill>
                  <a:srgbClr val="FA0C34"/>
                </a:solidFill>
              </a:rPr>
              <a:t>的时间</a:t>
            </a:r>
            <a:r>
              <a:rPr lang="zh-CN" altLang="en-US" sz="2200"/>
              <a:t>交付。</a:t>
            </a:r>
          </a:p>
          <a:p>
            <a:pPr>
              <a:lnSpc>
                <a:spcPct val="150000"/>
              </a:lnSpc>
              <a:spcBef>
                <a:spcPct val="50000"/>
              </a:spcBef>
              <a:buFont typeface="Wingdings" panose="05000000000000000000" pitchFamily="2" charset="2"/>
              <a:buChar char="p"/>
            </a:pPr>
            <a:r>
              <a:rPr lang="zh-CN" altLang="en-US" sz="2200"/>
              <a:t>特点：每一个迭代都遵循</a:t>
            </a:r>
            <a:r>
              <a:rPr lang="en-US" altLang="zh-CN" sz="2200">
                <a:solidFill>
                  <a:srgbClr val="FA0C34"/>
                </a:solidFill>
              </a:rPr>
              <a:t>80%</a:t>
            </a:r>
            <a:r>
              <a:rPr lang="zh-CN" altLang="en-US" sz="2200">
                <a:solidFill>
                  <a:srgbClr val="FA0C34"/>
                </a:solidFill>
              </a:rPr>
              <a:t>原则</a:t>
            </a:r>
            <a:r>
              <a:rPr lang="zh-CN" altLang="en-US" sz="2200"/>
              <a:t>，即每个增量只完成能够保证顺利进入下一增量的工作，剩余的</a:t>
            </a:r>
            <a:r>
              <a:rPr lang="zh-CN" altLang="en-US" sz="2200">
                <a:solidFill>
                  <a:srgbClr val="FA0C34"/>
                </a:solidFill>
              </a:rPr>
              <a:t>细节</a:t>
            </a:r>
            <a:r>
              <a:rPr lang="zh-CN" altLang="en-US" sz="2200"/>
              <a:t>则可以在知道更多业务需求或者提出并同意变更</a:t>
            </a:r>
            <a:r>
              <a:rPr lang="zh-CN" altLang="en-US" sz="2200">
                <a:solidFill>
                  <a:srgbClr val="FA0C34"/>
                </a:solidFill>
              </a:rPr>
              <a:t>之后完成</a:t>
            </a:r>
            <a:r>
              <a:rPr lang="zh-CN" altLang="en-US" sz="22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77827">
                                            <p:txEl>
                                              <p:pRg st="1" end="1"/>
                                            </p:txEl>
                                          </p:spTgt>
                                        </p:tgtEl>
                                        <p:attrNameLst>
                                          <p:attrName>style.visibility</p:attrName>
                                        </p:attrNameLst>
                                      </p:cBhvr>
                                      <p:to>
                                        <p:strVal val="visible"/>
                                      </p:to>
                                    </p:set>
                                    <p:animEffect transition="in" filter="box(in)">
                                      <p:cBhvr>
                                        <p:cTn id="7" dur="1000"/>
                                        <p:tgtEl>
                                          <p:spTgt spid="7782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77827">
                                            <p:txEl>
                                              <p:pRg st="2" end="2"/>
                                            </p:txEl>
                                          </p:spTgt>
                                        </p:tgtEl>
                                        <p:attrNameLst>
                                          <p:attrName>style.visibility</p:attrName>
                                        </p:attrNameLst>
                                      </p:cBhvr>
                                      <p:to>
                                        <p:strVal val="visible"/>
                                      </p:to>
                                    </p:set>
                                    <p:animEffect transition="in" filter="box(in)">
                                      <p:cBhvr>
                                        <p:cTn id="12" dur="1000"/>
                                        <p:tgtEl>
                                          <p:spTgt spid="7782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6">
            <a:extLst>
              <a:ext uri="{FF2B5EF4-FFF2-40B4-BE49-F238E27FC236}">
                <a16:creationId xmlns:a16="http://schemas.microsoft.com/office/drawing/2014/main" id="{C1CF0A27-A98E-1BDC-8AF1-D9D6E83F5664}"/>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C4BB881-C548-413A-920B-9E7398053796}" type="slidenum">
              <a:rPr lang="en-US" altLang="zh-CN" sz="1400">
                <a:solidFill>
                  <a:srgbClr val="000000"/>
                </a:solidFill>
                <a:latin typeface="Arial" panose="020B0604020202020204" pitchFamily="34" charset="0"/>
              </a:rPr>
              <a:pPr fontAlgn="base">
                <a:spcBef>
                  <a:spcPct val="0"/>
                </a:spcBef>
                <a:spcAft>
                  <a:spcPct val="0"/>
                </a:spcAft>
              </a:pPr>
              <a:t>69</a:t>
            </a:fld>
            <a:endParaRPr lang="en-US" altLang="zh-CN" sz="1400">
              <a:solidFill>
                <a:srgbClr val="000000"/>
              </a:solidFill>
              <a:latin typeface="Arial" panose="020B0604020202020204" pitchFamily="34" charset="0"/>
            </a:endParaRPr>
          </a:p>
        </p:txBody>
      </p:sp>
      <p:sp>
        <p:nvSpPr>
          <p:cNvPr id="57347" name="Rectangle 2">
            <a:extLst>
              <a:ext uri="{FF2B5EF4-FFF2-40B4-BE49-F238E27FC236}">
                <a16:creationId xmlns:a16="http://schemas.microsoft.com/office/drawing/2014/main" id="{26CE5CD2-D352-36B2-F118-94504E2A1F0C}"/>
              </a:ext>
            </a:extLst>
          </p:cNvPr>
          <p:cNvSpPr>
            <a:spLocks noGrp="1" noChangeArrowheads="1"/>
          </p:cNvSpPr>
          <p:nvPr>
            <p:ph type="title"/>
          </p:nvPr>
        </p:nvSpPr>
        <p:spPr/>
        <p:txBody>
          <a:bodyPr/>
          <a:lstStyle/>
          <a:p>
            <a:r>
              <a:rPr lang="zh-CN" altLang="en-US"/>
              <a:t>动态系统开发</a:t>
            </a:r>
          </a:p>
        </p:txBody>
      </p:sp>
      <p:sp>
        <p:nvSpPr>
          <p:cNvPr id="57348" name="Rectangle 3">
            <a:extLst>
              <a:ext uri="{FF2B5EF4-FFF2-40B4-BE49-F238E27FC236}">
                <a16:creationId xmlns:a16="http://schemas.microsoft.com/office/drawing/2014/main" id="{98103379-34BA-4C56-D94A-7DEB25A07D53}"/>
              </a:ext>
            </a:extLst>
          </p:cNvPr>
          <p:cNvSpPr>
            <a:spLocks noGrp="1" noChangeArrowheads="1"/>
          </p:cNvSpPr>
          <p:nvPr>
            <p:ph type="body" idx="1"/>
          </p:nvPr>
        </p:nvSpPr>
        <p:spPr/>
        <p:txBody>
          <a:bodyPr/>
          <a:lstStyle/>
          <a:p>
            <a:pPr>
              <a:lnSpc>
                <a:spcPct val="145000"/>
              </a:lnSpc>
              <a:buFont typeface="Wingdings" panose="05000000000000000000" pitchFamily="2" charset="2"/>
              <a:buChar char="p"/>
            </a:pPr>
            <a:r>
              <a:rPr lang="en-US" altLang="zh-CN"/>
              <a:t>DSDM</a:t>
            </a:r>
            <a:r>
              <a:rPr lang="zh-CN" altLang="en-US"/>
              <a:t>生命周期活动：</a:t>
            </a:r>
          </a:p>
          <a:p>
            <a:pPr lvl="1">
              <a:lnSpc>
                <a:spcPct val="145000"/>
              </a:lnSpc>
              <a:buFont typeface="Wingdings" panose="05000000000000000000" pitchFamily="2" charset="2"/>
              <a:buChar char="p"/>
            </a:pPr>
            <a:r>
              <a:rPr lang="zh-CN" altLang="en-US" sz="2100">
                <a:solidFill>
                  <a:srgbClr val="FA0C34"/>
                </a:solidFill>
              </a:rPr>
              <a:t>可行性研究</a:t>
            </a:r>
            <a:r>
              <a:rPr lang="zh-CN" altLang="en-US" sz="2100"/>
              <a:t>。建立要开发应用系统的</a:t>
            </a:r>
            <a:r>
              <a:rPr lang="zh-CN" altLang="en-US" sz="2100">
                <a:solidFill>
                  <a:srgbClr val="FA0C34"/>
                </a:solidFill>
              </a:rPr>
              <a:t>业务需求</a:t>
            </a:r>
            <a:r>
              <a:rPr lang="zh-CN" altLang="en-US" sz="2100"/>
              <a:t>和</a:t>
            </a:r>
            <a:r>
              <a:rPr lang="zh-CN" altLang="en-US" sz="2100">
                <a:solidFill>
                  <a:srgbClr val="FA0C34"/>
                </a:solidFill>
              </a:rPr>
              <a:t>相关约束</a:t>
            </a:r>
            <a:r>
              <a:rPr lang="zh-CN" altLang="en-US" sz="2100"/>
              <a:t>，并</a:t>
            </a:r>
            <a:r>
              <a:rPr lang="zh-CN" altLang="en-US" sz="2100">
                <a:solidFill>
                  <a:srgbClr val="FA0C34"/>
                </a:solidFill>
              </a:rPr>
              <a:t>评估</a:t>
            </a:r>
            <a:r>
              <a:rPr lang="zh-CN" altLang="en-US" sz="2100"/>
              <a:t>该应用系统</a:t>
            </a:r>
            <a:r>
              <a:rPr lang="zh-CN" altLang="en-US" sz="2100">
                <a:solidFill>
                  <a:srgbClr val="FA0C34"/>
                </a:solidFill>
              </a:rPr>
              <a:t>采用</a:t>
            </a:r>
            <a:r>
              <a:rPr lang="en-US" altLang="zh-CN" sz="2100">
                <a:solidFill>
                  <a:srgbClr val="FA0C34"/>
                </a:solidFill>
              </a:rPr>
              <a:t>DSDM</a:t>
            </a:r>
            <a:r>
              <a:rPr lang="zh-CN" altLang="en-US" sz="2100">
                <a:solidFill>
                  <a:srgbClr val="FA0C34"/>
                </a:solidFill>
              </a:rPr>
              <a:t>过程是否可行</a:t>
            </a:r>
            <a:r>
              <a:rPr lang="zh-CN" altLang="en-US" sz="2100"/>
              <a:t>。</a:t>
            </a:r>
          </a:p>
          <a:p>
            <a:pPr lvl="1">
              <a:lnSpc>
                <a:spcPct val="145000"/>
              </a:lnSpc>
              <a:buFont typeface="Wingdings" panose="05000000000000000000" pitchFamily="2" charset="2"/>
              <a:buChar char="p"/>
            </a:pPr>
            <a:r>
              <a:rPr lang="zh-CN" altLang="en-US" sz="2100">
                <a:solidFill>
                  <a:srgbClr val="FA0C34"/>
                </a:solidFill>
              </a:rPr>
              <a:t>业务研究</a:t>
            </a:r>
            <a:r>
              <a:rPr lang="zh-CN" altLang="en-US" sz="2100"/>
              <a:t>。</a:t>
            </a:r>
            <a:r>
              <a:rPr lang="zh-CN" altLang="en-US" sz="2100">
                <a:solidFill>
                  <a:srgbClr val="FA0C34"/>
                </a:solidFill>
              </a:rPr>
              <a:t>建立</a:t>
            </a:r>
            <a:r>
              <a:rPr lang="zh-CN" altLang="en-US" sz="2100"/>
              <a:t>能为应用系统提供</a:t>
            </a:r>
            <a:r>
              <a:rPr lang="zh-CN" altLang="en-US" sz="2100">
                <a:solidFill>
                  <a:srgbClr val="FA0C34"/>
                </a:solidFill>
              </a:rPr>
              <a:t>业务价值</a:t>
            </a:r>
            <a:r>
              <a:rPr lang="zh-CN" altLang="en-US" sz="2100"/>
              <a:t>所需要的</a:t>
            </a:r>
            <a:r>
              <a:rPr lang="zh-CN" altLang="en-US" sz="2100">
                <a:solidFill>
                  <a:srgbClr val="FA0C34"/>
                </a:solidFill>
              </a:rPr>
              <a:t>功能和信息需求</a:t>
            </a:r>
            <a:r>
              <a:rPr lang="zh-CN" altLang="en-US" sz="2100"/>
              <a:t>；同时，</a:t>
            </a:r>
            <a:r>
              <a:rPr lang="zh-CN" altLang="en-US" sz="2100">
                <a:solidFill>
                  <a:srgbClr val="FA0C34"/>
                </a:solidFill>
              </a:rPr>
              <a:t>确定</a:t>
            </a:r>
            <a:r>
              <a:rPr lang="zh-CN" altLang="en-US" sz="2100"/>
              <a:t>基本的应用系统</a:t>
            </a:r>
            <a:r>
              <a:rPr lang="zh-CN" altLang="en-US" sz="2100">
                <a:solidFill>
                  <a:srgbClr val="FA0C34"/>
                </a:solidFill>
              </a:rPr>
              <a:t>架构</a:t>
            </a:r>
            <a:r>
              <a:rPr lang="zh-CN" altLang="en-US" sz="2100"/>
              <a:t>并</a:t>
            </a:r>
            <a:r>
              <a:rPr lang="zh-CN" altLang="en-US" sz="2100">
                <a:solidFill>
                  <a:srgbClr val="FA0C34"/>
                </a:solidFill>
              </a:rPr>
              <a:t>识别</a:t>
            </a:r>
            <a:r>
              <a:rPr lang="zh-CN" altLang="en-US" sz="2100"/>
              <a:t>软件的</a:t>
            </a:r>
            <a:r>
              <a:rPr lang="zh-CN" altLang="en-US" sz="2100">
                <a:solidFill>
                  <a:srgbClr val="FA0C34"/>
                </a:solidFill>
              </a:rPr>
              <a:t>可维护性需求</a:t>
            </a:r>
            <a:r>
              <a:rPr lang="zh-CN" altLang="en-US" sz="2100"/>
              <a:t>。</a:t>
            </a:r>
          </a:p>
          <a:p>
            <a:pPr lvl="1">
              <a:lnSpc>
                <a:spcPct val="145000"/>
              </a:lnSpc>
              <a:buFont typeface="Wingdings" panose="05000000000000000000" pitchFamily="2" charset="2"/>
              <a:buChar char="p"/>
            </a:pPr>
            <a:r>
              <a:rPr lang="zh-CN" altLang="en-US" sz="2100">
                <a:solidFill>
                  <a:srgbClr val="FA0C34"/>
                </a:solidFill>
              </a:rPr>
              <a:t>功能模型迭代</a:t>
            </a:r>
            <a:r>
              <a:rPr lang="zh-CN" altLang="en-US" sz="2100"/>
              <a:t>。为客户</a:t>
            </a:r>
            <a:r>
              <a:rPr lang="zh-CN" altLang="en-US" sz="2100">
                <a:solidFill>
                  <a:srgbClr val="FA0C34"/>
                </a:solidFill>
              </a:rPr>
              <a:t>开发</a:t>
            </a:r>
            <a:r>
              <a:rPr lang="zh-CN" altLang="en-US" sz="2100"/>
              <a:t>一系列证明其功能的</a:t>
            </a:r>
            <a:r>
              <a:rPr lang="zh-CN" altLang="en-US" sz="2100">
                <a:solidFill>
                  <a:srgbClr val="FA0C34"/>
                </a:solidFill>
              </a:rPr>
              <a:t>增量原型 </a:t>
            </a:r>
            <a:r>
              <a:rPr lang="en-US" altLang="zh-CN" sz="2100"/>
              <a:t>(</a:t>
            </a:r>
            <a:r>
              <a:rPr lang="zh-CN" altLang="en-US" sz="2100"/>
              <a:t>注意：所有</a:t>
            </a:r>
            <a:r>
              <a:rPr lang="en-US" altLang="zh-CN" sz="2100"/>
              <a:t>DSDM</a:t>
            </a:r>
            <a:r>
              <a:rPr lang="zh-CN" altLang="en-US" sz="2100"/>
              <a:t>原型都倾向于</a:t>
            </a:r>
            <a:r>
              <a:rPr lang="zh-CN" altLang="en-US" sz="2100">
                <a:solidFill>
                  <a:srgbClr val="D333A1"/>
                </a:solidFill>
              </a:rPr>
              <a:t>逐渐发展成可交付</a:t>
            </a:r>
            <a:r>
              <a:rPr lang="zh-CN" altLang="en-US" sz="2100"/>
              <a:t>的应用系统 </a:t>
            </a:r>
            <a:r>
              <a:rPr lang="en-US" altLang="zh-CN" sz="2100"/>
              <a:t>)</a:t>
            </a:r>
            <a:r>
              <a:rPr lang="zh-CN" altLang="en-US" sz="2100"/>
              <a:t>。</a:t>
            </a:r>
            <a:r>
              <a:rPr lang="zh-CN" altLang="en-US" sz="2100">
                <a:solidFill>
                  <a:srgbClr val="FA0C34"/>
                </a:solidFill>
              </a:rPr>
              <a:t>迭代的意图</a:t>
            </a:r>
            <a:r>
              <a:rPr lang="zh-CN" altLang="en-US" sz="2100"/>
              <a:t>是在用户使用原型系统时</a:t>
            </a:r>
            <a:r>
              <a:rPr lang="zh-CN" altLang="en-US" sz="2100">
                <a:solidFill>
                  <a:srgbClr val="FA0C34"/>
                </a:solidFill>
              </a:rPr>
              <a:t>诱导</a:t>
            </a:r>
            <a:r>
              <a:rPr lang="zh-CN" altLang="en-US" sz="2100"/>
              <a:t>出</a:t>
            </a:r>
            <a:r>
              <a:rPr lang="zh-CN" altLang="en-US" sz="2100">
                <a:solidFill>
                  <a:srgbClr val="FA0C34"/>
                </a:solidFill>
              </a:rPr>
              <a:t>反馈信息</a:t>
            </a:r>
            <a:r>
              <a:rPr lang="zh-CN" altLang="en-US" sz="2100"/>
              <a:t>以获取其他的需求。</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6">
            <a:extLst>
              <a:ext uri="{FF2B5EF4-FFF2-40B4-BE49-F238E27FC236}">
                <a16:creationId xmlns:a16="http://schemas.microsoft.com/office/drawing/2014/main" id="{F1DD15F6-F0A8-B866-9BE8-E28420C0C722}"/>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01C7CBA2-5BD8-4D1A-BD14-76240C06BA55}" type="slidenum">
              <a:rPr lang="en-US" altLang="zh-CN" sz="1400">
                <a:solidFill>
                  <a:srgbClr val="000000"/>
                </a:solidFill>
                <a:latin typeface="Arial" panose="020B0604020202020204" pitchFamily="34" charset="0"/>
              </a:rPr>
              <a:pPr fontAlgn="base">
                <a:spcBef>
                  <a:spcPct val="0"/>
                </a:spcBef>
                <a:spcAft>
                  <a:spcPct val="0"/>
                </a:spcAft>
              </a:pPr>
              <a:t>70</a:t>
            </a:fld>
            <a:endParaRPr lang="en-US" altLang="zh-CN" sz="1400">
              <a:solidFill>
                <a:srgbClr val="000000"/>
              </a:solidFill>
              <a:latin typeface="Arial" panose="020B0604020202020204" pitchFamily="34" charset="0"/>
            </a:endParaRPr>
          </a:p>
        </p:txBody>
      </p:sp>
      <p:sp>
        <p:nvSpPr>
          <p:cNvPr id="58371" name="Rectangle 2">
            <a:extLst>
              <a:ext uri="{FF2B5EF4-FFF2-40B4-BE49-F238E27FC236}">
                <a16:creationId xmlns:a16="http://schemas.microsoft.com/office/drawing/2014/main" id="{2CE4A24A-A26D-7755-F7D7-5BCC4ED66276}"/>
              </a:ext>
            </a:extLst>
          </p:cNvPr>
          <p:cNvSpPr>
            <a:spLocks noGrp="1" noChangeArrowheads="1"/>
          </p:cNvSpPr>
          <p:nvPr>
            <p:ph type="title"/>
          </p:nvPr>
        </p:nvSpPr>
        <p:spPr/>
        <p:txBody>
          <a:bodyPr/>
          <a:lstStyle/>
          <a:p>
            <a:r>
              <a:rPr lang="zh-CN" altLang="en-US"/>
              <a:t>动态系统开发的生命周期活动</a:t>
            </a:r>
          </a:p>
        </p:txBody>
      </p:sp>
      <p:sp>
        <p:nvSpPr>
          <p:cNvPr id="58372" name="Rectangle 3">
            <a:extLst>
              <a:ext uri="{FF2B5EF4-FFF2-40B4-BE49-F238E27FC236}">
                <a16:creationId xmlns:a16="http://schemas.microsoft.com/office/drawing/2014/main" id="{2CEEBEC2-A76F-FC36-56CD-C26834BA57BC}"/>
              </a:ext>
            </a:extLst>
          </p:cNvPr>
          <p:cNvSpPr>
            <a:spLocks noGrp="1" noChangeArrowheads="1"/>
          </p:cNvSpPr>
          <p:nvPr>
            <p:ph type="body" idx="1"/>
          </p:nvPr>
        </p:nvSpPr>
        <p:spPr>
          <a:xfrm>
            <a:off x="1847850" y="1196975"/>
            <a:ext cx="8362950" cy="4933950"/>
          </a:xfrm>
        </p:spPr>
        <p:txBody>
          <a:bodyPr/>
          <a:lstStyle/>
          <a:p>
            <a:pPr lvl="1">
              <a:lnSpc>
                <a:spcPct val="150000"/>
              </a:lnSpc>
              <a:spcBef>
                <a:spcPct val="50000"/>
              </a:spcBef>
              <a:buFont typeface="Wingdings" panose="05000000000000000000" pitchFamily="2" charset="2"/>
              <a:buChar char="p"/>
            </a:pPr>
            <a:r>
              <a:rPr lang="zh-CN" altLang="en-US">
                <a:solidFill>
                  <a:srgbClr val="FA0C34"/>
                </a:solidFill>
              </a:rPr>
              <a:t>设计和构建迭代</a:t>
            </a:r>
            <a:r>
              <a:rPr lang="zh-CN" altLang="en-US"/>
              <a:t>。</a:t>
            </a:r>
            <a:r>
              <a:rPr lang="zh-CN" altLang="en-US">
                <a:solidFill>
                  <a:srgbClr val="D333A1"/>
                </a:solidFill>
              </a:rPr>
              <a:t>重新构建原型</a:t>
            </a:r>
            <a:r>
              <a:rPr lang="zh-CN" altLang="en-US"/>
              <a:t>以确保每一个原型都以</a:t>
            </a:r>
            <a:r>
              <a:rPr lang="zh-CN" altLang="en-US">
                <a:solidFill>
                  <a:srgbClr val="FA0C34"/>
                </a:solidFill>
              </a:rPr>
              <a:t>工程化</a:t>
            </a:r>
            <a:r>
              <a:rPr lang="zh-CN" altLang="en-US"/>
              <a:t>方式实现，并能为最终用户提供可操作的业务价值。 </a:t>
            </a:r>
          </a:p>
          <a:p>
            <a:pPr lvl="1">
              <a:lnSpc>
                <a:spcPct val="150000"/>
              </a:lnSpc>
              <a:spcBef>
                <a:spcPct val="50000"/>
              </a:spcBef>
              <a:buFont typeface="Wingdings" panose="05000000000000000000" pitchFamily="2" charset="2"/>
              <a:buChar char="p"/>
            </a:pPr>
            <a:r>
              <a:rPr lang="zh-CN" altLang="en-US">
                <a:solidFill>
                  <a:srgbClr val="FA0C34"/>
                </a:solidFill>
              </a:rPr>
              <a:t>实现</a:t>
            </a:r>
            <a:r>
              <a:rPr lang="zh-CN" altLang="en-US"/>
              <a:t>。</a:t>
            </a:r>
            <a:r>
              <a:rPr lang="zh-CN" altLang="en-US">
                <a:solidFill>
                  <a:srgbClr val="D333A1"/>
                </a:solidFill>
              </a:rPr>
              <a:t>将最终软件增量</a:t>
            </a:r>
            <a:r>
              <a:rPr lang="zh-CN" altLang="en-US"/>
              <a:t>（一个可操作的原型）置于</a:t>
            </a:r>
            <a:r>
              <a:rPr lang="zh-CN" altLang="en-US">
                <a:solidFill>
                  <a:srgbClr val="FA0C34"/>
                </a:solidFill>
              </a:rPr>
              <a:t>操作环境</a:t>
            </a:r>
            <a:r>
              <a:rPr lang="zh-CN" altLang="en-US"/>
              <a:t>中。应当注意：</a:t>
            </a:r>
          </a:p>
          <a:p>
            <a:pPr lvl="2">
              <a:lnSpc>
                <a:spcPct val="150000"/>
              </a:lnSpc>
              <a:spcBef>
                <a:spcPct val="50000"/>
              </a:spcBef>
              <a:buFont typeface="Wingdings" panose="05000000000000000000" pitchFamily="2" charset="2"/>
              <a:buChar char="p"/>
            </a:pPr>
            <a:r>
              <a:rPr lang="zh-CN" altLang="en-US"/>
              <a:t>（</a:t>
            </a:r>
            <a:r>
              <a:rPr lang="en-US" altLang="zh-CN"/>
              <a:t>1</a:t>
            </a:r>
            <a:r>
              <a:rPr lang="zh-CN" altLang="en-US"/>
              <a:t>）增量不见得</a:t>
            </a:r>
            <a:r>
              <a:rPr lang="en-US" altLang="zh-CN"/>
              <a:t>100%</a:t>
            </a:r>
            <a:r>
              <a:rPr lang="zh-CN" altLang="en-US"/>
              <a:t>完成；</a:t>
            </a:r>
          </a:p>
          <a:p>
            <a:pPr lvl="2">
              <a:lnSpc>
                <a:spcPct val="150000"/>
              </a:lnSpc>
              <a:spcBef>
                <a:spcPct val="50000"/>
              </a:spcBef>
              <a:buFont typeface="Wingdings" panose="05000000000000000000" pitchFamily="2" charset="2"/>
              <a:buChar char="p"/>
            </a:pPr>
            <a:r>
              <a:rPr lang="zh-CN" altLang="en-US"/>
              <a:t>（</a:t>
            </a:r>
            <a:r>
              <a:rPr lang="en-US" altLang="zh-CN"/>
              <a:t>2</a:t>
            </a:r>
            <a:r>
              <a:rPr lang="zh-CN" altLang="en-US"/>
              <a:t>）增量置于操作环境以后可能需要改变。</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6">
            <a:extLst>
              <a:ext uri="{FF2B5EF4-FFF2-40B4-BE49-F238E27FC236}">
                <a16:creationId xmlns:a16="http://schemas.microsoft.com/office/drawing/2014/main" id="{F1C56C3C-68B8-6DE4-65E4-206B91C9F50F}"/>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797772C9-14B9-4F68-8CAE-3B69601791D1}" type="slidenum">
              <a:rPr lang="en-US" altLang="zh-CN" sz="1400">
                <a:solidFill>
                  <a:srgbClr val="000000"/>
                </a:solidFill>
                <a:latin typeface="Arial" panose="020B0604020202020204" pitchFamily="34" charset="0"/>
              </a:rPr>
              <a:pPr fontAlgn="base">
                <a:spcBef>
                  <a:spcPct val="0"/>
                </a:spcBef>
                <a:spcAft>
                  <a:spcPct val="0"/>
                </a:spcAft>
              </a:pPr>
              <a:t>71</a:t>
            </a:fld>
            <a:endParaRPr lang="en-US" altLang="zh-CN" sz="1400">
              <a:solidFill>
                <a:srgbClr val="000000"/>
              </a:solidFill>
              <a:latin typeface="Arial" panose="020B0604020202020204" pitchFamily="34" charset="0"/>
            </a:endParaRPr>
          </a:p>
        </p:txBody>
      </p:sp>
      <p:sp>
        <p:nvSpPr>
          <p:cNvPr id="59395" name="Rectangle 2">
            <a:extLst>
              <a:ext uri="{FF2B5EF4-FFF2-40B4-BE49-F238E27FC236}">
                <a16:creationId xmlns:a16="http://schemas.microsoft.com/office/drawing/2014/main" id="{A8EBFB75-711E-E9BA-6024-D64A1B22A150}"/>
              </a:ext>
            </a:extLst>
          </p:cNvPr>
          <p:cNvSpPr>
            <a:spLocks noGrp="1" noChangeArrowheads="1"/>
          </p:cNvSpPr>
          <p:nvPr>
            <p:ph type="title"/>
          </p:nvPr>
        </p:nvSpPr>
        <p:spPr/>
        <p:txBody>
          <a:bodyPr/>
          <a:lstStyle/>
          <a:p>
            <a:r>
              <a:rPr lang="zh-CN" altLang="en-US"/>
              <a:t>敏捷建模</a:t>
            </a:r>
          </a:p>
        </p:txBody>
      </p:sp>
      <p:sp>
        <p:nvSpPr>
          <p:cNvPr id="182275" name="Rectangle 3">
            <a:extLst>
              <a:ext uri="{FF2B5EF4-FFF2-40B4-BE49-F238E27FC236}">
                <a16:creationId xmlns:a16="http://schemas.microsoft.com/office/drawing/2014/main" id="{F41FF21C-632F-6AD8-D224-2F756423F842}"/>
              </a:ext>
            </a:extLst>
          </p:cNvPr>
          <p:cNvSpPr>
            <a:spLocks noGrp="1" noChangeArrowheads="1"/>
          </p:cNvSpPr>
          <p:nvPr>
            <p:ph type="body" idx="1"/>
          </p:nvPr>
        </p:nvSpPr>
        <p:spPr/>
        <p:txBody>
          <a:bodyPr/>
          <a:lstStyle/>
          <a:p>
            <a:pPr>
              <a:lnSpc>
                <a:spcPct val="150000"/>
              </a:lnSpc>
              <a:buFont typeface="Wingdings" panose="05000000000000000000" pitchFamily="2" charset="2"/>
              <a:buChar char="p"/>
            </a:pPr>
            <a:r>
              <a:rPr lang="zh-CN" altLang="en-US" sz="2600"/>
              <a:t>敏捷建模的原则：</a:t>
            </a:r>
          </a:p>
          <a:p>
            <a:pPr lvl="1">
              <a:lnSpc>
                <a:spcPct val="150000"/>
              </a:lnSpc>
              <a:buFont typeface="Wingdings" panose="05000000000000000000" pitchFamily="2" charset="2"/>
              <a:buChar char="p"/>
            </a:pPr>
            <a:r>
              <a:rPr lang="zh-CN" altLang="en-US" sz="2200">
                <a:solidFill>
                  <a:srgbClr val="D333A1"/>
                </a:solidFill>
              </a:rPr>
              <a:t>有目的的模型</a:t>
            </a:r>
            <a:r>
              <a:rPr lang="zh-CN" altLang="en-US" sz="2200"/>
              <a:t>。在构建模型之前，</a:t>
            </a:r>
            <a:r>
              <a:rPr lang="zh-CN" altLang="en-US" sz="2200">
                <a:solidFill>
                  <a:srgbClr val="D333A1"/>
                </a:solidFill>
              </a:rPr>
              <a:t>开发者心中应当有明确的目标</a:t>
            </a:r>
            <a:r>
              <a:rPr lang="zh-CN" altLang="en-US" sz="2200"/>
              <a:t>（如与客户沟通信息有助于更好地理解软件的某些方面），一旦确定模型的目标，该用哪种类型的</a:t>
            </a:r>
            <a:r>
              <a:rPr lang="zh-CN" altLang="en-US" sz="2200">
                <a:solidFill>
                  <a:srgbClr val="D333A1"/>
                </a:solidFill>
              </a:rPr>
              <a:t>表达方式</a:t>
            </a:r>
            <a:r>
              <a:rPr lang="zh-CN" altLang="en-US" sz="2200"/>
              <a:t>以及所需要的</a:t>
            </a:r>
            <a:r>
              <a:rPr lang="zh-CN" altLang="en-US" sz="2200">
                <a:solidFill>
                  <a:srgbClr val="D333A1"/>
                </a:solidFill>
              </a:rPr>
              <a:t>具体细节</a:t>
            </a:r>
            <a:r>
              <a:rPr lang="zh-CN" altLang="en-US" sz="2200"/>
              <a:t>程度都是显而易见的。 </a:t>
            </a:r>
          </a:p>
          <a:p>
            <a:pPr lvl="1">
              <a:lnSpc>
                <a:spcPct val="150000"/>
              </a:lnSpc>
              <a:buFont typeface="Wingdings" panose="05000000000000000000" pitchFamily="2" charset="2"/>
              <a:buChar char="p"/>
            </a:pPr>
            <a:r>
              <a:rPr lang="zh-CN" altLang="en-US" sz="2200">
                <a:solidFill>
                  <a:srgbClr val="D333A1"/>
                </a:solidFill>
              </a:rPr>
              <a:t>使用多个模型</a:t>
            </a:r>
            <a:r>
              <a:rPr lang="zh-CN" altLang="en-US" sz="2200"/>
              <a:t>。描述软件可以使用多种不同的模型和表示法，大多数项目只用到其中很小的部分就够了。</a:t>
            </a:r>
            <a:r>
              <a:rPr lang="en-US" altLang="zh-CN" sz="2200"/>
              <a:t>AM</a:t>
            </a:r>
            <a:r>
              <a:rPr lang="zh-CN" altLang="en-US" sz="2200"/>
              <a:t>建议从需要的角度看，</a:t>
            </a:r>
            <a:r>
              <a:rPr lang="zh-CN" altLang="en-US" sz="2200">
                <a:solidFill>
                  <a:srgbClr val="D333A1"/>
                </a:solidFill>
              </a:rPr>
              <a:t>每一种模型应当表达系统的不同侧面</a:t>
            </a:r>
            <a:r>
              <a:rPr lang="zh-CN" altLang="en-US" sz="2200"/>
              <a:t>，并且应使用能够为那些预期的读者</a:t>
            </a:r>
            <a:r>
              <a:rPr lang="zh-CN" altLang="en-US" sz="2200">
                <a:solidFill>
                  <a:srgbClr val="D333A1"/>
                </a:solidFill>
              </a:rPr>
              <a:t>提供有价值的模型</a:t>
            </a:r>
            <a:r>
              <a:rPr lang="zh-CN" altLang="en-US" sz="2200"/>
              <a:t>。</a:t>
            </a:r>
            <a:r>
              <a:rPr lang="zh-CN" altLang="en-US" sz="2000"/>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2275">
                                            <p:txEl>
                                              <p:pRg st="1" end="1"/>
                                            </p:txEl>
                                          </p:spTgt>
                                        </p:tgtEl>
                                        <p:attrNameLst>
                                          <p:attrName>style.visibility</p:attrName>
                                        </p:attrNameLst>
                                      </p:cBhvr>
                                      <p:to>
                                        <p:strVal val="visible"/>
                                      </p:to>
                                    </p:set>
                                    <p:anim calcmode="lin" valueType="num">
                                      <p:cBhvr additive="base">
                                        <p:cTn id="7" dur="1000" fill="hold"/>
                                        <p:tgtEl>
                                          <p:spTgt spid="182275">
                                            <p:txEl>
                                              <p:pRg st="1" end="1"/>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82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82275">
                                            <p:txEl>
                                              <p:pRg st="2" end="2"/>
                                            </p:txEl>
                                          </p:spTgt>
                                        </p:tgtEl>
                                        <p:attrNameLst>
                                          <p:attrName>style.visibility</p:attrName>
                                        </p:attrNameLst>
                                      </p:cBhvr>
                                      <p:to>
                                        <p:strVal val="visible"/>
                                      </p:to>
                                    </p:set>
                                    <p:anim calcmode="lin" valueType="num">
                                      <p:cBhvr additive="base">
                                        <p:cTn id="13" dur="1000" fill="hold"/>
                                        <p:tgtEl>
                                          <p:spTgt spid="182275">
                                            <p:txEl>
                                              <p:pRg st="2" end="2"/>
                                            </p:txEl>
                                          </p:spTgt>
                                        </p:tgtEl>
                                        <p:attrNameLst>
                                          <p:attrName>ppt_x</p:attrName>
                                        </p:attrNameLst>
                                      </p:cBhvr>
                                      <p:tavLst>
                                        <p:tav tm="0">
                                          <p:val>
                                            <p:strVal val="#ppt_x"/>
                                          </p:val>
                                        </p:tav>
                                        <p:tav tm="100000">
                                          <p:val>
                                            <p:strVal val="#ppt_x"/>
                                          </p:val>
                                        </p:tav>
                                      </p:tavLst>
                                    </p:anim>
                                    <p:anim calcmode="lin" valueType="num">
                                      <p:cBhvr additive="base">
                                        <p:cTn id="14" dur="1000" fill="hold"/>
                                        <p:tgtEl>
                                          <p:spTgt spid="1822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6">
            <a:extLst>
              <a:ext uri="{FF2B5EF4-FFF2-40B4-BE49-F238E27FC236}">
                <a16:creationId xmlns:a16="http://schemas.microsoft.com/office/drawing/2014/main" id="{5DC883B8-58AE-7BD3-973C-BAB49B00306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1B54A1C-4C39-4F37-8E6D-E0874F7A3513}" type="slidenum">
              <a:rPr lang="en-US" altLang="zh-CN" sz="1400">
                <a:solidFill>
                  <a:srgbClr val="000000"/>
                </a:solidFill>
                <a:latin typeface="Arial" panose="020B0604020202020204" pitchFamily="34" charset="0"/>
              </a:rPr>
              <a:pPr fontAlgn="base">
                <a:spcBef>
                  <a:spcPct val="0"/>
                </a:spcBef>
                <a:spcAft>
                  <a:spcPct val="0"/>
                </a:spcAft>
              </a:pPr>
              <a:t>72</a:t>
            </a:fld>
            <a:endParaRPr lang="en-US" altLang="zh-CN" sz="1400">
              <a:solidFill>
                <a:srgbClr val="000000"/>
              </a:solidFill>
              <a:latin typeface="Arial" panose="020B0604020202020204" pitchFamily="34" charset="0"/>
            </a:endParaRPr>
          </a:p>
        </p:txBody>
      </p:sp>
      <p:sp>
        <p:nvSpPr>
          <p:cNvPr id="60419" name="Rectangle 2">
            <a:extLst>
              <a:ext uri="{FF2B5EF4-FFF2-40B4-BE49-F238E27FC236}">
                <a16:creationId xmlns:a16="http://schemas.microsoft.com/office/drawing/2014/main" id="{ABA72E88-9287-7195-421A-91D3086CC3F8}"/>
              </a:ext>
            </a:extLst>
          </p:cNvPr>
          <p:cNvSpPr>
            <a:spLocks noGrp="1" noChangeArrowheads="1"/>
          </p:cNvSpPr>
          <p:nvPr>
            <p:ph type="title"/>
          </p:nvPr>
        </p:nvSpPr>
        <p:spPr/>
        <p:txBody>
          <a:bodyPr/>
          <a:lstStyle/>
          <a:p>
            <a:r>
              <a:rPr lang="zh-CN" altLang="en-US" sz="3300"/>
              <a:t>敏捷建模的原则</a:t>
            </a:r>
            <a:r>
              <a:rPr lang="en-US" altLang="zh-CN" sz="3300"/>
              <a:t>(2)</a:t>
            </a:r>
          </a:p>
        </p:txBody>
      </p:sp>
      <p:sp>
        <p:nvSpPr>
          <p:cNvPr id="60420" name="Rectangle 3">
            <a:extLst>
              <a:ext uri="{FF2B5EF4-FFF2-40B4-BE49-F238E27FC236}">
                <a16:creationId xmlns:a16="http://schemas.microsoft.com/office/drawing/2014/main" id="{287720B9-77FE-CD82-3257-CF4E50CCD5E7}"/>
              </a:ext>
            </a:extLst>
          </p:cNvPr>
          <p:cNvSpPr>
            <a:spLocks noGrp="1" noChangeArrowheads="1"/>
          </p:cNvSpPr>
          <p:nvPr>
            <p:ph type="body" idx="1"/>
          </p:nvPr>
        </p:nvSpPr>
        <p:spPr>
          <a:xfrm>
            <a:off x="1703388" y="1196975"/>
            <a:ext cx="8507412" cy="4933950"/>
          </a:xfrm>
        </p:spPr>
        <p:txBody>
          <a:bodyPr/>
          <a:lstStyle/>
          <a:p>
            <a:pPr lvl="1">
              <a:lnSpc>
                <a:spcPct val="150000"/>
              </a:lnSpc>
              <a:spcBef>
                <a:spcPct val="50000"/>
              </a:spcBef>
              <a:buFont typeface="Wingdings" panose="05000000000000000000" pitchFamily="2" charset="2"/>
              <a:buChar char="n"/>
            </a:pPr>
            <a:r>
              <a:rPr lang="zh-CN" altLang="en-US" sz="3200">
                <a:solidFill>
                  <a:srgbClr val="D333A1"/>
                </a:solidFill>
              </a:rPr>
              <a:t>轻装上阵：</a:t>
            </a:r>
          </a:p>
          <a:p>
            <a:pPr lvl="2">
              <a:lnSpc>
                <a:spcPct val="150000"/>
              </a:lnSpc>
              <a:spcBef>
                <a:spcPct val="50000"/>
              </a:spcBef>
              <a:buFont typeface="Wingdings" panose="05000000000000000000" pitchFamily="2" charset="2"/>
              <a:buChar char="n"/>
            </a:pPr>
            <a:r>
              <a:rPr lang="zh-CN" altLang="en-US" sz="2800"/>
              <a:t>随着软件工程工作的进展，只</a:t>
            </a:r>
            <a:r>
              <a:rPr lang="zh-CN" altLang="en-US" sz="2800">
                <a:solidFill>
                  <a:srgbClr val="D333A1"/>
                </a:solidFill>
              </a:rPr>
              <a:t>保留那些能提供长期价值的模型</a:t>
            </a:r>
            <a:r>
              <a:rPr lang="zh-CN" altLang="en-US" sz="2800"/>
              <a:t>，抛弃其余的模型。</a:t>
            </a:r>
          </a:p>
          <a:p>
            <a:pPr lvl="2">
              <a:lnSpc>
                <a:spcPct val="150000"/>
              </a:lnSpc>
              <a:spcBef>
                <a:spcPct val="50000"/>
              </a:spcBef>
              <a:buFont typeface="Wingdings" panose="05000000000000000000" pitchFamily="2" charset="2"/>
              <a:buChar char="n"/>
            </a:pPr>
            <a:r>
              <a:rPr lang="zh-CN" altLang="en-US" sz="2800"/>
              <a:t>所以每次决定保留一个模型，都要在</a:t>
            </a:r>
            <a:r>
              <a:rPr lang="zh-CN" altLang="en-US" sz="2800">
                <a:solidFill>
                  <a:srgbClr val="D333A1"/>
                </a:solidFill>
              </a:rPr>
              <a:t>使用信息的便利性</a:t>
            </a:r>
            <a:r>
              <a:rPr lang="zh-CN" altLang="en-US" sz="2800"/>
              <a:t>与</a:t>
            </a:r>
            <a:r>
              <a:rPr lang="zh-CN" altLang="en-US" sz="2800">
                <a:solidFill>
                  <a:srgbClr val="D333A1"/>
                </a:solidFill>
              </a:rPr>
              <a:t>敏捷性方面</a:t>
            </a:r>
            <a:r>
              <a:rPr lang="zh-CN" altLang="en-US" sz="2800"/>
              <a:t>做权衡（即团队内部、团队与利益相关者增强沟通）。</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6">
            <a:extLst>
              <a:ext uri="{FF2B5EF4-FFF2-40B4-BE49-F238E27FC236}">
                <a16:creationId xmlns:a16="http://schemas.microsoft.com/office/drawing/2014/main" id="{E7A8A99D-B708-D4E9-2AB6-A2C591DD45CE}"/>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FDC79BE-7277-4DC1-933A-3733AD484D6A}" type="slidenum">
              <a:rPr lang="en-US" altLang="zh-CN" sz="1400">
                <a:solidFill>
                  <a:srgbClr val="000000"/>
                </a:solidFill>
                <a:latin typeface="Arial" panose="020B0604020202020204" pitchFamily="34" charset="0"/>
              </a:rPr>
              <a:pPr fontAlgn="base">
                <a:spcBef>
                  <a:spcPct val="0"/>
                </a:spcBef>
                <a:spcAft>
                  <a:spcPct val="0"/>
                </a:spcAft>
              </a:pPr>
              <a:t>73</a:t>
            </a:fld>
            <a:endParaRPr lang="en-US" altLang="zh-CN" sz="1400">
              <a:solidFill>
                <a:srgbClr val="000000"/>
              </a:solidFill>
              <a:latin typeface="Arial" panose="020B0604020202020204" pitchFamily="34" charset="0"/>
            </a:endParaRPr>
          </a:p>
        </p:txBody>
      </p:sp>
      <p:sp>
        <p:nvSpPr>
          <p:cNvPr id="61443" name="Rectangle 2">
            <a:extLst>
              <a:ext uri="{FF2B5EF4-FFF2-40B4-BE49-F238E27FC236}">
                <a16:creationId xmlns:a16="http://schemas.microsoft.com/office/drawing/2014/main" id="{109389F6-AAE3-0C01-D3F5-347C4C5CC59B}"/>
              </a:ext>
            </a:extLst>
          </p:cNvPr>
          <p:cNvSpPr>
            <a:spLocks noGrp="1" noChangeArrowheads="1"/>
          </p:cNvSpPr>
          <p:nvPr>
            <p:ph type="title"/>
          </p:nvPr>
        </p:nvSpPr>
        <p:spPr/>
        <p:txBody>
          <a:bodyPr/>
          <a:lstStyle/>
          <a:p>
            <a:r>
              <a:rPr lang="zh-CN" altLang="en-US" sz="3300"/>
              <a:t>敏捷建模的原则</a:t>
            </a:r>
            <a:r>
              <a:rPr lang="en-US" altLang="zh-CN" sz="3300"/>
              <a:t>(3)</a:t>
            </a:r>
            <a:endParaRPr lang="zh-CN" altLang="en-US" sz="3300"/>
          </a:p>
        </p:txBody>
      </p:sp>
      <p:sp>
        <p:nvSpPr>
          <p:cNvPr id="184323" name="Rectangle 3">
            <a:extLst>
              <a:ext uri="{FF2B5EF4-FFF2-40B4-BE49-F238E27FC236}">
                <a16:creationId xmlns:a16="http://schemas.microsoft.com/office/drawing/2014/main" id="{A94B2698-4C8B-B103-6C02-39F2E9F169E4}"/>
              </a:ext>
            </a:extLst>
          </p:cNvPr>
          <p:cNvSpPr>
            <a:spLocks noGrp="1" noChangeArrowheads="1"/>
          </p:cNvSpPr>
          <p:nvPr>
            <p:ph type="body" idx="1"/>
          </p:nvPr>
        </p:nvSpPr>
        <p:spPr>
          <a:xfrm>
            <a:off x="1524000" y="1052513"/>
            <a:ext cx="8686800" cy="5078412"/>
          </a:xfrm>
        </p:spPr>
        <p:txBody>
          <a:bodyPr/>
          <a:lstStyle/>
          <a:p>
            <a:pPr lvl="1">
              <a:lnSpc>
                <a:spcPct val="150000"/>
              </a:lnSpc>
              <a:spcBef>
                <a:spcPct val="50000"/>
              </a:spcBef>
              <a:buFont typeface="Wingdings" panose="05000000000000000000" pitchFamily="2" charset="2"/>
              <a:buChar char="n"/>
            </a:pPr>
            <a:r>
              <a:rPr lang="zh-CN" altLang="en-US">
                <a:solidFill>
                  <a:srgbClr val="D333A1"/>
                </a:solidFill>
              </a:rPr>
              <a:t>内容重于表述形式：</a:t>
            </a:r>
            <a:endParaRPr lang="zh-CN" altLang="en-US"/>
          </a:p>
          <a:p>
            <a:pPr lvl="2">
              <a:lnSpc>
                <a:spcPct val="150000"/>
              </a:lnSpc>
              <a:spcBef>
                <a:spcPct val="50000"/>
              </a:spcBef>
              <a:buFont typeface="Wingdings" panose="05000000000000000000" pitchFamily="2" charset="2"/>
              <a:buChar char="n"/>
            </a:pPr>
            <a:r>
              <a:rPr lang="zh-CN" altLang="en-US"/>
              <a:t>一个有用的</a:t>
            </a:r>
            <a:r>
              <a:rPr lang="zh-CN" altLang="en-US">
                <a:solidFill>
                  <a:srgbClr val="D333A1"/>
                </a:solidFill>
              </a:rPr>
              <a:t>内容很少</a:t>
            </a:r>
            <a:r>
              <a:rPr lang="zh-CN" altLang="en-US"/>
              <a:t>，但</a:t>
            </a:r>
            <a:r>
              <a:rPr lang="zh-CN" altLang="en-US">
                <a:solidFill>
                  <a:srgbClr val="D333A1"/>
                </a:solidFill>
              </a:rPr>
              <a:t>语法完美</a:t>
            </a:r>
            <a:r>
              <a:rPr lang="zh-CN" altLang="en-US"/>
              <a:t>的模型</a:t>
            </a:r>
            <a:r>
              <a:rPr lang="zh-CN" altLang="en-US">
                <a:solidFill>
                  <a:srgbClr val="FA0C34"/>
                </a:solidFill>
              </a:rPr>
              <a:t>不如</a:t>
            </a:r>
            <a:r>
              <a:rPr lang="zh-CN" altLang="en-US"/>
              <a:t>一个</a:t>
            </a:r>
            <a:r>
              <a:rPr lang="zh-CN" altLang="en-US">
                <a:solidFill>
                  <a:srgbClr val="D333A1"/>
                </a:solidFill>
              </a:rPr>
              <a:t>有缺陷</a:t>
            </a:r>
            <a:r>
              <a:rPr lang="zh-CN" altLang="en-US"/>
              <a:t>但能向读者</a:t>
            </a:r>
            <a:r>
              <a:rPr lang="zh-CN" altLang="en-US">
                <a:solidFill>
                  <a:srgbClr val="D333A1"/>
                </a:solidFill>
              </a:rPr>
              <a:t>提供有用内容</a:t>
            </a:r>
            <a:r>
              <a:rPr lang="zh-CN" altLang="en-US"/>
              <a:t>的模型更有价值。</a:t>
            </a:r>
          </a:p>
          <a:p>
            <a:pPr lvl="1">
              <a:lnSpc>
                <a:spcPct val="150000"/>
              </a:lnSpc>
              <a:spcBef>
                <a:spcPct val="50000"/>
              </a:spcBef>
              <a:buFont typeface="Wingdings" panose="05000000000000000000" pitchFamily="2" charset="2"/>
              <a:buChar char="n"/>
            </a:pPr>
            <a:r>
              <a:rPr lang="zh-CN" altLang="en-US">
                <a:solidFill>
                  <a:srgbClr val="D333A1"/>
                </a:solidFill>
              </a:rPr>
              <a:t>理解模型及工具：</a:t>
            </a:r>
            <a:endParaRPr lang="zh-CN" altLang="en-US"/>
          </a:p>
          <a:p>
            <a:pPr lvl="2">
              <a:lnSpc>
                <a:spcPct val="150000"/>
              </a:lnSpc>
              <a:spcBef>
                <a:spcPct val="50000"/>
              </a:spcBef>
              <a:buFont typeface="Wingdings" panose="05000000000000000000" pitchFamily="2" charset="2"/>
              <a:buChar char="n"/>
            </a:pPr>
            <a:r>
              <a:rPr lang="zh-CN" altLang="en-US"/>
              <a:t>理解每一个模型及其构建工具的</a:t>
            </a:r>
            <a:r>
              <a:rPr lang="zh-CN" altLang="en-US">
                <a:solidFill>
                  <a:srgbClr val="D333A1"/>
                </a:solidFill>
              </a:rPr>
              <a:t>优缺点</a:t>
            </a:r>
            <a:r>
              <a:rPr lang="zh-CN" altLang="en-US"/>
              <a:t>。</a:t>
            </a:r>
          </a:p>
          <a:p>
            <a:pPr lvl="1">
              <a:lnSpc>
                <a:spcPct val="150000"/>
              </a:lnSpc>
              <a:spcBef>
                <a:spcPct val="50000"/>
              </a:spcBef>
              <a:buFont typeface="Wingdings" panose="05000000000000000000" pitchFamily="2" charset="2"/>
              <a:buChar char="n"/>
            </a:pPr>
            <a:r>
              <a:rPr lang="zh-CN" altLang="en-US">
                <a:solidFill>
                  <a:srgbClr val="D333A1"/>
                </a:solidFill>
              </a:rPr>
              <a:t>适应本地需要：</a:t>
            </a:r>
            <a:endParaRPr lang="zh-CN" altLang="en-US"/>
          </a:p>
          <a:p>
            <a:pPr lvl="2">
              <a:lnSpc>
                <a:spcPct val="150000"/>
              </a:lnSpc>
              <a:spcBef>
                <a:spcPct val="50000"/>
              </a:spcBef>
              <a:buFont typeface="Wingdings" panose="05000000000000000000" pitchFamily="2" charset="2"/>
              <a:buChar char="n"/>
            </a:pPr>
            <a:r>
              <a:rPr lang="zh-CN" altLang="en-US"/>
              <a:t>建模方法应该适应敏捷团队的需要。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84323">
                                            <p:txEl>
                                              <p:pRg st="2" end="2"/>
                                            </p:txEl>
                                          </p:spTgt>
                                        </p:tgtEl>
                                        <p:attrNameLst>
                                          <p:attrName>style.visibility</p:attrName>
                                        </p:attrNameLst>
                                      </p:cBhvr>
                                      <p:to>
                                        <p:strVal val="visible"/>
                                      </p:to>
                                    </p:set>
                                    <p:anim calcmode="lin" valueType="num">
                                      <p:cBhvr additive="base">
                                        <p:cTn id="7" dur="1000" fill="hold"/>
                                        <p:tgtEl>
                                          <p:spTgt spid="184323">
                                            <p:txEl>
                                              <p:pRg st="2" end="2"/>
                                            </p:txEl>
                                          </p:spTgt>
                                        </p:tgtEl>
                                        <p:attrNameLst>
                                          <p:attrName>ppt_x</p:attrName>
                                        </p:attrNameLst>
                                      </p:cBhvr>
                                      <p:tavLst>
                                        <p:tav tm="0">
                                          <p:val>
                                            <p:strVal val="#ppt_x"/>
                                          </p:val>
                                        </p:tav>
                                        <p:tav tm="100000">
                                          <p:val>
                                            <p:strVal val="#ppt_x"/>
                                          </p:val>
                                        </p:tav>
                                      </p:tavLst>
                                    </p:anim>
                                    <p:anim calcmode="lin" valueType="num">
                                      <p:cBhvr additive="base">
                                        <p:cTn id="8" dur="1000" fill="hold"/>
                                        <p:tgtEl>
                                          <p:spTgt spid="18432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84323">
                                            <p:txEl>
                                              <p:pRg st="3" end="3"/>
                                            </p:txEl>
                                          </p:spTgt>
                                        </p:tgtEl>
                                        <p:attrNameLst>
                                          <p:attrName>style.visibility</p:attrName>
                                        </p:attrNameLst>
                                      </p:cBhvr>
                                      <p:to>
                                        <p:strVal val="visible"/>
                                      </p:to>
                                    </p:set>
                                    <p:anim calcmode="lin" valueType="num">
                                      <p:cBhvr additive="base">
                                        <p:cTn id="11" dur="1000" fill="hold"/>
                                        <p:tgtEl>
                                          <p:spTgt spid="184323">
                                            <p:txEl>
                                              <p:pRg st="3" end="3"/>
                                            </p:txEl>
                                          </p:spTgt>
                                        </p:tgtEl>
                                        <p:attrNameLst>
                                          <p:attrName>ppt_x</p:attrName>
                                        </p:attrNameLst>
                                      </p:cBhvr>
                                      <p:tavLst>
                                        <p:tav tm="0">
                                          <p:val>
                                            <p:strVal val="#ppt_x"/>
                                          </p:val>
                                        </p:tav>
                                        <p:tav tm="100000">
                                          <p:val>
                                            <p:strVal val="#ppt_x"/>
                                          </p:val>
                                        </p:tav>
                                      </p:tavLst>
                                    </p:anim>
                                    <p:anim calcmode="lin" valueType="num">
                                      <p:cBhvr additive="base">
                                        <p:cTn id="12" dur="1000" fill="hold"/>
                                        <p:tgtEl>
                                          <p:spTgt spid="1843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8" presetClass="entr" presetSubtype="16" fill="hold" nodeType="clickEffect">
                                  <p:stCondLst>
                                    <p:cond delay="0"/>
                                  </p:stCondLst>
                                  <p:childTnLst>
                                    <p:set>
                                      <p:cBhvr>
                                        <p:cTn id="16" dur="1" fill="hold">
                                          <p:stCondLst>
                                            <p:cond delay="0"/>
                                          </p:stCondLst>
                                        </p:cTn>
                                        <p:tgtEl>
                                          <p:spTgt spid="184323">
                                            <p:txEl>
                                              <p:pRg st="4" end="4"/>
                                            </p:txEl>
                                          </p:spTgt>
                                        </p:tgtEl>
                                        <p:attrNameLst>
                                          <p:attrName>style.visibility</p:attrName>
                                        </p:attrNameLst>
                                      </p:cBhvr>
                                      <p:to>
                                        <p:strVal val="visible"/>
                                      </p:to>
                                    </p:set>
                                    <p:animEffect transition="in" filter="diamond(in)">
                                      <p:cBhvr>
                                        <p:cTn id="17" dur="1000"/>
                                        <p:tgtEl>
                                          <p:spTgt spid="184323">
                                            <p:txEl>
                                              <p:pRg st="4" end="4"/>
                                            </p:txEl>
                                          </p:spTgt>
                                        </p:tgtEl>
                                      </p:cBhvr>
                                    </p:animEffect>
                                  </p:childTnLst>
                                </p:cTn>
                              </p:par>
                              <p:par>
                                <p:cTn id="18" presetID="8" presetClass="entr" presetSubtype="16" fill="hold" nodeType="withEffect">
                                  <p:stCondLst>
                                    <p:cond delay="0"/>
                                  </p:stCondLst>
                                  <p:childTnLst>
                                    <p:set>
                                      <p:cBhvr>
                                        <p:cTn id="19" dur="1" fill="hold">
                                          <p:stCondLst>
                                            <p:cond delay="0"/>
                                          </p:stCondLst>
                                        </p:cTn>
                                        <p:tgtEl>
                                          <p:spTgt spid="184323">
                                            <p:txEl>
                                              <p:pRg st="5" end="5"/>
                                            </p:txEl>
                                          </p:spTgt>
                                        </p:tgtEl>
                                        <p:attrNameLst>
                                          <p:attrName>style.visibility</p:attrName>
                                        </p:attrNameLst>
                                      </p:cBhvr>
                                      <p:to>
                                        <p:strVal val="visible"/>
                                      </p:to>
                                    </p:set>
                                    <p:animEffect transition="in" filter="diamond(in)">
                                      <p:cBhvr>
                                        <p:cTn id="20" dur="1000"/>
                                        <p:tgtEl>
                                          <p:spTgt spid="1843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6">
            <a:extLst>
              <a:ext uri="{FF2B5EF4-FFF2-40B4-BE49-F238E27FC236}">
                <a16:creationId xmlns:a16="http://schemas.microsoft.com/office/drawing/2014/main" id="{00CFAF38-BD5C-278D-2181-403E287CD4AB}"/>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1FB51F88-D611-46C2-9162-91CEFD646356}" type="slidenum">
              <a:rPr lang="en-US" altLang="zh-CN" sz="1400">
                <a:solidFill>
                  <a:srgbClr val="000000"/>
                </a:solidFill>
                <a:latin typeface="Arial" panose="020B0604020202020204" pitchFamily="34" charset="0"/>
              </a:rPr>
              <a:pPr fontAlgn="base">
                <a:spcBef>
                  <a:spcPct val="0"/>
                </a:spcBef>
                <a:spcAft>
                  <a:spcPct val="0"/>
                </a:spcAft>
              </a:pPr>
              <a:t>74</a:t>
            </a:fld>
            <a:endParaRPr lang="en-US" altLang="zh-CN" sz="1400">
              <a:solidFill>
                <a:srgbClr val="000000"/>
              </a:solidFill>
              <a:latin typeface="Arial" panose="020B0604020202020204" pitchFamily="34" charset="0"/>
            </a:endParaRPr>
          </a:p>
        </p:txBody>
      </p:sp>
      <p:sp>
        <p:nvSpPr>
          <p:cNvPr id="62467" name="Rectangle 2">
            <a:extLst>
              <a:ext uri="{FF2B5EF4-FFF2-40B4-BE49-F238E27FC236}">
                <a16:creationId xmlns:a16="http://schemas.microsoft.com/office/drawing/2014/main" id="{2A3C0DB2-ED6C-9AE2-413A-BC77AF528E52}"/>
              </a:ext>
            </a:extLst>
          </p:cNvPr>
          <p:cNvSpPr>
            <a:spLocks noGrp="1" noChangeArrowheads="1"/>
          </p:cNvSpPr>
          <p:nvPr>
            <p:ph type="title"/>
          </p:nvPr>
        </p:nvSpPr>
        <p:spPr/>
        <p:txBody>
          <a:bodyPr/>
          <a:lstStyle/>
          <a:p>
            <a:r>
              <a:rPr lang="zh-CN" altLang="en-US"/>
              <a:t>敏捷统一过程</a:t>
            </a:r>
          </a:p>
        </p:txBody>
      </p:sp>
      <p:sp>
        <p:nvSpPr>
          <p:cNvPr id="62468" name="Rectangle 3">
            <a:extLst>
              <a:ext uri="{FF2B5EF4-FFF2-40B4-BE49-F238E27FC236}">
                <a16:creationId xmlns:a16="http://schemas.microsoft.com/office/drawing/2014/main" id="{69872FAB-2F51-6C30-A227-773C8F739656}"/>
              </a:ext>
            </a:extLst>
          </p:cNvPr>
          <p:cNvSpPr>
            <a:spLocks noGrp="1" noChangeArrowheads="1"/>
          </p:cNvSpPr>
          <p:nvPr>
            <p:ph type="body" idx="1"/>
          </p:nvPr>
        </p:nvSpPr>
        <p:spPr>
          <a:xfrm>
            <a:off x="1981200" y="1230313"/>
            <a:ext cx="8229600" cy="5078412"/>
          </a:xfrm>
        </p:spPr>
        <p:txBody>
          <a:bodyPr/>
          <a:lstStyle/>
          <a:p>
            <a:pPr>
              <a:lnSpc>
                <a:spcPct val="150000"/>
              </a:lnSpc>
              <a:buFont typeface="Wingdings" panose="05000000000000000000" pitchFamily="2" charset="2"/>
              <a:buChar char="n"/>
            </a:pPr>
            <a:r>
              <a:rPr lang="zh-CN" altLang="en-US">
                <a:solidFill>
                  <a:srgbClr val="D333A1"/>
                </a:solidFill>
              </a:rPr>
              <a:t>敏捷统一过程</a:t>
            </a:r>
            <a:r>
              <a:rPr lang="zh-CN" altLang="en-US"/>
              <a:t>（</a:t>
            </a:r>
            <a:r>
              <a:rPr lang="en-US" altLang="zh-CN"/>
              <a:t>Agile Unified Process</a:t>
            </a:r>
            <a:r>
              <a:rPr lang="zh-CN" altLang="en-US"/>
              <a:t>，</a:t>
            </a:r>
            <a:r>
              <a:rPr lang="en-US" altLang="zh-CN"/>
              <a:t>AUP</a:t>
            </a:r>
            <a:r>
              <a:rPr lang="zh-CN" altLang="en-US"/>
              <a:t>）：</a:t>
            </a:r>
          </a:p>
          <a:p>
            <a:pPr lvl="1">
              <a:lnSpc>
                <a:spcPct val="150000"/>
              </a:lnSpc>
              <a:buFont typeface="Wingdings" panose="05000000000000000000" pitchFamily="2" charset="2"/>
              <a:buChar char="n"/>
            </a:pPr>
            <a:r>
              <a:rPr lang="zh-CN" altLang="en-US" sz="2200"/>
              <a:t>采用了一个“</a:t>
            </a:r>
            <a:r>
              <a:rPr lang="zh-CN" altLang="en-US" sz="2200">
                <a:solidFill>
                  <a:srgbClr val="D333A1"/>
                </a:solidFill>
              </a:rPr>
              <a:t>全局串行</a:t>
            </a:r>
            <a:r>
              <a:rPr lang="zh-CN" altLang="en-US" sz="2200"/>
              <a:t>”以及“</a:t>
            </a:r>
            <a:r>
              <a:rPr lang="zh-CN" altLang="en-US" sz="2200">
                <a:solidFill>
                  <a:srgbClr val="D333A1"/>
                </a:solidFill>
              </a:rPr>
              <a:t>局部迭代</a:t>
            </a:r>
            <a:r>
              <a:rPr lang="zh-CN" altLang="en-US" sz="2200"/>
              <a:t>”的原理来构建基于计算机的系统。</a:t>
            </a:r>
          </a:p>
          <a:p>
            <a:pPr lvl="1">
              <a:lnSpc>
                <a:spcPct val="150000"/>
              </a:lnSpc>
              <a:buFont typeface="Wingdings" panose="05000000000000000000" pitchFamily="2" charset="2"/>
              <a:buChar char="n"/>
            </a:pPr>
            <a:r>
              <a:rPr lang="zh-CN" altLang="en-US" sz="2200"/>
              <a:t>采用经典</a:t>
            </a:r>
            <a:r>
              <a:rPr lang="en-US" altLang="zh-CN" sz="2200"/>
              <a:t>UP</a:t>
            </a:r>
            <a:r>
              <a:rPr lang="zh-CN" altLang="en-US" sz="2200">
                <a:solidFill>
                  <a:srgbClr val="D333A1"/>
                </a:solidFill>
              </a:rPr>
              <a:t>阶跃性活动</a:t>
            </a:r>
            <a:r>
              <a:rPr lang="en-US" altLang="zh-CN" sz="2200"/>
              <a:t>—</a:t>
            </a:r>
            <a:r>
              <a:rPr lang="zh-CN" altLang="en-US" sz="2200"/>
              <a:t>开始、加工、构建以及变迁</a:t>
            </a:r>
          </a:p>
          <a:p>
            <a:pPr lvl="1">
              <a:lnSpc>
                <a:spcPct val="150000"/>
              </a:lnSpc>
              <a:buFont typeface="Wingdings" panose="05000000000000000000" pitchFamily="2" charset="2"/>
              <a:buChar char="n"/>
            </a:pPr>
            <a:r>
              <a:rPr lang="zh-CN" altLang="en-US" sz="2200">
                <a:solidFill>
                  <a:srgbClr val="D333A1"/>
                </a:solidFill>
              </a:rPr>
              <a:t>提供一系列覆盖</a:t>
            </a:r>
            <a:r>
              <a:rPr lang="zh-CN" altLang="en-US" sz="2200"/>
              <a:t>（例如，软件工程活动的一个线性序列），能够使团队为软件项目构想出一个全面的过程流。</a:t>
            </a:r>
          </a:p>
          <a:p>
            <a:pPr lvl="1">
              <a:lnSpc>
                <a:spcPct val="150000"/>
              </a:lnSpc>
              <a:buFont typeface="Wingdings" panose="05000000000000000000" pitchFamily="2" charset="2"/>
              <a:buChar char="n"/>
            </a:pPr>
            <a:r>
              <a:rPr lang="zh-CN" altLang="en-US" sz="2200"/>
              <a:t>在每一个活动里，一个团队</a:t>
            </a:r>
            <a:r>
              <a:rPr lang="zh-CN" altLang="en-US" sz="2200">
                <a:solidFill>
                  <a:srgbClr val="D333A1"/>
                </a:solidFill>
              </a:rPr>
              <a:t>迭代使用敏捷</a:t>
            </a:r>
            <a:r>
              <a:rPr lang="zh-CN" altLang="en-US" sz="2200"/>
              <a:t>，并且将有意义的软件增量尽可能快地交付给最终用户。</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6">
            <a:extLst>
              <a:ext uri="{FF2B5EF4-FFF2-40B4-BE49-F238E27FC236}">
                <a16:creationId xmlns:a16="http://schemas.microsoft.com/office/drawing/2014/main" id="{F91CAED7-48E2-CB44-BA90-7C92C062FC56}"/>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98B52FDE-3E3A-46D2-90F6-29AE68766E69}" type="slidenum">
              <a:rPr lang="en-US" altLang="zh-CN" sz="1400">
                <a:solidFill>
                  <a:srgbClr val="000000"/>
                </a:solidFill>
                <a:latin typeface="Arial" panose="020B0604020202020204" pitchFamily="34" charset="0"/>
              </a:rPr>
              <a:pPr fontAlgn="base">
                <a:spcBef>
                  <a:spcPct val="0"/>
                </a:spcBef>
                <a:spcAft>
                  <a:spcPct val="0"/>
                </a:spcAft>
              </a:pPr>
              <a:t>75</a:t>
            </a:fld>
            <a:endParaRPr lang="en-US" altLang="zh-CN" sz="1400">
              <a:solidFill>
                <a:srgbClr val="000000"/>
              </a:solidFill>
              <a:latin typeface="Arial" panose="020B0604020202020204" pitchFamily="34" charset="0"/>
            </a:endParaRPr>
          </a:p>
        </p:txBody>
      </p:sp>
      <p:sp>
        <p:nvSpPr>
          <p:cNvPr id="63491" name="Rectangle 2">
            <a:extLst>
              <a:ext uri="{FF2B5EF4-FFF2-40B4-BE49-F238E27FC236}">
                <a16:creationId xmlns:a16="http://schemas.microsoft.com/office/drawing/2014/main" id="{0E2FCAD1-2877-C86E-B6B5-A720E6A54834}"/>
              </a:ext>
            </a:extLst>
          </p:cNvPr>
          <p:cNvSpPr>
            <a:spLocks noGrp="1" noChangeArrowheads="1"/>
          </p:cNvSpPr>
          <p:nvPr>
            <p:ph type="title"/>
          </p:nvPr>
        </p:nvSpPr>
        <p:spPr/>
        <p:txBody>
          <a:bodyPr/>
          <a:lstStyle/>
          <a:p>
            <a:r>
              <a:rPr lang="zh-CN" altLang="en-US"/>
              <a:t>敏捷统一过程</a:t>
            </a:r>
          </a:p>
        </p:txBody>
      </p:sp>
      <p:sp>
        <p:nvSpPr>
          <p:cNvPr id="63492" name="Rectangle 3">
            <a:extLst>
              <a:ext uri="{FF2B5EF4-FFF2-40B4-BE49-F238E27FC236}">
                <a16:creationId xmlns:a16="http://schemas.microsoft.com/office/drawing/2014/main" id="{DF19A357-EAAA-B5B0-F903-4AFF9212890D}"/>
              </a:ext>
            </a:extLst>
          </p:cNvPr>
          <p:cNvSpPr>
            <a:spLocks noGrp="1" noChangeArrowheads="1"/>
          </p:cNvSpPr>
          <p:nvPr>
            <p:ph type="body" idx="1"/>
          </p:nvPr>
        </p:nvSpPr>
        <p:spPr>
          <a:xfrm>
            <a:off x="1774826" y="1052513"/>
            <a:ext cx="8569325" cy="5078412"/>
          </a:xfrm>
        </p:spPr>
        <p:txBody>
          <a:bodyPr/>
          <a:lstStyle/>
          <a:p>
            <a:pPr>
              <a:lnSpc>
                <a:spcPct val="135000"/>
              </a:lnSpc>
              <a:buFont typeface="Wingdings" panose="05000000000000000000" pitchFamily="2" charset="2"/>
              <a:buChar char="n"/>
            </a:pPr>
            <a:r>
              <a:rPr lang="zh-CN" altLang="en-US" sz="2200"/>
              <a:t>每个</a:t>
            </a:r>
            <a:r>
              <a:rPr lang="en-US" altLang="zh-CN" sz="2200"/>
              <a:t>AUP</a:t>
            </a:r>
            <a:r>
              <a:rPr lang="zh-CN" altLang="en-US" sz="2200"/>
              <a:t>迭代执行以下活动：</a:t>
            </a:r>
          </a:p>
          <a:p>
            <a:pPr lvl="1">
              <a:lnSpc>
                <a:spcPct val="135000"/>
              </a:lnSpc>
              <a:buFont typeface="Wingdings" panose="05000000000000000000" pitchFamily="2" charset="2"/>
              <a:buChar char="n"/>
            </a:pPr>
            <a:r>
              <a:rPr lang="zh-CN" altLang="en-US" sz="2000">
                <a:solidFill>
                  <a:srgbClr val="FA0C34"/>
                </a:solidFill>
              </a:rPr>
              <a:t>建模</a:t>
            </a:r>
            <a:r>
              <a:rPr lang="zh-CN" altLang="en-US" sz="2000"/>
              <a:t>。</a:t>
            </a:r>
            <a:r>
              <a:rPr lang="en-US" altLang="zh-CN" sz="2000"/>
              <a:t>UML</a:t>
            </a:r>
            <a:r>
              <a:rPr lang="zh-CN" altLang="en-US" sz="2000"/>
              <a:t>建立了对商业和问题域的表述。然而，为了保持敏捷，应保证这些模型“足够好” 。</a:t>
            </a:r>
          </a:p>
          <a:p>
            <a:pPr lvl="1">
              <a:lnSpc>
                <a:spcPct val="135000"/>
              </a:lnSpc>
              <a:buFont typeface="Wingdings" panose="05000000000000000000" pitchFamily="2" charset="2"/>
              <a:buChar char="n"/>
            </a:pPr>
            <a:r>
              <a:rPr lang="zh-CN" altLang="en-US" sz="2000">
                <a:solidFill>
                  <a:srgbClr val="FA0C34"/>
                </a:solidFill>
              </a:rPr>
              <a:t>实现</a:t>
            </a:r>
            <a:r>
              <a:rPr lang="zh-CN" altLang="en-US" sz="2000"/>
              <a:t>。将模型翻译成源代码。</a:t>
            </a:r>
          </a:p>
          <a:p>
            <a:pPr lvl="1">
              <a:lnSpc>
                <a:spcPct val="135000"/>
              </a:lnSpc>
              <a:buFont typeface="Wingdings" panose="05000000000000000000" pitchFamily="2" charset="2"/>
              <a:buChar char="n"/>
            </a:pPr>
            <a:r>
              <a:rPr lang="zh-CN" altLang="en-US" sz="2000">
                <a:solidFill>
                  <a:srgbClr val="FA0C34"/>
                </a:solidFill>
              </a:rPr>
              <a:t>测试</a:t>
            </a:r>
            <a:r>
              <a:rPr lang="zh-CN" altLang="en-US" sz="2000"/>
              <a:t>。设计和执行一系列的测试来发现错误以保证源代码满足需求。</a:t>
            </a:r>
          </a:p>
          <a:p>
            <a:pPr lvl="1">
              <a:lnSpc>
                <a:spcPct val="135000"/>
              </a:lnSpc>
              <a:buFont typeface="Wingdings" panose="05000000000000000000" pitchFamily="2" charset="2"/>
              <a:buChar char="n"/>
            </a:pPr>
            <a:r>
              <a:rPr lang="zh-CN" altLang="en-US" sz="2000">
                <a:solidFill>
                  <a:srgbClr val="FA0C34"/>
                </a:solidFill>
              </a:rPr>
              <a:t>部署</a:t>
            </a:r>
            <a:r>
              <a:rPr lang="zh-CN" altLang="en-US" sz="2000"/>
              <a:t>。重点是对</a:t>
            </a:r>
            <a:r>
              <a:rPr lang="zh-CN" altLang="en-US" sz="2000">
                <a:solidFill>
                  <a:srgbClr val="D333A1"/>
                </a:solidFill>
              </a:rPr>
              <a:t>软件增量的交付</a:t>
            </a:r>
            <a:r>
              <a:rPr lang="zh-CN" altLang="en-US" sz="2000"/>
              <a:t>以及获取最终用户的</a:t>
            </a:r>
            <a:r>
              <a:rPr lang="zh-CN" altLang="en-US" sz="2000">
                <a:solidFill>
                  <a:srgbClr val="D333A1"/>
                </a:solidFill>
              </a:rPr>
              <a:t>反馈信息</a:t>
            </a:r>
            <a:r>
              <a:rPr lang="zh-CN" altLang="en-US" sz="2000"/>
              <a:t>。</a:t>
            </a:r>
          </a:p>
          <a:p>
            <a:pPr lvl="1">
              <a:lnSpc>
                <a:spcPct val="135000"/>
              </a:lnSpc>
              <a:buFont typeface="Wingdings" panose="05000000000000000000" pitchFamily="2" charset="2"/>
              <a:buChar char="n"/>
            </a:pPr>
            <a:r>
              <a:rPr lang="zh-CN" altLang="en-US" sz="2000">
                <a:solidFill>
                  <a:srgbClr val="FA0C34"/>
                </a:solidFill>
              </a:rPr>
              <a:t>配置及项目管理</a:t>
            </a:r>
            <a:r>
              <a:rPr lang="zh-CN" altLang="en-US" sz="2000"/>
              <a:t>。</a:t>
            </a:r>
            <a:r>
              <a:rPr lang="zh-CN" altLang="en-US" sz="2000">
                <a:solidFill>
                  <a:srgbClr val="D333A1"/>
                </a:solidFill>
              </a:rPr>
              <a:t>配置管理</a:t>
            </a:r>
            <a:r>
              <a:rPr lang="zh-CN" altLang="en-US" sz="2000"/>
              <a:t>着眼于</a:t>
            </a:r>
            <a:r>
              <a:rPr lang="zh-CN" altLang="en-US" sz="2000">
                <a:solidFill>
                  <a:srgbClr val="D333A1"/>
                </a:solidFill>
              </a:rPr>
              <a:t>变更管理</a:t>
            </a:r>
            <a:r>
              <a:rPr lang="zh-CN" altLang="en-US" sz="2000"/>
              <a:t>、</a:t>
            </a:r>
            <a:r>
              <a:rPr lang="zh-CN" altLang="en-US" sz="2000">
                <a:solidFill>
                  <a:srgbClr val="D333A1"/>
                </a:solidFill>
              </a:rPr>
              <a:t>风险管理</a:t>
            </a:r>
            <a:r>
              <a:rPr lang="zh-CN" altLang="en-US" sz="2000"/>
              <a:t>以及对开发团队的</a:t>
            </a:r>
            <a:r>
              <a:rPr lang="zh-CN" altLang="en-US" sz="2000">
                <a:solidFill>
                  <a:srgbClr val="D333A1"/>
                </a:solidFill>
              </a:rPr>
              <a:t>任一常效产品的控制</a:t>
            </a:r>
            <a:r>
              <a:rPr lang="zh-CN" altLang="en-US" sz="2000"/>
              <a:t>。</a:t>
            </a:r>
            <a:r>
              <a:rPr lang="zh-CN" altLang="en-US" sz="2000">
                <a:solidFill>
                  <a:srgbClr val="D333A1"/>
                </a:solidFill>
              </a:rPr>
              <a:t>项目管理</a:t>
            </a:r>
            <a:r>
              <a:rPr lang="zh-CN" altLang="en-US" sz="2000"/>
              <a:t>追踪和控制开发团队的</a:t>
            </a:r>
            <a:r>
              <a:rPr lang="zh-CN" altLang="en-US" sz="2000">
                <a:solidFill>
                  <a:srgbClr val="D333A1"/>
                </a:solidFill>
              </a:rPr>
              <a:t>活动情况和工作进展</a:t>
            </a:r>
            <a:r>
              <a:rPr lang="zh-CN" altLang="en-US" sz="2000"/>
              <a:t>。</a:t>
            </a:r>
          </a:p>
          <a:p>
            <a:pPr lvl="1">
              <a:lnSpc>
                <a:spcPct val="135000"/>
              </a:lnSpc>
              <a:buFont typeface="Wingdings" panose="05000000000000000000" pitchFamily="2" charset="2"/>
              <a:buChar char="n"/>
            </a:pPr>
            <a:r>
              <a:rPr lang="zh-CN" altLang="en-US" sz="2000">
                <a:solidFill>
                  <a:srgbClr val="FA0C34"/>
                </a:solidFill>
              </a:rPr>
              <a:t>环境管理</a:t>
            </a:r>
            <a:r>
              <a:rPr lang="zh-CN" altLang="en-US" sz="2000"/>
              <a:t>。</a:t>
            </a:r>
            <a:r>
              <a:rPr lang="zh-CN" altLang="en-US" sz="2000">
                <a:solidFill>
                  <a:srgbClr val="D333A1"/>
                </a:solidFill>
              </a:rPr>
              <a:t>协调过程基础设施</a:t>
            </a:r>
            <a:r>
              <a:rPr lang="zh-CN" altLang="en-US" sz="2000"/>
              <a:t>，包括标准、工具以及适用于开发团队的支持技术。</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6">
            <a:extLst>
              <a:ext uri="{FF2B5EF4-FFF2-40B4-BE49-F238E27FC236}">
                <a16:creationId xmlns:a16="http://schemas.microsoft.com/office/drawing/2014/main" id="{151115E5-CC9C-EBA2-0131-88CEBE9330BC}"/>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58BD7F04-233B-4E29-A5B1-CB6AFD9275D5}" type="slidenum">
              <a:rPr lang="en-US" altLang="zh-CN" sz="1400">
                <a:solidFill>
                  <a:srgbClr val="000000"/>
                </a:solidFill>
                <a:latin typeface="Arial" panose="020B0604020202020204" pitchFamily="34" charset="0"/>
              </a:rPr>
              <a:pPr fontAlgn="base">
                <a:spcBef>
                  <a:spcPct val="0"/>
                </a:spcBef>
                <a:spcAft>
                  <a:spcPct val="0"/>
                </a:spcAft>
              </a:pPr>
              <a:t>76</a:t>
            </a:fld>
            <a:endParaRPr lang="en-US" altLang="zh-CN" sz="1400">
              <a:solidFill>
                <a:srgbClr val="000000"/>
              </a:solidFill>
              <a:latin typeface="Arial" panose="020B0604020202020204" pitchFamily="34" charset="0"/>
            </a:endParaRPr>
          </a:p>
        </p:txBody>
      </p:sp>
      <p:sp>
        <p:nvSpPr>
          <p:cNvPr id="64515" name="Rectangle 2">
            <a:extLst>
              <a:ext uri="{FF2B5EF4-FFF2-40B4-BE49-F238E27FC236}">
                <a16:creationId xmlns:a16="http://schemas.microsoft.com/office/drawing/2014/main" id="{A5E1F435-50F7-BC4E-5EB1-7CA29BF0EFD9}"/>
              </a:ext>
            </a:extLst>
          </p:cNvPr>
          <p:cNvSpPr>
            <a:spLocks noGrp="1" noChangeArrowheads="1"/>
          </p:cNvSpPr>
          <p:nvPr>
            <p:ph type="title"/>
          </p:nvPr>
        </p:nvSpPr>
        <p:spPr/>
        <p:txBody>
          <a:bodyPr/>
          <a:lstStyle/>
          <a:p>
            <a:r>
              <a:rPr lang="zh-CN" altLang="en-US"/>
              <a:t>本章内容</a:t>
            </a:r>
          </a:p>
        </p:txBody>
      </p:sp>
      <p:sp>
        <p:nvSpPr>
          <p:cNvPr id="64516" name="Rectangle 3">
            <a:extLst>
              <a:ext uri="{FF2B5EF4-FFF2-40B4-BE49-F238E27FC236}">
                <a16:creationId xmlns:a16="http://schemas.microsoft.com/office/drawing/2014/main" id="{6E03C4FC-173A-BA61-88F1-CB5F343775DC}"/>
              </a:ext>
            </a:extLst>
          </p:cNvPr>
          <p:cNvSpPr>
            <a:spLocks noGrp="1" noChangeArrowheads="1"/>
          </p:cNvSpPr>
          <p:nvPr>
            <p:ph type="body" idx="1"/>
          </p:nvPr>
        </p:nvSpPr>
        <p:spPr/>
        <p:txBody>
          <a:bodyPr/>
          <a:lstStyle/>
          <a:p>
            <a:pPr>
              <a:lnSpc>
                <a:spcPct val="160000"/>
              </a:lnSpc>
            </a:pPr>
            <a:r>
              <a:rPr lang="en-US" altLang="zh-CN" sz="2800"/>
              <a:t>5.1 </a:t>
            </a:r>
            <a:r>
              <a:rPr lang="zh-CN" altLang="en-US" sz="2800"/>
              <a:t>什么是敏捷</a:t>
            </a:r>
          </a:p>
          <a:p>
            <a:pPr>
              <a:lnSpc>
                <a:spcPct val="160000"/>
              </a:lnSpc>
            </a:pPr>
            <a:r>
              <a:rPr lang="en-US" altLang="zh-CN" sz="2800"/>
              <a:t>5.2 </a:t>
            </a:r>
            <a:r>
              <a:rPr lang="zh-CN" altLang="en-US" sz="2800"/>
              <a:t>敏捷及变更成本</a:t>
            </a:r>
          </a:p>
          <a:p>
            <a:pPr>
              <a:lnSpc>
                <a:spcPct val="160000"/>
              </a:lnSpc>
            </a:pPr>
            <a:r>
              <a:rPr lang="en-US" altLang="zh-CN" sz="2800"/>
              <a:t>5.3 </a:t>
            </a:r>
            <a:r>
              <a:rPr lang="zh-CN" altLang="en-US" sz="2800"/>
              <a:t>什么是敏捷过程</a:t>
            </a:r>
          </a:p>
          <a:p>
            <a:pPr>
              <a:lnSpc>
                <a:spcPct val="160000"/>
              </a:lnSpc>
            </a:pPr>
            <a:r>
              <a:rPr lang="en-US" altLang="zh-CN" sz="2800"/>
              <a:t>5.4 </a:t>
            </a:r>
            <a:r>
              <a:rPr lang="zh-CN" altLang="en-US" sz="2800"/>
              <a:t>极限编程</a:t>
            </a:r>
          </a:p>
          <a:p>
            <a:pPr>
              <a:lnSpc>
                <a:spcPct val="160000"/>
              </a:lnSpc>
            </a:pPr>
            <a:r>
              <a:rPr lang="en-US" altLang="zh-CN" sz="2800"/>
              <a:t>5.5 </a:t>
            </a:r>
            <a:r>
              <a:rPr lang="zh-CN" altLang="en-US" sz="2800"/>
              <a:t>其他敏捷过程模型</a:t>
            </a:r>
          </a:p>
          <a:p>
            <a:pPr>
              <a:lnSpc>
                <a:spcPct val="160000"/>
              </a:lnSpc>
            </a:pPr>
            <a:r>
              <a:rPr lang="en-US" altLang="zh-CN" sz="2800">
                <a:solidFill>
                  <a:srgbClr val="D333A1"/>
                </a:solidFill>
              </a:rPr>
              <a:t>5.6 </a:t>
            </a:r>
            <a:r>
              <a:rPr lang="zh-CN" altLang="en-US" sz="2800">
                <a:solidFill>
                  <a:srgbClr val="D333A1"/>
                </a:solidFill>
              </a:rPr>
              <a:t>敏捷过程工具集</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6">
            <a:extLst>
              <a:ext uri="{FF2B5EF4-FFF2-40B4-BE49-F238E27FC236}">
                <a16:creationId xmlns:a16="http://schemas.microsoft.com/office/drawing/2014/main" id="{36CB6DB8-03A8-6C46-04C1-1AA1AEBEDC21}"/>
              </a:ext>
            </a:extLst>
          </p:cNvPr>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D719A102-2375-4BD6-8531-12016729F701}" type="slidenum">
              <a:rPr lang="en-US" altLang="zh-CN" sz="1400">
                <a:solidFill>
                  <a:srgbClr val="000000"/>
                </a:solidFill>
                <a:latin typeface="Arial" panose="020B0604020202020204" pitchFamily="34" charset="0"/>
              </a:rPr>
              <a:pPr fontAlgn="base">
                <a:spcBef>
                  <a:spcPct val="0"/>
                </a:spcBef>
                <a:spcAft>
                  <a:spcPct val="0"/>
                </a:spcAft>
              </a:pPr>
              <a:t>77</a:t>
            </a:fld>
            <a:endParaRPr lang="en-US" altLang="zh-CN" sz="1400">
              <a:solidFill>
                <a:srgbClr val="000000"/>
              </a:solidFill>
              <a:latin typeface="Arial" panose="020B0604020202020204" pitchFamily="34" charset="0"/>
            </a:endParaRPr>
          </a:p>
        </p:txBody>
      </p:sp>
      <p:sp>
        <p:nvSpPr>
          <p:cNvPr id="65539" name="Rectangle 2">
            <a:extLst>
              <a:ext uri="{FF2B5EF4-FFF2-40B4-BE49-F238E27FC236}">
                <a16:creationId xmlns:a16="http://schemas.microsoft.com/office/drawing/2014/main" id="{7ACE5D7E-C4D3-6757-6A55-0D57169A521E}"/>
              </a:ext>
            </a:extLst>
          </p:cNvPr>
          <p:cNvSpPr>
            <a:spLocks noGrp="1" noChangeArrowheads="1"/>
          </p:cNvSpPr>
          <p:nvPr>
            <p:ph type="title"/>
          </p:nvPr>
        </p:nvSpPr>
        <p:spPr/>
        <p:txBody>
          <a:bodyPr/>
          <a:lstStyle/>
          <a:p>
            <a:endParaRPr lang="zh-CN" altLang="en-US"/>
          </a:p>
        </p:txBody>
      </p:sp>
      <p:sp>
        <p:nvSpPr>
          <p:cNvPr id="65540" name="Rectangle 3">
            <a:extLst>
              <a:ext uri="{FF2B5EF4-FFF2-40B4-BE49-F238E27FC236}">
                <a16:creationId xmlns:a16="http://schemas.microsoft.com/office/drawing/2014/main" id="{022B0366-7E5E-727A-47B8-9094B549E83C}"/>
              </a:ext>
            </a:extLst>
          </p:cNvPr>
          <p:cNvSpPr>
            <a:spLocks noGrp="1" noChangeArrowheads="1"/>
          </p:cNvSpPr>
          <p:nvPr>
            <p:ph type="body" idx="1"/>
          </p:nvPr>
        </p:nvSpPr>
        <p:spPr>
          <a:xfrm>
            <a:off x="1981201" y="1052513"/>
            <a:ext cx="8435975" cy="5078412"/>
          </a:xfrm>
        </p:spPr>
        <p:txBody>
          <a:bodyPr/>
          <a:lstStyle/>
          <a:p>
            <a:endParaRPr lang="zh-CN" altLang="en-US" sz="4000"/>
          </a:p>
          <a:p>
            <a:endParaRPr lang="zh-CN" altLang="en-US" sz="4000"/>
          </a:p>
          <a:p>
            <a:r>
              <a:rPr lang="zh-CN" altLang="en-US" sz="4000"/>
              <a:t>利用各种</a:t>
            </a:r>
            <a:r>
              <a:rPr lang="zh-CN" altLang="en-US" sz="6000">
                <a:solidFill>
                  <a:srgbClr val="FA0C34"/>
                </a:solidFill>
              </a:rPr>
              <a:t>工具</a:t>
            </a:r>
            <a:r>
              <a:rPr lang="zh-CN" altLang="en-US" sz="4000"/>
              <a:t>提升效率与产品质量</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主题4">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主题7">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主题7">
  <a:themeElements>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fontScheme name="模板">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模板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模板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模板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模板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模板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模板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模板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6815</Words>
  <Application>Microsoft Office PowerPoint</Application>
  <PresentationFormat>宽屏</PresentationFormat>
  <Paragraphs>486</Paragraphs>
  <Slides>77</Slides>
  <Notes>2</Notes>
  <HiddenSlides>0</HiddenSlides>
  <MMClips>0</MMClips>
  <ScaleCrop>false</ScaleCrop>
  <HeadingPairs>
    <vt:vector size="6" baseType="variant">
      <vt:variant>
        <vt:lpstr>已用的字体</vt:lpstr>
      </vt:variant>
      <vt:variant>
        <vt:i4>11</vt:i4>
      </vt:variant>
      <vt:variant>
        <vt:lpstr>主题</vt:lpstr>
      </vt:variant>
      <vt:variant>
        <vt:i4>4</vt:i4>
      </vt:variant>
      <vt:variant>
        <vt:lpstr>幻灯片标题</vt:lpstr>
      </vt:variant>
      <vt:variant>
        <vt:i4>77</vt:i4>
      </vt:variant>
    </vt:vector>
  </HeadingPairs>
  <TitlesOfParts>
    <vt:vector size="92" baseType="lpstr">
      <vt:lpstr>CharterBT-Roman</vt:lpstr>
      <vt:lpstr>等线</vt:lpstr>
      <vt:lpstr>等线 Light</vt:lpstr>
      <vt:lpstr>方正舒体</vt:lpstr>
      <vt:lpstr>楷体</vt:lpstr>
      <vt:lpstr>楷体_GB2312</vt:lpstr>
      <vt:lpstr>宋体</vt:lpstr>
      <vt:lpstr>Arial</vt:lpstr>
      <vt:lpstr>Garamond</vt:lpstr>
      <vt:lpstr>Times New Roman</vt:lpstr>
      <vt:lpstr>Wingdings</vt:lpstr>
      <vt:lpstr>Office 主题​​</vt:lpstr>
      <vt:lpstr>1_主题4</vt:lpstr>
      <vt:lpstr>主题7</vt:lpstr>
      <vt:lpstr>1_主题7</vt:lpstr>
      <vt:lpstr>什么是软件？</vt:lpstr>
      <vt:lpstr>定义软件</vt:lpstr>
      <vt:lpstr>定义软件</vt:lpstr>
      <vt:lpstr>定义软件</vt:lpstr>
      <vt:lpstr>瀑布模型（Waterfall model）</vt:lpstr>
      <vt:lpstr>瀑布模型（Waterfall model）</vt:lpstr>
      <vt:lpstr>瀑布模型（Waterfall model）</vt:lpstr>
      <vt:lpstr>瀑布模型（Waterfall model）</vt:lpstr>
      <vt:lpstr>瀑布模型（Waterfall model）</vt:lpstr>
      <vt:lpstr>瀑布模型（Waterfall model）</vt:lpstr>
      <vt:lpstr>原型模型</vt:lpstr>
      <vt:lpstr>增量模型 </vt:lpstr>
      <vt:lpstr>增量模型</vt:lpstr>
      <vt:lpstr>增量模型</vt:lpstr>
      <vt:lpstr>螺旋模型</vt:lpstr>
      <vt:lpstr>螺旋模型</vt:lpstr>
      <vt:lpstr>螺旋模型</vt:lpstr>
      <vt:lpstr>例题—应该选用什么过程模型？</vt:lpstr>
      <vt:lpstr>例题—应该选用什么过程模型？</vt:lpstr>
      <vt:lpstr>例题—应该选用什么过程模型？</vt:lpstr>
      <vt:lpstr>第5章   敏 捷 开 发</vt:lpstr>
      <vt:lpstr>惯用模型存在的问题</vt:lpstr>
      <vt:lpstr>敏捷</vt:lpstr>
      <vt:lpstr>敏捷价值观</vt:lpstr>
      <vt:lpstr>敏捷价值观</vt:lpstr>
      <vt:lpstr>敏捷价值观</vt:lpstr>
      <vt:lpstr>敏捷价值观</vt:lpstr>
      <vt:lpstr>本章内容</vt:lpstr>
      <vt:lpstr>5.1 什么是敏捷</vt:lpstr>
      <vt:lpstr>什么是敏捷</vt:lpstr>
      <vt:lpstr>本章内容</vt:lpstr>
      <vt:lpstr>3.2 敏捷变更的成本费用</vt:lpstr>
      <vt:lpstr>3.2 敏捷变更的成本费用</vt:lpstr>
      <vt:lpstr>敏捷变更的成本费用</vt:lpstr>
      <vt:lpstr>本章内容</vt:lpstr>
      <vt:lpstr>敏捷原则（I）</vt:lpstr>
      <vt:lpstr>敏捷原则（II）</vt:lpstr>
      <vt:lpstr>敏捷过程是什么</vt:lpstr>
      <vt:lpstr>敏捷过程的三大假设</vt:lpstr>
      <vt:lpstr>敏捷过程是什么</vt:lpstr>
      <vt:lpstr>人的因素</vt:lpstr>
      <vt:lpstr>人的因素</vt:lpstr>
      <vt:lpstr>人的因素</vt:lpstr>
      <vt:lpstr>人的因素</vt:lpstr>
      <vt:lpstr>本章内容</vt:lpstr>
      <vt:lpstr>极限编程Extreme Programming </vt:lpstr>
      <vt:lpstr>极限编程</vt:lpstr>
      <vt:lpstr>极限编程过程</vt:lpstr>
      <vt:lpstr>策划(2)</vt:lpstr>
      <vt:lpstr>极限编程过程</vt:lpstr>
      <vt:lpstr>设计(2)</vt:lpstr>
      <vt:lpstr>极限编程过程</vt:lpstr>
      <vt:lpstr>编码 (2)</vt:lpstr>
      <vt:lpstr>极限编程过程</vt:lpstr>
      <vt:lpstr>工业极限编程</vt:lpstr>
      <vt:lpstr>工业极限编程的六个实践</vt:lpstr>
      <vt:lpstr>工业极限编程的六个实践</vt:lpstr>
      <vt:lpstr>工业极限编程的六个实践</vt:lpstr>
      <vt:lpstr>工业极限编程</vt:lpstr>
      <vt:lpstr>关于XP的争论</vt:lpstr>
      <vt:lpstr>批评意见</vt:lpstr>
      <vt:lpstr>本章内容</vt:lpstr>
      <vt:lpstr>3.5 其他敏捷过程模型</vt:lpstr>
      <vt:lpstr>Scrum</vt:lpstr>
      <vt:lpstr>Scrum的活动</vt:lpstr>
      <vt:lpstr>Scrum的活动</vt:lpstr>
      <vt:lpstr>Scrum过程流</vt:lpstr>
      <vt:lpstr>动态系统开发</vt:lpstr>
      <vt:lpstr>动态系统开发</vt:lpstr>
      <vt:lpstr>动态系统开发的生命周期活动</vt:lpstr>
      <vt:lpstr>敏捷建模</vt:lpstr>
      <vt:lpstr>敏捷建模的原则(2)</vt:lpstr>
      <vt:lpstr>敏捷建模的原则(3)</vt:lpstr>
      <vt:lpstr>敏捷统一过程</vt:lpstr>
      <vt:lpstr>敏捷统一过程</vt:lpstr>
      <vt:lpstr>本章内容</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Xintian Liang</dc:creator>
  <cp:lastModifiedBy>Xintian Liang</cp:lastModifiedBy>
  <cp:revision>1</cp:revision>
  <dcterms:created xsi:type="dcterms:W3CDTF">2024-12-18T07:58:23Z</dcterms:created>
  <dcterms:modified xsi:type="dcterms:W3CDTF">2024-12-18T08:06:03Z</dcterms:modified>
</cp:coreProperties>
</file>