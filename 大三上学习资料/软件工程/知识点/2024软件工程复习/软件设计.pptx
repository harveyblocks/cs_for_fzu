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 id="2147483688" r:id="rId4"/>
  </p:sldMasterIdLst>
  <p:notesMasterIdLst>
    <p:notesMasterId r:id="rId84"/>
  </p:notesMasterIdLst>
  <p:sldIdLst>
    <p:sldId id="323" r:id="rId5"/>
    <p:sldId id="392" r:id="rId6"/>
    <p:sldId id="367" r:id="rId7"/>
    <p:sldId id="326" r:id="rId8"/>
    <p:sldId id="368" r:id="rId9"/>
    <p:sldId id="393" r:id="rId10"/>
    <p:sldId id="329" r:id="rId11"/>
    <p:sldId id="330" r:id="rId12"/>
    <p:sldId id="369" r:id="rId13"/>
    <p:sldId id="408" r:id="rId14"/>
    <p:sldId id="361" r:id="rId15"/>
    <p:sldId id="303" r:id="rId16"/>
    <p:sldId id="362" r:id="rId17"/>
    <p:sldId id="304" r:id="rId18"/>
    <p:sldId id="397" r:id="rId19"/>
    <p:sldId id="365" r:id="rId20"/>
    <p:sldId id="366" r:id="rId21"/>
    <p:sldId id="302" r:id="rId22"/>
    <p:sldId id="409" r:id="rId23"/>
    <p:sldId id="428" r:id="rId24"/>
    <p:sldId id="382" r:id="rId25"/>
    <p:sldId id="309" r:id="rId26"/>
    <p:sldId id="310" r:id="rId27"/>
    <p:sldId id="311" r:id="rId28"/>
    <p:sldId id="312" r:id="rId29"/>
    <p:sldId id="429" r:id="rId30"/>
    <p:sldId id="317" r:id="rId31"/>
    <p:sldId id="313" r:id="rId32"/>
    <p:sldId id="314" r:id="rId33"/>
    <p:sldId id="315" r:id="rId34"/>
    <p:sldId id="318" r:id="rId35"/>
    <p:sldId id="319" r:id="rId36"/>
    <p:sldId id="320" r:id="rId37"/>
    <p:sldId id="322" r:id="rId38"/>
    <p:sldId id="383" r:id="rId39"/>
    <p:sldId id="430" r:id="rId40"/>
    <p:sldId id="327" r:id="rId41"/>
    <p:sldId id="384" r:id="rId42"/>
    <p:sldId id="385" r:id="rId43"/>
    <p:sldId id="331" r:id="rId44"/>
    <p:sldId id="333" r:id="rId45"/>
    <p:sldId id="334" r:id="rId46"/>
    <p:sldId id="387" r:id="rId47"/>
    <p:sldId id="335" r:id="rId48"/>
    <p:sldId id="388" r:id="rId49"/>
    <p:sldId id="337" r:id="rId50"/>
    <p:sldId id="338" r:id="rId51"/>
    <p:sldId id="339" r:id="rId52"/>
    <p:sldId id="340" r:id="rId53"/>
    <p:sldId id="341" r:id="rId54"/>
    <p:sldId id="342" r:id="rId55"/>
    <p:sldId id="344" r:id="rId56"/>
    <p:sldId id="431" r:id="rId57"/>
    <p:sldId id="389" r:id="rId58"/>
    <p:sldId id="390" r:id="rId59"/>
    <p:sldId id="353" r:id="rId60"/>
    <p:sldId id="414" r:id="rId61"/>
    <p:sldId id="415" r:id="rId62"/>
    <p:sldId id="354" r:id="rId63"/>
    <p:sldId id="355" r:id="rId64"/>
    <p:sldId id="356" r:id="rId65"/>
    <p:sldId id="416" r:id="rId66"/>
    <p:sldId id="413" r:id="rId67"/>
    <p:sldId id="391" r:id="rId68"/>
    <p:sldId id="432" r:id="rId69"/>
    <p:sldId id="433" r:id="rId70"/>
    <p:sldId id="434" r:id="rId71"/>
    <p:sldId id="435" r:id="rId72"/>
    <p:sldId id="394" r:id="rId73"/>
    <p:sldId id="417" r:id="rId74"/>
    <p:sldId id="395" r:id="rId75"/>
    <p:sldId id="436" r:id="rId76"/>
    <p:sldId id="437" r:id="rId77"/>
    <p:sldId id="419" r:id="rId78"/>
    <p:sldId id="398" r:id="rId79"/>
    <p:sldId id="399" r:id="rId80"/>
    <p:sldId id="400" r:id="rId81"/>
    <p:sldId id="401" r:id="rId82"/>
    <p:sldId id="402" r:id="rId8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54" y="3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C9606E-E5E0-4016-81EC-C4B36D5107D5}" type="datetimeFigureOut">
              <a:rPr lang="zh-CN" altLang="en-US" smtClean="0"/>
              <a:t>2024/12/18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DCD4AC-E972-4017-947C-8713CF5AAF81}" type="slidenum">
              <a:rPr lang="zh-CN" altLang="en-US" smtClean="0"/>
              <a:t>‹#›</a:t>
            </a:fld>
            <a:endParaRPr lang="zh-CN" altLang="en-US"/>
          </a:p>
        </p:txBody>
      </p:sp>
    </p:spTree>
    <p:extLst>
      <p:ext uri="{BB962C8B-B14F-4D97-AF65-F5344CB8AC3E}">
        <p14:creationId xmlns:p14="http://schemas.microsoft.com/office/powerpoint/2010/main" val="194441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7C7A1D50-5475-C89B-B531-E56E2EAA43E4}"/>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Rectangle 3">
            <a:extLst>
              <a:ext uri="{FF2B5EF4-FFF2-40B4-BE49-F238E27FC236}">
                <a16:creationId xmlns:a16="http://schemas.microsoft.com/office/drawing/2014/main" id="{3B5F4FA7-B142-94B7-E3FE-8888652E4F2C}"/>
              </a:ext>
            </a:extLst>
          </p:cNvPr>
          <p:cNvSpPr>
            <a:spLocks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99E782ED-D75A-891D-BFFE-D3E8C8F480EA}"/>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4" name="Rectangle 3">
            <a:extLst>
              <a:ext uri="{FF2B5EF4-FFF2-40B4-BE49-F238E27FC236}">
                <a16:creationId xmlns:a16="http://schemas.microsoft.com/office/drawing/2014/main" id="{1B6327B0-DAC1-CCDB-6778-6C5865408789}"/>
              </a:ext>
            </a:extLst>
          </p:cNvPr>
          <p:cNvSpPr>
            <a:spLocks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87EA1356-FC85-D3EB-5CED-1250B4E09C6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0" name="Rectangle 3">
            <a:extLst>
              <a:ext uri="{FF2B5EF4-FFF2-40B4-BE49-F238E27FC236}">
                <a16:creationId xmlns:a16="http://schemas.microsoft.com/office/drawing/2014/main" id="{26BEA3C3-C370-5826-9C8D-4F07D6C94C72}"/>
              </a:ext>
            </a:extLst>
          </p:cNvPr>
          <p:cNvSpPr>
            <a:spLocks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48796F29-61FC-73C6-24B2-957FF10A214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8" name="Rectangle 3">
            <a:extLst>
              <a:ext uri="{FF2B5EF4-FFF2-40B4-BE49-F238E27FC236}">
                <a16:creationId xmlns:a16="http://schemas.microsoft.com/office/drawing/2014/main" id="{4ED55578-DD6C-2AB1-C4F3-F26CFEB746D2}"/>
              </a:ext>
            </a:extLst>
          </p:cNvPr>
          <p:cNvSpPr>
            <a:spLocks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6EE3612-F273-BAC7-3154-3CC5A1F69E5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4" name="Rectangle 3">
            <a:extLst>
              <a:ext uri="{FF2B5EF4-FFF2-40B4-BE49-F238E27FC236}">
                <a16:creationId xmlns:a16="http://schemas.microsoft.com/office/drawing/2014/main" id="{36FC8694-DC68-0F0C-F056-80D3F0B9BF97}"/>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D11F1BC4-B6FF-8DEE-226A-D35C1CFF3EFE}"/>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2" name="Rectangle 3">
            <a:extLst>
              <a:ext uri="{FF2B5EF4-FFF2-40B4-BE49-F238E27FC236}">
                <a16:creationId xmlns:a16="http://schemas.microsoft.com/office/drawing/2014/main" id="{5679D06E-D677-F54A-0D4F-D9C8A6FBF30F}"/>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幻灯片图像占位符 1">
            <a:extLst>
              <a:ext uri="{FF2B5EF4-FFF2-40B4-BE49-F238E27FC236}">
                <a16:creationId xmlns:a16="http://schemas.microsoft.com/office/drawing/2014/main" id="{0B0554EA-AA5B-2B31-D5EE-CC56E87E544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4" name="备注占位符 2">
            <a:extLst>
              <a:ext uri="{FF2B5EF4-FFF2-40B4-BE49-F238E27FC236}">
                <a16:creationId xmlns:a16="http://schemas.microsoft.com/office/drawing/2014/main" id="{ACD1A133-DE46-D8E0-F729-41938DB7A33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2035" name="灯片编号占位符 3">
            <a:extLst>
              <a:ext uri="{FF2B5EF4-FFF2-40B4-BE49-F238E27FC236}">
                <a16:creationId xmlns:a16="http://schemas.microsoft.com/office/drawing/2014/main" id="{9F401B99-5F76-8CCE-11C4-AFCFA6DBDBA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28D7367-585C-4F10-AC3E-AA22B8F6388F}" type="slidenum">
              <a:rPr kumimoji="1"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1"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6CD04F65-C9E4-3A3E-7C54-36819CA6BB6A}"/>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Rectangle 3">
            <a:extLst>
              <a:ext uri="{FF2B5EF4-FFF2-40B4-BE49-F238E27FC236}">
                <a16:creationId xmlns:a16="http://schemas.microsoft.com/office/drawing/2014/main" id="{A30B5659-A075-9956-4AE8-35BDAC341709}"/>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37C96F8C-6CE0-6517-8D73-8130E955CC6E}"/>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Rectangle 3">
            <a:extLst>
              <a:ext uri="{FF2B5EF4-FFF2-40B4-BE49-F238E27FC236}">
                <a16:creationId xmlns:a16="http://schemas.microsoft.com/office/drawing/2014/main" id="{45D52913-0E00-2062-6523-6440D1BCBA51}"/>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9F1ACDCA-8B8D-7E5F-513E-940A6DD0CFB3}"/>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a:extLst>
              <a:ext uri="{FF2B5EF4-FFF2-40B4-BE49-F238E27FC236}">
                <a16:creationId xmlns:a16="http://schemas.microsoft.com/office/drawing/2014/main" id="{264B00D0-A737-8B52-1D30-A3F157B45290}"/>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6D440D13-CE4C-F6C1-A791-86E567E4ADB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Rectangle 3">
            <a:extLst>
              <a:ext uri="{FF2B5EF4-FFF2-40B4-BE49-F238E27FC236}">
                <a16:creationId xmlns:a16="http://schemas.microsoft.com/office/drawing/2014/main" id="{D100071F-4B9C-E423-5EFD-F92366EA5ED2}"/>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FA4244A6-E6AA-6263-A03F-D4F8BFFAAA66}"/>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Rectangle 3">
            <a:extLst>
              <a:ext uri="{FF2B5EF4-FFF2-40B4-BE49-F238E27FC236}">
                <a16:creationId xmlns:a16="http://schemas.microsoft.com/office/drawing/2014/main" id="{5D277401-34F8-6DE0-8030-26A99052E168}"/>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74F54CD8-E7EC-1BFC-3A1C-957B26492AC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8" name="Rectangle 3">
            <a:extLst>
              <a:ext uri="{FF2B5EF4-FFF2-40B4-BE49-F238E27FC236}">
                <a16:creationId xmlns:a16="http://schemas.microsoft.com/office/drawing/2014/main" id="{624099AB-9940-A041-EE65-3CBAD746CFAA}"/>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C6948E65-9949-BCA5-BF6A-9DE977AE9B5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6" name="Rectangle 3">
            <a:extLst>
              <a:ext uri="{FF2B5EF4-FFF2-40B4-BE49-F238E27FC236}">
                <a16:creationId xmlns:a16="http://schemas.microsoft.com/office/drawing/2014/main" id="{2DE64620-BD5C-CD6D-4344-2D9D1FCDA749}"/>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4FF174EF-1BCC-E122-786E-BAA6ABB9CE7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4" name="Rectangle 3">
            <a:extLst>
              <a:ext uri="{FF2B5EF4-FFF2-40B4-BE49-F238E27FC236}">
                <a16:creationId xmlns:a16="http://schemas.microsoft.com/office/drawing/2014/main" id="{42F552B3-7878-E2B4-4C2D-D73E211F4DF6}"/>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785E1A59-10FB-CEC3-5EC5-4EFEABB0E213}"/>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2" name="Rectangle 3">
            <a:extLst>
              <a:ext uri="{FF2B5EF4-FFF2-40B4-BE49-F238E27FC236}">
                <a16:creationId xmlns:a16="http://schemas.microsoft.com/office/drawing/2014/main" id="{38EA34B7-6A8A-256B-85BD-C2CD5F9B41A9}"/>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6203836F-461D-E888-C0F8-9C9674CF329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0" name="Rectangle 3">
            <a:extLst>
              <a:ext uri="{FF2B5EF4-FFF2-40B4-BE49-F238E27FC236}">
                <a16:creationId xmlns:a16="http://schemas.microsoft.com/office/drawing/2014/main" id="{B439A498-CA30-3357-F7DB-46C7A885DF74}"/>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5BDF0337-63CB-9B7B-3D47-D7607585902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8" name="Rectangle 3">
            <a:extLst>
              <a:ext uri="{FF2B5EF4-FFF2-40B4-BE49-F238E27FC236}">
                <a16:creationId xmlns:a16="http://schemas.microsoft.com/office/drawing/2014/main" id="{E14645DB-745C-3E4D-3810-6D9E39900698}"/>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6AEB3EBB-D750-BA6E-D5EE-90CF3C2276E7}"/>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6" name="Rectangle 3">
            <a:extLst>
              <a:ext uri="{FF2B5EF4-FFF2-40B4-BE49-F238E27FC236}">
                <a16:creationId xmlns:a16="http://schemas.microsoft.com/office/drawing/2014/main" id="{20E2BAB4-3005-ABCA-AB08-6B8F3210E1C3}"/>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39CC9F3B-F155-E09F-3037-EC39AC87A26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Rectangle 3">
            <a:extLst>
              <a:ext uri="{FF2B5EF4-FFF2-40B4-BE49-F238E27FC236}">
                <a16:creationId xmlns:a16="http://schemas.microsoft.com/office/drawing/2014/main" id="{FE2F87B4-96E4-57CB-1159-9AC99C4562CE}"/>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2DF8E47-CB11-4D2C-42BB-AE061A1F5867}"/>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Rectangle 3">
            <a:extLst>
              <a:ext uri="{FF2B5EF4-FFF2-40B4-BE49-F238E27FC236}">
                <a16:creationId xmlns:a16="http://schemas.microsoft.com/office/drawing/2014/main" id="{1BE4B1B3-8790-E0BA-0B5F-8E1FD302AB1B}"/>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C0073913-843C-E7C0-13C3-6B160CE31AA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2" name="Rectangle 3">
            <a:extLst>
              <a:ext uri="{FF2B5EF4-FFF2-40B4-BE49-F238E27FC236}">
                <a16:creationId xmlns:a16="http://schemas.microsoft.com/office/drawing/2014/main" id="{3872725D-BEDF-3503-B493-9A05ED3DDFC8}"/>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16A9A5BD-A3E4-ADC5-151D-1E6C840BEF75}"/>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0" name="Rectangle 3">
            <a:extLst>
              <a:ext uri="{FF2B5EF4-FFF2-40B4-BE49-F238E27FC236}">
                <a16:creationId xmlns:a16="http://schemas.microsoft.com/office/drawing/2014/main" id="{181561ED-011F-D86A-E2A3-0647657C7763}"/>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798CE004-8CD0-9442-7541-2A03E792CB02}"/>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8" name="Rectangle 3">
            <a:extLst>
              <a:ext uri="{FF2B5EF4-FFF2-40B4-BE49-F238E27FC236}">
                <a16:creationId xmlns:a16="http://schemas.microsoft.com/office/drawing/2014/main" id="{C9DDF95F-C284-8756-A3A3-BCC0465383B8}"/>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DEB76935-FFF5-36F9-917C-EBAC4D4F2DB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kumimoji="1"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kumimoji="1"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kumimoji="1"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kumimoji="1"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331A0D6-EA14-476A-9637-DE5A3F17E744}" type="slidenum">
              <a:rPr kumimoji="1"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1"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19810" name="Rectangle 2">
            <a:extLst>
              <a:ext uri="{FF2B5EF4-FFF2-40B4-BE49-F238E27FC236}">
                <a16:creationId xmlns:a16="http://schemas.microsoft.com/office/drawing/2014/main" id="{7755CB88-C1D9-1BE5-AA54-D27A93E3A04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Rectangle 3">
            <a:extLst>
              <a:ext uri="{FF2B5EF4-FFF2-40B4-BE49-F238E27FC236}">
                <a16:creationId xmlns:a16="http://schemas.microsoft.com/office/drawing/2014/main" id="{C749A978-0113-9B52-C784-6BD7BD4F17D7}"/>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870DE86B-2D9E-1485-7A43-A1CE417282A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2" name="Rectangle 3">
            <a:extLst>
              <a:ext uri="{FF2B5EF4-FFF2-40B4-BE49-F238E27FC236}">
                <a16:creationId xmlns:a16="http://schemas.microsoft.com/office/drawing/2014/main" id="{06155468-B659-7B53-5F0B-386BBB840DAC}"/>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226101AF-BE69-E454-4598-B47A1CD5123E}"/>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0" name="Rectangle 3">
            <a:extLst>
              <a:ext uri="{FF2B5EF4-FFF2-40B4-BE49-F238E27FC236}">
                <a16:creationId xmlns:a16="http://schemas.microsoft.com/office/drawing/2014/main" id="{BA73D57F-69BE-A2BC-21BB-8400BFEA7298}"/>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012ECD5D-0622-1897-166F-31C9BEDF7D53}"/>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8" name="Rectangle 3">
            <a:extLst>
              <a:ext uri="{FF2B5EF4-FFF2-40B4-BE49-F238E27FC236}">
                <a16:creationId xmlns:a16="http://schemas.microsoft.com/office/drawing/2014/main" id="{5ABDBE91-0FBE-803D-7B52-32947CFD5809}"/>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715153B5-BC36-4F54-2CF7-D654C26A28E8}"/>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6" name="Rectangle 3">
            <a:extLst>
              <a:ext uri="{FF2B5EF4-FFF2-40B4-BE49-F238E27FC236}">
                <a16:creationId xmlns:a16="http://schemas.microsoft.com/office/drawing/2014/main" id="{F52BBC89-DCF3-0773-7DC8-07ED507D7CBC}"/>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1DFC7B37-8777-BF77-575E-E7862E7010F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4" name="Rectangle 3">
            <a:extLst>
              <a:ext uri="{FF2B5EF4-FFF2-40B4-BE49-F238E27FC236}">
                <a16:creationId xmlns:a16="http://schemas.microsoft.com/office/drawing/2014/main" id="{177046CD-13BD-7531-C0C8-53A6FD260705}"/>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6D4658FD-FD5F-6F2E-018D-7CC8FF30E2CD}"/>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2" name="Rectangle 3">
            <a:extLst>
              <a:ext uri="{FF2B5EF4-FFF2-40B4-BE49-F238E27FC236}">
                <a16:creationId xmlns:a16="http://schemas.microsoft.com/office/drawing/2014/main" id="{206A1742-24EE-A9EA-7038-93EE138B548C}"/>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833C909F-B6A7-707E-ABCC-ED4BBE3C2625}"/>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0" name="Rectangle 3">
            <a:extLst>
              <a:ext uri="{FF2B5EF4-FFF2-40B4-BE49-F238E27FC236}">
                <a16:creationId xmlns:a16="http://schemas.microsoft.com/office/drawing/2014/main" id="{E7E76525-D02F-E69C-6A4C-C78848DBF370}"/>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EE8C85AB-F398-8A30-F1D3-A24E969D1261}"/>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0" name="Rectangle 3">
            <a:extLst>
              <a:ext uri="{FF2B5EF4-FFF2-40B4-BE49-F238E27FC236}">
                <a16:creationId xmlns:a16="http://schemas.microsoft.com/office/drawing/2014/main" id="{87D38AA5-9092-4879-9FED-66429979F19D}"/>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79C6CD37-53F2-B5C6-895A-444549808B28}"/>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6" name="Rectangle 3">
            <a:extLst>
              <a:ext uri="{FF2B5EF4-FFF2-40B4-BE49-F238E27FC236}">
                <a16:creationId xmlns:a16="http://schemas.microsoft.com/office/drawing/2014/main" id="{A3D319E8-3364-2540-6106-1D9E31B2E8CF}"/>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A6D15D3C-631A-2E4D-12B0-94C0B8BD8F6F}"/>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4" name="Rectangle 3">
            <a:extLst>
              <a:ext uri="{FF2B5EF4-FFF2-40B4-BE49-F238E27FC236}">
                <a16:creationId xmlns:a16="http://schemas.microsoft.com/office/drawing/2014/main" id="{C03070BC-3984-2E4E-7738-2ABE4DAF078B}"/>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A1D79361-A0DD-EFDF-3075-CA4E12A77C2B}"/>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2" name="Rectangle 3">
            <a:extLst>
              <a:ext uri="{FF2B5EF4-FFF2-40B4-BE49-F238E27FC236}">
                <a16:creationId xmlns:a16="http://schemas.microsoft.com/office/drawing/2014/main" id="{CB48F00F-A7C4-6C58-426E-7766356DDD7C}"/>
              </a:ext>
            </a:extLst>
          </p:cNvPr>
          <p:cNvSpPr>
            <a:spLocks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幻灯片图像占位符 1">
            <a:extLst>
              <a:ext uri="{FF2B5EF4-FFF2-40B4-BE49-F238E27FC236}">
                <a16:creationId xmlns:a16="http://schemas.microsoft.com/office/drawing/2014/main" id="{EA8701BA-2ED7-44DE-E8AF-40AD44D6D30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8" name="备注占位符 2">
            <a:extLst>
              <a:ext uri="{FF2B5EF4-FFF2-40B4-BE49-F238E27FC236}">
                <a16:creationId xmlns:a16="http://schemas.microsoft.com/office/drawing/2014/main" id="{E1A370B1-28F1-6269-0AD1-51CAFFDC0B6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3059" name="灯片编号占位符 3">
            <a:extLst>
              <a:ext uri="{FF2B5EF4-FFF2-40B4-BE49-F238E27FC236}">
                <a16:creationId xmlns:a16="http://schemas.microsoft.com/office/drawing/2014/main" id="{C81FAE17-B6CD-94BA-E8AE-B92173CF6D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FF5D9D-E0E4-4702-A57B-E990282B3220}" type="slidenum">
              <a:rPr kumimoji="1"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1"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幻灯片图像占位符 1">
            <a:extLst>
              <a:ext uri="{FF2B5EF4-FFF2-40B4-BE49-F238E27FC236}">
                <a16:creationId xmlns:a16="http://schemas.microsoft.com/office/drawing/2014/main" id="{A99C1DB9-9C92-8CB4-3119-27ED992FA2C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2" name="备注占位符 2">
            <a:extLst>
              <a:ext uri="{FF2B5EF4-FFF2-40B4-BE49-F238E27FC236}">
                <a16:creationId xmlns:a16="http://schemas.microsoft.com/office/drawing/2014/main" id="{1801D164-75C0-7333-DEFE-CE28FB1092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4083" name="灯片编号占位符 3">
            <a:extLst>
              <a:ext uri="{FF2B5EF4-FFF2-40B4-BE49-F238E27FC236}">
                <a16:creationId xmlns:a16="http://schemas.microsoft.com/office/drawing/2014/main" id="{4230A239-2BE5-96A4-F28C-77A7B245835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78E0CE6-AF34-433F-88FA-5B455F934A2A}" type="slidenum">
              <a:rPr kumimoji="1" lang="en-US" altLang="zh-CN" sz="12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1"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w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4.w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3628E6-D47F-6980-2BB8-53AABF1B533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66E3C90-3A97-DFA1-A747-0F18D2077B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E54098A-A803-CA8F-0F8D-D02782B960D7}"/>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5FC189FB-6AC8-EC94-986B-2E46C63E5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449D65-CCD4-A410-E307-685A1B955328}"/>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2544274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959DC2-A93E-BFCF-5DD1-6B924A7355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83DC3A0-0DD6-EE54-CD8D-0C56AEC5BB3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5C81D4-217D-E1C5-2D60-12859646C547}"/>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BAC1C56C-BC2A-CBA5-A22F-EFEB5EB089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1053C0-6340-E2F5-7375-0B882CEC3A2C}"/>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400644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2D9FCF-DBA1-90F9-C1F7-A8619B4840E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026B7B-CCE2-1F66-0241-8AE90B21DB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9735225-B575-D637-C9C2-3D1457EBBC64}"/>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74825319-EC4D-AD22-BF8B-615E1A1633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CCD607-7F12-9138-7771-D90BA98C88F0}"/>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146836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EA2DE-DD44-9038-4F3A-1B0D5881CB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F6B424E-3E98-9D6E-3BCA-71D44F32E06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7004A4D-114E-3833-3A4A-2F28348D09F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58A6D91-1A74-3566-795A-4A6693545D76}"/>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F6C0F6B2-14FF-6168-59A9-B17097186B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3FD9972-A482-D5F2-D1AA-653DB2705EB8}"/>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3090616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10CE78-DB7B-FF91-60EE-1DAA5C2B804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2B494AB-1D34-F5A4-EC63-70E29FC1A2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5A7EB8A-8C39-11CD-5D95-761BE070BEC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60CC9D7-0344-FAAA-0C73-83F0A298D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346A06B-078B-B840-447D-68CFF589AE7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248BFF5-86C5-2778-5896-FABA405DC29A}"/>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8" name="页脚占位符 7">
            <a:extLst>
              <a:ext uri="{FF2B5EF4-FFF2-40B4-BE49-F238E27FC236}">
                <a16:creationId xmlns:a16="http://schemas.microsoft.com/office/drawing/2014/main" id="{FA4DEF5A-A140-06FB-BD35-1BDB6DA5935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5FCFB68-CE50-0F51-65E6-B25194F9E060}"/>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1673925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60292-437A-964F-0A0F-966018EB65A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342D906-C578-9B88-7172-B97BD9A327A3}"/>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4" name="页脚占位符 3">
            <a:extLst>
              <a:ext uri="{FF2B5EF4-FFF2-40B4-BE49-F238E27FC236}">
                <a16:creationId xmlns:a16="http://schemas.microsoft.com/office/drawing/2014/main" id="{B4B4A1E8-7695-2F9E-58FE-226D22FCAC1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24F1652-F93F-8D60-BBB2-58959A632629}"/>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716385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2777E09-2153-1C71-7C9E-C1464DD63289}"/>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3" name="页脚占位符 2">
            <a:extLst>
              <a:ext uri="{FF2B5EF4-FFF2-40B4-BE49-F238E27FC236}">
                <a16:creationId xmlns:a16="http://schemas.microsoft.com/office/drawing/2014/main" id="{D18D9DB9-3A90-9BA9-911D-73B8F7B3015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9DFB26A-5AF2-497D-122E-85000CB79572}"/>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375148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FA761D-4C18-A00C-BDDF-83F6E9261A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333BA0C-584E-C763-833A-58B877E28F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ADD32B-1912-30B8-F117-E7756903C6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850AD47-066A-5A93-3E78-EEDC7CEC703C}"/>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A90559BB-C56E-1333-FFF2-F607755397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3EEFC80-6D34-4489-EA98-33C50ED12DF2}"/>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218426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B0473-F9FE-24FA-5CA5-84C7CD40D1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8BFCD6-3DF7-CF03-E723-F333FD3F39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9381777-3E68-9CA1-8351-1BBC5B9108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8EF14B4-1F9D-CE60-C623-3231B5C49E77}"/>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DAAA60EB-141A-1F3C-BB19-BBE77E3354B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A87FD7D-1358-4CD8-B710-84D6989F5566}"/>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1409927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2EA042-B861-803E-98B6-B02DDF6ADD2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9964C4-BA82-731B-3D16-B0A7D9D2DE5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35D9DD-DA8B-8FAF-C9D7-877E10307D7C}"/>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ACE1B98A-70A3-38E3-7C53-87398055B3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BBC100-C549-D217-D3AD-4F0560555E7E}"/>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2709345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B241468-E843-1A33-A544-EA0FF08953A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5B38316-5DB7-638C-A5F0-814433BABF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5AFBB8-271E-CB62-9C94-BC0F684C2AC3}"/>
              </a:ext>
            </a:extLst>
          </p:cNvPr>
          <p:cNvSpPr>
            <a:spLocks noGrp="1"/>
          </p:cNvSpPr>
          <p:nvPr>
            <p:ph type="dt" sz="half" idx="10"/>
          </p:nvPr>
        </p:nvSpPr>
        <p:spPr/>
        <p:txBody>
          <a:body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B23A67E3-A906-4CC8-9559-D1D30F76D7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286A21-6BD2-EFC2-4209-FE1B78B24654}"/>
              </a:ext>
            </a:extLst>
          </p:cNvPr>
          <p:cNvSpPr>
            <a:spLocks noGrp="1"/>
          </p:cNvSpPr>
          <p:nvPr>
            <p:ph type="sldNum" sz="quarter" idx="12"/>
          </p:nvPr>
        </p:nvSpPr>
        <p:spPr/>
        <p:txBody>
          <a:body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2104401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914CBB3D-96A3-F10E-612E-C6C6DA587ADA}"/>
              </a:ext>
            </a:extLst>
          </p:cNvPr>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6D1C8087-CC3B-0BFF-180D-CDFDC6C87D61}"/>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C5D29F30-6A7C-B95E-34DD-3C13A6E1E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77DCA0EB-DDFC-075C-5BAA-0844C4767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ShockwaveFlash1">
            <a:extLst>
              <a:ext uri="{FF2B5EF4-FFF2-40B4-BE49-F238E27FC236}">
                <a16:creationId xmlns:a16="http://schemas.microsoft.com/office/drawing/2014/main" id="{9DA3AF9E-169C-E994-99F5-1833BC76EF99}"/>
              </a:ext>
            </a:extLst>
          </p:cNvPr>
          <p:cNvPicPr preferRelativeResize="0">
            <a:picLocks noChangeArrowheads="1" noChangeShapeType="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en-US" altLang="zh-CN"/>
              <a:t>Click to edit Master title style</a:t>
            </a:r>
            <a:endParaRPr lang="zh-CN" altLang="en-US"/>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en-US" altLang="zh-CN"/>
              <a:t>Click to edit Master subtitle style</a:t>
            </a:r>
            <a:endParaRPr lang="zh-CN" altLang="en-US"/>
          </a:p>
        </p:txBody>
      </p:sp>
      <p:sp>
        <p:nvSpPr>
          <p:cNvPr id="7" name="Rectangle 4">
            <a:extLst>
              <a:ext uri="{FF2B5EF4-FFF2-40B4-BE49-F238E27FC236}">
                <a16:creationId xmlns:a16="http://schemas.microsoft.com/office/drawing/2014/main" id="{3FE7790C-8683-E421-1276-2E96E08637C1}"/>
              </a:ext>
            </a:extLst>
          </p:cNvPr>
          <p:cNvSpPr>
            <a:spLocks noGrp="1" noChangeArrowheads="1"/>
          </p:cNvSpPr>
          <p:nvPr>
            <p:ph type="dt" sz="half" idx="10"/>
          </p:nvPr>
        </p:nvSpPr>
        <p:spPr/>
        <p:txBody>
          <a:bodyPr/>
          <a:lstStyle>
            <a:lvl1pPr>
              <a:defRPr/>
            </a:lvl1pPr>
          </a:lstStyle>
          <a:p>
            <a:pPr>
              <a:defRPr/>
            </a:pPr>
            <a:fld id="{7F12C18B-F8B4-4B99-A582-EC8A0763EF71}"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358BDEFA-FEF6-6B33-0805-0A4F8D79431F}"/>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59843DA-8F19-A9C7-23B5-4C00BF0B095B}"/>
              </a:ext>
            </a:extLst>
          </p:cNvPr>
          <p:cNvSpPr>
            <a:spLocks noGrp="1" noChangeArrowheads="1"/>
          </p:cNvSpPr>
          <p:nvPr>
            <p:ph type="sldNum" sz="quarter" idx="12"/>
          </p:nvPr>
        </p:nvSpPr>
        <p:spPr>
          <a:xfrm>
            <a:off x="8737600" y="6243638"/>
            <a:ext cx="2844800" cy="457200"/>
          </a:xfrm>
        </p:spPr>
        <p:txBody>
          <a:bodyPr/>
          <a:lstStyle>
            <a:lvl1pPr algn="r">
              <a:defRPr sz="1200">
                <a:latin typeface="Garamond" panose="02020404030301010803" pitchFamily="18" charset="0"/>
              </a:defRPr>
            </a:lvl1pPr>
          </a:lstStyle>
          <a:p>
            <a:pPr>
              <a:defRPr/>
            </a:pPr>
            <a:fld id="{961B027A-A8AA-41BB-9F06-758BD75DF06B}" type="slidenum">
              <a:rPr lang="en-US" altLang="zh-CN"/>
              <a:pPr>
                <a:defRPr/>
              </a:pPr>
              <a:t>‹#›</a:t>
            </a:fld>
            <a:endParaRPr lang="en-US" altLang="zh-CN"/>
          </a:p>
        </p:txBody>
      </p:sp>
    </p:spTree>
    <p:extLst>
      <p:ext uri="{BB962C8B-B14F-4D97-AF65-F5344CB8AC3E}">
        <p14:creationId xmlns:p14="http://schemas.microsoft.com/office/powerpoint/2010/main" val="493873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354A5570-26C8-30ED-2892-9E52EC5BC10C}"/>
              </a:ext>
            </a:extLst>
          </p:cNvPr>
          <p:cNvSpPr>
            <a:spLocks noGrp="1" noChangeArrowheads="1"/>
          </p:cNvSpPr>
          <p:nvPr>
            <p:ph type="dt" sz="half" idx="10"/>
          </p:nvPr>
        </p:nvSpPr>
        <p:spPr>
          <a:ln/>
        </p:spPr>
        <p:txBody>
          <a:bodyPr/>
          <a:lstStyle>
            <a:lvl1pPr>
              <a:defRPr/>
            </a:lvl1pPr>
          </a:lstStyle>
          <a:p>
            <a:pPr>
              <a:defRPr/>
            </a:pPr>
            <a:fld id="{07FBDE14-8ADC-4142-8254-314DFE0BFB13}"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8AEE7EBF-CFD5-C890-D32C-62DC56F0CD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9F3071B-BEC6-A3A0-5ADC-CE05CC5C734B}"/>
              </a:ext>
            </a:extLst>
          </p:cNvPr>
          <p:cNvSpPr>
            <a:spLocks noGrp="1" noChangeArrowheads="1"/>
          </p:cNvSpPr>
          <p:nvPr>
            <p:ph type="sldNum" sz="quarter" idx="12"/>
          </p:nvPr>
        </p:nvSpPr>
        <p:spPr>
          <a:ln/>
        </p:spPr>
        <p:txBody>
          <a:bodyPr/>
          <a:lstStyle>
            <a:lvl1pPr>
              <a:defRPr/>
            </a:lvl1pPr>
          </a:lstStyle>
          <a:p>
            <a:pPr>
              <a:defRPr/>
            </a:pPr>
            <a:fld id="{F226AD3E-9069-41B5-A1E6-DCB8AC8CCED7}" type="slidenum">
              <a:rPr lang="en-US" altLang="zh-CN"/>
              <a:pPr>
                <a:defRPr/>
              </a:pPr>
              <a:t>‹#›</a:t>
            </a:fld>
            <a:endParaRPr lang="en-US" altLang="zh-CN"/>
          </a:p>
        </p:txBody>
      </p:sp>
    </p:spTree>
    <p:extLst>
      <p:ext uri="{BB962C8B-B14F-4D97-AF65-F5344CB8AC3E}">
        <p14:creationId xmlns:p14="http://schemas.microsoft.com/office/powerpoint/2010/main" val="44908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6C94FDCB-5879-E517-7337-724C90FF6AAC}"/>
              </a:ext>
            </a:extLst>
          </p:cNvPr>
          <p:cNvSpPr>
            <a:spLocks noGrp="1" noChangeArrowheads="1"/>
          </p:cNvSpPr>
          <p:nvPr>
            <p:ph type="dt" sz="half" idx="10"/>
          </p:nvPr>
        </p:nvSpPr>
        <p:spPr>
          <a:ln/>
        </p:spPr>
        <p:txBody>
          <a:bodyPr/>
          <a:lstStyle>
            <a:lvl1pPr>
              <a:defRPr/>
            </a:lvl1pPr>
          </a:lstStyle>
          <a:p>
            <a:pPr>
              <a:defRPr/>
            </a:pPr>
            <a:fld id="{D1EB3707-AB8B-4574-A926-956254BC3560}"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CAF6E0BE-A7BC-1CA3-B3B4-FE66388D133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F32F81A-2B7B-2EE6-70F5-7F4709616C34}"/>
              </a:ext>
            </a:extLst>
          </p:cNvPr>
          <p:cNvSpPr>
            <a:spLocks noGrp="1" noChangeArrowheads="1"/>
          </p:cNvSpPr>
          <p:nvPr>
            <p:ph type="sldNum" sz="quarter" idx="12"/>
          </p:nvPr>
        </p:nvSpPr>
        <p:spPr>
          <a:ln/>
        </p:spPr>
        <p:txBody>
          <a:bodyPr/>
          <a:lstStyle>
            <a:lvl1pPr>
              <a:defRPr/>
            </a:lvl1pPr>
          </a:lstStyle>
          <a:p>
            <a:pPr>
              <a:defRPr/>
            </a:pPr>
            <a:fld id="{B4702143-A879-4682-99E0-7B41A776D9B8}" type="slidenum">
              <a:rPr lang="en-US" altLang="zh-CN"/>
              <a:pPr>
                <a:defRPr/>
              </a:pPr>
              <a:t>‹#›</a:t>
            </a:fld>
            <a:endParaRPr lang="en-US" altLang="zh-CN"/>
          </a:p>
        </p:txBody>
      </p:sp>
    </p:spTree>
    <p:extLst>
      <p:ext uri="{BB962C8B-B14F-4D97-AF65-F5344CB8AC3E}">
        <p14:creationId xmlns:p14="http://schemas.microsoft.com/office/powerpoint/2010/main" val="2212096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BC944BC4-DAD0-B5C8-B7A4-E839DA8789FD}"/>
              </a:ext>
            </a:extLst>
          </p:cNvPr>
          <p:cNvSpPr>
            <a:spLocks noGrp="1" noChangeArrowheads="1"/>
          </p:cNvSpPr>
          <p:nvPr>
            <p:ph type="dt" sz="half" idx="10"/>
          </p:nvPr>
        </p:nvSpPr>
        <p:spPr>
          <a:ln/>
        </p:spPr>
        <p:txBody>
          <a:bodyPr/>
          <a:lstStyle>
            <a:lvl1pPr>
              <a:defRPr/>
            </a:lvl1pPr>
          </a:lstStyle>
          <a:p>
            <a:pPr>
              <a:defRPr/>
            </a:pPr>
            <a:fld id="{D4E533D1-C3B3-4C49-BA7A-B2A0391478C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513CD101-758C-3ACE-4C40-DED52F8FD22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DF701FB-16CE-9F58-2690-252443020F09}"/>
              </a:ext>
            </a:extLst>
          </p:cNvPr>
          <p:cNvSpPr>
            <a:spLocks noGrp="1" noChangeArrowheads="1"/>
          </p:cNvSpPr>
          <p:nvPr>
            <p:ph type="sldNum" sz="quarter" idx="12"/>
          </p:nvPr>
        </p:nvSpPr>
        <p:spPr>
          <a:ln/>
        </p:spPr>
        <p:txBody>
          <a:bodyPr/>
          <a:lstStyle>
            <a:lvl1pPr>
              <a:defRPr/>
            </a:lvl1pPr>
          </a:lstStyle>
          <a:p>
            <a:pPr>
              <a:defRPr/>
            </a:pPr>
            <a:fld id="{6D2BA10E-2AC2-4860-8522-868C702F9B69}" type="slidenum">
              <a:rPr lang="en-US" altLang="zh-CN"/>
              <a:pPr>
                <a:defRPr/>
              </a:pPr>
              <a:t>‹#›</a:t>
            </a:fld>
            <a:endParaRPr lang="en-US" altLang="zh-CN"/>
          </a:p>
        </p:txBody>
      </p:sp>
    </p:spTree>
    <p:extLst>
      <p:ext uri="{BB962C8B-B14F-4D97-AF65-F5344CB8AC3E}">
        <p14:creationId xmlns:p14="http://schemas.microsoft.com/office/powerpoint/2010/main" val="1859345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7" name="Rectangle 4">
            <a:extLst>
              <a:ext uri="{FF2B5EF4-FFF2-40B4-BE49-F238E27FC236}">
                <a16:creationId xmlns:a16="http://schemas.microsoft.com/office/drawing/2014/main" id="{7220A811-2BAA-5E96-2FBA-66168172B178}"/>
              </a:ext>
            </a:extLst>
          </p:cNvPr>
          <p:cNvSpPr>
            <a:spLocks noGrp="1" noChangeArrowheads="1"/>
          </p:cNvSpPr>
          <p:nvPr>
            <p:ph type="dt" sz="half" idx="10"/>
          </p:nvPr>
        </p:nvSpPr>
        <p:spPr>
          <a:ln/>
        </p:spPr>
        <p:txBody>
          <a:bodyPr/>
          <a:lstStyle>
            <a:lvl1pPr>
              <a:defRPr/>
            </a:lvl1pPr>
          </a:lstStyle>
          <a:p>
            <a:pPr>
              <a:defRPr/>
            </a:pPr>
            <a:fld id="{701EBA15-B7C5-471B-A66D-DE943C40174F}"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292211EC-0F74-BA7C-DC59-436129A34E8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931C6D7C-99C4-66C2-2431-912393E0A75C}"/>
              </a:ext>
            </a:extLst>
          </p:cNvPr>
          <p:cNvSpPr>
            <a:spLocks noGrp="1" noChangeArrowheads="1"/>
          </p:cNvSpPr>
          <p:nvPr>
            <p:ph type="sldNum" sz="quarter" idx="12"/>
          </p:nvPr>
        </p:nvSpPr>
        <p:spPr>
          <a:ln/>
        </p:spPr>
        <p:txBody>
          <a:bodyPr/>
          <a:lstStyle>
            <a:lvl1pPr>
              <a:defRPr/>
            </a:lvl1pPr>
          </a:lstStyle>
          <a:p>
            <a:pPr>
              <a:defRPr/>
            </a:pPr>
            <a:fld id="{36EB6A96-43B1-4AD0-AD55-362634C2A89A}" type="slidenum">
              <a:rPr lang="en-US" altLang="zh-CN"/>
              <a:pPr>
                <a:defRPr/>
              </a:pPr>
              <a:t>‹#›</a:t>
            </a:fld>
            <a:endParaRPr lang="en-US" altLang="zh-CN"/>
          </a:p>
        </p:txBody>
      </p:sp>
    </p:spTree>
    <p:extLst>
      <p:ext uri="{BB962C8B-B14F-4D97-AF65-F5344CB8AC3E}">
        <p14:creationId xmlns:p14="http://schemas.microsoft.com/office/powerpoint/2010/main" val="3084478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a:extLst>
              <a:ext uri="{FF2B5EF4-FFF2-40B4-BE49-F238E27FC236}">
                <a16:creationId xmlns:a16="http://schemas.microsoft.com/office/drawing/2014/main" id="{442F302F-EE93-5223-2512-82D061130651}"/>
              </a:ext>
            </a:extLst>
          </p:cNvPr>
          <p:cNvSpPr>
            <a:spLocks noGrp="1" noChangeArrowheads="1"/>
          </p:cNvSpPr>
          <p:nvPr>
            <p:ph type="dt" sz="half" idx="10"/>
          </p:nvPr>
        </p:nvSpPr>
        <p:spPr>
          <a:ln/>
        </p:spPr>
        <p:txBody>
          <a:bodyPr/>
          <a:lstStyle>
            <a:lvl1pPr>
              <a:defRPr/>
            </a:lvl1pPr>
          </a:lstStyle>
          <a:p>
            <a:pPr>
              <a:defRPr/>
            </a:pPr>
            <a:fld id="{D4417564-0679-4FA5-AF86-D5C3BDF6B940}"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F9C1E3B1-333B-2F21-1107-284B97D26D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F47713C-AD58-0EDF-A9BA-DC73C905E5D0}"/>
              </a:ext>
            </a:extLst>
          </p:cNvPr>
          <p:cNvSpPr>
            <a:spLocks noGrp="1" noChangeArrowheads="1"/>
          </p:cNvSpPr>
          <p:nvPr>
            <p:ph type="sldNum" sz="quarter" idx="12"/>
          </p:nvPr>
        </p:nvSpPr>
        <p:spPr>
          <a:ln/>
        </p:spPr>
        <p:txBody>
          <a:bodyPr/>
          <a:lstStyle>
            <a:lvl1pPr>
              <a:defRPr/>
            </a:lvl1pPr>
          </a:lstStyle>
          <a:p>
            <a:pPr>
              <a:defRPr/>
            </a:pPr>
            <a:fld id="{3415DF70-15CF-41EB-A226-5B295A8D3E8B}" type="slidenum">
              <a:rPr lang="en-US" altLang="zh-CN"/>
              <a:pPr>
                <a:defRPr/>
              </a:pPr>
              <a:t>‹#›</a:t>
            </a:fld>
            <a:endParaRPr lang="en-US" altLang="zh-CN"/>
          </a:p>
        </p:txBody>
      </p:sp>
    </p:spTree>
    <p:extLst>
      <p:ext uri="{BB962C8B-B14F-4D97-AF65-F5344CB8AC3E}">
        <p14:creationId xmlns:p14="http://schemas.microsoft.com/office/powerpoint/2010/main" val="1583074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FD0C90E-7337-6D72-1263-274854BE8F30}"/>
              </a:ext>
            </a:extLst>
          </p:cNvPr>
          <p:cNvSpPr>
            <a:spLocks noGrp="1" noChangeArrowheads="1"/>
          </p:cNvSpPr>
          <p:nvPr>
            <p:ph type="dt" sz="half" idx="10"/>
          </p:nvPr>
        </p:nvSpPr>
        <p:spPr>
          <a:ln/>
        </p:spPr>
        <p:txBody>
          <a:bodyPr/>
          <a:lstStyle>
            <a:lvl1pPr>
              <a:defRPr/>
            </a:lvl1pPr>
          </a:lstStyle>
          <a:p>
            <a:pPr>
              <a:defRPr/>
            </a:pPr>
            <a:fld id="{AE0332C0-41F1-45A0-BC4F-9819480002F2}"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328BA2F7-7250-40B3-174C-A4B7C7A18B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358A3D5-39A2-F4D0-E64D-DE4839A5DE84}"/>
              </a:ext>
            </a:extLst>
          </p:cNvPr>
          <p:cNvSpPr>
            <a:spLocks noGrp="1" noChangeArrowheads="1"/>
          </p:cNvSpPr>
          <p:nvPr>
            <p:ph type="sldNum" sz="quarter" idx="12"/>
          </p:nvPr>
        </p:nvSpPr>
        <p:spPr>
          <a:ln/>
        </p:spPr>
        <p:txBody>
          <a:bodyPr/>
          <a:lstStyle>
            <a:lvl1pPr>
              <a:defRPr/>
            </a:lvl1pPr>
          </a:lstStyle>
          <a:p>
            <a:pPr>
              <a:defRPr/>
            </a:pPr>
            <a:fld id="{7EB0EC75-CA79-427D-B586-F13B0ACF6093}" type="slidenum">
              <a:rPr lang="en-US" altLang="zh-CN"/>
              <a:pPr>
                <a:defRPr/>
              </a:pPr>
              <a:t>‹#›</a:t>
            </a:fld>
            <a:endParaRPr lang="en-US" altLang="zh-CN"/>
          </a:p>
        </p:txBody>
      </p:sp>
    </p:spTree>
    <p:extLst>
      <p:ext uri="{BB962C8B-B14F-4D97-AF65-F5344CB8AC3E}">
        <p14:creationId xmlns:p14="http://schemas.microsoft.com/office/powerpoint/2010/main" val="1819400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
</a:t>
            </a:r>
            <a:r>
              <a:rPr lang="zh-CN" altLang="en-US"/>
              <a:t>第二等级
第三等级
第四等级
第五等级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E0A8EEB6-9BC4-5A05-7095-36DD477A5AAB}"/>
              </a:ext>
            </a:extLst>
          </p:cNvPr>
          <p:cNvSpPr>
            <a:spLocks noGrp="1" noChangeArrowheads="1"/>
          </p:cNvSpPr>
          <p:nvPr>
            <p:ph type="dt" sz="half" idx="10"/>
          </p:nvPr>
        </p:nvSpPr>
        <p:spPr>
          <a:ln/>
        </p:spPr>
        <p:txBody>
          <a:bodyPr/>
          <a:lstStyle>
            <a:lvl1pPr>
              <a:defRPr/>
            </a:lvl1pPr>
          </a:lstStyle>
          <a:p>
            <a:pPr>
              <a:defRPr/>
            </a:pPr>
            <a:fld id="{5E37BDF8-8D8B-4E74-89EE-BD09D3B5C2F5}"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032C094E-039F-79F6-6951-DE8F2E7BC2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5D12792-4C2D-BA16-DA5D-A5409EB87210}"/>
              </a:ext>
            </a:extLst>
          </p:cNvPr>
          <p:cNvSpPr>
            <a:spLocks noGrp="1" noChangeArrowheads="1"/>
          </p:cNvSpPr>
          <p:nvPr>
            <p:ph type="sldNum" sz="quarter" idx="12"/>
          </p:nvPr>
        </p:nvSpPr>
        <p:spPr>
          <a:ln/>
        </p:spPr>
        <p:txBody>
          <a:bodyPr/>
          <a:lstStyle>
            <a:lvl1pPr>
              <a:defRPr/>
            </a:lvl1pPr>
          </a:lstStyle>
          <a:p>
            <a:pPr>
              <a:defRPr/>
            </a:pPr>
            <a:fld id="{C71F6128-7CFB-4839-8404-F95F5097A2B2}" type="slidenum">
              <a:rPr lang="en-US" altLang="zh-CN"/>
              <a:pPr>
                <a:defRPr/>
              </a:pPr>
              <a:t>‹#›</a:t>
            </a:fld>
            <a:endParaRPr lang="en-US" altLang="zh-CN"/>
          </a:p>
        </p:txBody>
      </p:sp>
    </p:spTree>
    <p:extLst>
      <p:ext uri="{BB962C8B-B14F-4D97-AF65-F5344CB8AC3E}">
        <p14:creationId xmlns:p14="http://schemas.microsoft.com/office/powerpoint/2010/main" val="280899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90C4C054-FE28-20D7-3AC2-E0E3E46BD395}"/>
              </a:ext>
            </a:extLst>
          </p:cNvPr>
          <p:cNvSpPr>
            <a:spLocks noGrp="1" noChangeArrowheads="1"/>
          </p:cNvSpPr>
          <p:nvPr>
            <p:ph type="dt" sz="half" idx="10"/>
          </p:nvPr>
        </p:nvSpPr>
        <p:spPr>
          <a:ln/>
        </p:spPr>
        <p:txBody>
          <a:bodyPr/>
          <a:lstStyle>
            <a:lvl1pPr>
              <a:defRPr/>
            </a:lvl1pPr>
          </a:lstStyle>
          <a:p>
            <a:pPr>
              <a:defRPr/>
            </a:pPr>
            <a:fld id="{7481A132-02C5-4A8E-9D04-E3466F68493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ED2BE7D6-5821-A84C-4583-F26362973A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3513981-EC2B-C2C2-CA1D-1D8652E43343}"/>
              </a:ext>
            </a:extLst>
          </p:cNvPr>
          <p:cNvSpPr>
            <a:spLocks noGrp="1" noChangeArrowheads="1"/>
          </p:cNvSpPr>
          <p:nvPr>
            <p:ph type="sldNum" sz="quarter" idx="12"/>
          </p:nvPr>
        </p:nvSpPr>
        <p:spPr>
          <a:ln/>
        </p:spPr>
        <p:txBody>
          <a:bodyPr/>
          <a:lstStyle>
            <a:lvl1pPr>
              <a:defRPr/>
            </a:lvl1pPr>
          </a:lstStyle>
          <a:p>
            <a:pPr>
              <a:defRPr/>
            </a:pPr>
            <a:fld id="{C7A6DA56-4B37-483C-AA06-C07FA36BF8CB}" type="slidenum">
              <a:rPr lang="en-US" altLang="zh-CN"/>
              <a:pPr>
                <a:defRPr/>
              </a:pPr>
              <a:t>‹#›</a:t>
            </a:fld>
            <a:endParaRPr lang="en-US" altLang="zh-CN"/>
          </a:p>
        </p:txBody>
      </p:sp>
    </p:spTree>
    <p:extLst>
      <p:ext uri="{BB962C8B-B14F-4D97-AF65-F5344CB8AC3E}">
        <p14:creationId xmlns:p14="http://schemas.microsoft.com/office/powerpoint/2010/main" val="16572928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3BDC4666-DB14-6F0B-8D88-B7C9ED57C15A}"/>
              </a:ext>
            </a:extLst>
          </p:cNvPr>
          <p:cNvSpPr>
            <a:spLocks noGrp="1" noChangeArrowheads="1"/>
          </p:cNvSpPr>
          <p:nvPr>
            <p:ph type="dt" sz="half" idx="10"/>
          </p:nvPr>
        </p:nvSpPr>
        <p:spPr>
          <a:ln/>
        </p:spPr>
        <p:txBody>
          <a:bodyPr/>
          <a:lstStyle>
            <a:lvl1pPr>
              <a:defRPr/>
            </a:lvl1pPr>
          </a:lstStyle>
          <a:p>
            <a:pPr>
              <a:defRPr/>
            </a:pPr>
            <a:fld id="{C5EA4EA4-0706-4887-85C5-576C5DC362EA}"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1F5B84ED-5290-4358-7620-55D8E20BB0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DB233FA-8B8F-8E0D-87A4-CFB7D489C777}"/>
              </a:ext>
            </a:extLst>
          </p:cNvPr>
          <p:cNvSpPr>
            <a:spLocks noGrp="1" noChangeArrowheads="1"/>
          </p:cNvSpPr>
          <p:nvPr>
            <p:ph type="sldNum" sz="quarter" idx="12"/>
          </p:nvPr>
        </p:nvSpPr>
        <p:spPr>
          <a:ln/>
        </p:spPr>
        <p:txBody>
          <a:bodyPr/>
          <a:lstStyle>
            <a:lvl1pPr>
              <a:defRPr/>
            </a:lvl1pPr>
          </a:lstStyle>
          <a:p>
            <a:pPr>
              <a:defRPr/>
            </a:pPr>
            <a:fld id="{42DDF596-3B9F-4711-8B6B-65FB2739E22F}" type="slidenum">
              <a:rPr lang="en-US" altLang="zh-CN"/>
              <a:pPr>
                <a:defRPr/>
              </a:pPr>
              <a:t>‹#›</a:t>
            </a:fld>
            <a:endParaRPr lang="en-US" altLang="zh-CN"/>
          </a:p>
        </p:txBody>
      </p:sp>
    </p:spTree>
    <p:extLst>
      <p:ext uri="{BB962C8B-B14F-4D97-AF65-F5344CB8AC3E}">
        <p14:creationId xmlns:p14="http://schemas.microsoft.com/office/powerpoint/2010/main" val="30243383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42C4F1FA-C5EA-1EE8-2CDB-047DD0F4C9AB}"/>
              </a:ext>
            </a:extLst>
          </p:cNvPr>
          <p:cNvSpPr>
            <a:spLocks noGrp="1" noChangeArrowheads="1"/>
          </p:cNvSpPr>
          <p:nvPr>
            <p:ph type="dt" sz="half" idx="10"/>
          </p:nvPr>
        </p:nvSpPr>
        <p:spPr>
          <a:ln/>
        </p:spPr>
        <p:txBody>
          <a:bodyPr/>
          <a:lstStyle>
            <a:lvl1pPr>
              <a:defRPr/>
            </a:lvl1pPr>
          </a:lstStyle>
          <a:p>
            <a:pPr>
              <a:defRPr/>
            </a:pPr>
            <a:fld id="{6966B242-62F3-4724-99A0-0C7A061FF5D2}"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8DC5D996-9599-46BE-F438-966CEEDEE3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94F0C25-1030-2EA7-0AB5-ED64E651E9CD}"/>
              </a:ext>
            </a:extLst>
          </p:cNvPr>
          <p:cNvSpPr>
            <a:spLocks noGrp="1" noChangeArrowheads="1"/>
          </p:cNvSpPr>
          <p:nvPr>
            <p:ph type="sldNum" sz="quarter" idx="12"/>
          </p:nvPr>
        </p:nvSpPr>
        <p:spPr>
          <a:ln/>
        </p:spPr>
        <p:txBody>
          <a:bodyPr/>
          <a:lstStyle>
            <a:lvl1pPr>
              <a:defRPr/>
            </a:lvl1pPr>
          </a:lstStyle>
          <a:p>
            <a:pPr>
              <a:defRPr/>
            </a:pPr>
            <a:fld id="{C63EA31E-2B38-4F1E-8A4A-8B5A696C6252}" type="slidenum">
              <a:rPr lang="en-US" altLang="zh-CN"/>
              <a:pPr>
                <a:defRPr/>
              </a:pPr>
              <a:t>‹#›</a:t>
            </a:fld>
            <a:endParaRPr lang="en-US" altLang="zh-CN"/>
          </a:p>
        </p:txBody>
      </p:sp>
    </p:spTree>
    <p:extLst>
      <p:ext uri="{BB962C8B-B14F-4D97-AF65-F5344CB8AC3E}">
        <p14:creationId xmlns:p14="http://schemas.microsoft.com/office/powerpoint/2010/main" val="3479734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en-US" altLang="zh-CN"/>
              <a:t>Click to edit Master text styles
</a:t>
            </a:r>
            <a:r>
              <a:rPr lang="zh-CN" altLang="en-US"/>
              <a:t>第二等级
第三等级
第四等级
第五等级</a:t>
            </a:r>
          </a:p>
        </p:txBody>
      </p:sp>
      <p:sp>
        <p:nvSpPr>
          <p:cNvPr id="3" name="Rectangle 4">
            <a:extLst>
              <a:ext uri="{FF2B5EF4-FFF2-40B4-BE49-F238E27FC236}">
                <a16:creationId xmlns:a16="http://schemas.microsoft.com/office/drawing/2014/main" id="{AAA1EE2E-DBC5-7D9D-4461-D4B960DEF99B}"/>
              </a:ext>
            </a:extLst>
          </p:cNvPr>
          <p:cNvSpPr>
            <a:spLocks noGrp="1" noChangeArrowheads="1"/>
          </p:cNvSpPr>
          <p:nvPr>
            <p:ph type="dt" sz="half" idx="10"/>
          </p:nvPr>
        </p:nvSpPr>
        <p:spPr>
          <a:ln/>
        </p:spPr>
        <p:txBody>
          <a:bodyPr/>
          <a:lstStyle>
            <a:lvl1pPr>
              <a:defRPr/>
            </a:lvl1pPr>
          </a:lstStyle>
          <a:p>
            <a:pPr>
              <a:defRPr/>
            </a:pPr>
            <a:fld id="{97A3873A-A7B8-4BB6-ABF9-82ABD9D30130}"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3DF09640-12E7-30F9-37A6-74CEC003D6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96A87FC-522E-EF51-8F0C-BEB08524E75C}"/>
              </a:ext>
            </a:extLst>
          </p:cNvPr>
          <p:cNvSpPr>
            <a:spLocks noGrp="1" noChangeArrowheads="1"/>
          </p:cNvSpPr>
          <p:nvPr>
            <p:ph type="sldNum" sz="quarter" idx="12"/>
          </p:nvPr>
        </p:nvSpPr>
        <p:spPr>
          <a:ln/>
        </p:spPr>
        <p:txBody>
          <a:bodyPr/>
          <a:lstStyle>
            <a:lvl1pPr>
              <a:defRPr/>
            </a:lvl1pPr>
          </a:lstStyle>
          <a:p>
            <a:pPr>
              <a:defRPr/>
            </a:pPr>
            <a:fld id="{32A8595F-CE76-4AB6-8BE6-ABB46F88A267}" type="slidenum">
              <a:rPr lang="en-US" altLang="zh-CN"/>
              <a:pPr>
                <a:defRPr/>
              </a:pPr>
              <a:t>‹#›</a:t>
            </a:fld>
            <a:endParaRPr lang="en-US" altLang="zh-CN"/>
          </a:p>
        </p:txBody>
      </p:sp>
    </p:spTree>
    <p:extLst>
      <p:ext uri="{BB962C8B-B14F-4D97-AF65-F5344CB8AC3E}">
        <p14:creationId xmlns:p14="http://schemas.microsoft.com/office/powerpoint/2010/main" val="3589288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D2094101-F463-0A16-18BF-1B2EA0E23AE1}"/>
              </a:ext>
            </a:extLst>
          </p:cNvPr>
          <p:cNvSpPr>
            <a:spLocks noGrp="1" noChangeArrowheads="1"/>
          </p:cNvSpPr>
          <p:nvPr>
            <p:ph type="dt" sz="half" idx="10"/>
          </p:nvPr>
        </p:nvSpPr>
        <p:spPr>
          <a:ln/>
        </p:spPr>
        <p:txBody>
          <a:bodyPr/>
          <a:lstStyle>
            <a:lvl1pPr>
              <a:defRPr/>
            </a:lvl1pPr>
          </a:lstStyle>
          <a:p>
            <a:pPr>
              <a:defRPr/>
            </a:pPr>
            <a:fld id="{51ED07B8-34B0-438E-8F45-EF4EF68FAA4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9A418335-CECE-3CED-4036-C4B933ABB6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AF1454C-3F68-FE4F-B230-36132ADFDD2D}"/>
              </a:ext>
            </a:extLst>
          </p:cNvPr>
          <p:cNvSpPr>
            <a:spLocks noGrp="1" noChangeArrowheads="1"/>
          </p:cNvSpPr>
          <p:nvPr>
            <p:ph type="sldNum" sz="quarter" idx="12"/>
          </p:nvPr>
        </p:nvSpPr>
        <p:spPr>
          <a:ln/>
        </p:spPr>
        <p:txBody>
          <a:bodyPr/>
          <a:lstStyle>
            <a:lvl1pPr>
              <a:defRPr/>
            </a:lvl1pPr>
          </a:lstStyle>
          <a:p>
            <a:pPr>
              <a:defRPr/>
            </a:pPr>
            <a:fld id="{2C75F1E5-B622-446F-9A28-92BB5E3B6CBA}" type="slidenum">
              <a:rPr lang="en-US" altLang="zh-CN"/>
              <a:pPr>
                <a:defRPr/>
              </a:pPr>
              <a:t>‹#›</a:t>
            </a:fld>
            <a:endParaRPr lang="en-US" altLang="zh-CN"/>
          </a:p>
        </p:txBody>
      </p:sp>
    </p:spTree>
    <p:extLst>
      <p:ext uri="{BB962C8B-B14F-4D97-AF65-F5344CB8AC3E}">
        <p14:creationId xmlns:p14="http://schemas.microsoft.com/office/powerpoint/2010/main" val="2783850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D21626BF-1DC4-3958-6C6E-2F2C3B9D681F}"/>
              </a:ext>
            </a:extLst>
          </p:cNvPr>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66856F1D-4285-1D71-B37A-1CC43BC234F4}"/>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FC040472-A585-6CF9-641B-A5D7B8856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001C2D83-166C-10E8-525C-64BD72EEC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ShockwaveFlash1">
            <a:extLst>
              <a:ext uri="{FF2B5EF4-FFF2-40B4-BE49-F238E27FC236}">
                <a16:creationId xmlns:a16="http://schemas.microsoft.com/office/drawing/2014/main" id="{6C479760-4B12-9556-CDAA-18901A05194C}"/>
              </a:ext>
            </a:extLst>
          </p:cNvPr>
          <p:cNvPicPr preferRelativeResize="0">
            <a:picLocks noChangeArrowheads="1" noChangeShapeType="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en-US" altLang="zh-CN"/>
              <a:t>Click to edit Master title style</a:t>
            </a:r>
            <a:endParaRPr lang="zh-CN" altLang="en-US"/>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en-US" altLang="zh-CN"/>
              <a:t>Click to edit Master subtitle style</a:t>
            </a:r>
            <a:endParaRPr lang="zh-CN" altLang="en-US"/>
          </a:p>
        </p:txBody>
      </p:sp>
      <p:sp>
        <p:nvSpPr>
          <p:cNvPr id="7" name="Rectangle 4">
            <a:extLst>
              <a:ext uri="{FF2B5EF4-FFF2-40B4-BE49-F238E27FC236}">
                <a16:creationId xmlns:a16="http://schemas.microsoft.com/office/drawing/2014/main" id="{57E72D1E-92D0-C4FD-497D-65509123974B}"/>
              </a:ext>
            </a:extLst>
          </p:cNvPr>
          <p:cNvSpPr>
            <a:spLocks noGrp="1" noChangeArrowheads="1"/>
          </p:cNvSpPr>
          <p:nvPr>
            <p:ph type="dt" sz="half" idx="10"/>
          </p:nvPr>
        </p:nvSpPr>
        <p:spPr/>
        <p:txBody>
          <a:bodyPr/>
          <a:lstStyle>
            <a:lvl1pPr>
              <a:defRPr/>
            </a:lvl1pPr>
          </a:lstStyle>
          <a:p>
            <a:pPr>
              <a:defRPr/>
            </a:pPr>
            <a:fld id="{4C03FE33-8CEF-47A1-B88A-52B4AFDCB362}"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0479DFDA-ECD7-8B70-59F0-135245411BB6}"/>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343D6F6-A7B1-9C21-0666-1F11390D8EE5}"/>
              </a:ext>
            </a:extLst>
          </p:cNvPr>
          <p:cNvSpPr>
            <a:spLocks noGrp="1" noChangeArrowheads="1"/>
          </p:cNvSpPr>
          <p:nvPr>
            <p:ph type="sldNum" sz="quarter" idx="12"/>
          </p:nvPr>
        </p:nvSpPr>
        <p:spPr>
          <a:xfrm>
            <a:off x="8737600" y="6243638"/>
            <a:ext cx="2844800" cy="457200"/>
          </a:xfrm>
        </p:spPr>
        <p:txBody>
          <a:bodyPr/>
          <a:lstStyle>
            <a:lvl1pPr algn="r">
              <a:defRPr>
                <a:latin typeface="Garamond" panose="02020404030301010803" pitchFamily="18" charset="0"/>
              </a:defRPr>
            </a:lvl1pPr>
          </a:lstStyle>
          <a:p>
            <a:fld id="{26AF7CED-B3C8-4C50-97CB-C56EA2E6DB0E}" type="slidenum">
              <a:rPr lang="en-US" altLang="zh-CN"/>
              <a:pPr/>
              <a:t>‹#›</a:t>
            </a:fld>
            <a:endParaRPr lang="en-US" altLang="zh-CN"/>
          </a:p>
        </p:txBody>
      </p:sp>
    </p:spTree>
    <p:extLst>
      <p:ext uri="{BB962C8B-B14F-4D97-AF65-F5344CB8AC3E}">
        <p14:creationId xmlns:p14="http://schemas.microsoft.com/office/powerpoint/2010/main" val="4171469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6E716B69-BF89-D7D5-E1D4-8F13FD824AC1}"/>
              </a:ext>
            </a:extLst>
          </p:cNvPr>
          <p:cNvSpPr>
            <a:spLocks noGrp="1" noChangeArrowheads="1"/>
          </p:cNvSpPr>
          <p:nvPr>
            <p:ph type="dt" sz="half" idx="10"/>
          </p:nvPr>
        </p:nvSpPr>
        <p:spPr>
          <a:ln/>
        </p:spPr>
        <p:txBody>
          <a:bodyPr/>
          <a:lstStyle>
            <a:lvl1pPr>
              <a:defRPr/>
            </a:lvl1pPr>
          </a:lstStyle>
          <a:p>
            <a:pPr>
              <a:defRPr/>
            </a:pPr>
            <a:fld id="{C16582FC-30BB-4FD1-BAAC-EAB4E50ABF10}"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AB618F1D-FCAE-AC0E-0C5D-60EE78EF49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CA27F11-3E83-1074-58B1-922A9316557A}"/>
              </a:ext>
            </a:extLst>
          </p:cNvPr>
          <p:cNvSpPr>
            <a:spLocks noGrp="1" noChangeArrowheads="1"/>
          </p:cNvSpPr>
          <p:nvPr>
            <p:ph type="sldNum" sz="quarter" idx="12"/>
          </p:nvPr>
        </p:nvSpPr>
        <p:spPr>
          <a:ln/>
        </p:spPr>
        <p:txBody>
          <a:bodyPr/>
          <a:lstStyle>
            <a:lvl1pPr>
              <a:defRPr/>
            </a:lvl1pPr>
          </a:lstStyle>
          <a:p>
            <a:fld id="{2F4E4C2D-CF91-4325-B903-816DEB60F558}" type="slidenum">
              <a:rPr lang="en-US" altLang="zh-CN"/>
              <a:pPr/>
              <a:t>‹#›</a:t>
            </a:fld>
            <a:endParaRPr lang="en-US" altLang="zh-CN"/>
          </a:p>
        </p:txBody>
      </p:sp>
    </p:spTree>
    <p:extLst>
      <p:ext uri="{BB962C8B-B14F-4D97-AF65-F5344CB8AC3E}">
        <p14:creationId xmlns:p14="http://schemas.microsoft.com/office/powerpoint/2010/main" val="1438857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3C08C193-1E76-93EC-3129-2937B7E77CF1}"/>
              </a:ext>
            </a:extLst>
          </p:cNvPr>
          <p:cNvSpPr>
            <a:spLocks noGrp="1" noChangeArrowheads="1"/>
          </p:cNvSpPr>
          <p:nvPr>
            <p:ph type="dt" sz="half" idx="10"/>
          </p:nvPr>
        </p:nvSpPr>
        <p:spPr>
          <a:ln/>
        </p:spPr>
        <p:txBody>
          <a:bodyPr/>
          <a:lstStyle>
            <a:lvl1pPr>
              <a:defRPr/>
            </a:lvl1pPr>
          </a:lstStyle>
          <a:p>
            <a:pPr>
              <a:defRPr/>
            </a:pPr>
            <a:fld id="{277B2B5B-F883-4590-8098-026F3C8587C5}"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AEEA1F07-8551-1A50-8183-8F753EDB547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88A0F98-0971-A820-792B-72F8399F2730}"/>
              </a:ext>
            </a:extLst>
          </p:cNvPr>
          <p:cNvSpPr>
            <a:spLocks noGrp="1" noChangeArrowheads="1"/>
          </p:cNvSpPr>
          <p:nvPr>
            <p:ph type="sldNum" sz="quarter" idx="12"/>
          </p:nvPr>
        </p:nvSpPr>
        <p:spPr>
          <a:ln/>
        </p:spPr>
        <p:txBody>
          <a:bodyPr/>
          <a:lstStyle>
            <a:lvl1pPr>
              <a:defRPr/>
            </a:lvl1pPr>
          </a:lstStyle>
          <a:p>
            <a:fld id="{7EE6AEDE-CAEE-47EE-89C7-830517E96DDC}" type="slidenum">
              <a:rPr lang="en-US" altLang="zh-CN"/>
              <a:pPr/>
              <a:t>‹#›</a:t>
            </a:fld>
            <a:endParaRPr lang="en-US" altLang="zh-CN"/>
          </a:p>
        </p:txBody>
      </p:sp>
    </p:spTree>
    <p:extLst>
      <p:ext uri="{BB962C8B-B14F-4D97-AF65-F5344CB8AC3E}">
        <p14:creationId xmlns:p14="http://schemas.microsoft.com/office/powerpoint/2010/main" val="31336737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4B29FBEB-40BC-B03D-3969-8EAECDA5E82B}"/>
              </a:ext>
            </a:extLst>
          </p:cNvPr>
          <p:cNvSpPr>
            <a:spLocks noGrp="1" noChangeArrowheads="1"/>
          </p:cNvSpPr>
          <p:nvPr>
            <p:ph type="dt" sz="half" idx="10"/>
          </p:nvPr>
        </p:nvSpPr>
        <p:spPr>
          <a:ln/>
        </p:spPr>
        <p:txBody>
          <a:bodyPr/>
          <a:lstStyle>
            <a:lvl1pPr>
              <a:defRPr/>
            </a:lvl1pPr>
          </a:lstStyle>
          <a:p>
            <a:pPr>
              <a:defRPr/>
            </a:pPr>
            <a:fld id="{A2E2D2A0-4160-489F-844C-C794B39FA16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2E42F3B3-8FE2-9372-08F8-C55AD3EC21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06723EE-0E5E-F869-18CA-9E6B415F45EA}"/>
              </a:ext>
            </a:extLst>
          </p:cNvPr>
          <p:cNvSpPr>
            <a:spLocks noGrp="1" noChangeArrowheads="1"/>
          </p:cNvSpPr>
          <p:nvPr>
            <p:ph type="sldNum" sz="quarter" idx="12"/>
          </p:nvPr>
        </p:nvSpPr>
        <p:spPr>
          <a:ln/>
        </p:spPr>
        <p:txBody>
          <a:bodyPr/>
          <a:lstStyle>
            <a:lvl1pPr>
              <a:defRPr/>
            </a:lvl1pPr>
          </a:lstStyle>
          <a:p>
            <a:fld id="{DAF5542F-E3BB-43DA-B109-7C46AE984BD4}" type="slidenum">
              <a:rPr lang="en-US" altLang="zh-CN"/>
              <a:pPr/>
              <a:t>‹#›</a:t>
            </a:fld>
            <a:endParaRPr lang="en-US" altLang="zh-CN"/>
          </a:p>
        </p:txBody>
      </p:sp>
    </p:spTree>
    <p:extLst>
      <p:ext uri="{BB962C8B-B14F-4D97-AF65-F5344CB8AC3E}">
        <p14:creationId xmlns:p14="http://schemas.microsoft.com/office/powerpoint/2010/main" val="11455332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7" name="Rectangle 4">
            <a:extLst>
              <a:ext uri="{FF2B5EF4-FFF2-40B4-BE49-F238E27FC236}">
                <a16:creationId xmlns:a16="http://schemas.microsoft.com/office/drawing/2014/main" id="{74855740-CBDC-8B57-E32E-4453AE101D9D}"/>
              </a:ext>
            </a:extLst>
          </p:cNvPr>
          <p:cNvSpPr>
            <a:spLocks noGrp="1" noChangeArrowheads="1"/>
          </p:cNvSpPr>
          <p:nvPr>
            <p:ph type="dt" sz="half" idx="10"/>
          </p:nvPr>
        </p:nvSpPr>
        <p:spPr>
          <a:ln/>
        </p:spPr>
        <p:txBody>
          <a:bodyPr/>
          <a:lstStyle>
            <a:lvl1pPr>
              <a:defRPr/>
            </a:lvl1pPr>
          </a:lstStyle>
          <a:p>
            <a:pPr>
              <a:defRPr/>
            </a:pPr>
            <a:fld id="{7066A03D-EE2C-46C3-8452-42638FCAE289}"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C842B19C-7D65-3D8C-4781-2D5A4D62AA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592D723E-DE1B-7547-D31B-0DF5A45D6EBE}"/>
              </a:ext>
            </a:extLst>
          </p:cNvPr>
          <p:cNvSpPr>
            <a:spLocks noGrp="1" noChangeArrowheads="1"/>
          </p:cNvSpPr>
          <p:nvPr>
            <p:ph type="sldNum" sz="quarter" idx="12"/>
          </p:nvPr>
        </p:nvSpPr>
        <p:spPr>
          <a:ln/>
        </p:spPr>
        <p:txBody>
          <a:bodyPr/>
          <a:lstStyle>
            <a:lvl1pPr>
              <a:defRPr/>
            </a:lvl1pPr>
          </a:lstStyle>
          <a:p>
            <a:fld id="{B38BEF6F-61AF-4EAA-A2DD-573AA65454E2}" type="slidenum">
              <a:rPr lang="en-US" altLang="zh-CN"/>
              <a:pPr/>
              <a:t>‹#›</a:t>
            </a:fld>
            <a:endParaRPr lang="en-US" altLang="zh-CN"/>
          </a:p>
        </p:txBody>
      </p:sp>
    </p:spTree>
    <p:extLst>
      <p:ext uri="{BB962C8B-B14F-4D97-AF65-F5344CB8AC3E}">
        <p14:creationId xmlns:p14="http://schemas.microsoft.com/office/powerpoint/2010/main" val="3991456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a:extLst>
              <a:ext uri="{FF2B5EF4-FFF2-40B4-BE49-F238E27FC236}">
                <a16:creationId xmlns:a16="http://schemas.microsoft.com/office/drawing/2014/main" id="{B27AB465-E015-9239-E6A7-245B87F4E055}"/>
              </a:ext>
            </a:extLst>
          </p:cNvPr>
          <p:cNvSpPr>
            <a:spLocks noGrp="1" noChangeArrowheads="1"/>
          </p:cNvSpPr>
          <p:nvPr>
            <p:ph type="dt" sz="half" idx="10"/>
          </p:nvPr>
        </p:nvSpPr>
        <p:spPr>
          <a:ln/>
        </p:spPr>
        <p:txBody>
          <a:bodyPr/>
          <a:lstStyle>
            <a:lvl1pPr>
              <a:defRPr/>
            </a:lvl1pPr>
          </a:lstStyle>
          <a:p>
            <a:pPr>
              <a:defRPr/>
            </a:pPr>
            <a:fld id="{6C4854B9-CBB8-491E-AC3C-56E59728B0DF}"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47324880-CD5B-3108-2FD1-70759CE4BC7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4AC8FAE-B361-028D-5A80-22245D53FD5A}"/>
              </a:ext>
            </a:extLst>
          </p:cNvPr>
          <p:cNvSpPr>
            <a:spLocks noGrp="1" noChangeArrowheads="1"/>
          </p:cNvSpPr>
          <p:nvPr>
            <p:ph type="sldNum" sz="quarter" idx="12"/>
          </p:nvPr>
        </p:nvSpPr>
        <p:spPr>
          <a:ln/>
        </p:spPr>
        <p:txBody>
          <a:bodyPr/>
          <a:lstStyle>
            <a:lvl1pPr>
              <a:defRPr/>
            </a:lvl1pPr>
          </a:lstStyle>
          <a:p>
            <a:fld id="{E1E05298-683A-41D7-B4DD-A09E06952D24}" type="slidenum">
              <a:rPr lang="en-US" altLang="zh-CN"/>
              <a:pPr/>
              <a:t>‹#›</a:t>
            </a:fld>
            <a:endParaRPr lang="en-US" altLang="zh-CN"/>
          </a:p>
        </p:txBody>
      </p:sp>
    </p:spTree>
    <p:extLst>
      <p:ext uri="{BB962C8B-B14F-4D97-AF65-F5344CB8AC3E}">
        <p14:creationId xmlns:p14="http://schemas.microsoft.com/office/powerpoint/2010/main" val="20355753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66712A5-39B2-095C-B063-50513279CAAB}"/>
              </a:ext>
            </a:extLst>
          </p:cNvPr>
          <p:cNvSpPr>
            <a:spLocks noGrp="1" noChangeArrowheads="1"/>
          </p:cNvSpPr>
          <p:nvPr>
            <p:ph type="dt" sz="half" idx="10"/>
          </p:nvPr>
        </p:nvSpPr>
        <p:spPr>
          <a:ln/>
        </p:spPr>
        <p:txBody>
          <a:bodyPr/>
          <a:lstStyle>
            <a:lvl1pPr>
              <a:defRPr/>
            </a:lvl1pPr>
          </a:lstStyle>
          <a:p>
            <a:pPr>
              <a:defRPr/>
            </a:pPr>
            <a:fld id="{72C650FF-812E-4228-9E19-F356329D8820}"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E10E5332-C269-AF5A-D68C-3AF2201654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1A51DE4-1744-AE0E-E043-9EF2686D8ABA}"/>
              </a:ext>
            </a:extLst>
          </p:cNvPr>
          <p:cNvSpPr>
            <a:spLocks noGrp="1" noChangeArrowheads="1"/>
          </p:cNvSpPr>
          <p:nvPr>
            <p:ph type="sldNum" sz="quarter" idx="12"/>
          </p:nvPr>
        </p:nvSpPr>
        <p:spPr>
          <a:ln/>
        </p:spPr>
        <p:txBody>
          <a:bodyPr/>
          <a:lstStyle>
            <a:lvl1pPr>
              <a:defRPr/>
            </a:lvl1pPr>
          </a:lstStyle>
          <a:p>
            <a:fld id="{8AECFC42-4209-4ADF-9F7B-B0DCD704BAA7}" type="slidenum">
              <a:rPr lang="en-US" altLang="zh-CN"/>
              <a:pPr/>
              <a:t>‹#›</a:t>
            </a:fld>
            <a:endParaRPr lang="en-US" altLang="zh-CN"/>
          </a:p>
        </p:txBody>
      </p:sp>
    </p:spTree>
    <p:extLst>
      <p:ext uri="{BB962C8B-B14F-4D97-AF65-F5344CB8AC3E}">
        <p14:creationId xmlns:p14="http://schemas.microsoft.com/office/powerpoint/2010/main" val="38617213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
</a:t>
            </a:r>
            <a:r>
              <a:rPr lang="zh-CN" altLang="en-US"/>
              <a:t>第二等级
第三等级
第四等级
第五等级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FCDE6169-6917-235D-5705-1C546F3F7B9E}"/>
              </a:ext>
            </a:extLst>
          </p:cNvPr>
          <p:cNvSpPr>
            <a:spLocks noGrp="1" noChangeArrowheads="1"/>
          </p:cNvSpPr>
          <p:nvPr>
            <p:ph type="dt" sz="half" idx="10"/>
          </p:nvPr>
        </p:nvSpPr>
        <p:spPr>
          <a:ln/>
        </p:spPr>
        <p:txBody>
          <a:bodyPr/>
          <a:lstStyle>
            <a:lvl1pPr>
              <a:defRPr/>
            </a:lvl1pPr>
          </a:lstStyle>
          <a:p>
            <a:pPr>
              <a:defRPr/>
            </a:pPr>
            <a:fld id="{B52A8122-FA81-4F94-9762-DED36EAA8AEC}"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7DCC0CE3-09D3-91B1-2A49-E00FD87509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5F3715B-1EFF-1CFE-7C2E-66CC65736FF3}"/>
              </a:ext>
            </a:extLst>
          </p:cNvPr>
          <p:cNvSpPr>
            <a:spLocks noGrp="1" noChangeArrowheads="1"/>
          </p:cNvSpPr>
          <p:nvPr>
            <p:ph type="sldNum" sz="quarter" idx="12"/>
          </p:nvPr>
        </p:nvSpPr>
        <p:spPr>
          <a:ln/>
        </p:spPr>
        <p:txBody>
          <a:bodyPr/>
          <a:lstStyle>
            <a:lvl1pPr>
              <a:defRPr/>
            </a:lvl1pPr>
          </a:lstStyle>
          <a:p>
            <a:fld id="{5B873CAC-FE38-46AF-9C25-BC394298648C}" type="slidenum">
              <a:rPr lang="en-US" altLang="zh-CN"/>
              <a:pPr/>
              <a:t>‹#›</a:t>
            </a:fld>
            <a:endParaRPr lang="en-US" altLang="zh-CN"/>
          </a:p>
        </p:txBody>
      </p:sp>
    </p:spTree>
    <p:extLst>
      <p:ext uri="{BB962C8B-B14F-4D97-AF65-F5344CB8AC3E}">
        <p14:creationId xmlns:p14="http://schemas.microsoft.com/office/powerpoint/2010/main" val="3335844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B9B107D0-3DFB-CC04-A73F-42E275B05A44}"/>
              </a:ext>
            </a:extLst>
          </p:cNvPr>
          <p:cNvSpPr>
            <a:spLocks noGrp="1" noChangeArrowheads="1"/>
          </p:cNvSpPr>
          <p:nvPr>
            <p:ph type="dt" sz="half" idx="10"/>
          </p:nvPr>
        </p:nvSpPr>
        <p:spPr>
          <a:ln/>
        </p:spPr>
        <p:txBody>
          <a:bodyPr/>
          <a:lstStyle>
            <a:lvl1pPr>
              <a:defRPr/>
            </a:lvl1pPr>
          </a:lstStyle>
          <a:p>
            <a:pPr>
              <a:defRPr/>
            </a:pPr>
            <a:fld id="{5A8AAE95-48A9-4C33-BC7D-23968DE8EC83}"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A8C980B5-9622-75D6-B676-CE8DB52796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9580D63-66F4-8DA5-4AAA-BF822F759A60}"/>
              </a:ext>
            </a:extLst>
          </p:cNvPr>
          <p:cNvSpPr>
            <a:spLocks noGrp="1" noChangeArrowheads="1"/>
          </p:cNvSpPr>
          <p:nvPr>
            <p:ph type="sldNum" sz="quarter" idx="12"/>
          </p:nvPr>
        </p:nvSpPr>
        <p:spPr>
          <a:ln/>
        </p:spPr>
        <p:txBody>
          <a:bodyPr/>
          <a:lstStyle>
            <a:lvl1pPr>
              <a:defRPr/>
            </a:lvl1pPr>
          </a:lstStyle>
          <a:p>
            <a:fld id="{0F9B7BBF-3D62-4F23-932A-9FFF0602ED85}" type="slidenum">
              <a:rPr lang="en-US" altLang="zh-CN"/>
              <a:pPr/>
              <a:t>‹#›</a:t>
            </a:fld>
            <a:endParaRPr lang="en-US" altLang="zh-CN"/>
          </a:p>
        </p:txBody>
      </p:sp>
    </p:spTree>
    <p:extLst>
      <p:ext uri="{BB962C8B-B14F-4D97-AF65-F5344CB8AC3E}">
        <p14:creationId xmlns:p14="http://schemas.microsoft.com/office/powerpoint/2010/main" val="265501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3921A101-E98B-433F-7D37-3CEFC1D0A664}"/>
              </a:ext>
            </a:extLst>
          </p:cNvPr>
          <p:cNvSpPr>
            <a:spLocks noGrp="1" noChangeArrowheads="1"/>
          </p:cNvSpPr>
          <p:nvPr>
            <p:ph type="dt" sz="half" idx="10"/>
          </p:nvPr>
        </p:nvSpPr>
        <p:spPr>
          <a:ln/>
        </p:spPr>
        <p:txBody>
          <a:bodyPr/>
          <a:lstStyle>
            <a:lvl1pPr>
              <a:defRPr/>
            </a:lvl1pPr>
          </a:lstStyle>
          <a:p>
            <a:pPr>
              <a:defRPr/>
            </a:pPr>
            <a:fld id="{738A1C7B-D4EB-4B1C-8B9C-06C2FF30C42F}"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979F9FB8-605B-2BB9-5EA8-367F7F342F7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89E0E4C-46EF-4041-4DC9-0D411E35B094}"/>
              </a:ext>
            </a:extLst>
          </p:cNvPr>
          <p:cNvSpPr>
            <a:spLocks noGrp="1" noChangeArrowheads="1"/>
          </p:cNvSpPr>
          <p:nvPr>
            <p:ph type="sldNum" sz="quarter" idx="12"/>
          </p:nvPr>
        </p:nvSpPr>
        <p:spPr>
          <a:ln/>
        </p:spPr>
        <p:txBody>
          <a:bodyPr/>
          <a:lstStyle>
            <a:lvl1pPr>
              <a:defRPr/>
            </a:lvl1pPr>
          </a:lstStyle>
          <a:p>
            <a:fld id="{A7B249BF-6CAA-450A-8ABA-B369C7F27272}" type="slidenum">
              <a:rPr lang="en-US" altLang="zh-CN"/>
              <a:pPr/>
              <a:t>‹#›</a:t>
            </a:fld>
            <a:endParaRPr lang="en-US" altLang="zh-CN"/>
          </a:p>
        </p:txBody>
      </p:sp>
    </p:spTree>
    <p:extLst>
      <p:ext uri="{BB962C8B-B14F-4D97-AF65-F5344CB8AC3E}">
        <p14:creationId xmlns:p14="http://schemas.microsoft.com/office/powerpoint/2010/main" val="20120432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8A2A7EF0-1570-92FD-9298-F3ADBC0CC450}"/>
              </a:ext>
            </a:extLst>
          </p:cNvPr>
          <p:cNvSpPr>
            <a:spLocks noGrp="1" noChangeArrowheads="1"/>
          </p:cNvSpPr>
          <p:nvPr>
            <p:ph type="dt" sz="half" idx="10"/>
          </p:nvPr>
        </p:nvSpPr>
        <p:spPr>
          <a:ln/>
        </p:spPr>
        <p:txBody>
          <a:bodyPr/>
          <a:lstStyle>
            <a:lvl1pPr>
              <a:defRPr/>
            </a:lvl1pPr>
          </a:lstStyle>
          <a:p>
            <a:pPr>
              <a:defRPr/>
            </a:pPr>
            <a:fld id="{D0BF559D-1ED0-4415-B419-07A5BEDAB6E2}"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FA684F71-EB5C-E49E-1F54-F59EE74E93A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AF65948-74AF-439D-CF0A-DF52542C068D}"/>
              </a:ext>
            </a:extLst>
          </p:cNvPr>
          <p:cNvSpPr>
            <a:spLocks noGrp="1" noChangeArrowheads="1"/>
          </p:cNvSpPr>
          <p:nvPr>
            <p:ph type="sldNum" sz="quarter" idx="12"/>
          </p:nvPr>
        </p:nvSpPr>
        <p:spPr>
          <a:ln/>
        </p:spPr>
        <p:txBody>
          <a:bodyPr/>
          <a:lstStyle>
            <a:lvl1pPr>
              <a:defRPr/>
            </a:lvl1pPr>
          </a:lstStyle>
          <a:p>
            <a:fld id="{57A0E80A-4DCE-4299-8FFC-2633BFEA4B46}" type="slidenum">
              <a:rPr lang="en-US" altLang="zh-CN"/>
              <a:pPr/>
              <a:t>‹#›</a:t>
            </a:fld>
            <a:endParaRPr lang="en-US" altLang="zh-CN"/>
          </a:p>
        </p:txBody>
      </p:sp>
    </p:spTree>
    <p:extLst>
      <p:ext uri="{BB962C8B-B14F-4D97-AF65-F5344CB8AC3E}">
        <p14:creationId xmlns:p14="http://schemas.microsoft.com/office/powerpoint/2010/main" val="13060279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en-US" altLang="zh-CN"/>
              <a:t>Click to edit Master text styles
</a:t>
            </a:r>
            <a:r>
              <a:rPr lang="zh-CN" altLang="en-US"/>
              <a:t>第二等级
第三等级
第四等级
第五等级</a:t>
            </a:r>
          </a:p>
        </p:txBody>
      </p:sp>
      <p:sp>
        <p:nvSpPr>
          <p:cNvPr id="3" name="Rectangle 4">
            <a:extLst>
              <a:ext uri="{FF2B5EF4-FFF2-40B4-BE49-F238E27FC236}">
                <a16:creationId xmlns:a16="http://schemas.microsoft.com/office/drawing/2014/main" id="{CDAE903E-AE78-D07C-B38D-E97B3D233B83}"/>
              </a:ext>
            </a:extLst>
          </p:cNvPr>
          <p:cNvSpPr>
            <a:spLocks noGrp="1" noChangeArrowheads="1"/>
          </p:cNvSpPr>
          <p:nvPr>
            <p:ph type="dt" sz="half" idx="10"/>
          </p:nvPr>
        </p:nvSpPr>
        <p:spPr>
          <a:ln/>
        </p:spPr>
        <p:txBody>
          <a:bodyPr/>
          <a:lstStyle>
            <a:lvl1pPr>
              <a:defRPr/>
            </a:lvl1pPr>
          </a:lstStyle>
          <a:p>
            <a:pPr>
              <a:defRPr/>
            </a:pPr>
            <a:fld id="{836C6E80-4719-442B-BFAC-9038D516A35A}"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1A19F044-8F49-145B-E20E-9124854ECE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02E0582-A567-C915-5904-8F4B531FFD47}"/>
              </a:ext>
            </a:extLst>
          </p:cNvPr>
          <p:cNvSpPr>
            <a:spLocks noGrp="1" noChangeArrowheads="1"/>
          </p:cNvSpPr>
          <p:nvPr>
            <p:ph type="sldNum" sz="quarter" idx="12"/>
          </p:nvPr>
        </p:nvSpPr>
        <p:spPr>
          <a:ln/>
        </p:spPr>
        <p:txBody>
          <a:bodyPr/>
          <a:lstStyle>
            <a:lvl1pPr>
              <a:defRPr/>
            </a:lvl1pPr>
          </a:lstStyle>
          <a:p>
            <a:fld id="{5A299EB9-A65D-43ED-A3BE-D3A82FB99C5F}" type="slidenum">
              <a:rPr lang="en-US" altLang="zh-CN"/>
              <a:pPr/>
              <a:t>‹#›</a:t>
            </a:fld>
            <a:endParaRPr lang="en-US" altLang="zh-CN"/>
          </a:p>
        </p:txBody>
      </p:sp>
    </p:spTree>
    <p:extLst>
      <p:ext uri="{BB962C8B-B14F-4D97-AF65-F5344CB8AC3E}">
        <p14:creationId xmlns:p14="http://schemas.microsoft.com/office/powerpoint/2010/main" val="1584471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39219270-1D14-6B5C-A4F3-2B8C8982713F}"/>
              </a:ext>
            </a:extLst>
          </p:cNvPr>
          <p:cNvSpPr>
            <a:spLocks noGrp="1" noChangeArrowheads="1"/>
          </p:cNvSpPr>
          <p:nvPr>
            <p:ph type="dt" sz="half" idx="10"/>
          </p:nvPr>
        </p:nvSpPr>
        <p:spPr>
          <a:ln/>
        </p:spPr>
        <p:txBody>
          <a:bodyPr/>
          <a:lstStyle>
            <a:lvl1pPr>
              <a:defRPr/>
            </a:lvl1pPr>
          </a:lstStyle>
          <a:p>
            <a:pPr>
              <a:defRPr/>
            </a:pPr>
            <a:fld id="{7C63DA90-FA0D-47D4-B3C2-E895A2F5E9EB}"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8BBB68F1-3A48-C2F7-22DA-26B78AEE03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95D2504-6AA7-398E-5DA8-7520299D2F9B}"/>
              </a:ext>
            </a:extLst>
          </p:cNvPr>
          <p:cNvSpPr>
            <a:spLocks noGrp="1" noChangeArrowheads="1"/>
          </p:cNvSpPr>
          <p:nvPr>
            <p:ph type="sldNum" sz="quarter" idx="12"/>
          </p:nvPr>
        </p:nvSpPr>
        <p:spPr>
          <a:ln/>
        </p:spPr>
        <p:txBody>
          <a:bodyPr/>
          <a:lstStyle>
            <a:lvl1pPr>
              <a:defRPr/>
            </a:lvl1pPr>
          </a:lstStyle>
          <a:p>
            <a:fld id="{1281E57B-2A7E-4405-BA08-DA803D608EB2}" type="slidenum">
              <a:rPr lang="en-US" altLang="zh-CN"/>
              <a:pPr/>
              <a:t>‹#›</a:t>
            </a:fld>
            <a:endParaRPr lang="en-US" altLang="zh-CN"/>
          </a:p>
        </p:txBody>
      </p:sp>
    </p:spTree>
    <p:extLst>
      <p:ext uri="{BB962C8B-B14F-4D97-AF65-F5344CB8AC3E}">
        <p14:creationId xmlns:p14="http://schemas.microsoft.com/office/powerpoint/2010/main" val="39976966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7336EECF-B015-D5D1-9F3D-80655F7445D2}"/>
              </a:ext>
            </a:extLst>
          </p:cNvPr>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72FEB6D1-65FC-F56B-A234-2FD8D46F2F70}"/>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60C118CD-879D-4A90-50E1-B6E6E9D8E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58DDA42B-FD84-81B5-8C71-9568A3F15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en-US" altLang="zh-CN"/>
              <a:t>Click to edit Master title style</a:t>
            </a:r>
            <a:endParaRPr lang="zh-CN" altLang="en-US"/>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en-US" altLang="zh-CN"/>
              <a:t>Click to edit Master subtitle style</a:t>
            </a:r>
            <a:endParaRPr lang="zh-CN" altLang="en-US"/>
          </a:p>
        </p:txBody>
      </p:sp>
      <p:sp>
        <p:nvSpPr>
          <p:cNvPr id="6" name="Rectangle 4">
            <a:extLst>
              <a:ext uri="{FF2B5EF4-FFF2-40B4-BE49-F238E27FC236}">
                <a16:creationId xmlns:a16="http://schemas.microsoft.com/office/drawing/2014/main" id="{FFC74998-090C-999B-D73A-86CDB1C0FDDD}"/>
              </a:ext>
            </a:extLst>
          </p:cNvPr>
          <p:cNvSpPr>
            <a:spLocks noGrp="1" noChangeArrowheads="1"/>
          </p:cNvSpPr>
          <p:nvPr>
            <p:ph type="dt" sz="half" idx="10"/>
          </p:nvPr>
        </p:nvSpPr>
        <p:spPr/>
        <p:txBody>
          <a:bodyPr/>
          <a:lstStyle>
            <a:lvl1pPr>
              <a:defRPr/>
            </a:lvl1pPr>
          </a:lstStyle>
          <a:p>
            <a:pPr>
              <a:defRPr/>
            </a:pPr>
            <a:fld id="{5D3B51E7-8756-408E-A84A-F28AD0C3E67C}" type="datetime1">
              <a:rPr lang="zh-CN" altLang="en-US"/>
              <a:pPr>
                <a:defRPr/>
              </a:pPr>
              <a:t>2024/12/18</a:t>
            </a:fld>
            <a:endParaRPr lang="en-US" altLang="zh-CN"/>
          </a:p>
        </p:txBody>
      </p:sp>
      <p:sp>
        <p:nvSpPr>
          <p:cNvPr id="7" name="Rectangle 5">
            <a:extLst>
              <a:ext uri="{FF2B5EF4-FFF2-40B4-BE49-F238E27FC236}">
                <a16:creationId xmlns:a16="http://schemas.microsoft.com/office/drawing/2014/main" id="{8ECC555B-00AD-6E6E-9441-2A2FD0F01024}"/>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B6DD61CA-298E-AAA1-0605-84030345EEDA}"/>
              </a:ext>
            </a:extLst>
          </p:cNvPr>
          <p:cNvSpPr>
            <a:spLocks noGrp="1" noChangeArrowheads="1"/>
          </p:cNvSpPr>
          <p:nvPr>
            <p:ph type="sldNum" sz="quarter" idx="12"/>
          </p:nvPr>
        </p:nvSpPr>
        <p:spPr>
          <a:xfrm>
            <a:off x="8737600" y="6243638"/>
            <a:ext cx="2844800" cy="457200"/>
          </a:xfrm>
        </p:spPr>
        <p:txBody>
          <a:bodyPr/>
          <a:lstStyle>
            <a:lvl1pPr algn="r">
              <a:defRPr smtClean="0">
                <a:latin typeface="Garamond" panose="02020404030301010803" pitchFamily="18" charset="0"/>
              </a:defRPr>
            </a:lvl1pPr>
          </a:lstStyle>
          <a:p>
            <a:pPr>
              <a:defRPr/>
            </a:pPr>
            <a:fld id="{EF46AC72-E4C8-44C0-A0BE-BC4D66297430}" type="slidenum">
              <a:rPr lang="en-US" altLang="zh-CN"/>
              <a:pPr>
                <a:defRPr/>
              </a:pPr>
              <a:t>‹#›</a:t>
            </a:fld>
            <a:endParaRPr lang="en-US" altLang="zh-CN"/>
          </a:p>
        </p:txBody>
      </p:sp>
    </p:spTree>
    <p:extLst>
      <p:ext uri="{BB962C8B-B14F-4D97-AF65-F5344CB8AC3E}">
        <p14:creationId xmlns:p14="http://schemas.microsoft.com/office/powerpoint/2010/main" val="29781868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F1B6A1A6-F000-BA92-7945-DCDAA5CE446F}"/>
              </a:ext>
            </a:extLst>
          </p:cNvPr>
          <p:cNvSpPr>
            <a:spLocks noGrp="1" noChangeArrowheads="1"/>
          </p:cNvSpPr>
          <p:nvPr>
            <p:ph type="dt" sz="half" idx="10"/>
          </p:nvPr>
        </p:nvSpPr>
        <p:spPr>
          <a:ln/>
        </p:spPr>
        <p:txBody>
          <a:bodyPr/>
          <a:lstStyle>
            <a:lvl1pPr>
              <a:defRPr/>
            </a:lvl1pPr>
          </a:lstStyle>
          <a:p>
            <a:pPr>
              <a:defRPr/>
            </a:pPr>
            <a:fld id="{AFC42BC2-7461-48C8-A3BC-C0460EDADB9D}"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DAE6D83C-4D12-2215-2FE0-351953B8A0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B85B453-58C8-E129-DC0A-F05B418BB499}"/>
              </a:ext>
            </a:extLst>
          </p:cNvPr>
          <p:cNvSpPr>
            <a:spLocks noGrp="1" noChangeArrowheads="1"/>
          </p:cNvSpPr>
          <p:nvPr>
            <p:ph type="sldNum" sz="quarter" idx="12"/>
          </p:nvPr>
        </p:nvSpPr>
        <p:spPr>
          <a:ln/>
        </p:spPr>
        <p:txBody>
          <a:bodyPr/>
          <a:lstStyle>
            <a:lvl1pPr>
              <a:defRPr/>
            </a:lvl1pPr>
          </a:lstStyle>
          <a:p>
            <a:pPr>
              <a:defRPr/>
            </a:pPr>
            <a:fld id="{8CED2783-9BC3-4336-9014-9402510878D4}" type="slidenum">
              <a:rPr lang="en-US" altLang="zh-CN"/>
              <a:pPr>
                <a:defRPr/>
              </a:pPr>
              <a:t>‹#›</a:t>
            </a:fld>
            <a:endParaRPr lang="en-US" altLang="zh-CN"/>
          </a:p>
        </p:txBody>
      </p:sp>
    </p:spTree>
    <p:extLst>
      <p:ext uri="{BB962C8B-B14F-4D97-AF65-F5344CB8AC3E}">
        <p14:creationId xmlns:p14="http://schemas.microsoft.com/office/powerpoint/2010/main" val="3825701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527E8BC6-C737-1662-32D2-8FF02A7C6016}"/>
              </a:ext>
            </a:extLst>
          </p:cNvPr>
          <p:cNvSpPr>
            <a:spLocks noGrp="1" noChangeArrowheads="1"/>
          </p:cNvSpPr>
          <p:nvPr>
            <p:ph type="dt" sz="half" idx="10"/>
          </p:nvPr>
        </p:nvSpPr>
        <p:spPr>
          <a:ln/>
        </p:spPr>
        <p:txBody>
          <a:bodyPr/>
          <a:lstStyle>
            <a:lvl1pPr>
              <a:defRPr/>
            </a:lvl1pPr>
          </a:lstStyle>
          <a:p>
            <a:pPr>
              <a:defRPr/>
            </a:pPr>
            <a:fld id="{2ACCB13B-FA46-41F9-A1D5-F87599AD6F38}"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D0EA7F20-F31C-987F-4F7C-6F010B5DE7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AFA17B8-EFB8-A200-431B-252B1AB1D1C2}"/>
              </a:ext>
            </a:extLst>
          </p:cNvPr>
          <p:cNvSpPr>
            <a:spLocks noGrp="1" noChangeArrowheads="1"/>
          </p:cNvSpPr>
          <p:nvPr>
            <p:ph type="sldNum" sz="quarter" idx="12"/>
          </p:nvPr>
        </p:nvSpPr>
        <p:spPr>
          <a:ln/>
        </p:spPr>
        <p:txBody>
          <a:bodyPr/>
          <a:lstStyle>
            <a:lvl1pPr>
              <a:defRPr/>
            </a:lvl1pPr>
          </a:lstStyle>
          <a:p>
            <a:pPr>
              <a:defRPr/>
            </a:pPr>
            <a:fld id="{2BB27C94-1EB8-40B0-962B-E54CAA687CBA}" type="slidenum">
              <a:rPr lang="en-US" altLang="zh-CN"/>
              <a:pPr>
                <a:defRPr/>
              </a:pPr>
              <a:t>‹#›</a:t>
            </a:fld>
            <a:endParaRPr lang="en-US" altLang="zh-CN"/>
          </a:p>
        </p:txBody>
      </p:sp>
    </p:spTree>
    <p:extLst>
      <p:ext uri="{BB962C8B-B14F-4D97-AF65-F5344CB8AC3E}">
        <p14:creationId xmlns:p14="http://schemas.microsoft.com/office/powerpoint/2010/main" val="35292415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8CE882D3-02A8-BA5C-5213-3E86D7842C01}"/>
              </a:ext>
            </a:extLst>
          </p:cNvPr>
          <p:cNvSpPr>
            <a:spLocks noGrp="1" noChangeArrowheads="1"/>
          </p:cNvSpPr>
          <p:nvPr>
            <p:ph type="dt" sz="half" idx="10"/>
          </p:nvPr>
        </p:nvSpPr>
        <p:spPr>
          <a:ln/>
        </p:spPr>
        <p:txBody>
          <a:bodyPr/>
          <a:lstStyle>
            <a:lvl1pPr>
              <a:defRPr/>
            </a:lvl1pPr>
          </a:lstStyle>
          <a:p>
            <a:pPr>
              <a:defRPr/>
            </a:pPr>
            <a:fld id="{FC388D4A-6951-4CB4-A0AB-DD512431E4A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4C7B93C9-5FC3-1E2A-02F0-B667868B82D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566B1C2-4795-8409-A297-1D8464900B4D}"/>
              </a:ext>
            </a:extLst>
          </p:cNvPr>
          <p:cNvSpPr>
            <a:spLocks noGrp="1" noChangeArrowheads="1"/>
          </p:cNvSpPr>
          <p:nvPr>
            <p:ph type="sldNum" sz="quarter" idx="12"/>
          </p:nvPr>
        </p:nvSpPr>
        <p:spPr>
          <a:ln/>
        </p:spPr>
        <p:txBody>
          <a:bodyPr/>
          <a:lstStyle>
            <a:lvl1pPr>
              <a:defRPr/>
            </a:lvl1pPr>
          </a:lstStyle>
          <a:p>
            <a:pPr>
              <a:defRPr/>
            </a:pPr>
            <a:fld id="{0BCCFBB6-1D57-4C4D-A7B6-E6400397F0B0}" type="slidenum">
              <a:rPr lang="en-US" altLang="zh-CN"/>
              <a:pPr>
                <a:defRPr/>
              </a:pPr>
              <a:t>‹#›</a:t>
            </a:fld>
            <a:endParaRPr lang="en-US" altLang="zh-CN"/>
          </a:p>
        </p:txBody>
      </p:sp>
    </p:spTree>
    <p:extLst>
      <p:ext uri="{BB962C8B-B14F-4D97-AF65-F5344CB8AC3E}">
        <p14:creationId xmlns:p14="http://schemas.microsoft.com/office/powerpoint/2010/main" val="7822727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
</a:t>
            </a:r>
            <a:r>
              <a:rPr lang="zh-CN" altLang="en-US"/>
              <a:t>第二等级
第三等级
第四等级
第五等级</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
</a:t>
            </a:r>
            <a:r>
              <a:rPr lang="zh-CN" altLang="en-US"/>
              <a:t>第二等级
第三等级
第四等级
第五等级</a:t>
            </a:r>
          </a:p>
        </p:txBody>
      </p:sp>
      <p:sp>
        <p:nvSpPr>
          <p:cNvPr id="7" name="Rectangle 4">
            <a:extLst>
              <a:ext uri="{FF2B5EF4-FFF2-40B4-BE49-F238E27FC236}">
                <a16:creationId xmlns:a16="http://schemas.microsoft.com/office/drawing/2014/main" id="{5EE96295-A15C-137A-4967-31A044C01C26}"/>
              </a:ext>
            </a:extLst>
          </p:cNvPr>
          <p:cNvSpPr>
            <a:spLocks noGrp="1" noChangeArrowheads="1"/>
          </p:cNvSpPr>
          <p:nvPr>
            <p:ph type="dt" sz="half" idx="10"/>
          </p:nvPr>
        </p:nvSpPr>
        <p:spPr>
          <a:ln/>
        </p:spPr>
        <p:txBody>
          <a:bodyPr/>
          <a:lstStyle>
            <a:lvl1pPr>
              <a:defRPr/>
            </a:lvl1pPr>
          </a:lstStyle>
          <a:p>
            <a:pPr>
              <a:defRPr/>
            </a:pPr>
            <a:fld id="{D24192BC-5677-4780-8050-44B0CCCD48FE}"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F8D828D6-8781-C119-D240-650EBADF25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BD0A0CD2-06D1-8A5F-4357-3279D3E56880}"/>
              </a:ext>
            </a:extLst>
          </p:cNvPr>
          <p:cNvSpPr>
            <a:spLocks noGrp="1" noChangeArrowheads="1"/>
          </p:cNvSpPr>
          <p:nvPr>
            <p:ph type="sldNum" sz="quarter" idx="12"/>
          </p:nvPr>
        </p:nvSpPr>
        <p:spPr>
          <a:ln/>
        </p:spPr>
        <p:txBody>
          <a:bodyPr/>
          <a:lstStyle>
            <a:lvl1pPr>
              <a:defRPr/>
            </a:lvl1pPr>
          </a:lstStyle>
          <a:p>
            <a:pPr>
              <a:defRPr/>
            </a:pPr>
            <a:fld id="{0D90D19E-FA74-4C48-AF68-AC0824705F36}" type="slidenum">
              <a:rPr lang="en-US" altLang="zh-CN"/>
              <a:pPr>
                <a:defRPr/>
              </a:pPr>
              <a:t>‹#›</a:t>
            </a:fld>
            <a:endParaRPr lang="en-US" altLang="zh-CN"/>
          </a:p>
        </p:txBody>
      </p:sp>
    </p:spTree>
    <p:extLst>
      <p:ext uri="{BB962C8B-B14F-4D97-AF65-F5344CB8AC3E}">
        <p14:creationId xmlns:p14="http://schemas.microsoft.com/office/powerpoint/2010/main" val="3366609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Rectangle 4">
            <a:extLst>
              <a:ext uri="{FF2B5EF4-FFF2-40B4-BE49-F238E27FC236}">
                <a16:creationId xmlns:a16="http://schemas.microsoft.com/office/drawing/2014/main" id="{7B29827D-766C-A46B-7DA6-FC9EB215E247}"/>
              </a:ext>
            </a:extLst>
          </p:cNvPr>
          <p:cNvSpPr>
            <a:spLocks noGrp="1" noChangeArrowheads="1"/>
          </p:cNvSpPr>
          <p:nvPr>
            <p:ph type="dt" sz="half" idx="10"/>
          </p:nvPr>
        </p:nvSpPr>
        <p:spPr>
          <a:ln/>
        </p:spPr>
        <p:txBody>
          <a:bodyPr/>
          <a:lstStyle>
            <a:lvl1pPr>
              <a:defRPr/>
            </a:lvl1pPr>
          </a:lstStyle>
          <a:p>
            <a:pPr>
              <a:defRPr/>
            </a:pPr>
            <a:fld id="{0FEC60BD-5EEF-49D5-A1EC-34C31E69941F}"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0665F1EB-AC7E-4C3E-9BDF-4807318FA9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551DCA6-DB2A-0E4D-278F-4895A98B5B58}"/>
              </a:ext>
            </a:extLst>
          </p:cNvPr>
          <p:cNvSpPr>
            <a:spLocks noGrp="1" noChangeArrowheads="1"/>
          </p:cNvSpPr>
          <p:nvPr>
            <p:ph type="sldNum" sz="quarter" idx="12"/>
          </p:nvPr>
        </p:nvSpPr>
        <p:spPr>
          <a:ln/>
        </p:spPr>
        <p:txBody>
          <a:bodyPr/>
          <a:lstStyle>
            <a:lvl1pPr>
              <a:defRPr/>
            </a:lvl1pPr>
          </a:lstStyle>
          <a:p>
            <a:pPr>
              <a:defRPr/>
            </a:pPr>
            <a:fld id="{E0545B63-C5F6-4FA0-8C49-B47FB6E6FB10}" type="slidenum">
              <a:rPr lang="en-US" altLang="zh-CN"/>
              <a:pPr>
                <a:defRPr/>
              </a:pPr>
              <a:t>‹#›</a:t>
            </a:fld>
            <a:endParaRPr lang="en-US" altLang="zh-CN"/>
          </a:p>
        </p:txBody>
      </p:sp>
    </p:spTree>
    <p:extLst>
      <p:ext uri="{BB962C8B-B14F-4D97-AF65-F5344CB8AC3E}">
        <p14:creationId xmlns:p14="http://schemas.microsoft.com/office/powerpoint/2010/main" val="7598247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168F751-384C-5B87-3BF1-D23475465302}"/>
              </a:ext>
            </a:extLst>
          </p:cNvPr>
          <p:cNvSpPr>
            <a:spLocks noGrp="1" noChangeArrowheads="1"/>
          </p:cNvSpPr>
          <p:nvPr>
            <p:ph type="dt" sz="half" idx="10"/>
          </p:nvPr>
        </p:nvSpPr>
        <p:spPr>
          <a:ln/>
        </p:spPr>
        <p:txBody>
          <a:bodyPr/>
          <a:lstStyle>
            <a:lvl1pPr>
              <a:defRPr/>
            </a:lvl1pPr>
          </a:lstStyle>
          <a:p>
            <a:pPr>
              <a:defRPr/>
            </a:pPr>
            <a:fld id="{0B624B01-703B-4D1E-BB47-46CDE7E4C558}"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4B7C1270-F942-DBD0-2D8D-0E9E56641CC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CC7030C-47D5-F89A-906A-7FC7C1E83C12}"/>
              </a:ext>
            </a:extLst>
          </p:cNvPr>
          <p:cNvSpPr>
            <a:spLocks noGrp="1" noChangeArrowheads="1"/>
          </p:cNvSpPr>
          <p:nvPr>
            <p:ph type="sldNum" sz="quarter" idx="12"/>
          </p:nvPr>
        </p:nvSpPr>
        <p:spPr>
          <a:ln/>
        </p:spPr>
        <p:txBody>
          <a:bodyPr/>
          <a:lstStyle>
            <a:lvl1pPr>
              <a:defRPr/>
            </a:lvl1pPr>
          </a:lstStyle>
          <a:p>
            <a:pPr>
              <a:defRPr/>
            </a:pPr>
            <a:fld id="{1902EF21-AA5B-490F-A183-382595251C92}" type="slidenum">
              <a:rPr lang="en-US" altLang="zh-CN"/>
              <a:pPr>
                <a:defRPr/>
              </a:pPr>
              <a:t>‹#›</a:t>
            </a:fld>
            <a:endParaRPr lang="en-US" altLang="zh-CN"/>
          </a:p>
        </p:txBody>
      </p:sp>
    </p:spTree>
    <p:extLst>
      <p:ext uri="{BB962C8B-B14F-4D97-AF65-F5344CB8AC3E}">
        <p14:creationId xmlns:p14="http://schemas.microsoft.com/office/powerpoint/2010/main" val="1317237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
</a:t>
            </a:r>
            <a:r>
              <a:rPr lang="zh-CN" altLang="en-US"/>
              <a:t>第二等级
第三等级
第四等级
第五等级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0E3908B7-0749-DF63-0359-2A270EDCB8B2}"/>
              </a:ext>
            </a:extLst>
          </p:cNvPr>
          <p:cNvSpPr>
            <a:spLocks noGrp="1" noChangeArrowheads="1"/>
          </p:cNvSpPr>
          <p:nvPr>
            <p:ph type="dt" sz="half" idx="10"/>
          </p:nvPr>
        </p:nvSpPr>
        <p:spPr>
          <a:ln/>
        </p:spPr>
        <p:txBody>
          <a:bodyPr/>
          <a:lstStyle>
            <a:lvl1pPr>
              <a:defRPr/>
            </a:lvl1pPr>
          </a:lstStyle>
          <a:p>
            <a:pPr>
              <a:defRPr/>
            </a:pPr>
            <a:fld id="{641D228D-0254-40A7-8635-9A26539C81A6}"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122EE416-F6A4-AEAC-1953-F52A46D238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258098F-976E-52F1-66AC-A609FB03BE8D}"/>
              </a:ext>
            </a:extLst>
          </p:cNvPr>
          <p:cNvSpPr>
            <a:spLocks noGrp="1" noChangeArrowheads="1"/>
          </p:cNvSpPr>
          <p:nvPr>
            <p:ph type="sldNum" sz="quarter" idx="12"/>
          </p:nvPr>
        </p:nvSpPr>
        <p:spPr>
          <a:ln/>
        </p:spPr>
        <p:txBody>
          <a:bodyPr/>
          <a:lstStyle>
            <a:lvl1pPr>
              <a:defRPr/>
            </a:lvl1pPr>
          </a:lstStyle>
          <a:p>
            <a:pPr>
              <a:defRPr/>
            </a:pPr>
            <a:fld id="{3F7BC222-3404-4EA9-B351-5A936A2659A1}" type="slidenum">
              <a:rPr lang="en-US" altLang="zh-CN"/>
              <a:pPr>
                <a:defRPr/>
              </a:pPr>
              <a:t>‹#›</a:t>
            </a:fld>
            <a:endParaRPr lang="en-US" altLang="zh-CN"/>
          </a:p>
        </p:txBody>
      </p:sp>
    </p:spTree>
    <p:extLst>
      <p:ext uri="{BB962C8B-B14F-4D97-AF65-F5344CB8AC3E}">
        <p14:creationId xmlns:p14="http://schemas.microsoft.com/office/powerpoint/2010/main" val="36288717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Drag picture to placeholder or click icon to add</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A0FF490C-BC5D-E9BC-B06D-77FA9AEA4050}"/>
              </a:ext>
            </a:extLst>
          </p:cNvPr>
          <p:cNvSpPr>
            <a:spLocks noGrp="1" noChangeArrowheads="1"/>
          </p:cNvSpPr>
          <p:nvPr>
            <p:ph type="dt" sz="half" idx="10"/>
          </p:nvPr>
        </p:nvSpPr>
        <p:spPr>
          <a:ln/>
        </p:spPr>
        <p:txBody>
          <a:bodyPr/>
          <a:lstStyle>
            <a:lvl1pPr>
              <a:defRPr/>
            </a:lvl1pPr>
          </a:lstStyle>
          <a:p>
            <a:pPr>
              <a:defRPr/>
            </a:pPr>
            <a:fld id="{CDB8DE6A-B1EF-4E9E-B260-8EF3C24C432B}"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BB0180B9-D074-1800-7659-A555D22C589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84E5397-81B2-D2E3-59F6-58183D741BBA}"/>
              </a:ext>
            </a:extLst>
          </p:cNvPr>
          <p:cNvSpPr>
            <a:spLocks noGrp="1" noChangeArrowheads="1"/>
          </p:cNvSpPr>
          <p:nvPr>
            <p:ph type="sldNum" sz="quarter" idx="12"/>
          </p:nvPr>
        </p:nvSpPr>
        <p:spPr>
          <a:ln/>
        </p:spPr>
        <p:txBody>
          <a:bodyPr/>
          <a:lstStyle>
            <a:lvl1pPr>
              <a:defRPr/>
            </a:lvl1pPr>
          </a:lstStyle>
          <a:p>
            <a:pPr>
              <a:defRPr/>
            </a:pPr>
            <a:fld id="{8985093C-2BE1-4F65-AF25-F9B249D7B25D}" type="slidenum">
              <a:rPr lang="en-US" altLang="zh-CN"/>
              <a:pPr>
                <a:defRPr/>
              </a:pPr>
              <a:t>‹#›</a:t>
            </a:fld>
            <a:endParaRPr lang="en-US" altLang="zh-CN"/>
          </a:p>
        </p:txBody>
      </p:sp>
    </p:spTree>
    <p:extLst>
      <p:ext uri="{BB962C8B-B14F-4D97-AF65-F5344CB8AC3E}">
        <p14:creationId xmlns:p14="http://schemas.microsoft.com/office/powerpoint/2010/main" val="25929435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44D22DBC-0696-BA99-387A-DF48A8928D73}"/>
              </a:ext>
            </a:extLst>
          </p:cNvPr>
          <p:cNvSpPr>
            <a:spLocks noGrp="1" noChangeArrowheads="1"/>
          </p:cNvSpPr>
          <p:nvPr>
            <p:ph type="dt" sz="half" idx="10"/>
          </p:nvPr>
        </p:nvSpPr>
        <p:spPr>
          <a:ln/>
        </p:spPr>
        <p:txBody>
          <a:bodyPr/>
          <a:lstStyle>
            <a:lvl1pPr>
              <a:defRPr/>
            </a:lvl1pPr>
          </a:lstStyle>
          <a:p>
            <a:pPr>
              <a:defRPr/>
            </a:pPr>
            <a:fld id="{7AF030AA-9750-43BB-B70C-0DB2D4EB8143}"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50D2CA41-9CAC-D218-E466-8D0A6DBF66A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B3E755F-5F64-3877-F9BB-024E1A0251FB}"/>
              </a:ext>
            </a:extLst>
          </p:cNvPr>
          <p:cNvSpPr>
            <a:spLocks noGrp="1" noChangeArrowheads="1"/>
          </p:cNvSpPr>
          <p:nvPr>
            <p:ph type="sldNum" sz="quarter" idx="12"/>
          </p:nvPr>
        </p:nvSpPr>
        <p:spPr>
          <a:ln/>
        </p:spPr>
        <p:txBody>
          <a:bodyPr/>
          <a:lstStyle>
            <a:lvl1pPr>
              <a:defRPr/>
            </a:lvl1pPr>
          </a:lstStyle>
          <a:p>
            <a:pPr>
              <a:defRPr/>
            </a:pPr>
            <a:fld id="{9AF043FA-E496-4853-8729-D84EFBE88869}" type="slidenum">
              <a:rPr lang="en-US" altLang="zh-CN"/>
              <a:pPr>
                <a:defRPr/>
              </a:pPr>
              <a:t>‹#›</a:t>
            </a:fld>
            <a:endParaRPr lang="en-US" altLang="zh-CN"/>
          </a:p>
        </p:txBody>
      </p:sp>
    </p:spTree>
    <p:extLst>
      <p:ext uri="{BB962C8B-B14F-4D97-AF65-F5344CB8AC3E}">
        <p14:creationId xmlns:p14="http://schemas.microsoft.com/office/powerpoint/2010/main" val="11903242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en-US" altLang="zh-CN"/>
              <a:t>Click to edit Master text styles
</a:t>
            </a:r>
            <a:r>
              <a:rPr lang="zh-CN" altLang="en-US"/>
              <a:t>第二等级
第三等级
第四等级
第五等级</a:t>
            </a:r>
          </a:p>
        </p:txBody>
      </p:sp>
      <p:sp>
        <p:nvSpPr>
          <p:cNvPr id="4" name="Rectangle 4">
            <a:extLst>
              <a:ext uri="{FF2B5EF4-FFF2-40B4-BE49-F238E27FC236}">
                <a16:creationId xmlns:a16="http://schemas.microsoft.com/office/drawing/2014/main" id="{2C1082DB-F3A2-AC69-3F4D-D9ACE56432AC}"/>
              </a:ext>
            </a:extLst>
          </p:cNvPr>
          <p:cNvSpPr>
            <a:spLocks noGrp="1" noChangeArrowheads="1"/>
          </p:cNvSpPr>
          <p:nvPr>
            <p:ph type="dt" sz="half" idx="10"/>
          </p:nvPr>
        </p:nvSpPr>
        <p:spPr>
          <a:ln/>
        </p:spPr>
        <p:txBody>
          <a:bodyPr/>
          <a:lstStyle>
            <a:lvl1pPr>
              <a:defRPr/>
            </a:lvl1pPr>
          </a:lstStyle>
          <a:p>
            <a:pPr>
              <a:defRPr/>
            </a:pPr>
            <a:fld id="{7EB89A24-B47D-44B3-9405-098254A5A23D}"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00B7F2A9-9968-5103-8145-0BF0AC3192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0174E48-9D20-7778-91C8-71646EB368D6}"/>
              </a:ext>
            </a:extLst>
          </p:cNvPr>
          <p:cNvSpPr>
            <a:spLocks noGrp="1" noChangeArrowheads="1"/>
          </p:cNvSpPr>
          <p:nvPr>
            <p:ph type="sldNum" sz="quarter" idx="12"/>
          </p:nvPr>
        </p:nvSpPr>
        <p:spPr>
          <a:ln/>
        </p:spPr>
        <p:txBody>
          <a:bodyPr/>
          <a:lstStyle>
            <a:lvl1pPr>
              <a:defRPr/>
            </a:lvl1pPr>
          </a:lstStyle>
          <a:p>
            <a:pPr>
              <a:defRPr/>
            </a:pPr>
            <a:fld id="{F07811CD-928A-413C-A6C3-8C7895CF055D}" type="slidenum">
              <a:rPr lang="en-US" altLang="zh-CN"/>
              <a:pPr>
                <a:defRPr/>
              </a:pPr>
              <a:t>‹#›</a:t>
            </a:fld>
            <a:endParaRPr lang="en-US" altLang="zh-CN"/>
          </a:p>
        </p:txBody>
      </p:sp>
    </p:spTree>
    <p:extLst>
      <p:ext uri="{BB962C8B-B14F-4D97-AF65-F5344CB8AC3E}">
        <p14:creationId xmlns:p14="http://schemas.microsoft.com/office/powerpoint/2010/main" val="14495051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en-US" altLang="zh-CN"/>
              <a:t>Click to edit Master text styles
</a:t>
            </a:r>
            <a:r>
              <a:rPr lang="zh-CN" altLang="en-US"/>
              <a:t>第二等级
第三等级
第四等级
第五等级</a:t>
            </a:r>
          </a:p>
        </p:txBody>
      </p:sp>
      <p:sp>
        <p:nvSpPr>
          <p:cNvPr id="3" name="Rectangle 4">
            <a:extLst>
              <a:ext uri="{FF2B5EF4-FFF2-40B4-BE49-F238E27FC236}">
                <a16:creationId xmlns:a16="http://schemas.microsoft.com/office/drawing/2014/main" id="{FFB3A8FF-5791-F516-26F7-569BD40B8DE4}"/>
              </a:ext>
            </a:extLst>
          </p:cNvPr>
          <p:cNvSpPr>
            <a:spLocks noGrp="1" noChangeArrowheads="1"/>
          </p:cNvSpPr>
          <p:nvPr>
            <p:ph type="dt" sz="half" idx="10"/>
          </p:nvPr>
        </p:nvSpPr>
        <p:spPr>
          <a:ln/>
        </p:spPr>
        <p:txBody>
          <a:bodyPr/>
          <a:lstStyle>
            <a:lvl1pPr>
              <a:defRPr/>
            </a:lvl1pPr>
          </a:lstStyle>
          <a:p>
            <a:pPr>
              <a:defRPr/>
            </a:pPr>
            <a:fld id="{A48512A5-77D8-4744-AF83-1A8944F97B43}"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CA5FA4CA-5DA1-A89C-39C5-AAB682E228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042D23A-C699-716E-5AAE-C977DF8861D4}"/>
              </a:ext>
            </a:extLst>
          </p:cNvPr>
          <p:cNvSpPr>
            <a:spLocks noGrp="1" noChangeArrowheads="1"/>
          </p:cNvSpPr>
          <p:nvPr>
            <p:ph type="sldNum" sz="quarter" idx="12"/>
          </p:nvPr>
        </p:nvSpPr>
        <p:spPr>
          <a:ln/>
        </p:spPr>
        <p:txBody>
          <a:bodyPr/>
          <a:lstStyle>
            <a:lvl1pPr>
              <a:defRPr/>
            </a:lvl1pPr>
          </a:lstStyle>
          <a:p>
            <a:pPr>
              <a:defRPr/>
            </a:pPr>
            <a:fld id="{49D35A12-8FDA-4BB7-822A-68C287019042}" type="slidenum">
              <a:rPr lang="en-US" altLang="zh-CN"/>
              <a:pPr>
                <a:defRPr/>
              </a:pPr>
              <a:t>‹#›</a:t>
            </a:fld>
            <a:endParaRPr lang="en-US" altLang="zh-CN"/>
          </a:p>
        </p:txBody>
      </p:sp>
    </p:spTree>
    <p:extLst>
      <p:ext uri="{BB962C8B-B14F-4D97-AF65-F5344CB8AC3E}">
        <p14:creationId xmlns:p14="http://schemas.microsoft.com/office/powerpoint/2010/main" val="20988956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09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4" name="内容占位符 3"/>
          <p:cNvSpPr>
            <a:spLocks noGrp="1"/>
          </p:cNvSpPr>
          <p:nvPr>
            <p:ph sz="half" idx="2"/>
          </p:nvPr>
        </p:nvSpPr>
        <p:spPr>
          <a:xfrm>
            <a:off x="6197600" y="1052513"/>
            <a:ext cx="5384800" cy="5078412"/>
          </a:xfrm>
        </p:spPr>
        <p:txBody>
          <a:bodyPr/>
          <a:lstStyle/>
          <a:p>
            <a:pPr lvl="0"/>
            <a:r>
              <a:rPr lang="en-US" altLang="zh-CN"/>
              <a:t>Click to edit Master text styles
</a:t>
            </a:r>
            <a:r>
              <a:rPr lang="zh-CN" altLang="en-US"/>
              <a:t>第二等级
第三等级
第四等级
第五等级</a:t>
            </a:r>
          </a:p>
        </p:txBody>
      </p:sp>
      <p:sp>
        <p:nvSpPr>
          <p:cNvPr id="5" name="Rectangle 4">
            <a:extLst>
              <a:ext uri="{FF2B5EF4-FFF2-40B4-BE49-F238E27FC236}">
                <a16:creationId xmlns:a16="http://schemas.microsoft.com/office/drawing/2014/main" id="{79372DB4-26AF-052E-9E0A-C52E0497C2EB}"/>
              </a:ext>
            </a:extLst>
          </p:cNvPr>
          <p:cNvSpPr>
            <a:spLocks noGrp="1" noChangeArrowheads="1"/>
          </p:cNvSpPr>
          <p:nvPr>
            <p:ph type="dt" sz="half" idx="10"/>
          </p:nvPr>
        </p:nvSpPr>
        <p:spPr>
          <a:ln/>
        </p:spPr>
        <p:txBody>
          <a:bodyPr/>
          <a:lstStyle>
            <a:lvl1pPr>
              <a:defRPr/>
            </a:lvl1pPr>
          </a:lstStyle>
          <a:p>
            <a:pPr>
              <a:defRPr/>
            </a:pPr>
            <a:fld id="{BFB03463-E8A3-4936-9D73-6CD57578F121}"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6EAA3451-6E07-E835-5864-F75872820CC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6C69267-3D1D-1A72-8FCD-B5252B4A4643}"/>
              </a:ext>
            </a:extLst>
          </p:cNvPr>
          <p:cNvSpPr>
            <a:spLocks noGrp="1" noChangeArrowheads="1"/>
          </p:cNvSpPr>
          <p:nvPr>
            <p:ph type="sldNum" sz="quarter" idx="12"/>
          </p:nvPr>
        </p:nvSpPr>
        <p:spPr>
          <a:ln/>
        </p:spPr>
        <p:txBody>
          <a:bodyPr/>
          <a:lstStyle>
            <a:lvl1pPr>
              <a:defRPr/>
            </a:lvl1pPr>
          </a:lstStyle>
          <a:p>
            <a:pPr>
              <a:defRPr/>
            </a:pPr>
            <a:fld id="{CF373B35-831F-43DE-99BB-5985D0D4C5B0}" type="slidenum">
              <a:rPr lang="en-US" altLang="zh-CN"/>
              <a:pPr>
                <a:defRPr/>
              </a:pPr>
              <a:t>‹#›</a:t>
            </a:fld>
            <a:endParaRPr lang="en-US" altLang="zh-CN"/>
          </a:p>
        </p:txBody>
      </p:sp>
    </p:spTree>
    <p:extLst>
      <p:ext uri="{BB962C8B-B14F-4D97-AF65-F5344CB8AC3E}">
        <p14:creationId xmlns:p14="http://schemas.microsoft.com/office/powerpoint/2010/main" val="2619190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6" Type="http://schemas.openxmlformats.org/officeDocument/2006/relationships/image" Target="../media/image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3327023-04CF-AED9-2356-7ECB3F746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20AF6A3-E269-7B8B-B051-659BBBE529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CC132B5-48CF-0073-0A9E-BDED5292CC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22495-84CE-4F11-AA68-43F576BC08D2}"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0212F066-1860-4BF7-CBEA-F6624BDE1A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22E4C0B-FC3B-2030-0B3A-F6A19AAC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25FA8-3FEE-46C6-B9E5-9BF9F1B0233F}" type="slidenum">
              <a:rPr lang="zh-CN" altLang="en-US" smtClean="0"/>
              <a:t>‹#›</a:t>
            </a:fld>
            <a:endParaRPr lang="zh-CN" altLang="en-US"/>
          </a:p>
        </p:txBody>
      </p:sp>
    </p:spTree>
    <p:extLst>
      <p:ext uri="{BB962C8B-B14F-4D97-AF65-F5344CB8AC3E}">
        <p14:creationId xmlns:p14="http://schemas.microsoft.com/office/powerpoint/2010/main" val="2121304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CBA1944-98EF-90EE-D267-0BC7C6BC568F}"/>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5363" name="Rectangle 3">
            <a:extLst>
              <a:ext uri="{FF2B5EF4-FFF2-40B4-BE49-F238E27FC236}">
                <a16:creationId xmlns:a16="http://schemas.microsoft.com/office/drawing/2014/main" id="{6F5D0543-26FC-692A-89C4-84662E5334BB}"/>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ADF4B8F5-82BF-42E7-21CB-145483614021}"/>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61B601F6-6530-4B63-BA6A-EC7E3F390255}"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DD84EFC3-6732-EC7F-29F5-BF875CAF706D}"/>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3DD87475-C333-A69C-7EFC-B8B55C0E4B61}"/>
              </a:ext>
            </a:extLst>
          </p:cNvPr>
          <p:cNvSpPr>
            <a:spLocks noGrp="1" noChangeArrowheads="1"/>
          </p:cNvSpPr>
          <p:nvPr>
            <p:ph type="sldNum" sz="quarter" idx="4"/>
          </p:nvPr>
        </p:nvSpPr>
        <p:spPr bwMode="auto">
          <a:xfrm>
            <a:off x="4656667"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panose="020B0604020202020204" pitchFamily="34" charset="0"/>
              </a:defRPr>
            </a:lvl1pPr>
          </a:lstStyle>
          <a:p>
            <a:pPr>
              <a:defRPr/>
            </a:pPr>
            <a:fld id="{7FA143AC-7E39-428C-92C3-29773ED60B50}" type="slidenum">
              <a:rPr lang="en-US" altLang="zh-CN"/>
              <a:pPr>
                <a:defRPr/>
              </a:pPr>
              <a:t>‹#›</a:t>
            </a:fld>
            <a:endParaRPr lang="en-US" altLang="zh-CN"/>
          </a:p>
        </p:txBody>
      </p:sp>
      <p:sp>
        <p:nvSpPr>
          <p:cNvPr id="15367" name="Freeform 7">
            <a:extLst>
              <a:ext uri="{FF2B5EF4-FFF2-40B4-BE49-F238E27FC236}">
                <a16:creationId xmlns:a16="http://schemas.microsoft.com/office/drawing/2014/main" id="{B26CCE47-D2F2-F216-CC1F-D39B4050A844}"/>
              </a:ext>
            </a:extLst>
          </p:cNvPr>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15368" name="Line 8">
            <a:extLst>
              <a:ext uri="{FF2B5EF4-FFF2-40B4-BE49-F238E27FC236}">
                <a16:creationId xmlns:a16="http://schemas.microsoft.com/office/drawing/2014/main" id="{F4FD63DB-5262-207A-EAF8-696E390E52A8}"/>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15369" name="Picture 9">
            <a:extLst>
              <a:ext uri="{FF2B5EF4-FFF2-40B4-BE49-F238E27FC236}">
                <a16:creationId xmlns:a16="http://schemas.microsoft.com/office/drawing/2014/main" id="{F86620D0-5462-C221-EE5F-4D7FA30EA73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0">
            <a:extLst>
              <a:ext uri="{FF2B5EF4-FFF2-40B4-BE49-F238E27FC236}">
                <a16:creationId xmlns:a16="http://schemas.microsoft.com/office/drawing/2014/main" id="{3754E3CA-56C3-C7AD-EFB7-8108C11EFE5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9" name="Text Box 11">
            <a:extLst>
              <a:ext uri="{FF2B5EF4-FFF2-40B4-BE49-F238E27FC236}">
                <a16:creationId xmlns:a16="http://schemas.microsoft.com/office/drawing/2014/main" id="{42A7D89F-300D-D9D4-8898-74B8FAEBCB89}"/>
              </a:ext>
            </a:extLst>
          </p:cNvPr>
          <p:cNvSpPr txBox="1">
            <a:spLocks noChangeArrowheads="1"/>
          </p:cNvSpPr>
          <p:nvPr/>
        </p:nvSpPr>
        <p:spPr bwMode="auto">
          <a:xfrm>
            <a:off x="8401051" y="620714"/>
            <a:ext cx="3888316" cy="396875"/>
          </a:xfrm>
          <a:prstGeom prst="rect">
            <a:avLst/>
          </a:prstGeom>
          <a:noFill/>
          <a:ln>
            <a:noFill/>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15667149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宋体" charset="0"/>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宋体"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cs typeface="宋体"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cs typeface="宋体"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cs typeface="宋体"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cs typeface="宋体"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4C1C5BB-8813-6977-3302-4BDF665042D9}"/>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DDD19461-364E-B53B-AAE5-0E47308D7171}"/>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A3741F87-6140-6BCC-BCA9-52ED535D600C}"/>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BFB14C64-403B-42D0-B26D-8523109225C3}"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F6CC87DA-62A9-3A32-3D4C-4DE3B8802426}"/>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822CCE82-B77C-9299-57A5-EB1F21811D36}"/>
              </a:ext>
            </a:extLst>
          </p:cNvPr>
          <p:cNvSpPr>
            <a:spLocks noGrp="1" noChangeArrowheads="1"/>
          </p:cNvSpPr>
          <p:nvPr>
            <p:ph type="sldNum" sz="quarter" idx="4"/>
          </p:nvPr>
        </p:nvSpPr>
        <p:spPr bwMode="auto">
          <a:xfrm>
            <a:off x="4656667"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panose="020B0604020202020204" pitchFamily="34" charset="0"/>
              </a:defRPr>
            </a:lvl1pPr>
          </a:lstStyle>
          <a:p>
            <a:fld id="{03C5FC24-283C-46DC-9094-F56D37E29C61}" type="slidenum">
              <a:rPr lang="en-US" altLang="zh-CN"/>
              <a:pPr/>
              <a:t>‹#›</a:t>
            </a:fld>
            <a:endParaRPr lang="en-US" altLang="zh-CN"/>
          </a:p>
        </p:txBody>
      </p:sp>
      <p:sp>
        <p:nvSpPr>
          <p:cNvPr id="2055" name="Freeform 7">
            <a:extLst>
              <a:ext uri="{FF2B5EF4-FFF2-40B4-BE49-F238E27FC236}">
                <a16:creationId xmlns:a16="http://schemas.microsoft.com/office/drawing/2014/main" id="{AD08CD3D-5F5C-ABBC-C48B-5292DB8C12DC}"/>
              </a:ext>
            </a:extLst>
          </p:cNvPr>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2056" name="Line 8">
            <a:extLst>
              <a:ext uri="{FF2B5EF4-FFF2-40B4-BE49-F238E27FC236}">
                <a16:creationId xmlns:a16="http://schemas.microsoft.com/office/drawing/2014/main" id="{C94F4B7D-B6DB-DFD3-72BF-BA2C05895E99}"/>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2057" name="Picture 9">
            <a:extLst>
              <a:ext uri="{FF2B5EF4-FFF2-40B4-BE49-F238E27FC236}">
                <a16:creationId xmlns:a16="http://schemas.microsoft.com/office/drawing/2014/main" id="{95CCFC87-A2DB-5C5A-802A-56DF9B7E16A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10">
            <a:extLst>
              <a:ext uri="{FF2B5EF4-FFF2-40B4-BE49-F238E27FC236}">
                <a16:creationId xmlns:a16="http://schemas.microsoft.com/office/drawing/2014/main" id="{7163E562-9514-751F-7897-A51A30BDEBF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9" name="Text Box 11">
            <a:extLst>
              <a:ext uri="{FF2B5EF4-FFF2-40B4-BE49-F238E27FC236}">
                <a16:creationId xmlns:a16="http://schemas.microsoft.com/office/drawing/2014/main" id="{55C6CE7E-FC73-B672-F8DA-15DCC676C240}"/>
              </a:ext>
            </a:extLst>
          </p:cNvPr>
          <p:cNvSpPr txBox="1">
            <a:spLocks noChangeArrowheads="1"/>
          </p:cNvSpPr>
          <p:nvPr/>
        </p:nvSpPr>
        <p:spPr bwMode="auto">
          <a:xfrm>
            <a:off x="8401051" y="620714"/>
            <a:ext cx="388831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86917063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宋体" charset="0"/>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宋体"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cs typeface="宋体"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cs typeface="宋体"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cs typeface="宋体"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cs typeface="宋体"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37B0BED-E828-764C-B622-70C8202C3B54}"/>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5363" name="Rectangle 3">
            <a:extLst>
              <a:ext uri="{FF2B5EF4-FFF2-40B4-BE49-F238E27FC236}">
                <a16:creationId xmlns:a16="http://schemas.microsoft.com/office/drawing/2014/main" id="{8A9C3D6D-5EFF-93F5-077D-11A589CF8891}"/>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6D1492CC-5FE2-ADEF-22C4-64E20EC9A6CF}"/>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311CDB2E-2B34-4124-B622-C3CF6F4A4103}"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71DBBA06-F59A-5461-E125-D658D95C3469}"/>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CDC32C54-F1D5-C484-F862-737E0BB41751}"/>
              </a:ext>
            </a:extLst>
          </p:cNvPr>
          <p:cNvSpPr>
            <a:spLocks noGrp="1" noChangeArrowheads="1"/>
          </p:cNvSpPr>
          <p:nvPr>
            <p:ph type="sldNum" sz="quarter" idx="4"/>
          </p:nvPr>
        </p:nvSpPr>
        <p:spPr bwMode="auto">
          <a:xfrm>
            <a:off x="4656667"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smtClean="0">
                <a:latin typeface="Arial" panose="020B0604020202020204" pitchFamily="34" charset="0"/>
              </a:defRPr>
            </a:lvl1pPr>
          </a:lstStyle>
          <a:p>
            <a:pPr>
              <a:defRPr/>
            </a:pPr>
            <a:fld id="{A9286BB6-08E3-4B17-BF1A-6411DE7E23E6}" type="slidenum">
              <a:rPr lang="en-US" altLang="zh-CN"/>
              <a:pPr>
                <a:defRPr/>
              </a:pPr>
              <a:t>‹#›</a:t>
            </a:fld>
            <a:endParaRPr lang="en-US" altLang="zh-CN"/>
          </a:p>
        </p:txBody>
      </p:sp>
      <p:sp>
        <p:nvSpPr>
          <p:cNvPr id="15367" name="Freeform 7">
            <a:extLst>
              <a:ext uri="{FF2B5EF4-FFF2-40B4-BE49-F238E27FC236}">
                <a16:creationId xmlns:a16="http://schemas.microsoft.com/office/drawing/2014/main" id="{11DFDE0A-5AB3-B200-CE91-F68C858E23D8}"/>
              </a:ext>
            </a:extLst>
          </p:cNvPr>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15368" name="Line 8">
            <a:extLst>
              <a:ext uri="{FF2B5EF4-FFF2-40B4-BE49-F238E27FC236}">
                <a16:creationId xmlns:a16="http://schemas.microsoft.com/office/drawing/2014/main" id="{9C99D5CE-46C9-F8D1-0E69-AA451BF96789}"/>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15369" name="Picture 9">
            <a:extLst>
              <a:ext uri="{FF2B5EF4-FFF2-40B4-BE49-F238E27FC236}">
                <a16:creationId xmlns:a16="http://schemas.microsoft.com/office/drawing/2014/main" id="{8C64C1BD-D017-E0A4-C9D7-F77815219A1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0">
            <a:extLst>
              <a:ext uri="{FF2B5EF4-FFF2-40B4-BE49-F238E27FC236}">
                <a16:creationId xmlns:a16="http://schemas.microsoft.com/office/drawing/2014/main" id="{315F6E64-6B22-40EE-DC91-F85189CBC42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9" name="Text Box 11">
            <a:extLst>
              <a:ext uri="{FF2B5EF4-FFF2-40B4-BE49-F238E27FC236}">
                <a16:creationId xmlns:a16="http://schemas.microsoft.com/office/drawing/2014/main" id="{813AE451-E738-9DD7-8154-3039459C9A33}"/>
              </a:ext>
            </a:extLst>
          </p:cNvPr>
          <p:cNvSpPr txBox="1">
            <a:spLocks noChangeArrowheads="1"/>
          </p:cNvSpPr>
          <p:nvPr/>
        </p:nvSpPr>
        <p:spPr bwMode="auto">
          <a:xfrm>
            <a:off x="8401051" y="620714"/>
            <a:ext cx="3888316" cy="396875"/>
          </a:xfrm>
          <a:prstGeom prst="rect">
            <a:avLst/>
          </a:prstGeom>
          <a:noFill/>
          <a:ln>
            <a:noFill/>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389329373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宋体" charset="0"/>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cs typeface="宋体" charset="0"/>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宋体" charset="0"/>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cs typeface="宋体" charset="0"/>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cs typeface="宋体" charset="0"/>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cs typeface="宋体" charset="0"/>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cs typeface="宋体" charset="0"/>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44.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7.xml"/><Relationship Id="rId1" Type="http://schemas.openxmlformats.org/officeDocument/2006/relationships/slideLayout" Target="../slideLayouts/slideLayout44.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6">
            <a:extLst>
              <a:ext uri="{FF2B5EF4-FFF2-40B4-BE49-F238E27FC236}">
                <a16:creationId xmlns:a16="http://schemas.microsoft.com/office/drawing/2014/main" id="{806DF7CD-BB2D-8C44-BDBC-D59123B98F2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59D04AD-7E06-4689-8F1C-398D38DEECC7}" type="slidenum">
              <a:rPr lang="en-US" altLang="zh-CN" sz="1400">
                <a:solidFill>
                  <a:srgbClr val="000000"/>
                </a:solidFill>
                <a:latin typeface="Arial" panose="020B0604020202020204" pitchFamily="34" charset="0"/>
              </a:rPr>
              <a:pPr fontAlgn="base">
                <a:spcBef>
                  <a:spcPct val="0"/>
                </a:spcBef>
                <a:spcAft>
                  <a:spcPct val="0"/>
                </a:spcAft>
              </a:pPr>
              <a:t>1</a:t>
            </a:fld>
            <a:endParaRPr lang="en-US" altLang="zh-CN" sz="1400">
              <a:solidFill>
                <a:srgbClr val="000000"/>
              </a:solidFill>
              <a:latin typeface="Arial" panose="020B0604020202020204" pitchFamily="34" charset="0"/>
            </a:endParaRPr>
          </a:p>
        </p:txBody>
      </p:sp>
      <p:sp>
        <p:nvSpPr>
          <p:cNvPr id="105474" name="标题 1">
            <a:extLst>
              <a:ext uri="{FF2B5EF4-FFF2-40B4-BE49-F238E27FC236}">
                <a16:creationId xmlns:a16="http://schemas.microsoft.com/office/drawing/2014/main" id="{9B55F802-14CA-E63B-3591-FE87D1403BF1}"/>
              </a:ext>
            </a:extLst>
          </p:cNvPr>
          <p:cNvSpPr>
            <a:spLocks noGrp="1" noChangeArrowheads="1"/>
          </p:cNvSpPr>
          <p:nvPr>
            <p:ph type="title" idx="4294967295"/>
          </p:nvPr>
        </p:nvSpPr>
        <p:spPr/>
        <p:txBody>
          <a:bodyPr/>
          <a:lstStyle/>
          <a:p>
            <a:r>
              <a:rPr lang="zh-CN" altLang="en-US" dirty="0"/>
              <a:t>设计概念</a:t>
            </a:r>
            <a:r>
              <a:rPr lang="en-US" altLang="zh-CN" dirty="0"/>
              <a:t>——</a:t>
            </a:r>
            <a:r>
              <a:rPr lang="zh-CN" altLang="en-US" dirty="0"/>
              <a:t>模块化</a:t>
            </a:r>
          </a:p>
        </p:txBody>
      </p:sp>
      <p:pic>
        <p:nvPicPr>
          <p:cNvPr id="105475" name="Picture 3">
            <a:extLst>
              <a:ext uri="{FF2B5EF4-FFF2-40B4-BE49-F238E27FC236}">
                <a16:creationId xmlns:a16="http://schemas.microsoft.com/office/drawing/2014/main" id="{4C445E00-ED2E-CFC9-3977-89893316A4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1196975"/>
            <a:ext cx="64135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6">
            <a:extLst>
              <a:ext uri="{FF2B5EF4-FFF2-40B4-BE49-F238E27FC236}">
                <a16:creationId xmlns:a16="http://schemas.microsoft.com/office/drawing/2014/main" id="{410AD02F-77EE-99B5-0538-4BA6E3F9501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F32024D-0DEC-4916-A357-88E69AAFE362}" type="slidenum">
              <a:rPr lang="en-US" altLang="zh-CN" sz="1400">
                <a:solidFill>
                  <a:srgbClr val="000000"/>
                </a:solidFill>
                <a:latin typeface="Arial" panose="020B0604020202020204" pitchFamily="34" charset="0"/>
              </a:rPr>
              <a:pPr fontAlgn="base">
                <a:spcBef>
                  <a:spcPct val="0"/>
                </a:spcBef>
                <a:spcAft>
                  <a:spcPct val="0"/>
                </a:spcAft>
              </a:pPr>
              <a:t>2</a:t>
            </a:fld>
            <a:endParaRPr lang="en-US" altLang="zh-CN" sz="1400">
              <a:solidFill>
                <a:srgbClr val="000000"/>
              </a:solidFill>
              <a:latin typeface="Arial" panose="020B0604020202020204" pitchFamily="34" charset="0"/>
            </a:endParaRPr>
          </a:p>
        </p:txBody>
      </p:sp>
      <p:sp>
        <p:nvSpPr>
          <p:cNvPr id="107522" name="Rectangle 2">
            <a:extLst>
              <a:ext uri="{FF2B5EF4-FFF2-40B4-BE49-F238E27FC236}">
                <a16:creationId xmlns:a16="http://schemas.microsoft.com/office/drawing/2014/main" id="{DB0FD198-303F-4C25-802F-721D03D1D702}"/>
              </a:ext>
            </a:extLst>
          </p:cNvPr>
          <p:cNvSpPr>
            <a:spLocks noGrp="1" noChangeArrowheads="1"/>
          </p:cNvSpPr>
          <p:nvPr>
            <p:ph type="title"/>
          </p:nvPr>
        </p:nvSpPr>
        <p:spPr/>
        <p:txBody>
          <a:bodyPr/>
          <a:lstStyle/>
          <a:p>
            <a:r>
              <a:rPr lang="zh-CN" altLang="en-US" dirty="0"/>
              <a:t>模块化</a:t>
            </a:r>
          </a:p>
        </p:txBody>
      </p:sp>
      <p:sp>
        <p:nvSpPr>
          <p:cNvPr id="292867" name="Rectangle 3">
            <a:extLst>
              <a:ext uri="{FF2B5EF4-FFF2-40B4-BE49-F238E27FC236}">
                <a16:creationId xmlns:a16="http://schemas.microsoft.com/office/drawing/2014/main" id="{49CD1272-EEAD-F673-A7AB-CC0B570AF84C}"/>
              </a:ext>
            </a:extLst>
          </p:cNvPr>
          <p:cNvSpPr>
            <a:spLocks noGrp="1" noChangeArrowheads="1"/>
          </p:cNvSpPr>
          <p:nvPr>
            <p:ph type="body" idx="1"/>
          </p:nvPr>
        </p:nvSpPr>
        <p:spPr>
          <a:xfrm>
            <a:off x="1981200" y="1196975"/>
            <a:ext cx="8229600" cy="4933950"/>
          </a:xfrm>
        </p:spPr>
        <p:txBody>
          <a:bodyPr/>
          <a:lstStyle/>
          <a:p>
            <a:pPr>
              <a:lnSpc>
                <a:spcPct val="150000"/>
              </a:lnSpc>
              <a:spcBef>
                <a:spcPct val="50000"/>
              </a:spcBef>
            </a:pPr>
            <a:r>
              <a:rPr lang="zh-CN" altLang="en-US" sz="2200">
                <a:solidFill>
                  <a:srgbClr val="FF0000"/>
                </a:solidFill>
                <a:latin typeface="宋体" panose="02010600030101010101" pitchFamily="2" charset="-122"/>
              </a:rPr>
              <a:t>模块化</a:t>
            </a:r>
            <a:r>
              <a:rPr lang="zh-CN" altLang="en-US" sz="2200">
                <a:latin typeface="宋体" panose="02010600030101010101" pitchFamily="2" charset="-122"/>
              </a:rPr>
              <a:t>就是把程序划分成</a:t>
            </a:r>
            <a:r>
              <a:rPr lang="zh-CN" altLang="en-US" sz="2200">
                <a:solidFill>
                  <a:srgbClr val="FF0000"/>
                </a:solidFill>
                <a:latin typeface="宋体" panose="02010600030101010101" pitchFamily="2" charset="-122"/>
              </a:rPr>
              <a:t>独立命名</a:t>
            </a:r>
            <a:r>
              <a:rPr lang="zh-CN" altLang="en-US" sz="2200">
                <a:latin typeface="宋体" panose="02010600030101010101" pitchFamily="2" charset="-122"/>
              </a:rPr>
              <a:t>且可</a:t>
            </a:r>
            <a:r>
              <a:rPr lang="zh-CN" altLang="en-US" sz="2200">
                <a:solidFill>
                  <a:srgbClr val="FF0000"/>
                </a:solidFill>
                <a:latin typeface="宋体" panose="02010600030101010101" pitchFamily="2" charset="-122"/>
              </a:rPr>
              <a:t>直接访问</a:t>
            </a:r>
            <a:r>
              <a:rPr lang="zh-CN" altLang="en-US" sz="2200">
                <a:latin typeface="宋体" panose="02010600030101010101" pitchFamily="2" charset="-122"/>
              </a:rPr>
              <a:t>的模块，各个模块完成一个</a:t>
            </a:r>
            <a:r>
              <a:rPr lang="zh-CN" altLang="en-US" sz="2200">
                <a:solidFill>
                  <a:srgbClr val="FF0000"/>
                </a:solidFill>
                <a:latin typeface="宋体" panose="02010600030101010101" pitchFamily="2" charset="-122"/>
              </a:rPr>
              <a:t>子功能</a:t>
            </a:r>
            <a:r>
              <a:rPr lang="zh-CN" altLang="en-US" sz="2200">
                <a:latin typeface="宋体" panose="02010600030101010101" pitchFamily="2" charset="-122"/>
              </a:rPr>
              <a:t>，这些模块集成起来构成一个整体，完成指定功能。</a:t>
            </a:r>
          </a:p>
          <a:p>
            <a:pPr>
              <a:lnSpc>
                <a:spcPct val="150000"/>
              </a:lnSpc>
              <a:spcBef>
                <a:spcPct val="50000"/>
              </a:spcBef>
            </a:pPr>
            <a:r>
              <a:rPr lang="zh-CN" altLang="en-US" sz="2200"/>
              <a:t>软件工程师难以掌握</a:t>
            </a:r>
            <a:r>
              <a:rPr lang="zh-CN" altLang="en-US" sz="2200">
                <a:solidFill>
                  <a:srgbClr val="FF0000"/>
                </a:solidFill>
              </a:rPr>
              <a:t>单块软件</a:t>
            </a:r>
            <a:r>
              <a:rPr lang="en-US" altLang="zh-CN" sz="2200"/>
              <a:t>(</a:t>
            </a:r>
            <a:r>
              <a:rPr lang="zh-CN" altLang="en-US" sz="2200"/>
              <a:t>即由一个单独模块构成的</a:t>
            </a:r>
            <a:r>
              <a:rPr lang="zh-CN" altLang="en-US" sz="2200">
                <a:solidFill>
                  <a:srgbClr val="FF0000"/>
                </a:solidFill>
              </a:rPr>
              <a:t>大程序</a:t>
            </a:r>
            <a:r>
              <a:rPr lang="en-US" altLang="zh-CN" sz="2200"/>
              <a:t>)</a:t>
            </a:r>
            <a:r>
              <a:rPr lang="zh-CN" altLang="en-US" sz="2200"/>
              <a:t>。对于单块大型程序，其</a:t>
            </a:r>
            <a:r>
              <a:rPr lang="zh-CN" altLang="en-US" sz="2200">
                <a:solidFill>
                  <a:srgbClr val="FF0000"/>
                </a:solidFill>
              </a:rPr>
              <a:t>控制路径的数量</a:t>
            </a:r>
            <a:r>
              <a:rPr lang="zh-CN" altLang="en-US" sz="2200"/>
              <a:t>、</a:t>
            </a:r>
            <a:r>
              <a:rPr lang="zh-CN" altLang="en-US" sz="2200">
                <a:solidFill>
                  <a:srgbClr val="FF0000"/>
                </a:solidFill>
              </a:rPr>
              <a:t>引用的跨度</a:t>
            </a:r>
            <a:r>
              <a:rPr lang="zh-CN" altLang="en-US" sz="2200"/>
              <a:t>、</a:t>
            </a:r>
            <a:r>
              <a:rPr lang="zh-CN" altLang="en-US" sz="2200">
                <a:solidFill>
                  <a:srgbClr val="FF0000"/>
                </a:solidFill>
              </a:rPr>
              <a:t>变量的数量</a:t>
            </a:r>
            <a:r>
              <a:rPr lang="zh-CN" altLang="en-US" sz="2200"/>
              <a:t>和</a:t>
            </a:r>
            <a:r>
              <a:rPr lang="zh-CN" altLang="en-US" sz="2200">
                <a:solidFill>
                  <a:srgbClr val="FF0000"/>
                </a:solidFill>
              </a:rPr>
              <a:t>整体的复杂度</a:t>
            </a:r>
            <a:r>
              <a:rPr lang="zh-CN" altLang="en-US" sz="2200"/>
              <a:t>使得理解这样的软件几乎是不可能的。</a:t>
            </a:r>
          </a:p>
          <a:p>
            <a:pPr>
              <a:lnSpc>
                <a:spcPct val="150000"/>
              </a:lnSpc>
              <a:spcBef>
                <a:spcPct val="50000"/>
              </a:spcBef>
            </a:pPr>
            <a:r>
              <a:rPr lang="zh-CN" altLang="en-US" sz="2200"/>
              <a:t>几乎所有情况下，为了理解更容易，都应当将设计划分成许多模块，这样做的结果使得构建软件所需的</a:t>
            </a:r>
            <a:r>
              <a:rPr lang="zh-CN" altLang="en-US" sz="2200">
                <a:solidFill>
                  <a:srgbClr val="FF0000"/>
                </a:solidFill>
              </a:rPr>
              <a:t>成本</a:t>
            </a:r>
            <a:r>
              <a:rPr lang="zh-CN" altLang="en-US" sz="2200"/>
              <a:t>将会随之降低。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2867">
                                            <p:txEl>
                                              <p:pRg st="1" end="1"/>
                                            </p:txEl>
                                          </p:spTgt>
                                        </p:tgtEl>
                                        <p:attrNameLst>
                                          <p:attrName>style.visibility</p:attrName>
                                        </p:attrNameLst>
                                      </p:cBhvr>
                                      <p:to>
                                        <p:strVal val="visible"/>
                                      </p:to>
                                    </p:set>
                                    <p:animEffect transition="in" filter="blinds(horizontal)">
                                      <p:cBhvr>
                                        <p:cTn id="7" dur="1000"/>
                                        <p:tgtEl>
                                          <p:spTgt spid="292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2867">
                                            <p:txEl>
                                              <p:pRg st="2" end="2"/>
                                            </p:txEl>
                                          </p:spTgt>
                                        </p:tgtEl>
                                        <p:attrNameLst>
                                          <p:attrName>style.visibility</p:attrName>
                                        </p:attrNameLst>
                                      </p:cBhvr>
                                      <p:to>
                                        <p:strVal val="visible"/>
                                      </p:to>
                                    </p:set>
                                    <p:animEffect transition="in" filter="blinds(horizontal)">
                                      <p:cBhvr>
                                        <p:cTn id="12" dur="1000"/>
                                        <p:tgtEl>
                                          <p:spTgt spid="2928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6">
            <a:extLst>
              <a:ext uri="{FF2B5EF4-FFF2-40B4-BE49-F238E27FC236}">
                <a16:creationId xmlns:a16="http://schemas.microsoft.com/office/drawing/2014/main" id="{8E98EA00-D86D-30AE-AA7D-401533BE510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04BFFA8-4BF7-453D-B599-FA95A304A1C0}" type="slidenum">
              <a:rPr lang="en-US" altLang="zh-CN" sz="1400">
                <a:solidFill>
                  <a:srgbClr val="000000"/>
                </a:solidFill>
                <a:latin typeface="Arial" panose="020B0604020202020204" pitchFamily="34" charset="0"/>
              </a:rPr>
              <a:pPr fontAlgn="base">
                <a:spcBef>
                  <a:spcPct val="0"/>
                </a:spcBef>
                <a:spcAft>
                  <a:spcPct val="0"/>
                </a:spcAft>
              </a:pPr>
              <a:t>3</a:t>
            </a:fld>
            <a:endParaRPr lang="en-US" altLang="zh-CN" sz="1400">
              <a:solidFill>
                <a:srgbClr val="000000"/>
              </a:solidFill>
              <a:latin typeface="Arial" panose="020B0604020202020204" pitchFamily="34" charset="0"/>
            </a:endParaRPr>
          </a:p>
        </p:txBody>
      </p:sp>
      <p:sp>
        <p:nvSpPr>
          <p:cNvPr id="108546" name="Rectangle 2">
            <a:extLst>
              <a:ext uri="{FF2B5EF4-FFF2-40B4-BE49-F238E27FC236}">
                <a16:creationId xmlns:a16="http://schemas.microsoft.com/office/drawing/2014/main" id="{B7CCE111-1504-F833-09FB-79C6833A391D}"/>
              </a:ext>
            </a:extLst>
          </p:cNvPr>
          <p:cNvSpPr>
            <a:spLocks noGrp="1" noChangeArrowheads="1"/>
          </p:cNvSpPr>
          <p:nvPr>
            <p:ph type="title"/>
          </p:nvPr>
        </p:nvSpPr>
        <p:spPr/>
        <p:txBody>
          <a:bodyPr/>
          <a:lstStyle/>
          <a:p>
            <a:r>
              <a:rPr lang="zh-CN" altLang="en-US"/>
              <a:t>模块化</a:t>
            </a:r>
          </a:p>
        </p:txBody>
      </p:sp>
      <p:sp>
        <p:nvSpPr>
          <p:cNvPr id="266243" name="Rectangle 3">
            <a:extLst>
              <a:ext uri="{FF2B5EF4-FFF2-40B4-BE49-F238E27FC236}">
                <a16:creationId xmlns:a16="http://schemas.microsoft.com/office/drawing/2014/main" id="{D591449C-0C8D-DB8F-D47D-9A205AA24AD2}"/>
              </a:ext>
            </a:extLst>
          </p:cNvPr>
          <p:cNvSpPr>
            <a:spLocks noGrp="1" noChangeArrowheads="1"/>
          </p:cNvSpPr>
          <p:nvPr>
            <p:ph type="body" idx="1"/>
          </p:nvPr>
        </p:nvSpPr>
        <p:spPr/>
        <p:txBody>
          <a:bodyPr/>
          <a:lstStyle/>
          <a:p>
            <a:pPr>
              <a:lnSpc>
                <a:spcPct val="150000"/>
              </a:lnSpc>
              <a:spcBef>
                <a:spcPct val="40000"/>
              </a:spcBef>
            </a:pPr>
            <a:r>
              <a:rPr lang="zh-CN" altLang="en-US" sz="2800"/>
              <a:t>按照</a:t>
            </a:r>
            <a:r>
              <a:rPr lang="zh-CN" altLang="en-US" sz="2800">
                <a:solidFill>
                  <a:srgbClr val="FF0000"/>
                </a:solidFill>
              </a:rPr>
              <a:t>设计原则</a:t>
            </a:r>
            <a:r>
              <a:rPr lang="zh-CN" altLang="en-US" sz="2800"/>
              <a:t>将系统划分为若干个较小的模块：</a:t>
            </a:r>
          </a:p>
          <a:p>
            <a:pPr lvl="1">
              <a:lnSpc>
                <a:spcPct val="150000"/>
              </a:lnSpc>
              <a:spcBef>
                <a:spcPct val="40000"/>
              </a:spcBef>
            </a:pPr>
            <a:r>
              <a:rPr lang="zh-CN" altLang="en-US"/>
              <a:t>这些模块相互</a:t>
            </a:r>
            <a:r>
              <a:rPr lang="zh-CN" altLang="en-US">
                <a:solidFill>
                  <a:srgbClr val="FF0000"/>
                </a:solidFill>
              </a:rPr>
              <a:t>独立</a:t>
            </a:r>
            <a:r>
              <a:rPr lang="zh-CN" altLang="en-US"/>
              <a:t>但又相互</a:t>
            </a:r>
            <a:r>
              <a:rPr lang="zh-CN" altLang="en-US">
                <a:solidFill>
                  <a:srgbClr val="FF0000"/>
                </a:solidFill>
              </a:rPr>
              <a:t>关联。</a:t>
            </a:r>
          </a:p>
          <a:p>
            <a:pPr lvl="1">
              <a:lnSpc>
                <a:spcPct val="150000"/>
              </a:lnSpc>
              <a:spcBef>
                <a:spcPct val="40000"/>
              </a:spcBef>
            </a:pPr>
            <a:r>
              <a:rPr lang="zh-CN" altLang="en-US"/>
              <a:t>实际上是系统</a:t>
            </a:r>
            <a:r>
              <a:rPr lang="zh-CN" altLang="en-US">
                <a:solidFill>
                  <a:srgbClr val="FF0000"/>
                </a:solidFill>
              </a:rPr>
              <a:t>分解</a:t>
            </a:r>
            <a:r>
              <a:rPr lang="zh-CN" altLang="en-US"/>
              <a:t>和</a:t>
            </a:r>
            <a:r>
              <a:rPr lang="zh-CN" altLang="en-US">
                <a:solidFill>
                  <a:srgbClr val="FF0000"/>
                </a:solidFill>
              </a:rPr>
              <a:t>抽象</a:t>
            </a:r>
            <a:r>
              <a:rPr lang="zh-CN" altLang="en-US"/>
              <a:t>的</a:t>
            </a:r>
            <a:r>
              <a:rPr lang="zh-CN" altLang="en-US">
                <a:solidFill>
                  <a:srgbClr val="FF0000"/>
                </a:solidFill>
              </a:rPr>
              <a:t>过程</a:t>
            </a:r>
            <a:r>
              <a:rPr lang="zh-CN" altLang="en-US"/>
              <a:t>。</a:t>
            </a:r>
          </a:p>
          <a:p>
            <a:pPr>
              <a:lnSpc>
                <a:spcPct val="150000"/>
              </a:lnSpc>
              <a:spcBef>
                <a:spcPct val="40000"/>
              </a:spcBef>
            </a:pPr>
            <a:r>
              <a:rPr lang="zh-CN" altLang="en-US" sz="2800">
                <a:solidFill>
                  <a:srgbClr val="FF0000"/>
                </a:solidFill>
              </a:rPr>
              <a:t>模块</a:t>
            </a:r>
            <a:r>
              <a:rPr lang="zh-CN" altLang="en-US" sz="2800"/>
              <a:t>是相对独立的</a:t>
            </a:r>
            <a:r>
              <a:rPr lang="zh-CN" altLang="en-US" sz="2800">
                <a:solidFill>
                  <a:srgbClr val="FF0000"/>
                </a:solidFill>
              </a:rPr>
              <a:t>程序体：</a:t>
            </a:r>
          </a:p>
          <a:p>
            <a:pPr lvl="1">
              <a:lnSpc>
                <a:spcPct val="150000"/>
              </a:lnSpc>
              <a:spcBef>
                <a:spcPct val="40000"/>
              </a:spcBef>
            </a:pPr>
            <a:r>
              <a:rPr lang="zh-CN" altLang="en-US"/>
              <a:t>模块是数据说明、可执行语句等</a:t>
            </a:r>
            <a:r>
              <a:rPr lang="zh-CN" altLang="en-US">
                <a:solidFill>
                  <a:srgbClr val="FF0000"/>
                </a:solidFill>
              </a:rPr>
              <a:t>程序对象</a:t>
            </a:r>
            <a:r>
              <a:rPr lang="zh-CN" altLang="en-US"/>
              <a:t>的集合。</a:t>
            </a:r>
          </a:p>
          <a:p>
            <a:pPr lvl="1">
              <a:lnSpc>
                <a:spcPct val="150000"/>
              </a:lnSpc>
              <a:spcBef>
                <a:spcPct val="40000"/>
              </a:spcBef>
            </a:pPr>
            <a:r>
              <a:rPr lang="zh-CN" altLang="en-US"/>
              <a:t>模块是</a:t>
            </a:r>
            <a:r>
              <a:rPr lang="zh-CN" altLang="en-US">
                <a:solidFill>
                  <a:srgbClr val="FF0000"/>
                </a:solidFill>
              </a:rPr>
              <a:t>单独命名</a:t>
            </a:r>
            <a:r>
              <a:rPr lang="zh-CN" altLang="en-US"/>
              <a:t>的，并且可以通过名字来访问。</a:t>
            </a:r>
          </a:p>
          <a:p>
            <a:pPr lvl="2">
              <a:lnSpc>
                <a:spcPct val="150000"/>
              </a:lnSpc>
              <a:spcBef>
                <a:spcPct val="40000"/>
              </a:spcBef>
            </a:pPr>
            <a:r>
              <a:rPr lang="zh-CN" altLang="en-US"/>
              <a:t>例如：类、过程、函数、子程序、宏等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6243">
                                            <p:txEl>
                                              <p:pRg st="1" end="1"/>
                                            </p:txEl>
                                          </p:spTgt>
                                        </p:tgtEl>
                                        <p:attrNameLst>
                                          <p:attrName>style.visibility</p:attrName>
                                        </p:attrNameLst>
                                      </p:cBhvr>
                                      <p:to>
                                        <p:strVal val="visible"/>
                                      </p:to>
                                    </p:set>
                                    <p:animEffect transition="in" filter="blinds(horizontal)">
                                      <p:cBhvr>
                                        <p:cTn id="7" dur="1000"/>
                                        <p:tgtEl>
                                          <p:spTgt spid="2662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6243">
                                            <p:txEl>
                                              <p:pRg st="2" end="2"/>
                                            </p:txEl>
                                          </p:spTgt>
                                        </p:tgtEl>
                                        <p:attrNameLst>
                                          <p:attrName>style.visibility</p:attrName>
                                        </p:attrNameLst>
                                      </p:cBhvr>
                                      <p:to>
                                        <p:strVal val="visible"/>
                                      </p:to>
                                    </p:set>
                                    <p:animEffect transition="in" filter="blinds(horizontal)">
                                      <p:cBhvr>
                                        <p:cTn id="12" dur="1000"/>
                                        <p:tgtEl>
                                          <p:spTgt spid="2662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6243">
                                            <p:txEl>
                                              <p:pRg st="3" end="3"/>
                                            </p:txEl>
                                          </p:spTgt>
                                        </p:tgtEl>
                                        <p:attrNameLst>
                                          <p:attrName>style.visibility</p:attrName>
                                        </p:attrNameLst>
                                      </p:cBhvr>
                                      <p:to>
                                        <p:strVal val="visible"/>
                                      </p:to>
                                    </p:set>
                                    <p:animEffect transition="in" filter="blinds(horizontal)">
                                      <p:cBhvr>
                                        <p:cTn id="17" dur="1000"/>
                                        <p:tgtEl>
                                          <p:spTgt spid="2662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6243">
                                            <p:txEl>
                                              <p:pRg st="4" end="4"/>
                                            </p:txEl>
                                          </p:spTgt>
                                        </p:tgtEl>
                                        <p:attrNameLst>
                                          <p:attrName>style.visibility</p:attrName>
                                        </p:attrNameLst>
                                      </p:cBhvr>
                                      <p:to>
                                        <p:strVal val="visible"/>
                                      </p:to>
                                    </p:set>
                                    <p:animEffect transition="in" filter="blinds(horizontal)">
                                      <p:cBhvr>
                                        <p:cTn id="22" dur="1000"/>
                                        <p:tgtEl>
                                          <p:spTgt spid="2662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6243">
                                            <p:txEl>
                                              <p:pRg st="5" end="5"/>
                                            </p:txEl>
                                          </p:spTgt>
                                        </p:tgtEl>
                                        <p:attrNameLst>
                                          <p:attrName>style.visibility</p:attrName>
                                        </p:attrNameLst>
                                      </p:cBhvr>
                                      <p:to>
                                        <p:strVal val="visible"/>
                                      </p:to>
                                    </p:set>
                                    <p:animEffect transition="in" filter="blinds(horizontal)">
                                      <p:cBhvr>
                                        <p:cTn id="27" dur="1000"/>
                                        <p:tgtEl>
                                          <p:spTgt spid="26624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66243">
                                            <p:txEl>
                                              <p:pRg st="6" end="6"/>
                                            </p:txEl>
                                          </p:spTgt>
                                        </p:tgtEl>
                                        <p:attrNameLst>
                                          <p:attrName>style.visibility</p:attrName>
                                        </p:attrNameLst>
                                      </p:cBhvr>
                                      <p:to>
                                        <p:strVal val="visible"/>
                                      </p:to>
                                    </p:set>
                                    <p:animEffect transition="in" filter="blinds(horizontal)">
                                      <p:cBhvr>
                                        <p:cTn id="32" dur="1000"/>
                                        <p:tgtEl>
                                          <p:spTgt spid="266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6">
            <a:extLst>
              <a:ext uri="{FF2B5EF4-FFF2-40B4-BE49-F238E27FC236}">
                <a16:creationId xmlns:a16="http://schemas.microsoft.com/office/drawing/2014/main" id="{BDEA2490-5F71-F926-E860-73DDCE4A6EF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B24168A-2866-469C-9F9A-6B974A8B0E79}" type="slidenum">
              <a:rPr lang="en-US" altLang="zh-CN" sz="1400">
                <a:solidFill>
                  <a:srgbClr val="000000"/>
                </a:solidFill>
                <a:latin typeface="Arial" panose="020B0604020202020204" pitchFamily="34" charset="0"/>
              </a:rPr>
              <a:pPr fontAlgn="base">
                <a:spcBef>
                  <a:spcPct val="0"/>
                </a:spcBef>
                <a:spcAft>
                  <a:spcPct val="0"/>
                </a:spcAft>
              </a:pPr>
              <a:t>4</a:t>
            </a:fld>
            <a:endParaRPr lang="en-US" altLang="zh-CN" sz="1400">
              <a:solidFill>
                <a:srgbClr val="000000"/>
              </a:solidFill>
              <a:latin typeface="Arial" panose="020B0604020202020204" pitchFamily="34" charset="0"/>
            </a:endParaRPr>
          </a:p>
        </p:txBody>
      </p:sp>
      <p:sp>
        <p:nvSpPr>
          <p:cNvPr id="109570" name="标题 1">
            <a:extLst>
              <a:ext uri="{FF2B5EF4-FFF2-40B4-BE49-F238E27FC236}">
                <a16:creationId xmlns:a16="http://schemas.microsoft.com/office/drawing/2014/main" id="{05994A30-F2A3-0F53-843C-C642E90F21AD}"/>
              </a:ext>
            </a:extLst>
          </p:cNvPr>
          <p:cNvSpPr>
            <a:spLocks noGrp="1" noChangeArrowheads="1"/>
          </p:cNvSpPr>
          <p:nvPr>
            <p:ph type="title" idx="4294967295"/>
          </p:nvPr>
        </p:nvSpPr>
        <p:spPr/>
        <p:txBody>
          <a:bodyPr/>
          <a:lstStyle/>
          <a:p>
            <a:r>
              <a:rPr lang="zh-CN" altLang="en-US"/>
              <a:t>通过模块化降低开发复杂度 </a:t>
            </a:r>
          </a:p>
        </p:txBody>
      </p:sp>
      <p:sp>
        <p:nvSpPr>
          <p:cNvPr id="4" name="Rectangle 3">
            <a:extLst>
              <a:ext uri="{FF2B5EF4-FFF2-40B4-BE49-F238E27FC236}">
                <a16:creationId xmlns:a16="http://schemas.microsoft.com/office/drawing/2014/main" id="{3919A4FB-FC59-B0A6-9502-23CCCEA49658}"/>
              </a:ext>
            </a:extLst>
          </p:cNvPr>
          <p:cNvSpPr txBox="1">
            <a:spLocks noChangeArrowheads="1"/>
          </p:cNvSpPr>
          <p:nvPr/>
        </p:nvSpPr>
        <p:spPr bwMode="auto">
          <a:xfrm>
            <a:off x="2132013" y="1052514"/>
            <a:ext cx="79248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0" fontAlgn="base" hangingPunct="0">
              <a:lnSpc>
                <a:spcPct val="145000"/>
              </a:lnSpc>
              <a:spcAft>
                <a:spcPct val="0"/>
              </a:spcAft>
              <a:buClr>
                <a:srgbClr val="CC9900"/>
              </a:buClr>
              <a:buNone/>
            </a:pPr>
            <a:r>
              <a:rPr lang="en-US" altLang="zh-CN">
                <a:solidFill>
                  <a:srgbClr val="000000"/>
                </a:solidFill>
              </a:rPr>
              <a:t>C(x)</a:t>
            </a:r>
            <a:r>
              <a:rPr lang="zh-CN" altLang="en-US">
                <a:solidFill>
                  <a:srgbClr val="000000"/>
                </a:solidFill>
              </a:rPr>
              <a:t>：问题</a:t>
            </a:r>
            <a:r>
              <a:rPr lang="en-US" altLang="zh-CN">
                <a:solidFill>
                  <a:srgbClr val="000000"/>
                </a:solidFill>
              </a:rPr>
              <a:t>x</a:t>
            </a:r>
            <a:r>
              <a:rPr lang="zh-CN" altLang="en-US">
                <a:solidFill>
                  <a:srgbClr val="000000"/>
                </a:solidFill>
              </a:rPr>
              <a:t>的复杂性；</a:t>
            </a:r>
          </a:p>
          <a:p>
            <a:pPr eaLnBrk="0" fontAlgn="base" hangingPunct="0">
              <a:lnSpc>
                <a:spcPct val="145000"/>
              </a:lnSpc>
              <a:spcAft>
                <a:spcPct val="0"/>
              </a:spcAft>
              <a:buClr>
                <a:srgbClr val="CC9900"/>
              </a:buClr>
              <a:buNone/>
            </a:pPr>
            <a:r>
              <a:rPr lang="en-US" altLang="zh-CN">
                <a:solidFill>
                  <a:srgbClr val="000000"/>
                </a:solidFill>
              </a:rPr>
              <a:t>E(x)</a:t>
            </a:r>
            <a:r>
              <a:rPr lang="zh-CN" altLang="en-US">
                <a:solidFill>
                  <a:srgbClr val="000000"/>
                </a:solidFill>
              </a:rPr>
              <a:t>：解决问题</a:t>
            </a:r>
            <a:r>
              <a:rPr lang="en-US" altLang="zh-CN">
                <a:solidFill>
                  <a:srgbClr val="000000"/>
                </a:solidFill>
              </a:rPr>
              <a:t>x</a:t>
            </a:r>
            <a:r>
              <a:rPr lang="zh-CN" altLang="en-US">
                <a:solidFill>
                  <a:srgbClr val="000000"/>
                </a:solidFill>
              </a:rPr>
              <a:t>所需工作量；</a:t>
            </a:r>
          </a:p>
          <a:p>
            <a:pPr eaLnBrk="0" fontAlgn="base" hangingPunct="0">
              <a:lnSpc>
                <a:spcPct val="145000"/>
              </a:lnSpc>
              <a:spcAft>
                <a:spcPct val="0"/>
              </a:spcAft>
              <a:buClr>
                <a:srgbClr val="CC9900"/>
              </a:buClr>
              <a:buNone/>
            </a:pPr>
            <a:r>
              <a:rPr lang="zh-CN" altLang="en-US">
                <a:solidFill>
                  <a:srgbClr val="000000"/>
                </a:solidFill>
              </a:rPr>
              <a:t>对于两个问题 </a:t>
            </a:r>
            <a:r>
              <a:rPr lang="en-US" altLang="zh-CN">
                <a:solidFill>
                  <a:srgbClr val="000000"/>
                </a:solidFill>
              </a:rPr>
              <a:t>p1 </a:t>
            </a:r>
            <a:r>
              <a:rPr lang="zh-CN" altLang="en-US">
                <a:solidFill>
                  <a:srgbClr val="000000"/>
                </a:solidFill>
              </a:rPr>
              <a:t>和</a:t>
            </a:r>
            <a:r>
              <a:rPr lang="en-US" altLang="zh-CN">
                <a:solidFill>
                  <a:srgbClr val="000000"/>
                </a:solidFill>
              </a:rPr>
              <a:t>p2</a:t>
            </a:r>
            <a:r>
              <a:rPr lang="zh-CN" altLang="en-US">
                <a:solidFill>
                  <a:srgbClr val="000000"/>
                </a:solidFill>
              </a:rPr>
              <a:t>：</a:t>
            </a:r>
          </a:p>
          <a:p>
            <a:pPr eaLnBrk="0" fontAlgn="base" hangingPunct="0">
              <a:lnSpc>
                <a:spcPct val="145000"/>
              </a:lnSpc>
              <a:spcAft>
                <a:spcPct val="0"/>
              </a:spcAft>
              <a:buClr>
                <a:srgbClr val="CC9900"/>
              </a:buClr>
              <a:buNone/>
            </a:pPr>
            <a:r>
              <a:rPr lang="en-US" altLang="zh-CN">
                <a:solidFill>
                  <a:srgbClr val="000000"/>
                </a:solidFill>
              </a:rPr>
              <a:t>1) </a:t>
            </a:r>
            <a:r>
              <a:rPr lang="zh-CN" altLang="en-US">
                <a:solidFill>
                  <a:srgbClr val="000000"/>
                </a:solidFill>
              </a:rPr>
              <a:t>如果</a:t>
            </a:r>
            <a:r>
              <a:rPr lang="en-US" altLang="zh-CN">
                <a:solidFill>
                  <a:srgbClr val="000000"/>
                </a:solidFill>
              </a:rPr>
              <a:t>C(p1)&gt;C(p2) </a:t>
            </a:r>
            <a:r>
              <a:rPr lang="zh-CN" altLang="en-US">
                <a:solidFill>
                  <a:srgbClr val="000000"/>
                </a:solidFill>
              </a:rPr>
              <a:t>那么 </a:t>
            </a:r>
            <a:r>
              <a:rPr lang="en-US" altLang="zh-CN">
                <a:solidFill>
                  <a:srgbClr val="000000"/>
                </a:solidFill>
              </a:rPr>
              <a:t>E(p1)&gt;E(p2)	</a:t>
            </a:r>
          </a:p>
          <a:p>
            <a:pPr eaLnBrk="0" fontAlgn="base" hangingPunct="0">
              <a:lnSpc>
                <a:spcPct val="145000"/>
              </a:lnSpc>
              <a:spcAft>
                <a:spcPct val="0"/>
              </a:spcAft>
              <a:buClr>
                <a:srgbClr val="CC9900"/>
              </a:buClr>
              <a:buNone/>
            </a:pPr>
            <a:r>
              <a:rPr lang="zh-CN" altLang="en-US">
                <a:solidFill>
                  <a:srgbClr val="FF0000"/>
                </a:solidFill>
              </a:rPr>
              <a:t>    问题越复杂解决问题所需要的花费更多</a:t>
            </a:r>
          </a:p>
          <a:p>
            <a:pPr eaLnBrk="0" fontAlgn="base" hangingPunct="0">
              <a:lnSpc>
                <a:spcPct val="145000"/>
              </a:lnSpc>
              <a:spcAft>
                <a:spcPct val="0"/>
              </a:spcAft>
              <a:buClr>
                <a:srgbClr val="CC9900"/>
              </a:buClr>
              <a:buNone/>
            </a:pPr>
            <a:r>
              <a:rPr lang="en-US" altLang="zh-CN">
                <a:solidFill>
                  <a:srgbClr val="000000"/>
                </a:solidFill>
              </a:rPr>
              <a:t>2) C(p1+p2)&gt;C(p1)+C(p2)</a:t>
            </a:r>
            <a:r>
              <a:rPr lang="zh-CN" altLang="en-US">
                <a:solidFill>
                  <a:srgbClr val="000000"/>
                </a:solidFill>
              </a:rPr>
              <a:t>因此</a:t>
            </a:r>
            <a:r>
              <a:rPr lang="en-US" altLang="zh-CN">
                <a:solidFill>
                  <a:srgbClr val="000000"/>
                </a:solidFill>
              </a:rPr>
              <a:t>E(p1+p2)&gt;E(p1)+E(p2)</a:t>
            </a:r>
          </a:p>
          <a:p>
            <a:pPr eaLnBrk="0" fontAlgn="base" hangingPunct="0">
              <a:lnSpc>
                <a:spcPct val="145000"/>
              </a:lnSpc>
              <a:spcAft>
                <a:spcPct val="0"/>
              </a:spcAft>
              <a:buClr>
                <a:srgbClr val="CC9900"/>
              </a:buClr>
              <a:buNone/>
            </a:pPr>
            <a:r>
              <a:rPr lang="zh-CN" altLang="en-US">
                <a:solidFill>
                  <a:srgbClr val="FF0000"/>
                </a:solidFill>
              </a:rPr>
              <a:t>    将复杂问题分解成可以多个子问题分别解决会更加容易</a:t>
            </a:r>
            <a:r>
              <a:rPr lang="en-US" altLang="zh-CN">
                <a:solidFill>
                  <a:srgbClr val="FF0000"/>
                </a:solidFill>
              </a:rPr>
              <a:t>(</a:t>
            </a:r>
            <a:r>
              <a:rPr lang="zh-CN" altLang="en-US">
                <a:solidFill>
                  <a:srgbClr val="FF0000"/>
                </a:solidFill>
              </a:rPr>
              <a:t>模块化思想的依据</a:t>
            </a:r>
            <a:r>
              <a:rPr lang="en-US" altLang="zh-CN">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blinds(horizontal)">
                                      <p:cBhvr>
                                        <p:cTn id="7" dur="500"/>
                                        <p:tgtEl>
                                          <p:spTgt spid="4">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blinds(horizontal)">
                                      <p:cBhvr>
                                        <p:cTn id="12" dur="500"/>
                                        <p:tgtEl>
                                          <p:spTgt spid="4">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blinds(horizontal)">
                                      <p:cBhvr>
                                        <p:cTn id="1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6">
            <a:extLst>
              <a:ext uri="{FF2B5EF4-FFF2-40B4-BE49-F238E27FC236}">
                <a16:creationId xmlns:a16="http://schemas.microsoft.com/office/drawing/2014/main" id="{F411F85B-BC32-E549-C337-0A0D18D66E1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7756663-197F-4D68-A659-0868FC9253CD}" type="slidenum">
              <a:rPr lang="en-US" altLang="zh-CN" sz="1400">
                <a:solidFill>
                  <a:srgbClr val="000000"/>
                </a:solidFill>
                <a:latin typeface="Arial" panose="020B0604020202020204" pitchFamily="34" charset="0"/>
              </a:rPr>
              <a:pPr fontAlgn="base">
                <a:spcBef>
                  <a:spcPct val="0"/>
                </a:spcBef>
                <a:spcAft>
                  <a:spcPct val="0"/>
                </a:spcAft>
              </a:pPr>
              <a:t>5</a:t>
            </a:fld>
            <a:endParaRPr lang="en-US" altLang="zh-CN" sz="1400">
              <a:solidFill>
                <a:srgbClr val="000000"/>
              </a:solidFill>
              <a:latin typeface="Arial" panose="020B0604020202020204" pitchFamily="34" charset="0"/>
            </a:endParaRPr>
          </a:p>
        </p:txBody>
      </p:sp>
      <p:sp>
        <p:nvSpPr>
          <p:cNvPr id="111618" name="Rectangle 2">
            <a:extLst>
              <a:ext uri="{FF2B5EF4-FFF2-40B4-BE49-F238E27FC236}">
                <a16:creationId xmlns:a16="http://schemas.microsoft.com/office/drawing/2014/main" id="{2C5CB07A-A5E7-0603-C647-CF162C5D0C4F}"/>
              </a:ext>
            </a:extLst>
          </p:cNvPr>
          <p:cNvSpPr>
            <a:spLocks noGrp="1" noChangeArrowheads="1"/>
          </p:cNvSpPr>
          <p:nvPr>
            <p:ph type="title"/>
          </p:nvPr>
        </p:nvSpPr>
        <p:spPr/>
        <p:txBody>
          <a:bodyPr/>
          <a:lstStyle/>
          <a:p>
            <a:r>
              <a:rPr lang="zh-CN" altLang="en-US"/>
              <a:t>模块化例：智能灌溉</a:t>
            </a:r>
          </a:p>
        </p:txBody>
      </p:sp>
      <p:sp>
        <p:nvSpPr>
          <p:cNvPr id="267267" name="Rectangle 3">
            <a:extLst>
              <a:ext uri="{FF2B5EF4-FFF2-40B4-BE49-F238E27FC236}">
                <a16:creationId xmlns:a16="http://schemas.microsoft.com/office/drawing/2014/main" id="{6123A1FC-644F-B9BE-AAAD-2D9AAFB2CEE8}"/>
              </a:ext>
            </a:extLst>
          </p:cNvPr>
          <p:cNvSpPr>
            <a:spLocks noGrp="1" noChangeArrowheads="1"/>
          </p:cNvSpPr>
          <p:nvPr>
            <p:ph type="body" idx="1"/>
          </p:nvPr>
        </p:nvSpPr>
        <p:spPr/>
        <p:txBody>
          <a:bodyPr/>
          <a:lstStyle/>
          <a:p>
            <a:pPr>
              <a:lnSpc>
                <a:spcPct val="150000"/>
              </a:lnSpc>
              <a:spcBef>
                <a:spcPct val="40000"/>
              </a:spcBef>
            </a:pPr>
            <a:r>
              <a:rPr lang="zh-CN" altLang="en-US"/>
              <a:t>总体设计：将系统划分为</a:t>
            </a:r>
            <a:r>
              <a:rPr lang="zh-CN" altLang="en-US">
                <a:solidFill>
                  <a:srgbClr val="FF0000"/>
                </a:solidFill>
              </a:rPr>
              <a:t>传感器</a:t>
            </a:r>
            <a:r>
              <a:rPr lang="zh-CN" altLang="en-US"/>
              <a:t>、</a:t>
            </a:r>
            <a:r>
              <a:rPr lang="zh-CN" altLang="en-US">
                <a:solidFill>
                  <a:srgbClr val="FF0000"/>
                </a:solidFill>
              </a:rPr>
              <a:t>灌溉决策</a:t>
            </a:r>
            <a:r>
              <a:rPr lang="zh-CN" altLang="en-US"/>
              <a:t>和</a:t>
            </a:r>
            <a:r>
              <a:rPr lang="zh-CN" altLang="en-US">
                <a:solidFill>
                  <a:srgbClr val="FF0000"/>
                </a:solidFill>
              </a:rPr>
              <a:t>灌溉设备控制</a:t>
            </a:r>
            <a:r>
              <a:rPr lang="zh-CN" altLang="en-US"/>
              <a:t>三个模块，定义好相互之间的数据和控制接口：</a:t>
            </a:r>
          </a:p>
          <a:p>
            <a:pPr lvl="1">
              <a:lnSpc>
                <a:spcPct val="150000"/>
              </a:lnSpc>
              <a:spcBef>
                <a:spcPct val="40000"/>
              </a:spcBef>
            </a:pPr>
            <a:r>
              <a:rPr lang="zh-CN" altLang="en-US" sz="2200"/>
              <a:t>传感器模块：接受传感器收集的温度、湿度、土壤等各种数据；</a:t>
            </a:r>
          </a:p>
          <a:p>
            <a:pPr lvl="1">
              <a:lnSpc>
                <a:spcPct val="150000"/>
              </a:lnSpc>
              <a:spcBef>
                <a:spcPct val="40000"/>
              </a:spcBef>
            </a:pPr>
            <a:r>
              <a:rPr lang="zh-CN" altLang="en-US" sz="2200"/>
              <a:t>灌溉决策：根据种植经验和收集到的数据判断灌溉决策；</a:t>
            </a:r>
          </a:p>
          <a:p>
            <a:pPr lvl="1">
              <a:lnSpc>
                <a:spcPct val="150000"/>
              </a:lnSpc>
              <a:spcBef>
                <a:spcPct val="40000"/>
              </a:spcBef>
            </a:pPr>
            <a:r>
              <a:rPr lang="zh-CN" altLang="en-US" sz="2200"/>
              <a:t>灌溉设备控制：根据灌溉决策控制灌溉设备进行灌溉。</a:t>
            </a:r>
          </a:p>
          <a:p>
            <a:pPr>
              <a:lnSpc>
                <a:spcPct val="150000"/>
              </a:lnSpc>
              <a:spcBef>
                <a:spcPct val="40000"/>
              </a:spcBef>
            </a:pPr>
            <a:r>
              <a:rPr lang="zh-CN" altLang="en-US"/>
              <a:t>降低整体复杂度：可以分而治之而且可以由具备不同专业知识的开发者分别承担。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7267">
                                            <p:txEl>
                                              <p:pRg st="1" end="1"/>
                                            </p:txEl>
                                          </p:spTgt>
                                        </p:tgtEl>
                                        <p:attrNameLst>
                                          <p:attrName>style.visibility</p:attrName>
                                        </p:attrNameLst>
                                      </p:cBhvr>
                                      <p:to>
                                        <p:strVal val="visible"/>
                                      </p:to>
                                    </p:set>
                                    <p:anim calcmode="lin" valueType="num">
                                      <p:cBhvr additive="base">
                                        <p:cTn id="7" dur="1000" fill="hold"/>
                                        <p:tgtEl>
                                          <p:spTgt spid="267267">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67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7267">
                                            <p:txEl>
                                              <p:pRg st="2" end="2"/>
                                            </p:txEl>
                                          </p:spTgt>
                                        </p:tgtEl>
                                        <p:attrNameLst>
                                          <p:attrName>style.visibility</p:attrName>
                                        </p:attrNameLst>
                                      </p:cBhvr>
                                      <p:to>
                                        <p:strVal val="visible"/>
                                      </p:to>
                                    </p:set>
                                    <p:anim calcmode="lin" valueType="num">
                                      <p:cBhvr additive="base">
                                        <p:cTn id="13" dur="1000" fill="hold"/>
                                        <p:tgtEl>
                                          <p:spTgt spid="267267">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67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67267">
                                            <p:txEl>
                                              <p:pRg st="3" end="3"/>
                                            </p:txEl>
                                          </p:spTgt>
                                        </p:tgtEl>
                                        <p:attrNameLst>
                                          <p:attrName>style.visibility</p:attrName>
                                        </p:attrNameLst>
                                      </p:cBhvr>
                                      <p:to>
                                        <p:strVal val="visible"/>
                                      </p:to>
                                    </p:set>
                                    <p:anim calcmode="lin" valueType="num">
                                      <p:cBhvr additive="base">
                                        <p:cTn id="19" dur="1000" fill="hold"/>
                                        <p:tgtEl>
                                          <p:spTgt spid="267267">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67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7267">
                                            <p:txEl>
                                              <p:pRg st="4" end="4"/>
                                            </p:txEl>
                                          </p:spTgt>
                                        </p:tgtEl>
                                        <p:attrNameLst>
                                          <p:attrName>style.visibility</p:attrName>
                                        </p:attrNameLst>
                                      </p:cBhvr>
                                      <p:to>
                                        <p:strVal val="visible"/>
                                      </p:to>
                                    </p:set>
                                    <p:anim calcmode="lin" valueType="num">
                                      <p:cBhvr additive="base">
                                        <p:cTn id="25" dur="1000" fill="hold"/>
                                        <p:tgtEl>
                                          <p:spTgt spid="26726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267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6">
            <a:extLst>
              <a:ext uri="{FF2B5EF4-FFF2-40B4-BE49-F238E27FC236}">
                <a16:creationId xmlns:a16="http://schemas.microsoft.com/office/drawing/2014/main" id="{99E91186-E164-335C-5D50-D50D02C551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FC73D32-D8AC-4C88-BCBB-3FF39BD000CE}" type="slidenum">
              <a:rPr lang="en-US" altLang="zh-CN" sz="1400">
                <a:solidFill>
                  <a:srgbClr val="000000"/>
                </a:solidFill>
                <a:latin typeface="Arial" panose="020B0604020202020204" pitchFamily="34" charset="0"/>
              </a:rPr>
              <a:pPr fontAlgn="base">
                <a:spcBef>
                  <a:spcPct val="0"/>
                </a:spcBef>
                <a:spcAft>
                  <a:spcPct val="0"/>
                </a:spcAft>
              </a:pPr>
              <a:t>6</a:t>
            </a:fld>
            <a:endParaRPr lang="en-US" altLang="zh-CN" sz="1400">
              <a:solidFill>
                <a:srgbClr val="000000"/>
              </a:solidFill>
              <a:latin typeface="Arial" panose="020B0604020202020204" pitchFamily="34" charset="0"/>
            </a:endParaRPr>
          </a:p>
        </p:txBody>
      </p:sp>
      <p:sp>
        <p:nvSpPr>
          <p:cNvPr id="112642" name="Rectangle 2">
            <a:extLst>
              <a:ext uri="{FF2B5EF4-FFF2-40B4-BE49-F238E27FC236}">
                <a16:creationId xmlns:a16="http://schemas.microsoft.com/office/drawing/2014/main" id="{5CF539E9-6105-5402-1AF8-6C25931A1D1E}"/>
              </a:ext>
            </a:extLst>
          </p:cNvPr>
          <p:cNvSpPr>
            <a:spLocks noGrp="1" noChangeArrowheads="1"/>
          </p:cNvSpPr>
          <p:nvPr>
            <p:ph type="title"/>
          </p:nvPr>
        </p:nvSpPr>
        <p:spPr/>
        <p:txBody>
          <a:bodyPr/>
          <a:lstStyle/>
          <a:p>
            <a:r>
              <a:rPr lang="zh-CN" altLang="en-US"/>
              <a:t>无限制地进行模块化分？</a:t>
            </a:r>
          </a:p>
        </p:txBody>
      </p:sp>
      <p:sp>
        <p:nvSpPr>
          <p:cNvPr id="293891" name="Rectangle 3">
            <a:extLst>
              <a:ext uri="{FF2B5EF4-FFF2-40B4-BE49-F238E27FC236}">
                <a16:creationId xmlns:a16="http://schemas.microsoft.com/office/drawing/2014/main" id="{C25AB959-5BCE-6EE0-3491-6A4725A4E288}"/>
              </a:ext>
            </a:extLst>
          </p:cNvPr>
          <p:cNvSpPr>
            <a:spLocks noGrp="1" noChangeArrowheads="1"/>
          </p:cNvSpPr>
          <p:nvPr>
            <p:ph type="body" idx="1"/>
          </p:nvPr>
        </p:nvSpPr>
        <p:spPr>
          <a:xfrm>
            <a:off x="1981200" y="1125538"/>
            <a:ext cx="8229600" cy="4933950"/>
          </a:xfrm>
        </p:spPr>
        <p:txBody>
          <a:bodyPr/>
          <a:lstStyle/>
          <a:p>
            <a:pPr>
              <a:lnSpc>
                <a:spcPct val="150000"/>
              </a:lnSpc>
              <a:spcBef>
                <a:spcPct val="50000"/>
              </a:spcBef>
            </a:pPr>
            <a:r>
              <a:rPr lang="zh-CN" altLang="en-US">
                <a:solidFill>
                  <a:srgbClr val="FF0000"/>
                </a:solidFill>
              </a:rPr>
              <a:t>如果我们无限制地划分软件，开发它所需的工作量会变得小到可以忽略</a:t>
            </a:r>
            <a:r>
              <a:rPr lang="en-US" altLang="zh-CN">
                <a:solidFill>
                  <a:srgbClr val="FF0000"/>
                </a:solidFill>
              </a:rPr>
              <a:t>?</a:t>
            </a:r>
          </a:p>
          <a:p>
            <a:pPr>
              <a:lnSpc>
                <a:spcPct val="150000"/>
              </a:lnSpc>
              <a:spcBef>
                <a:spcPct val="50000"/>
              </a:spcBef>
            </a:pPr>
            <a:r>
              <a:rPr lang="zh-CN" altLang="en-US"/>
              <a:t>结论：</a:t>
            </a:r>
            <a:r>
              <a:rPr lang="en-US" altLang="zh-CN">
                <a:solidFill>
                  <a:srgbClr val="FF0000"/>
                </a:solidFill>
              </a:rPr>
              <a:t>NO</a:t>
            </a:r>
          </a:p>
          <a:p>
            <a:pPr lvl="1">
              <a:lnSpc>
                <a:spcPct val="150000"/>
              </a:lnSpc>
              <a:spcBef>
                <a:spcPct val="50000"/>
              </a:spcBef>
            </a:pPr>
            <a:r>
              <a:rPr lang="zh-CN" altLang="en-US" sz="2200"/>
              <a:t>模块数量增加时，只是使各个</a:t>
            </a:r>
            <a:r>
              <a:rPr lang="zh-CN" altLang="en-US" sz="2200">
                <a:solidFill>
                  <a:srgbClr val="FF0000"/>
                </a:solidFill>
              </a:rPr>
              <a:t>子模块的工作量之和</a:t>
            </a:r>
            <a:r>
              <a:rPr lang="zh-CN" altLang="en-US" sz="2200"/>
              <a:t>有所减小 </a:t>
            </a:r>
          </a:p>
          <a:p>
            <a:pPr lvl="1">
              <a:lnSpc>
                <a:spcPct val="150000"/>
              </a:lnSpc>
              <a:spcBef>
                <a:spcPct val="50000"/>
              </a:spcBef>
            </a:pPr>
            <a:r>
              <a:rPr lang="zh-CN" altLang="en-US" sz="2200"/>
              <a:t>开发工作量还有很大一部分来自于模块间的</a:t>
            </a:r>
            <a:r>
              <a:rPr lang="zh-CN" altLang="en-US" sz="2200">
                <a:solidFill>
                  <a:srgbClr val="FF0000"/>
                </a:solidFill>
              </a:rPr>
              <a:t>接口</a:t>
            </a:r>
            <a:r>
              <a:rPr lang="zh-CN" altLang="en-US" sz="2200"/>
              <a:t>和</a:t>
            </a:r>
            <a:r>
              <a:rPr lang="zh-CN" altLang="en-US" sz="2200">
                <a:solidFill>
                  <a:srgbClr val="FF0000"/>
                </a:solidFill>
              </a:rPr>
              <a:t>集成</a:t>
            </a:r>
            <a:r>
              <a:rPr lang="zh-CN" altLang="en-US" sz="2200"/>
              <a:t>，除了技术上的接口和集成，</a:t>
            </a:r>
            <a:r>
              <a:rPr lang="zh-CN" altLang="en-US" sz="2200">
                <a:solidFill>
                  <a:srgbClr val="FF0000"/>
                </a:solidFill>
              </a:rPr>
              <a:t>还包括人与人之间的沟通</a:t>
            </a:r>
            <a:r>
              <a:rPr lang="zh-CN" altLang="en-US" sz="2200"/>
              <a:t>，集成和沟通的开销到</a:t>
            </a:r>
            <a:r>
              <a:rPr lang="zh-CN" altLang="en-US" sz="2200">
                <a:solidFill>
                  <a:srgbClr val="FF0000"/>
                </a:solidFill>
              </a:rPr>
              <a:t>一定程度</a:t>
            </a:r>
            <a:r>
              <a:rPr lang="zh-CN" altLang="en-US" sz="2200"/>
              <a:t>就会成为开发工作量的</a:t>
            </a:r>
            <a:r>
              <a:rPr lang="zh-CN" altLang="en-US" sz="2200">
                <a:solidFill>
                  <a:srgbClr val="FF0000"/>
                </a:solidFill>
              </a:rPr>
              <a:t>主要部分。</a:t>
            </a:r>
            <a:endParaRPr lang="zh-CN" altLang="en-US" sz="2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93891">
                                            <p:txEl>
                                              <p:pRg st="1" end="1"/>
                                            </p:txEl>
                                          </p:spTgt>
                                        </p:tgtEl>
                                        <p:attrNameLst>
                                          <p:attrName>style.visibility</p:attrName>
                                        </p:attrNameLst>
                                      </p:cBhvr>
                                      <p:to>
                                        <p:strVal val="visible"/>
                                      </p:to>
                                    </p:set>
                                    <p:animEffect transition="in" filter="box(in)">
                                      <p:cBhvr>
                                        <p:cTn id="7" dur="1000"/>
                                        <p:tgtEl>
                                          <p:spTgt spid="293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93891">
                                            <p:txEl>
                                              <p:pRg st="2" end="2"/>
                                            </p:txEl>
                                          </p:spTgt>
                                        </p:tgtEl>
                                        <p:attrNameLst>
                                          <p:attrName>style.visibility</p:attrName>
                                        </p:attrNameLst>
                                      </p:cBhvr>
                                      <p:to>
                                        <p:strVal val="visible"/>
                                      </p:to>
                                    </p:set>
                                    <p:animEffect transition="in" filter="box(in)">
                                      <p:cBhvr>
                                        <p:cTn id="12" dur="1000"/>
                                        <p:tgtEl>
                                          <p:spTgt spid="293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93891">
                                            <p:txEl>
                                              <p:pRg st="3" end="3"/>
                                            </p:txEl>
                                          </p:spTgt>
                                        </p:tgtEl>
                                        <p:attrNameLst>
                                          <p:attrName>style.visibility</p:attrName>
                                        </p:attrNameLst>
                                      </p:cBhvr>
                                      <p:to>
                                        <p:strVal val="visible"/>
                                      </p:to>
                                    </p:set>
                                    <p:animEffect transition="in" filter="box(in)">
                                      <p:cBhvr>
                                        <p:cTn id="17" dur="1000"/>
                                        <p:tgtEl>
                                          <p:spTgt spid="293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6">
            <a:extLst>
              <a:ext uri="{FF2B5EF4-FFF2-40B4-BE49-F238E27FC236}">
                <a16:creationId xmlns:a16="http://schemas.microsoft.com/office/drawing/2014/main" id="{06AEC488-31B0-27BF-8E4D-95FFDAF2B69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2265852-B5DC-4B41-BB02-01E87C9ACE8C}" type="slidenum">
              <a:rPr lang="en-US" altLang="zh-CN" sz="1400">
                <a:solidFill>
                  <a:srgbClr val="000000"/>
                </a:solidFill>
                <a:latin typeface="Arial" panose="020B0604020202020204" pitchFamily="34" charset="0"/>
              </a:rPr>
              <a:pPr fontAlgn="base">
                <a:spcBef>
                  <a:spcPct val="0"/>
                </a:spcBef>
                <a:spcAft>
                  <a:spcPct val="0"/>
                </a:spcAft>
              </a:pPr>
              <a:t>7</a:t>
            </a:fld>
            <a:endParaRPr lang="en-US" altLang="zh-CN" sz="1400">
              <a:solidFill>
                <a:srgbClr val="000000"/>
              </a:solidFill>
              <a:latin typeface="Arial" panose="020B0604020202020204" pitchFamily="34" charset="0"/>
            </a:endParaRPr>
          </a:p>
        </p:txBody>
      </p:sp>
      <p:sp>
        <p:nvSpPr>
          <p:cNvPr id="113666" name="标题 1">
            <a:extLst>
              <a:ext uri="{FF2B5EF4-FFF2-40B4-BE49-F238E27FC236}">
                <a16:creationId xmlns:a16="http://schemas.microsoft.com/office/drawing/2014/main" id="{656E6400-7295-F94A-1D94-BE26BFDC4553}"/>
              </a:ext>
            </a:extLst>
          </p:cNvPr>
          <p:cNvSpPr>
            <a:spLocks noGrp="1" noChangeArrowheads="1"/>
          </p:cNvSpPr>
          <p:nvPr>
            <p:ph type="title" idx="4294967295"/>
          </p:nvPr>
        </p:nvSpPr>
        <p:spPr/>
        <p:txBody>
          <a:bodyPr/>
          <a:lstStyle/>
          <a:p>
            <a:r>
              <a:rPr lang="zh-CN" altLang="en-US"/>
              <a:t>模块化</a:t>
            </a:r>
          </a:p>
        </p:txBody>
      </p:sp>
      <p:sp>
        <p:nvSpPr>
          <p:cNvPr id="222" name="Rectangle 81">
            <a:extLst>
              <a:ext uri="{FF2B5EF4-FFF2-40B4-BE49-F238E27FC236}">
                <a16:creationId xmlns:a16="http://schemas.microsoft.com/office/drawing/2014/main" id="{A3CEF9B8-CFA3-35EC-37F8-1AD1EDC7B20B}"/>
              </a:ext>
            </a:extLst>
          </p:cNvPr>
          <p:cNvSpPr>
            <a:spLocks noChangeArrowheads="1"/>
          </p:cNvSpPr>
          <p:nvPr/>
        </p:nvSpPr>
        <p:spPr bwMode="auto">
          <a:xfrm>
            <a:off x="2566988" y="1844676"/>
            <a:ext cx="7345362" cy="40036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8000" tIns="46800" rIns="198000" bIns="46800">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发信人</a:t>
            </a:r>
            <a:r>
              <a:rPr kumimoji="1" lang="en-US" altLang="zh-CN" sz="1600">
                <a:solidFill>
                  <a:srgbClr val="FFFFFF"/>
                </a:solidFill>
                <a:latin typeface="Times New Roman" panose="02020603050405020304" pitchFamily="18" charset="0"/>
              </a:rPr>
              <a:t>: liuyidaojian (</a:t>
            </a:r>
            <a:r>
              <a:rPr kumimoji="1" lang="zh-CN" altLang="en-US" sz="1600">
                <a:solidFill>
                  <a:srgbClr val="FFFFFF"/>
                </a:solidFill>
                <a:latin typeface="Times New Roman" panose="02020603050405020304" pitchFamily="18" charset="0"/>
              </a:rPr>
              <a:t>山水涅磐</a:t>
            </a:r>
            <a:r>
              <a:rPr kumimoji="1" lang="en-US" altLang="zh-CN" sz="1600">
                <a:solidFill>
                  <a:srgbClr val="FFFFFF"/>
                </a:solidFill>
                <a:latin typeface="Times New Roman" panose="02020603050405020304" pitchFamily="18" charset="0"/>
              </a:rPr>
              <a:t>), </a:t>
            </a:r>
            <a:r>
              <a:rPr kumimoji="1" lang="zh-CN" altLang="en-US" sz="1600">
                <a:solidFill>
                  <a:srgbClr val="FFFFFF"/>
                </a:solidFill>
                <a:latin typeface="Times New Roman" panose="02020603050405020304" pitchFamily="18" charset="0"/>
              </a:rPr>
              <a:t>信区</a:t>
            </a:r>
            <a:r>
              <a:rPr kumimoji="1" lang="en-US" altLang="zh-CN" sz="1600">
                <a:solidFill>
                  <a:srgbClr val="FFFFFF"/>
                </a:solidFill>
                <a:latin typeface="Times New Roman" panose="02020603050405020304" pitchFamily="18" charset="0"/>
              </a:rPr>
              <a:t>: CS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标  题</a:t>
            </a:r>
            <a:r>
              <a:rPr kumimoji="1" lang="en-US" altLang="zh-CN" sz="1600">
                <a:solidFill>
                  <a:srgbClr val="FFFFFF"/>
                </a:solidFill>
                <a:latin typeface="Times New Roman" panose="02020603050405020304" pitchFamily="18" charset="0"/>
              </a:rPr>
              <a:t>: </a:t>
            </a:r>
            <a:r>
              <a:rPr kumimoji="1" lang="zh-CN" altLang="en-US" sz="1600">
                <a:solidFill>
                  <a:srgbClr val="FFFFFF"/>
                </a:solidFill>
                <a:latin typeface="Times New Roman" panose="02020603050405020304" pitchFamily="18" charset="0"/>
              </a:rPr>
              <a:t>林锐的软件工程里的一段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发信站</a:t>
            </a:r>
            <a:r>
              <a:rPr kumimoji="1" lang="en-US" altLang="zh-CN" sz="1600">
                <a:solidFill>
                  <a:srgbClr val="FFFFFF"/>
                </a:solidFill>
                <a:latin typeface="Times New Roman" panose="02020603050405020304" pitchFamily="18" charset="0"/>
              </a:rPr>
              <a:t>: </a:t>
            </a:r>
            <a:r>
              <a:rPr kumimoji="1" lang="zh-CN" altLang="en-US" sz="1600">
                <a:solidFill>
                  <a:srgbClr val="FFFFFF"/>
                </a:solidFill>
                <a:latin typeface="Times New Roman" panose="02020603050405020304" pitchFamily="18" charset="0"/>
              </a:rPr>
              <a:t>飘渺水云间 </a:t>
            </a:r>
            <a:r>
              <a:rPr kumimoji="1" lang="en-US" altLang="zh-CN" sz="1600">
                <a:solidFill>
                  <a:srgbClr val="FFFFFF"/>
                </a:solidFill>
                <a:latin typeface="Times New Roman" panose="02020603050405020304" pitchFamily="18" charset="0"/>
              </a:rPr>
              <a:t>(Sun May  4 14:51:41 2003), </a:t>
            </a:r>
            <a:r>
              <a:rPr kumimoji="1" lang="zh-CN" altLang="en-US" sz="1600">
                <a:solidFill>
                  <a:srgbClr val="FFFFFF"/>
                </a:solidFill>
                <a:latin typeface="Times New Roman" panose="02020603050405020304" pitchFamily="18" charset="0"/>
              </a:rPr>
              <a:t>转信 </a:t>
            </a:r>
          </a:p>
          <a:p>
            <a:pPr fontAlgn="base">
              <a:spcBef>
                <a:spcPct val="0"/>
              </a:spcBef>
              <a:spcAft>
                <a:spcPct val="0"/>
              </a:spcAft>
              <a:buClrTx/>
              <a:buSzTx/>
              <a:buNone/>
            </a:pPr>
            <a:endParaRPr kumimoji="1" lang="zh-CN" altLang="en-US" sz="1600">
              <a:solidFill>
                <a:srgbClr val="FFFFFF"/>
              </a:solidFill>
              <a:latin typeface="Times New Roman" panose="02020603050405020304" pitchFamily="18" charset="0"/>
            </a:endParaRP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模块就如同人的器官，具有特定的功能。人体中最出色的模块设计之一是手，手只有几种动作，却能做无限多的事情。人体中最糟糕的模块设计之一是嘴巴，嘴巴将最有价值但毫无相干的几种功能如吃饭、说话、亲吻混为一体，使之无法并行处理，真乃人类之不幸。 </a:t>
            </a:r>
          </a:p>
          <a:p>
            <a:pPr fontAlgn="base">
              <a:spcBef>
                <a:spcPct val="0"/>
              </a:spcBef>
              <a:spcAft>
                <a:spcPct val="0"/>
              </a:spcAft>
              <a:buClrTx/>
              <a:buSzTx/>
              <a:buNone/>
            </a:pPr>
            <a:endParaRPr kumimoji="1" lang="zh-CN" altLang="en-US" sz="1600">
              <a:solidFill>
                <a:srgbClr val="FFFFFF"/>
              </a:solidFill>
              <a:latin typeface="Times New Roman" panose="02020603050405020304" pitchFamily="18" charset="0"/>
            </a:endParaRPr>
          </a:p>
          <a:p>
            <a:pPr fontAlgn="base">
              <a:spcBef>
                <a:spcPct val="0"/>
              </a:spcBef>
              <a:spcAft>
                <a:spcPct val="0"/>
              </a:spcAft>
              <a:buClrTx/>
              <a:buSzTx/>
              <a:buNone/>
            </a:pPr>
            <a:r>
              <a:rPr kumimoji="1" lang="en-US" altLang="zh-CN" sz="1600">
                <a:solidFill>
                  <a:srgbClr val="FFFFFF"/>
                </a:solidFill>
                <a:latin typeface="Times New Roman" panose="02020603050405020304" pitchFamily="18" charset="0"/>
              </a:rPr>
              <a:t>--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昔我往 友 柳依依，今我来</a:t>
            </a:r>
            <a:r>
              <a:rPr kumimoji="1" lang="en-US" altLang="zh-CN" sz="1600">
                <a:solidFill>
                  <a:srgbClr val="FFFFFF"/>
                </a:solidFill>
                <a:latin typeface="Times New Roman" panose="02020603050405020304" pitchFamily="18" charset="0"/>
              </a:rPr>
              <a:t>?</a:t>
            </a:r>
            <a:r>
              <a:rPr kumimoji="1" lang="zh-CN" altLang="en-US" sz="1600">
                <a:solidFill>
                  <a:srgbClr val="FFFFFF"/>
                </a:solidFill>
                <a:latin typeface="Times New Roman" panose="02020603050405020304" pitchFamily="18" charset="0"/>
              </a:rPr>
              <a:t>，雨雪霏霏！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人微言轻，以其不争，故天下莫与之争？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树犹如此，人何以堪？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万古长空，一朝风月！ </a:t>
            </a:r>
          </a:p>
          <a:p>
            <a:pPr fontAlgn="base">
              <a:spcBef>
                <a:spcPct val="0"/>
              </a:spcBef>
              <a:spcAft>
                <a:spcPct val="0"/>
              </a:spcAft>
              <a:buClrTx/>
              <a:buSzTx/>
              <a:buNone/>
            </a:pPr>
            <a:r>
              <a:rPr kumimoji="1" lang="zh-CN" altLang="en-US" sz="1600">
                <a:solidFill>
                  <a:srgbClr val="FFFFFF"/>
                </a:solidFill>
                <a:latin typeface="Times New Roman" panose="02020603050405020304" pitchFamily="18" charset="0"/>
              </a:rPr>
              <a:t>  </a:t>
            </a:r>
          </a:p>
          <a:p>
            <a:pPr fontAlgn="base">
              <a:spcBef>
                <a:spcPct val="0"/>
              </a:spcBef>
              <a:spcAft>
                <a:spcPct val="0"/>
              </a:spcAft>
              <a:buClrTx/>
              <a:buSzTx/>
              <a:buNone/>
            </a:pPr>
            <a:r>
              <a:rPr kumimoji="1" lang="en-US" altLang="zh-CN" sz="1600">
                <a:solidFill>
                  <a:srgbClr val="0033CC"/>
                </a:solidFill>
                <a:latin typeface="Times New Roman" panose="02020603050405020304" pitchFamily="18" charset="0"/>
              </a:rPr>
              <a:t>※ </a:t>
            </a:r>
            <a:r>
              <a:rPr kumimoji="1" lang="zh-CN" altLang="en-US" sz="1600">
                <a:solidFill>
                  <a:srgbClr val="0033CC"/>
                </a:solidFill>
                <a:latin typeface="Times New Roman" panose="02020603050405020304" pitchFamily="18" charset="0"/>
              </a:rPr>
              <a:t>来源</a:t>
            </a:r>
            <a:r>
              <a:rPr kumimoji="1" lang="en-US" altLang="zh-CN" sz="1600">
                <a:solidFill>
                  <a:srgbClr val="0033CC"/>
                </a:solidFill>
                <a:latin typeface="Times New Roman" panose="02020603050405020304" pitchFamily="18" charset="0"/>
              </a:rPr>
              <a:t>:·</a:t>
            </a:r>
            <a:r>
              <a:rPr kumimoji="1" lang="zh-CN" altLang="en-US" sz="1600">
                <a:solidFill>
                  <a:srgbClr val="0033CC"/>
                </a:solidFill>
                <a:latin typeface="Times New Roman" panose="02020603050405020304" pitchFamily="18" charset="0"/>
              </a:rPr>
              <a:t>飘渺水云间 </a:t>
            </a:r>
            <a:r>
              <a:rPr kumimoji="1" lang="en-US" altLang="zh-CN" sz="1600">
                <a:solidFill>
                  <a:srgbClr val="0033CC"/>
                </a:solidFill>
                <a:latin typeface="Times New Roman" panose="02020603050405020304" pitchFamily="18" charset="0"/>
              </a:rPr>
              <a:t>Freecity.dhs.org·[FROM: liuyidaojian]</a:t>
            </a:r>
            <a:r>
              <a:rPr kumimoji="1" lang="en-US" altLang="zh-CN" sz="1600">
                <a:solidFill>
                  <a:srgbClr val="996600"/>
                </a:solidFill>
                <a:latin typeface="Times New Roman" panose="02020603050405020304" pitchFamily="18" charset="0"/>
              </a:rPr>
              <a:t> </a:t>
            </a:r>
          </a:p>
        </p:txBody>
      </p:sp>
      <p:sp>
        <p:nvSpPr>
          <p:cNvPr id="223" name="Rectangle 147">
            <a:extLst>
              <a:ext uri="{FF2B5EF4-FFF2-40B4-BE49-F238E27FC236}">
                <a16:creationId xmlns:a16="http://schemas.microsoft.com/office/drawing/2014/main" id="{818C87BC-92A7-EBFA-2AA9-C499BFBAC217}"/>
              </a:ext>
            </a:extLst>
          </p:cNvPr>
          <p:cNvSpPr>
            <a:spLocks noChangeArrowheads="1"/>
          </p:cNvSpPr>
          <p:nvPr/>
        </p:nvSpPr>
        <p:spPr bwMode="auto">
          <a:xfrm>
            <a:off x="2424114" y="1484314"/>
            <a:ext cx="7705725" cy="4321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grpSp>
        <p:nvGrpSpPr>
          <p:cNvPr id="3" name="Group 148">
            <a:extLst>
              <a:ext uri="{FF2B5EF4-FFF2-40B4-BE49-F238E27FC236}">
                <a16:creationId xmlns:a16="http://schemas.microsoft.com/office/drawing/2014/main" id="{53C3248C-51A4-F47C-8733-BD58D599B431}"/>
              </a:ext>
            </a:extLst>
          </p:cNvPr>
          <p:cNvGrpSpPr>
            <a:grpSpLocks/>
          </p:cNvGrpSpPr>
          <p:nvPr/>
        </p:nvGrpSpPr>
        <p:grpSpPr bwMode="auto">
          <a:xfrm>
            <a:off x="2640014" y="1773238"/>
            <a:ext cx="6562725" cy="3416300"/>
            <a:chOff x="1215" y="1667"/>
            <a:chExt cx="4134" cy="2152"/>
          </a:xfrm>
        </p:grpSpPr>
        <p:sp>
          <p:nvSpPr>
            <p:cNvPr id="113670" name="Rectangle 149">
              <a:extLst>
                <a:ext uri="{FF2B5EF4-FFF2-40B4-BE49-F238E27FC236}">
                  <a16:creationId xmlns:a16="http://schemas.microsoft.com/office/drawing/2014/main" id="{6D5EB862-7B60-B7F7-D9A2-0CCA8C84073A}"/>
                </a:ext>
              </a:extLst>
            </p:cNvPr>
            <p:cNvSpPr>
              <a:spLocks noChangeArrowheads="1"/>
            </p:cNvSpPr>
            <p:nvPr/>
          </p:nvSpPr>
          <p:spPr bwMode="auto">
            <a:xfrm>
              <a:off x="1359" y="3417"/>
              <a:ext cx="116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7" tIns="44450" rIns="90487" bIns="44450">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optimal number</a:t>
              </a:r>
            </a:p>
            <a:p>
              <a:pPr eaLnBrk="0" fontAlgn="base" hangingPunct="0">
                <a:spcBef>
                  <a:spcPct val="0"/>
                </a:spcBef>
                <a:spcAft>
                  <a:spcPct val="0"/>
                </a:spcAft>
                <a:buClrTx/>
                <a:buSzTx/>
                <a:buNone/>
              </a:pPr>
              <a:endParaRPr kumimoji="1" lang="en-US" altLang="zh-CN" sz="1800">
                <a:solidFill>
                  <a:srgbClr val="000000"/>
                </a:solidFill>
                <a:latin typeface="Comic Sans MS" panose="030F0702030302020204" pitchFamily="66" charset="0"/>
              </a:endParaRPr>
            </a:p>
          </p:txBody>
        </p:sp>
        <p:sp>
          <p:nvSpPr>
            <p:cNvPr id="226" name="Rectangle 150">
              <a:extLst>
                <a:ext uri="{FF2B5EF4-FFF2-40B4-BE49-F238E27FC236}">
                  <a16:creationId xmlns:a16="http://schemas.microsoft.com/office/drawing/2014/main" id="{688ACD3C-942D-D38B-F61F-4900F8C62F86}"/>
                </a:ext>
              </a:extLst>
            </p:cNvPr>
            <p:cNvSpPr>
              <a:spLocks noChangeArrowheads="1"/>
            </p:cNvSpPr>
            <p:nvPr/>
          </p:nvSpPr>
          <p:spPr bwMode="auto">
            <a:xfrm>
              <a:off x="1391" y="3552"/>
              <a:ext cx="983" cy="229"/>
            </a:xfrm>
            <a:prstGeom prst="rect">
              <a:avLst/>
            </a:prstGeom>
            <a:noFill/>
            <a:ln w="25400">
              <a:noFill/>
              <a:miter lim="800000"/>
              <a:headEnd/>
              <a:tailEnd/>
            </a:ln>
            <a:effectLst/>
          </p:spPr>
          <p:txBody>
            <a:bodyPr wrap="none" lIns="90487" tIns="44450" rIns="90487" bIns="44450">
              <a:spAutoFit/>
            </a:bodyPr>
            <a:lstStyle/>
            <a:p>
              <a:pPr eaLnBrk="0" fontAlgn="base" hangingPunct="0">
                <a:spcBef>
                  <a:spcPct val="0"/>
                </a:spcBef>
                <a:spcAft>
                  <a:spcPct val="0"/>
                </a:spcAft>
                <a:defRPr/>
              </a:pPr>
              <a:r>
                <a:rPr kumimoji="1" lang="en-US" altLang="zh-CN" b="1">
                  <a:solidFill>
                    <a:srgbClr val="FFFFFF"/>
                  </a:solidFill>
                  <a:effectLst>
                    <a:outerShdw blurRad="38100" dist="38100" dir="2700000" algn="tl">
                      <a:srgbClr val="C0C0C0"/>
                    </a:outerShdw>
                  </a:effectLst>
                  <a:latin typeface="Helvetica" charset="0"/>
                  <a:ea typeface="宋体" panose="02010600030101010101" pitchFamily="2" charset="-122"/>
                </a:rPr>
                <a:t>   </a:t>
              </a:r>
              <a:r>
                <a:rPr kumimoji="1" lang="en-US" altLang="zh-CN" b="1">
                  <a:solidFill>
                    <a:srgbClr val="000000"/>
                  </a:solidFill>
                  <a:latin typeface="Comic Sans MS" pitchFamily="66" charset="0"/>
                  <a:ea typeface="宋体" panose="02010600030101010101" pitchFamily="2" charset="-122"/>
                </a:rPr>
                <a:t>of modules</a:t>
              </a:r>
            </a:p>
          </p:txBody>
        </p:sp>
        <p:sp>
          <p:nvSpPr>
            <p:cNvPr id="113672" name="Rectangle 151">
              <a:extLst>
                <a:ext uri="{FF2B5EF4-FFF2-40B4-BE49-F238E27FC236}">
                  <a16:creationId xmlns:a16="http://schemas.microsoft.com/office/drawing/2014/main" id="{59CD0734-669E-AA7A-3E0A-B10234D4C3A1}"/>
                </a:ext>
              </a:extLst>
            </p:cNvPr>
            <p:cNvSpPr>
              <a:spLocks noChangeArrowheads="1"/>
            </p:cNvSpPr>
            <p:nvPr/>
          </p:nvSpPr>
          <p:spPr bwMode="auto">
            <a:xfrm>
              <a:off x="2112" y="2004"/>
              <a:ext cx="176" cy="1321"/>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3" name="Rectangle 152">
              <a:extLst>
                <a:ext uri="{FF2B5EF4-FFF2-40B4-BE49-F238E27FC236}">
                  <a16:creationId xmlns:a16="http://schemas.microsoft.com/office/drawing/2014/main" id="{D2D00934-8211-7F9F-2B19-436A13205337}"/>
                </a:ext>
              </a:extLst>
            </p:cNvPr>
            <p:cNvSpPr>
              <a:spLocks noChangeArrowheads="1"/>
            </p:cNvSpPr>
            <p:nvPr/>
          </p:nvSpPr>
          <p:spPr bwMode="auto">
            <a:xfrm>
              <a:off x="2104" y="1997"/>
              <a:ext cx="192" cy="133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4" name="Rectangle 153">
              <a:extLst>
                <a:ext uri="{FF2B5EF4-FFF2-40B4-BE49-F238E27FC236}">
                  <a16:creationId xmlns:a16="http://schemas.microsoft.com/office/drawing/2014/main" id="{A4F8B80E-3E57-C36B-1129-EF75816F001D}"/>
                </a:ext>
              </a:extLst>
            </p:cNvPr>
            <p:cNvSpPr>
              <a:spLocks noChangeArrowheads="1"/>
            </p:cNvSpPr>
            <p:nvPr/>
          </p:nvSpPr>
          <p:spPr bwMode="auto">
            <a:xfrm>
              <a:off x="2112" y="3348"/>
              <a:ext cx="176" cy="69"/>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5" name="Rectangle 154">
              <a:extLst>
                <a:ext uri="{FF2B5EF4-FFF2-40B4-BE49-F238E27FC236}">
                  <a16:creationId xmlns:a16="http://schemas.microsoft.com/office/drawing/2014/main" id="{D7A34E2A-7377-2DD8-39DC-4596DF6CE0F4}"/>
                </a:ext>
              </a:extLst>
            </p:cNvPr>
            <p:cNvSpPr>
              <a:spLocks noChangeArrowheads="1"/>
            </p:cNvSpPr>
            <p:nvPr/>
          </p:nvSpPr>
          <p:spPr bwMode="auto">
            <a:xfrm>
              <a:off x="2104" y="3341"/>
              <a:ext cx="192" cy="8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6" name="Rectangle 155">
              <a:extLst>
                <a:ext uri="{FF2B5EF4-FFF2-40B4-BE49-F238E27FC236}">
                  <a16:creationId xmlns:a16="http://schemas.microsoft.com/office/drawing/2014/main" id="{424FE56E-1644-C811-D929-B6256C03B687}"/>
                </a:ext>
              </a:extLst>
            </p:cNvPr>
            <p:cNvSpPr>
              <a:spLocks noChangeArrowheads="1"/>
            </p:cNvSpPr>
            <p:nvPr/>
          </p:nvSpPr>
          <p:spPr bwMode="auto">
            <a:xfrm>
              <a:off x="2312" y="3298"/>
              <a:ext cx="176" cy="119"/>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7" name="Rectangle 156">
              <a:extLst>
                <a:ext uri="{FF2B5EF4-FFF2-40B4-BE49-F238E27FC236}">
                  <a16:creationId xmlns:a16="http://schemas.microsoft.com/office/drawing/2014/main" id="{EDA3FC3B-8410-FDA0-F6F2-40ADF8889F6C}"/>
                </a:ext>
              </a:extLst>
            </p:cNvPr>
            <p:cNvSpPr>
              <a:spLocks noChangeArrowheads="1"/>
            </p:cNvSpPr>
            <p:nvPr/>
          </p:nvSpPr>
          <p:spPr bwMode="auto">
            <a:xfrm>
              <a:off x="2304" y="3291"/>
              <a:ext cx="192" cy="13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8" name="Rectangle 157">
              <a:extLst>
                <a:ext uri="{FF2B5EF4-FFF2-40B4-BE49-F238E27FC236}">
                  <a16:creationId xmlns:a16="http://schemas.microsoft.com/office/drawing/2014/main" id="{9C8444E6-E433-AA79-20D0-26291E89F329}"/>
                </a:ext>
              </a:extLst>
            </p:cNvPr>
            <p:cNvSpPr>
              <a:spLocks noChangeArrowheads="1"/>
            </p:cNvSpPr>
            <p:nvPr/>
          </p:nvSpPr>
          <p:spPr bwMode="auto">
            <a:xfrm>
              <a:off x="2312" y="2132"/>
              <a:ext cx="176" cy="1143"/>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79" name="Rectangle 158">
              <a:extLst>
                <a:ext uri="{FF2B5EF4-FFF2-40B4-BE49-F238E27FC236}">
                  <a16:creationId xmlns:a16="http://schemas.microsoft.com/office/drawing/2014/main" id="{E9EA7FA3-5B2B-E0B9-0397-ADEB37D79C28}"/>
                </a:ext>
              </a:extLst>
            </p:cNvPr>
            <p:cNvSpPr>
              <a:spLocks noChangeArrowheads="1"/>
            </p:cNvSpPr>
            <p:nvPr/>
          </p:nvSpPr>
          <p:spPr bwMode="auto">
            <a:xfrm>
              <a:off x="2304" y="2125"/>
              <a:ext cx="192" cy="115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0" name="Rectangle 159">
              <a:extLst>
                <a:ext uri="{FF2B5EF4-FFF2-40B4-BE49-F238E27FC236}">
                  <a16:creationId xmlns:a16="http://schemas.microsoft.com/office/drawing/2014/main" id="{B97EEEEF-BFAD-1787-000C-319F01928B98}"/>
                </a:ext>
              </a:extLst>
            </p:cNvPr>
            <p:cNvSpPr>
              <a:spLocks noChangeArrowheads="1"/>
            </p:cNvSpPr>
            <p:nvPr/>
          </p:nvSpPr>
          <p:spPr bwMode="auto">
            <a:xfrm>
              <a:off x="2512" y="3234"/>
              <a:ext cx="176" cy="183"/>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1" name="Rectangle 160">
              <a:extLst>
                <a:ext uri="{FF2B5EF4-FFF2-40B4-BE49-F238E27FC236}">
                  <a16:creationId xmlns:a16="http://schemas.microsoft.com/office/drawing/2014/main" id="{8C42BE69-03FF-56AC-623E-8E343AB3C044}"/>
                </a:ext>
              </a:extLst>
            </p:cNvPr>
            <p:cNvSpPr>
              <a:spLocks noChangeArrowheads="1"/>
            </p:cNvSpPr>
            <p:nvPr/>
          </p:nvSpPr>
          <p:spPr bwMode="auto">
            <a:xfrm>
              <a:off x="2504" y="3227"/>
              <a:ext cx="192" cy="19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2" name="Rectangle 161">
              <a:extLst>
                <a:ext uri="{FF2B5EF4-FFF2-40B4-BE49-F238E27FC236}">
                  <a16:creationId xmlns:a16="http://schemas.microsoft.com/office/drawing/2014/main" id="{F9170528-86E3-27AC-035A-6033EC8D3530}"/>
                </a:ext>
              </a:extLst>
            </p:cNvPr>
            <p:cNvSpPr>
              <a:spLocks noChangeArrowheads="1"/>
            </p:cNvSpPr>
            <p:nvPr/>
          </p:nvSpPr>
          <p:spPr bwMode="auto">
            <a:xfrm>
              <a:off x="2512" y="2239"/>
              <a:ext cx="176" cy="972"/>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3" name="Rectangle 162">
              <a:extLst>
                <a:ext uri="{FF2B5EF4-FFF2-40B4-BE49-F238E27FC236}">
                  <a16:creationId xmlns:a16="http://schemas.microsoft.com/office/drawing/2014/main" id="{76FBE941-3E5C-270F-464A-412CD3885C00}"/>
                </a:ext>
              </a:extLst>
            </p:cNvPr>
            <p:cNvSpPr>
              <a:spLocks noChangeArrowheads="1"/>
            </p:cNvSpPr>
            <p:nvPr/>
          </p:nvSpPr>
          <p:spPr bwMode="auto">
            <a:xfrm>
              <a:off x="2504" y="2231"/>
              <a:ext cx="192" cy="98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4" name="Rectangle 163">
              <a:extLst>
                <a:ext uri="{FF2B5EF4-FFF2-40B4-BE49-F238E27FC236}">
                  <a16:creationId xmlns:a16="http://schemas.microsoft.com/office/drawing/2014/main" id="{0A2C34B4-20A5-FB6E-AFA0-F3F9C9D05057}"/>
                </a:ext>
              </a:extLst>
            </p:cNvPr>
            <p:cNvSpPr>
              <a:spLocks noChangeArrowheads="1"/>
            </p:cNvSpPr>
            <p:nvPr/>
          </p:nvSpPr>
          <p:spPr bwMode="auto">
            <a:xfrm>
              <a:off x="2712" y="3170"/>
              <a:ext cx="168" cy="247"/>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5" name="Rectangle 164">
              <a:extLst>
                <a:ext uri="{FF2B5EF4-FFF2-40B4-BE49-F238E27FC236}">
                  <a16:creationId xmlns:a16="http://schemas.microsoft.com/office/drawing/2014/main" id="{E24365B0-C833-1180-78DD-4F716A8E7E08}"/>
                </a:ext>
              </a:extLst>
            </p:cNvPr>
            <p:cNvSpPr>
              <a:spLocks noChangeArrowheads="1"/>
            </p:cNvSpPr>
            <p:nvPr/>
          </p:nvSpPr>
          <p:spPr bwMode="auto">
            <a:xfrm>
              <a:off x="2704" y="3163"/>
              <a:ext cx="184" cy="26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6" name="Rectangle 165">
              <a:extLst>
                <a:ext uri="{FF2B5EF4-FFF2-40B4-BE49-F238E27FC236}">
                  <a16:creationId xmlns:a16="http://schemas.microsoft.com/office/drawing/2014/main" id="{23CA759F-60E7-9D95-454A-0463F1B11C9B}"/>
                </a:ext>
              </a:extLst>
            </p:cNvPr>
            <p:cNvSpPr>
              <a:spLocks noChangeArrowheads="1"/>
            </p:cNvSpPr>
            <p:nvPr/>
          </p:nvSpPr>
          <p:spPr bwMode="auto">
            <a:xfrm>
              <a:off x="2712" y="2338"/>
              <a:ext cx="168" cy="809"/>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7" name="Rectangle 166">
              <a:extLst>
                <a:ext uri="{FF2B5EF4-FFF2-40B4-BE49-F238E27FC236}">
                  <a16:creationId xmlns:a16="http://schemas.microsoft.com/office/drawing/2014/main" id="{F4066696-0B80-9B92-600A-8C9E19869876}"/>
                </a:ext>
              </a:extLst>
            </p:cNvPr>
            <p:cNvSpPr>
              <a:spLocks noChangeArrowheads="1"/>
            </p:cNvSpPr>
            <p:nvPr/>
          </p:nvSpPr>
          <p:spPr bwMode="auto">
            <a:xfrm>
              <a:off x="2704" y="2331"/>
              <a:ext cx="184" cy="82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8" name="Rectangle 167">
              <a:extLst>
                <a:ext uri="{FF2B5EF4-FFF2-40B4-BE49-F238E27FC236}">
                  <a16:creationId xmlns:a16="http://schemas.microsoft.com/office/drawing/2014/main" id="{4CF256FD-7535-E948-7BA0-6FA17A860B72}"/>
                </a:ext>
              </a:extLst>
            </p:cNvPr>
            <p:cNvSpPr>
              <a:spLocks noChangeArrowheads="1"/>
            </p:cNvSpPr>
            <p:nvPr/>
          </p:nvSpPr>
          <p:spPr bwMode="auto">
            <a:xfrm>
              <a:off x="2904" y="3106"/>
              <a:ext cx="176" cy="311"/>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89" name="Rectangle 168">
              <a:extLst>
                <a:ext uri="{FF2B5EF4-FFF2-40B4-BE49-F238E27FC236}">
                  <a16:creationId xmlns:a16="http://schemas.microsoft.com/office/drawing/2014/main" id="{4BA89B0A-8996-D118-642B-58FF11A47274}"/>
                </a:ext>
              </a:extLst>
            </p:cNvPr>
            <p:cNvSpPr>
              <a:spLocks noChangeArrowheads="1"/>
            </p:cNvSpPr>
            <p:nvPr/>
          </p:nvSpPr>
          <p:spPr bwMode="auto">
            <a:xfrm>
              <a:off x="2896" y="3099"/>
              <a:ext cx="192" cy="32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0" name="Rectangle 169">
              <a:extLst>
                <a:ext uri="{FF2B5EF4-FFF2-40B4-BE49-F238E27FC236}">
                  <a16:creationId xmlns:a16="http://schemas.microsoft.com/office/drawing/2014/main" id="{1FE2A79B-A26D-CECE-3DA3-244F9A2E2819}"/>
                </a:ext>
              </a:extLst>
            </p:cNvPr>
            <p:cNvSpPr>
              <a:spLocks noChangeArrowheads="1"/>
            </p:cNvSpPr>
            <p:nvPr/>
          </p:nvSpPr>
          <p:spPr bwMode="auto">
            <a:xfrm>
              <a:off x="2904" y="2416"/>
              <a:ext cx="176" cy="667"/>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1" name="Rectangle 170">
              <a:extLst>
                <a:ext uri="{FF2B5EF4-FFF2-40B4-BE49-F238E27FC236}">
                  <a16:creationId xmlns:a16="http://schemas.microsoft.com/office/drawing/2014/main" id="{5B1D82E4-0BFF-08B3-C28C-87F525917A8A}"/>
                </a:ext>
              </a:extLst>
            </p:cNvPr>
            <p:cNvSpPr>
              <a:spLocks noChangeArrowheads="1"/>
            </p:cNvSpPr>
            <p:nvPr/>
          </p:nvSpPr>
          <p:spPr bwMode="auto">
            <a:xfrm>
              <a:off x="2896" y="2409"/>
              <a:ext cx="192" cy="68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2" name="Rectangle 171">
              <a:extLst>
                <a:ext uri="{FF2B5EF4-FFF2-40B4-BE49-F238E27FC236}">
                  <a16:creationId xmlns:a16="http://schemas.microsoft.com/office/drawing/2014/main" id="{110AD433-CB6B-91D9-09B0-0195B67D613D}"/>
                </a:ext>
              </a:extLst>
            </p:cNvPr>
            <p:cNvSpPr>
              <a:spLocks noChangeArrowheads="1"/>
            </p:cNvSpPr>
            <p:nvPr/>
          </p:nvSpPr>
          <p:spPr bwMode="auto">
            <a:xfrm>
              <a:off x="3104" y="3028"/>
              <a:ext cx="176" cy="389"/>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3" name="Rectangle 172">
              <a:extLst>
                <a:ext uri="{FF2B5EF4-FFF2-40B4-BE49-F238E27FC236}">
                  <a16:creationId xmlns:a16="http://schemas.microsoft.com/office/drawing/2014/main" id="{BACE554A-5642-4FFC-E352-11C8E13440A3}"/>
                </a:ext>
              </a:extLst>
            </p:cNvPr>
            <p:cNvSpPr>
              <a:spLocks noChangeArrowheads="1"/>
            </p:cNvSpPr>
            <p:nvPr/>
          </p:nvSpPr>
          <p:spPr bwMode="auto">
            <a:xfrm>
              <a:off x="3096" y="3021"/>
              <a:ext cx="192" cy="40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4" name="Rectangle 173">
              <a:extLst>
                <a:ext uri="{FF2B5EF4-FFF2-40B4-BE49-F238E27FC236}">
                  <a16:creationId xmlns:a16="http://schemas.microsoft.com/office/drawing/2014/main" id="{683692D3-F642-789A-7562-6CF99EE17AB1}"/>
                </a:ext>
              </a:extLst>
            </p:cNvPr>
            <p:cNvSpPr>
              <a:spLocks noChangeArrowheads="1"/>
            </p:cNvSpPr>
            <p:nvPr/>
          </p:nvSpPr>
          <p:spPr bwMode="auto">
            <a:xfrm>
              <a:off x="3104" y="2516"/>
              <a:ext cx="176" cy="482"/>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5" name="Rectangle 174">
              <a:extLst>
                <a:ext uri="{FF2B5EF4-FFF2-40B4-BE49-F238E27FC236}">
                  <a16:creationId xmlns:a16="http://schemas.microsoft.com/office/drawing/2014/main" id="{21CA5116-A3C6-20CB-8972-670C50207136}"/>
                </a:ext>
              </a:extLst>
            </p:cNvPr>
            <p:cNvSpPr>
              <a:spLocks noChangeArrowheads="1"/>
            </p:cNvSpPr>
            <p:nvPr/>
          </p:nvSpPr>
          <p:spPr bwMode="auto">
            <a:xfrm>
              <a:off x="3096" y="2509"/>
              <a:ext cx="192" cy="49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6" name="Rectangle 175">
              <a:extLst>
                <a:ext uri="{FF2B5EF4-FFF2-40B4-BE49-F238E27FC236}">
                  <a16:creationId xmlns:a16="http://schemas.microsoft.com/office/drawing/2014/main" id="{071038C6-540C-19AF-D7D1-09671756C01F}"/>
                </a:ext>
              </a:extLst>
            </p:cNvPr>
            <p:cNvSpPr>
              <a:spLocks noChangeArrowheads="1"/>
            </p:cNvSpPr>
            <p:nvPr/>
          </p:nvSpPr>
          <p:spPr bwMode="auto">
            <a:xfrm>
              <a:off x="3304" y="3028"/>
              <a:ext cx="176" cy="389"/>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7" name="Rectangle 176">
              <a:extLst>
                <a:ext uri="{FF2B5EF4-FFF2-40B4-BE49-F238E27FC236}">
                  <a16:creationId xmlns:a16="http://schemas.microsoft.com/office/drawing/2014/main" id="{D9B76353-AF18-114C-5E3C-E04990F3587C}"/>
                </a:ext>
              </a:extLst>
            </p:cNvPr>
            <p:cNvSpPr>
              <a:spLocks noChangeArrowheads="1"/>
            </p:cNvSpPr>
            <p:nvPr/>
          </p:nvSpPr>
          <p:spPr bwMode="auto">
            <a:xfrm>
              <a:off x="3296" y="3021"/>
              <a:ext cx="192" cy="40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8" name="Rectangle 177">
              <a:extLst>
                <a:ext uri="{FF2B5EF4-FFF2-40B4-BE49-F238E27FC236}">
                  <a16:creationId xmlns:a16="http://schemas.microsoft.com/office/drawing/2014/main" id="{0F59C360-3C11-628D-29A8-91C6ACECED67}"/>
                </a:ext>
              </a:extLst>
            </p:cNvPr>
            <p:cNvSpPr>
              <a:spLocks noChangeArrowheads="1"/>
            </p:cNvSpPr>
            <p:nvPr/>
          </p:nvSpPr>
          <p:spPr bwMode="auto">
            <a:xfrm>
              <a:off x="3304" y="2516"/>
              <a:ext cx="176" cy="482"/>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699" name="Rectangle 178">
              <a:extLst>
                <a:ext uri="{FF2B5EF4-FFF2-40B4-BE49-F238E27FC236}">
                  <a16:creationId xmlns:a16="http://schemas.microsoft.com/office/drawing/2014/main" id="{CFEE3217-75BA-5C07-46AC-1E31CA8B1642}"/>
                </a:ext>
              </a:extLst>
            </p:cNvPr>
            <p:cNvSpPr>
              <a:spLocks noChangeArrowheads="1"/>
            </p:cNvSpPr>
            <p:nvPr/>
          </p:nvSpPr>
          <p:spPr bwMode="auto">
            <a:xfrm>
              <a:off x="3296" y="2509"/>
              <a:ext cx="192" cy="49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0" name="Rectangle 179">
              <a:extLst>
                <a:ext uri="{FF2B5EF4-FFF2-40B4-BE49-F238E27FC236}">
                  <a16:creationId xmlns:a16="http://schemas.microsoft.com/office/drawing/2014/main" id="{D4C6C2F7-22D3-6BE3-E926-2CE66ED83E4C}"/>
                </a:ext>
              </a:extLst>
            </p:cNvPr>
            <p:cNvSpPr>
              <a:spLocks noChangeArrowheads="1"/>
            </p:cNvSpPr>
            <p:nvPr/>
          </p:nvSpPr>
          <p:spPr bwMode="auto">
            <a:xfrm>
              <a:off x="3504" y="2914"/>
              <a:ext cx="168" cy="503"/>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1" name="Rectangle 180">
              <a:extLst>
                <a:ext uri="{FF2B5EF4-FFF2-40B4-BE49-F238E27FC236}">
                  <a16:creationId xmlns:a16="http://schemas.microsoft.com/office/drawing/2014/main" id="{0610C9FC-D721-DDEB-C9C9-528C1D80033B}"/>
                </a:ext>
              </a:extLst>
            </p:cNvPr>
            <p:cNvSpPr>
              <a:spLocks noChangeArrowheads="1"/>
            </p:cNvSpPr>
            <p:nvPr/>
          </p:nvSpPr>
          <p:spPr bwMode="auto">
            <a:xfrm>
              <a:off x="3496" y="2907"/>
              <a:ext cx="184" cy="51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2" name="Rectangle 181">
              <a:extLst>
                <a:ext uri="{FF2B5EF4-FFF2-40B4-BE49-F238E27FC236}">
                  <a16:creationId xmlns:a16="http://schemas.microsoft.com/office/drawing/2014/main" id="{339F661F-49E2-C560-CD01-22DD59917F4B}"/>
                </a:ext>
              </a:extLst>
            </p:cNvPr>
            <p:cNvSpPr>
              <a:spLocks noChangeArrowheads="1"/>
            </p:cNvSpPr>
            <p:nvPr/>
          </p:nvSpPr>
          <p:spPr bwMode="auto">
            <a:xfrm>
              <a:off x="3504" y="2416"/>
              <a:ext cx="168" cy="475"/>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3" name="Rectangle 182">
              <a:extLst>
                <a:ext uri="{FF2B5EF4-FFF2-40B4-BE49-F238E27FC236}">
                  <a16:creationId xmlns:a16="http://schemas.microsoft.com/office/drawing/2014/main" id="{16AB926B-45BE-9F95-F908-EC71D7EFBB0D}"/>
                </a:ext>
              </a:extLst>
            </p:cNvPr>
            <p:cNvSpPr>
              <a:spLocks noChangeArrowheads="1"/>
            </p:cNvSpPr>
            <p:nvPr/>
          </p:nvSpPr>
          <p:spPr bwMode="auto">
            <a:xfrm>
              <a:off x="3496" y="2409"/>
              <a:ext cx="184" cy="48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4" name="Rectangle 183">
              <a:extLst>
                <a:ext uri="{FF2B5EF4-FFF2-40B4-BE49-F238E27FC236}">
                  <a16:creationId xmlns:a16="http://schemas.microsoft.com/office/drawing/2014/main" id="{3FAD97ED-0DB3-3E82-264B-69A164A17DD1}"/>
                </a:ext>
              </a:extLst>
            </p:cNvPr>
            <p:cNvSpPr>
              <a:spLocks noChangeArrowheads="1"/>
            </p:cNvSpPr>
            <p:nvPr/>
          </p:nvSpPr>
          <p:spPr bwMode="auto">
            <a:xfrm>
              <a:off x="3696" y="2800"/>
              <a:ext cx="176" cy="617"/>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5" name="Rectangle 184">
              <a:extLst>
                <a:ext uri="{FF2B5EF4-FFF2-40B4-BE49-F238E27FC236}">
                  <a16:creationId xmlns:a16="http://schemas.microsoft.com/office/drawing/2014/main" id="{2AF28064-E313-8B85-D7D0-C9703D6A9755}"/>
                </a:ext>
              </a:extLst>
            </p:cNvPr>
            <p:cNvSpPr>
              <a:spLocks noChangeArrowheads="1"/>
            </p:cNvSpPr>
            <p:nvPr/>
          </p:nvSpPr>
          <p:spPr bwMode="auto">
            <a:xfrm>
              <a:off x="3688" y="2793"/>
              <a:ext cx="192" cy="63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6" name="Rectangle 185">
              <a:extLst>
                <a:ext uri="{FF2B5EF4-FFF2-40B4-BE49-F238E27FC236}">
                  <a16:creationId xmlns:a16="http://schemas.microsoft.com/office/drawing/2014/main" id="{FE087FE6-C65E-9E9A-BA6B-45C3E81E141A}"/>
                </a:ext>
              </a:extLst>
            </p:cNvPr>
            <p:cNvSpPr>
              <a:spLocks noChangeArrowheads="1"/>
            </p:cNvSpPr>
            <p:nvPr/>
          </p:nvSpPr>
          <p:spPr bwMode="auto">
            <a:xfrm>
              <a:off x="3696" y="2338"/>
              <a:ext cx="176" cy="453"/>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7" name="Rectangle 186">
              <a:extLst>
                <a:ext uri="{FF2B5EF4-FFF2-40B4-BE49-F238E27FC236}">
                  <a16:creationId xmlns:a16="http://schemas.microsoft.com/office/drawing/2014/main" id="{AD28BE5E-AA6A-F936-98F9-FFA1C0301FD6}"/>
                </a:ext>
              </a:extLst>
            </p:cNvPr>
            <p:cNvSpPr>
              <a:spLocks noChangeArrowheads="1"/>
            </p:cNvSpPr>
            <p:nvPr/>
          </p:nvSpPr>
          <p:spPr bwMode="auto">
            <a:xfrm>
              <a:off x="3688" y="2331"/>
              <a:ext cx="192" cy="46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8" name="Rectangle 187">
              <a:extLst>
                <a:ext uri="{FF2B5EF4-FFF2-40B4-BE49-F238E27FC236}">
                  <a16:creationId xmlns:a16="http://schemas.microsoft.com/office/drawing/2014/main" id="{0666ADA2-0D5D-AC78-15F6-A825D55A17CA}"/>
                </a:ext>
              </a:extLst>
            </p:cNvPr>
            <p:cNvSpPr>
              <a:spLocks noChangeArrowheads="1"/>
            </p:cNvSpPr>
            <p:nvPr/>
          </p:nvSpPr>
          <p:spPr bwMode="auto">
            <a:xfrm>
              <a:off x="3896" y="2722"/>
              <a:ext cx="176" cy="695"/>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09" name="Rectangle 188">
              <a:extLst>
                <a:ext uri="{FF2B5EF4-FFF2-40B4-BE49-F238E27FC236}">
                  <a16:creationId xmlns:a16="http://schemas.microsoft.com/office/drawing/2014/main" id="{C531DF90-FA3C-BADC-833A-B6F400A89F03}"/>
                </a:ext>
              </a:extLst>
            </p:cNvPr>
            <p:cNvSpPr>
              <a:spLocks noChangeArrowheads="1"/>
            </p:cNvSpPr>
            <p:nvPr/>
          </p:nvSpPr>
          <p:spPr bwMode="auto">
            <a:xfrm>
              <a:off x="3888" y="2715"/>
              <a:ext cx="192" cy="70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0" name="Rectangle 189">
              <a:extLst>
                <a:ext uri="{FF2B5EF4-FFF2-40B4-BE49-F238E27FC236}">
                  <a16:creationId xmlns:a16="http://schemas.microsoft.com/office/drawing/2014/main" id="{23CC4DDA-28AD-96CF-2D75-034AA3CED1CD}"/>
                </a:ext>
              </a:extLst>
            </p:cNvPr>
            <p:cNvSpPr>
              <a:spLocks noChangeArrowheads="1"/>
            </p:cNvSpPr>
            <p:nvPr/>
          </p:nvSpPr>
          <p:spPr bwMode="auto">
            <a:xfrm>
              <a:off x="3896" y="2239"/>
              <a:ext cx="176" cy="460"/>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1" name="Rectangle 190">
              <a:extLst>
                <a:ext uri="{FF2B5EF4-FFF2-40B4-BE49-F238E27FC236}">
                  <a16:creationId xmlns:a16="http://schemas.microsoft.com/office/drawing/2014/main" id="{9476EAA0-6AEB-F183-387E-B811D9F27521}"/>
                </a:ext>
              </a:extLst>
            </p:cNvPr>
            <p:cNvSpPr>
              <a:spLocks noChangeArrowheads="1"/>
            </p:cNvSpPr>
            <p:nvPr/>
          </p:nvSpPr>
          <p:spPr bwMode="auto">
            <a:xfrm>
              <a:off x="3888" y="2231"/>
              <a:ext cx="192" cy="4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2" name="Rectangle 191">
              <a:extLst>
                <a:ext uri="{FF2B5EF4-FFF2-40B4-BE49-F238E27FC236}">
                  <a16:creationId xmlns:a16="http://schemas.microsoft.com/office/drawing/2014/main" id="{9C30E5D7-7BCB-A314-3966-3D3DA2A82C4F}"/>
                </a:ext>
              </a:extLst>
            </p:cNvPr>
            <p:cNvSpPr>
              <a:spLocks noChangeArrowheads="1"/>
            </p:cNvSpPr>
            <p:nvPr/>
          </p:nvSpPr>
          <p:spPr bwMode="auto">
            <a:xfrm>
              <a:off x="4096" y="2594"/>
              <a:ext cx="176" cy="823"/>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3" name="Rectangle 192">
              <a:extLst>
                <a:ext uri="{FF2B5EF4-FFF2-40B4-BE49-F238E27FC236}">
                  <a16:creationId xmlns:a16="http://schemas.microsoft.com/office/drawing/2014/main" id="{BD680041-141E-7DF1-93AA-CA639E71DDD2}"/>
                </a:ext>
              </a:extLst>
            </p:cNvPr>
            <p:cNvSpPr>
              <a:spLocks noChangeArrowheads="1"/>
            </p:cNvSpPr>
            <p:nvPr/>
          </p:nvSpPr>
          <p:spPr bwMode="auto">
            <a:xfrm>
              <a:off x="4088" y="2587"/>
              <a:ext cx="192" cy="83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4" name="Rectangle 193">
              <a:extLst>
                <a:ext uri="{FF2B5EF4-FFF2-40B4-BE49-F238E27FC236}">
                  <a16:creationId xmlns:a16="http://schemas.microsoft.com/office/drawing/2014/main" id="{DAF315D3-93E8-891C-40FA-9A154EE2E680}"/>
                </a:ext>
              </a:extLst>
            </p:cNvPr>
            <p:cNvSpPr>
              <a:spLocks noChangeArrowheads="1"/>
            </p:cNvSpPr>
            <p:nvPr/>
          </p:nvSpPr>
          <p:spPr bwMode="auto">
            <a:xfrm>
              <a:off x="4096" y="2132"/>
              <a:ext cx="176" cy="439"/>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5" name="Rectangle 194">
              <a:extLst>
                <a:ext uri="{FF2B5EF4-FFF2-40B4-BE49-F238E27FC236}">
                  <a16:creationId xmlns:a16="http://schemas.microsoft.com/office/drawing/2014/main" id="{28A31113-2A1F-A31C-E77F-BDCBB37E6764}"/>
                </a:ext>
              </a:extLst>
            </p:cNvPr>
            <p:cNvSpPr>
              <a:spLocks noChangeArrowheads="1"/>
            </p:cNvSpPr>
            <p:nvPr/>
          </p:nvSpPr>
          <p:spPr bwMode="auto">
            <a:xfrm>
              <a:off x="4088" y="2125"/>
              <a:ext cx="192" cy="45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6" name="Rectangle 195">
              <a:extLst>
                <a:ext uri="{FF2B5EF4-FFF2-40B4-BE49-F238E27FC236}">
                  <a16:creationId xmlns:a16="http://schemas.microsoft.com/office/drawing/2014/main" id="{04BDF807-EFBC-B463-A262-557EF2A25002}"/>
                </a:ext>
              </a:extLst>
            </p:cNvPr>
            <p:cNvSpPr>
              <a:spLocks noChangeArrowheads="1"/>
            </p:cNvSpPr>
            <p:nvPr/>
          </p:nvSpPr>
          <p:spPr bwMode="auto">
            <a:xfrm>
              <a:off x="4296" y="2004"/>
              <a:ext cx="168" cy="339"/>
            </a:xfrm>
            <a:prstGeom prst="rect">
              <a:avLst/>
            </a:prstGeom>
            <a:solidFill>
              <a:schemeClr val="accent2"/>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7" name="Rectangle 196">
              <a:extLst>
                <a:ext uri="{FF2B5EF4-FFF2-40B4-BE49-F238E27FC236}">
                  <a16:creationId xmlns:a16="http://schemas.microsoft.com/office/drawing/2014/main" id="{6F75DBBB-1F2A-2F0F-DB0E-AA1A886FDF00}"/>
                </a:ext>
              </a:extLst>
            </p:cNvPr>
            <p:cNvSpPr>
              <a:spLocks noChangeArrowheads="1"/>
            </p:cNvSpPr>
            <p:nvPr/>
          </p:nvSpPr>
          <p:spPr bwMode="auto">
            <a:xfrm>
              <a:off x="4288" y="1997"/>
              <a:ext cx="184" cy="35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8" name="Rectangle 197">
              <a:extLst>
                <a:ext uri="{FF2B5EF4-FFF2-40B4-BE49-F238E27FC236}">
                  <a16:creationId xmlns:a16="http://schemas.microsoft.com/office/drawing/2014/main" id="{8C77D94A-51CD-8CBA-DF19-5603CF97E965}"/>
                </a:ext>
              </a:extLst>
            </p:cNvPr>
            <p:cNvSpPr>
              <a:spLocks noChangeArrowheads="1"/>
            </p:cNvSpPr>
            <p:nvPr/>
          </p:nvSpPr>
          <p:spPr bwMode="auto">
            <a:xfrm>
              <a:off x="4296" y="2367"/>
              <a:ext cx="168" cy="1050"/>
            </a:xfrm>
            <a:prstGeom prst="rect">
              <a:avLst/>
            </a:prstGeom>
            <a:solidFill>
              <a:srgbClr val="F76681"/>
            </a:solidFill>
            <a:ln w="25400">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3719" name="Rectangle 198">
              <a:extLst>
                <a:ext uri="{FF2B5EF4-FFF2-40B4-BE49-F238E27FC236}">
                  <a16:creationId xmlns:a16="http://schemas.microsoft.com/office/drawing/2014/main" id="{57A5EFA1-D1DE-810F-CD8A-9644E8C296BC}"/>
                </a:ext>
              </a:extLst>
            </p:cNvPr>
            <p:cNvSpPr>
              <a:spLocks noChangeArrowheads="1"/>
            </p:cNvSpPr>
            <p:nvPr/>
          </p:nvSpPr>
          <p:spPr bwMode="auto">
            <a:xfrm>
              <a:off x="4288" y="2359"/>
              <a:ext cx="184" cy="106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275" name="Rectangle 199">
              <a:extLst>
                <a:ext uri="{FF2B5EF4-FFF2-40B4-BE49-F238E27FC236}">
                  <a16:creationId xmlns:a16="http://schemas.microsoft.com/office/drawing/2014/main" id="{E073B936-EBD5-2831-6F42-6B61AD9A0C8C}"/>
                </a:ext>
              </a:extLst>
            </p:cNvPr>
            <p:cNvSpPr>
              <a:spLocks noChangeArrowheads="1"/>
            </p:cNvSpPr>
            <p:nvPr/>
          </p:nvSpPr>
          <p:spPr bwMode="auto">
            <a:xfrm>
              <a:off x="1215" y="1945"/>
              <a:ext cx="853" cy="402"/>
            </a:xfrm>
            <a:prstGeom prst="rect">
              <a:avLst/>
            </a:prstGeom>
            <a:noFill/>
            <a:ln w="25400">
              <a:noFill/>
              <a:miter lim="800000"/>
              <a:headEnd/>
              <a:tailEnd/>
            </a:ln>
            <a:effectLst/>
          </p:spPr>
          <p:txBody>
            <a:bodyPr wrap="none" lIns="90487" tIns="44450" rIns="90487" bIns="44450">
              <a:spAutoFit/>
            </a:bodyPr>
            <a:lstStyle/>
            <a:p>
              <a:pPr eaLnBrk="0" fontAlgn="base" hangingPunct="0">
                <a:spcBef>
                  <a:spcPct val="0"/>
                </a:spcBef>
                <a:spcAft>
                  <a:spcPct val="0"/>
                </a:spcAft>
                <a:defRPr/>
              </a:pPr>
              <a:r>
                <a:rPr kumimoji="1" lang="en-US" altLang="zh-CN" b="1" dirty="0">
                  <a:solidFill>
                    <a:srgbClr val="FFFFFF"/>
                  </a:solidFill>
                  <a:effectLst>
                    <a:outerShdw blurRad="38100" dist="38100" dir="2700000" algn="tl">
                      <a:srgbClr val="C0C0C0"/>
                    </a:outerShdw>
                  </a:effectLst>
                  <a:latin typeface="Helvetica" charset="0"/>
                  <a:ea typeface="宋体" panose="02010600030101010101" pitchFamily="2" charset="-122"/>
                </a:rPr>
                <a:t>      </a:t>
              </a:r>
              <a:r>
                <a:rPr kumimoji="1" lang="en-US" altLang="zh-CN" b="1" dirty="0">
                  <a:solidFill>
                    <a:srgbClr val="000000"/>
                  </a:solidFill>
                  <a:latin typeface="Comic Sans MS" pitchFamily="66" charset="0"/>
                  <a:ea typeface="宋体" panose="02010600030101010101" pitchFamily="2" charset="-122"/>
                </a:rPr>
                <a:t>cost of</a:t>
              </a:r>
            </a:p>
            <a:p>
              <a:pPr eaLnBrk="0" fontAlgn="base" hangingPunct="0">
                <a:spcBef>
                  <a:spcPct val="0"/>
                </a:spcBef>
                <a:spcAft>
                  <a:spcPct val="0"/>
                </a:spcAft>
                <a:defRPr/>
              </a:pPr>
              <a:endParaRPr kumimoji="1" lang="en-US" altLang="zh-CN" b="1" dirty="0">
                <a:solidFill>
                  <a:srgbClr val="000000"/>
                </a:solidFill>
                <a:latin typeface="Comic Sans MS" pitchFamily="66" charset="0"/>
                <a:ea typeface="宋体" panose="02010600030101010101" pitchFamily="2" charset="-122"/>
              </a:endParaRPr>
            </a:p>
          </p:txBody>
        </p:sp>
        <p:sp>
          <p:nvSpPr>
            <p:cNvPr id="276" name="Rectangle 200">
              <a:extLst>
                <a:ext uri="{FF2B5EF4-FFF2-40B4-BE49-F238E27FC236}">
                  <a16:creationId xmlns:a16="http://schemas.microsoft.com/office/drawing/2014/main" id="{AA2FBAE7-928D-E0A1-01A0-C2E48882EDFD}"/>
                </a:ext>
              </a:extLst>
            </p:cNvPr>
            <p:cNvSpPr>
              <a:spLocks noChangeArrowheads="1"/>
            </p:cNvSpPr>
            <p:nvPr/>
          </p:nvSpPr>
          <p:spPr bwMode="auto">
            <a:xfrm>
              <a:off x="1215" y="2073"/>
              <a:ext cx="890" cy="402"/>
            </a:xfrm>
            <a:prstGeom prst="rect">
              <a:avLst/>
            </a:prstGeom>
            <a:noFill/>
            <a:ln w="25400">
              <a:noFill/>
              <a:miter lim="800000"/>
              <a:headEnd/>
              <a:tailEnd/>
            </a:ln>
            <a:effectLst/>
          </p:spPr>
          <p:txBody>
            <a:bodyPr wrap="none" lIns="90487" tIns="44450" rIns="90487" bIns="44450">
              <a:spAutoFit/>
            </a:bodyPr>
            <a:lstStyle/>
            <a:p>
              <a:pPr eaLnBrk="0" fontAlgn="base" hangingPunct="0">
                <a:spcBef>
                  <a:spcPct val="0"/>
                </a:spcBef>
                <a:spcAft>
                  <a:spcPct val="0"/>
                </a:spcAft>
                <a:defRPr/>
              </a:pPr>
              <a:r>
                <a:rPr kumimoji="1" lang="en-US" altLang="zh-CN" b="1" dirty="0">
                  <a:solidFill>
                    <a:srgbClr val="FFFFFF"/>
                  </a:solidFill>
                  <a:effectLst>
                    <a:outerShdw blurRad="38100" dist="38100" dir="2700000" algn="tl">
                      <a:srgbClr val="C0C0C0"/>
                    </a:outerShdw>
                  </a:effectLst>
                  <a:latin typeface="Helvetica" charset="0"/>
                  <a:ea typeface="宋体" panose="02010600030101010101" pitchFamily="2" charset="-122"/>
                </a:rPr>
                <a:t>    </a:t>
              </a:r>
              <a:r>
                <a:rPr kumimoji="1" lang="en-US" altLang="zh-CN" b="1" dirty="0">
                  <a:solidFill>
                    <a:srgbClr val="000000"/>
                  </a:solidFill>
                  <a:latin typeface="Comic Sans MS" pitchFamily="66" charset="0"/>
                  <a:ea typeface="宋体" panose="02010600030101010101" pitchFamily="2" charset="-122"/>
                </a:rPr>
                <a:t>software</a:t>
              </a:r>
            </a:p>
            <a:p>
              <a:pPr eaLnBrk="0" fontAlgn="base" hangingPunct="0">
                <a:spcBef>
                  <a:spcPct val="0"/>
                </a:spcBef>
                <a:spcAft>
                  <a:spcPct val="0"/>
                </a:spcAft>
                <a:defRPr/>
              </a:pPr>
              <a:endParaRPr kumimoji="1" lang="en-US" altLang="zh-CN" b="1" dirty="0">
                <a:solidFill>
                  <a:srgbClr val="000000"/>
                </a:solidFill>
                <a:latin typeface="Comic Sans MS" pitchFamily="66" charset="0"/>
                <a:ea typeface="宋体" panose="02010600030101010101" pitchFamily="2" charset="-122"/>
              </a:endParaRPr>
            </a:p>
          </p:txBody>
        </p:sp>
        <p:sp>
          <p:nvSpPr>
            <p:cNvPr id="113722" name="Rectangle 201">
              <a:extLst>
                <a:ext uri="{FF2B5EF4-FFF2-40B4-BE49-F238E27FC236}">
                  <a16:creationId xmlns:a16="http://schemas.microsoft.com/office/drawing/2014/main" id="{BC71EF92-E184-071E-AC26-0831A7E6ADBD}"/>
                </a:ext>
              </a:extLst>
            </p:cNvPr>
            <p:cNvSpPr>
              <a:spLocks noChangeArrowheads="1"/>
            </p:cNvSpPr>
            <p:nvPr/>
          </p:nvSpPr>
          <p:spPr bwMode="auto">
            <a:xfrm>
              <a:off x="3831" y="3473"/>
              <a:ext cx="142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7" tIns="44450" rIns="90487" bIns="44450">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number of modules</a:t>
              </a:r>
            </a:p>
          </p:txBody>
        </p:sp>
        <p:grpSp>
          <p:nvGrpSpPr>
            <p:cNvPr id="113723" name="Group 202">
              <a:extLst>
                <a:ext uri="{FF2B5EF4-FFF2-40B4-BE49-F238E27FC236}">
                  <a16:creationId xmlns:a16="http://schemas.microsoft.com/office/drawing/2014/main" id="{984811DE-1145-757F-D9C6-3A4DF329E98B}"/>
                </a:ext>
              </a:extLst>
            </p:cNvPr>
            <p:cNvGrpSpPr>
              <a:grpSpLocks/>
            </p:cNvGrpSpPr>
            <p:nvPr/>
          </p:nvGrpSpPr>
          <p:grpSpPr bwMode="auto">
            <a:xfrm>
              <a:off x="2104" y="3390"/>
              <a:ext cx="2945" cy="72"/>
              <a:chOff x="1744" y="2971"/>
              <a:chExt cx="2945" cy="72"/>
            </a:xfrm>
          </p:grpSpPr>
          <p:sp>
            <p:nvSpPr>
              <p:cNvPr id="113732" name="Freeform 203">
                <a:extLst>
                  <a:ext uri="{FF2B5EF4-FFF2-40B4-BE49-F238E27FC236}">
                    <a16:creationId xmlns:a16="http://schemas.microsoft.com/office/drawing/2014/main" id="{818EC199-B2C3-AD76-54C1-CA53A21F8E16}"/>
                  </a:ext>
                </a:extLst>
              </p:cNvPr>
              <p:cNvSpPr>
                <a:spLocks/>
              </p:cNvSpPr>
              <p:nvPr/>
            </p:nvSpPr>
            <p:spPr bwMode="auto">
              <a:xfrm>
                <a:off x="4512" y="2971"/>
                <a:ext cx="177" cy="72"/>
              </a:xfrm>
              <a:custGeom>
                <a:avLst/>
                <a:gdLst>
                  <a:gd name="T0" fmla="*/ 176 w 177"/>
                  <a:gd name="T1" fmla="*/ 39 h 72"/>
                  <a:gd name="T2" fmla="*/ 0 w 177"/>
                  <a:gd name="T3" fmla="*/ 71 h 72"/>
                  <a:gd name="T4" fmla="*/ 0 w 177"/>
                  <a:gd name="T5" fmla="*/ 39 h 72"/>
                  <a:gd name="T6" fmla="*/ 0 w 177"/>
                  <a:gd name="T7" fmla="*/ 0 h 72"/>
                  <a:gd name="T8" fmla="*/ 176 w 177"/>
                  <a:gd name="T9" fmla="*/ 39 h 72"/>
                  <a:gd name="T10" fmla="*/ 0 60000 65536"/>
                  <a:gd name="T11" fmla="*/ 0 60000 65536"/>
                  <a:gd name="T12" fmla="*/ 0 60000 65536"/>
                  <a:gd name="T13" fmla="*/ 0 60000 65536"/>
                  <a:gd name="T14" fmla="*/ 0 60000 65536"/>
                  <a:gd name="T15" fmla="*/ 0 w 177"/>
                  <a:gd name="T16" fmla="*/ 0 h 72"/>
                  <a:gd name="T17" fmla="*/ 177 w 177"/>
                  <a:gd name="T18" fmla="*/ 72 h 72"/>
                </a:gdLst>
                <a:ahLst/>
                <a:cxnLst>
                  <a:cxn ang="T10">
                    <a:pos x="T0" y="T1"/>
                  </a:cxn>
                  <a:cxn ang="T11">
                    <a:pos x="T2" y="T3"/>
                  </a:cxn>
                  <a:cxn ang="T12">
                    <a:pos x="T4" y="T5"/>
                  </a:cxn>
                  <a:cxn ang="T13">
                    <a:pos x="T6" y="T7"/>
                  </a:cxn>
                  <a:cxn ang="T14">
                    <a:pos x="T8" y="T9"/>
                  </a:cxn>
                </a:cxnLst>
                <a:rect l="T15" t="T16" r="T17" b="T18"/>
                <a:pathLst>
                  <a:path w="177" h="72">
                    <a:moveTo>
                      <a:pt x="176" y="39"/>
                    </a:moveTo>
                    <a:lnTo>
                      <a:pt x="0" y="71"/>
                    </a:lnTo>
                    <a:lnTo>
                      <a:pt x="0" y="39"/>
                    </a:lnTo>
                    <a:lnTo>
                      <a:pt x="0" y="0"/>
                    </a:lnTo>
                    <a:lnTo>
                      <a:pt x="176" y="39"/>
                    </a:lnTo>
                  </a:path>
                </a:pathLst>
              </a:custGeom>
              <a:solidFill>
                <a:srgbClr val="000000"/>
              </a:solidFill>
              <a:ln w="25400" cap="rnd" cmpd="sng">
                <a:solidFill>
                  <a:schemeClr val="tx1"/>
                </a:solidFill>
                <a:prstDash val="solid"/>
                <a:round/>
                <a:headEnd type="none" w="med" len="med"/>
                <a:tailEnd type="none" w="med" len="med"/>
              </a:ln>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3733" name="Line 204">
                <a:extLst>
                  <a:ext uri="{FF2B5EF4-FFF2-40B4-BE49-F238E27FC236}">
                    <a16:creationId xmlns:a16="http://schemas.microsoft.com/office/drawing/2014/main" id="{1246684C-0F90-04C8-BA1B-5DDBF0563EA2}"/>
                  </a:ext>
                </a:extLst>
              </p:cNvPr>
              <p:cNvSpPr>
                <a:spLocks noChangeShapeType="1"/>
              </p:cNvSpPr>
              <p:nvPr/>
            </p:nvSpPr>
            <p:spPr bwMode="auto">
              <a:xfrm>
                <a:off x="1744" y="3013"/>
                <a:ext cx="276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13724" name="Group 205">
              <a:extLst>
                <a:ext uri="{FF2B5EF4-FFF2-40B4-BE49-F238E27FC236}">
                  <a16:creationId xmlns:a16="http://schemas.microsoft.com/office/drawing/2014/main" id="{99E56C9D-C202-2147-1C50-8014114430FF}"/>
                </a:ext>
              </a:extLst>
            </p:cNvPr>
            <p:cNvGrpSpPr>
              <a:grpSpLocks/>
            </p:cNvGrpSpPr>
            <p:nvPr/>
          </p:nvGrpSpPr>
          <p:grpSpPr bwMode="auto">
            <a:xfrm>
              <a:off x="2056" y="1669"/>
              <a:ext cx="81" cy="1756"/>
              <a:chOff x="1696" y="1250"/>
              <a:chExt cx="81" cy="1756"/>
            </a:xfrm>
          </p:grpSpPr>
          <p:sp>
            <p:nvSpPr>
              <p:cNvPr id="113730" name="Freeform 206">
                <a:extLst>
                  <a:ext uri="{FF2B5EF4-FFF2-40B4-BE49-F238E27FC236}">
                    <a16:creationId xmlns:a16="http://schemas.microsoft.com/office/drawing/2014/main" id="{BEEA9630-16FA-A2C5-3D4B-D5BEB1D742DC}"/>
                  </a:ext>
                </a:extLst>
              </p:cNvPr>
              <p:cNvSpPr>
                <a:spLocks/>
              </p:cNvSpPr>
              <p:nvPr/>
            </p:nvSpPr>
            <p:spPr bwMode="auto">
              <a:xfrm>
                <a:off x="1696" y="1250"/>
                <a:ext cx="81" cy="157"/>
              </a:xfrm>
              <a:custGeom>
                <a:avLst/>
                <a:gdLst>
                  <a:gd name="T0" fmla="*/ 44 w 81"/>
                  <a:gd name="T1" fmla="*/ 0 h 157"/>
                  <a:gd name="T2" fmla="*/ 80 w 81"/>
                  <a:gd name="T3" fmla="*/ 156 h 157"/>
                  <a:gd name="T4" fmla="*/ 44 w 81"/>
                  <a:gd name="T5" fmla="*/ 156 h 157"/>
                  <a:gd name="T6" fmla="*/ 0 w 81"/>
                  <a:gd name="T7" fmla="*/ 156 h 157"/>
                  <a:gd name="T8" fmla="*/ 44 w 81"/>
                  <a:gd name="T9" fmla="*/ 0 h 157"/>
                  <a:gd name="T10" fmla="*/ 0 60000 65536"/>
                  <a:gd name="T11" fmla="*/ 0 60000 65536"/>
                  <a:gd name="T12" fmla="*/ 0 60000 65536"/>
                  <a:gd name="T13" fmla="*/ 0 60000 65536"/>
                  <a:gd name="T14" fmla="*/ 0 60000 65536"/>
                  <a:gd name="T15" fmla="*/ 0 w 81"/>
                  <a:gd name="T16" fmla="*/ 0 h 157"/>
                  <a:gd name="T17" fmla="*/ 81 w 81"/>
                  <a:gd name="T18" fmla="*/ 157 h 157"/>
                </a:gdLst>
                <a:ahLst/>
                <a:cxnLst>
                  <a:cxn ang="T10">
                    <a:pos x="T0" y="T1"/>
                  </a:cxn>
                  <a:cxn ang="T11">
                    <a:pos x="T2" y="T3"/>
                  </a:cxn>
                  <a:cxn ang="T12">
                    <a:pos x="T4" y="T5"/>
                  </a:cxn>
                  <a:cxn ang="T13">
                    <a:pos x="T6" y="T7"/>
                  </a:cxn>
                  <a:cxn ang="T14">
                    <a:pos x="T8" y="T9"/>
                  </a:cxn>
                </a:cxnLst>
                <a:rect l="T15" t="T16" r="T17" b="T18"/>
                <a:pathLst>
                  <a:path w="81" h="157">
                    <a:moveTo>
                      <a:pt x="44" y="0"/>
                    </a:moveTo>
                    <a:lnTo>
                      <a:pt x="80" y="156"/>
                    </a:lnTo>
                    <a:lnTo>
                      <a:pt x="44" y="156"/>
                    </a:lnTo>
                    <a:lnTo>
                      <a:pt x="0" y="156"/>
                    </a:lnTo>
                    <a:lnTo>
                      <a:pt x="44" y="0"/>
                    </a:lnTo>
                  </a:path>
                </a:pathLst>
              </a:custGeom>
              <a:solidFill>
                <a:srgbClr val="000000"/>
              </a:solidFill>
              <a:ln w="25400" cap="rnd" cmpd="sng">
                <a:solidFill>
                  <a:schemeClr val="tx1"/>
                </a:solidFill>
                <a:prstDash val="solid"/>
                <a:round/>
                <a:headEnd type="none" w="med" len="med"/>
                <a:tailEnd type="none" w="med" len="med"/>
              </a:ln>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3731" name="Line 207">
                <a:extLst>
                  <a:ext uri="{FF2B5EF4-FFF2-40B4-BE49-F238E27FC236}">
                    <a16:creationId xmlns:a16="http://schemas.microsoft.com/office/drawing/2014/main" id="{CB906640-6F6D-AF45-2779-F8EF605F2A45}"/>
                  </a:ext>
                </a:extLst>
              </p:cNvPr>
              <p:cNvSpPr>
                <a:spLocks noChangeShapeType="1"/>
              </p:cNvSpPr>
              <p:nvPr/>
            </p:nvSpPr>
            <p:spPr bwMode="auto">
              <a:xfrm flipV="1">
                <a:off x="1744" y="1399"/>
                <a:ext cx="0" cy="1607"/>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
          <p:nvSpPr>
            <p:cNvPr id="113725" name="Rectangle 208">
              <a:extLst>
                <a:ext uri="{FF2B5EF4-FFF2-40B4-BE49-F238E27FC236}">
                  <a16:creationId xmlns:a16="http://schemas.microsoft.com/office/drawing/2014/main" id="{BC906606-3888-3445-1A99-FAB5B00B2AA9}"/>
                </a:ext>
              </a:extLst>
            </p:cNvPr>
            <p:cNvSpPr>
              <a:spLocks noChangeArrowheads="1"/>
            </p:cNvSpPr>
            <p:nvPr/>
          </p:nvSpPr>
          <p:spPr bwMode="auto">
            <a:xfrm>
              <a:off x="4487" y="2361"/>
              <a:ext cx="862"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7" tIns="44450" rIns="90487" bIns="44450">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module</a:t>
              </a:r>
            </a:p>
            <a:p>
              <a:pPr algn="ct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integration</a:t>
              </a:r>
            </a:p>
            <a:p>
              <a:pPr algn="ct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cost</a:t>
              </a:r>
            </a:p>
          </p:txBody>
        </p:sp>
        <p:sp>
          <p:nvSpPr>
            <p:cNvPr id="113726" name="Rectangle 209">
              <a:extLst>
                <a:ext uri="{FF2B5EF4-FFF2-40B4-BE49-F238E27FC236}">
                  <a16:creationId xmlns:a16="http://schemas.microsoft.com/office/drawing/2014/main" id="{037DE2FA-EA95-43CC-7257-0F8886ED5C86}"/>
                </a:ext>
              </a:extLst>
            </p:cNvPr>
            <p:cNvSpPr>
              <a:spLocks noChangeArrowheads="1"/>
            </p:cNvSpPr>
            <p:nvPr/>
          </p:nvSpPr>
          <p:spPr bwMode="auto">
            <a:xfrm>
              <a:off x="2687" y="1667"/>
              <a:ext cx="190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7" tIns="44450" rIns="90487" bIns="44450">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kumimoji="1" lang="en-US" altLang="zh-CN" sz="1800">
                  <a:solidFill>
                    <a:srgbClr val="000000"/>
                  </a:solidFill>
                  <a:latin typeface="Comic Sans MS" panose="030F0702030302020204" pitchFamily="66" charset="0"/>
                </a:rPr>
                <a:t>module development cost </a:t>
              </a:r>
            </a:p>
            <a:p>
              <a:pPr eaLnBrk="0" fontAlgn="base" hangingPunct="0">
                <a:spcBef>
                  <a:spcPct val="0"/>
                </a:spcBef>
                <a:spcAft>
                  <a:spcPct val="0"/>
                </a:spcAft>
                <a:buClrTx/>
                <a:buSzTx/>
                <a:buNone/>
              </a:pPr>
              <a:endParaRPr kumimoji="1" lang="en-US" altLang="zh-CN" sz="1800">
                <a:solidFill>
                  <a:srgbClr val="000000"/>
                </a:solidFill>
                <a:latin typeface="Comic Sans MS" panose="030F0702030302020204" pitchFamily="66" charset="0"/>
              </a:endParaRPr>
            </a:p>
          </p:txBody>
        </p:sp>
        <p:sp>
          <p:nvSpPr>
            <p:cNvPr id="113727" name="Line 210">
              <a:extLst>
                <a:ext uri="{FF2B5EF4-FFF2-40B4-BE49-F238E27FC236}">
                  <a16:creationId xmlns:a16="http://schemas.microsoft.com/office/drawing/2014/main" id="{81954D85-5FD3-93D3-7C75-42AFB8B21857}"/>
                </a:ext>
              </a:extLst>
            </p:cNvPr>
            <p:cNvSpPr>
              <a:spLocks noChangeShapeType="1"/>
            </p:cNvSpPr>
            <p:nvPr/>
          </p:nvSpPr>
          <p:spPr bwMode="auto">
            <a:xfrm>
              <a:off x="3664" y="1911"/>
              <a:ext cx="328" cy="4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3728" name="Line 211">
              <a:extLst>
                <a:ext uri="{FF2B5EF4-FFF2-40B4-BE49-F238E27FC236}">
                  <a16:creationId xmlns:a16="http://schemas.microsoft.com/office/drawing/2014/main" id="{FA144BC7-5701-333D-C699-24588E318AA7}"/>
                </a:ext>
              </a:extLst>
            </p:cNvPr>
            <p:cNvSpPr>
              <a:spLocks noChangeShapeType="1"/>
            </p:cNvSpPr>
            <p:nvPr/>
          </p:nvSpPr>
          <p:spPr bwMode="auto">
            <a:xfrm flipH="1">
              <a:off x="4016" y="2658"/>
              <a:ext cx="576" cy="283"/>
            </a:xfrm>
            <a:prstGeom prst="line">
              <a:avLst/>
            </a:prstGeom>
            <a:noFill/>
            <a:ln w="25400">
              <a:solidFill>
                <a:schemeClr val="tx1"/>
              </a:solidFill>
              <a:round/>
              <a:headEnd/>
              <a:tailEn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3729" name="Arc 212">
              <a:extLst>
                <a:ext uri="{FF2B5EF4-FFF2-40B4-BE49-F238E27FC236}">
                  <a16:creationId xmlns:a16="http://schemas.microsoft.com/office/drawing/2014/main" id="{6FA727A7-A795-B30B-6208-EEBD38EEA5BE}"/>
                </a:ext>
              </a:extLst>
            </p:cNvPr>
            <p:cNvSpPr>
              <a:spLocks/>
            </p:cNvSpPr>
            <p:nvPr/>
          </p:nvSpPr>
          <p:spPr bwMode="auto">
            <a:xfrm>
              <a:off x="2496" y="3504"/>
              <a:ext cx="752" cy="206"/>
            </a:xfrm>
            <a:custGeom>
              <a:avLst/>
              <a:gdLst>
                <a:gd name="T0" fmla="*/ 0 w 21600"/>
                <a:gd name="T1" fmla="*/ 0 h 21705"/>
                <a:gd name="T2" fmla="*/ 0 w 21600"/>
                <a:gd name="T3" fmla="*/ 0 h 21705"/>
                <a:gd name="T4" fmla="*/ 0 w 21600"/>
                <a:gd name="T5" fmla="*/ 0 h 21705"/>
                <a:gd name="T6" fmla="*/ 0 60000 65536"/>
                <a:gd name="T7" fmla="*/ 0 60000 65536"/>
                <a:gd name="T8" fmla="*/ 0 60000 65536"/>
                <a:gd name="T9" fmla="*/ 0 w 21600"/>
                <a:gd name="T10" fmla="*/ 0 h 21705"/>
                <a:gd name="T11" fmla="*/ 21600 w 21600"/>
                <a:gd name="T12" fmla="*/ 21705 h 21705"/>
              </a:gdLst>
              <a:ahLst/>
              <a:cxnLst>
                <a:cxn ang="T6">
                  <a:pos x="T0" y="T1"/>
                </a:cxn>
                <a:cxn ang="T7">
                  <a:pos x="T2" y="T3"/>
                </a:cxn>
                <a:cxn ang="T8">
                  <a:pos x="T4" y="T5"/>
                </a:cxn>
              </a:cxnLst>
              <a:rect l="T9" t="T10" r="T11" b="T12"/>
              <a:pathLst>
                <a:path w="21600" h="21705" fill="none" extrusionOk="0">
                  <a:moveTo>
                    <a:pt x="21599" y="-1"/>
                  </a:moveTo>
                  <a:cubicBezTo>
                    <a:pt x="21599" y="34"/>
                    <a:pt x="21600" y="69"/>
                    <a:pt x="21600" y="105"/>
                  </a:cubicBezTo>
                  <a:cubicBezTo>
                    <a:pt x="21600" y="12034"/>
                    <a:pt x="11929" y="21704"/>
                    <a:pt x="0" y="21705"/>
                  </a:cubicBezTo>
                </a:path>
                <a:path w="21600" h="21705" stroke="0" extrusionOk="0">
                  <a:moveTo>
                    <a:pt x="21599" y="-1"/>
                  </a:moveTo>
                  <a:cubicBezTo>
                    <a:pt x="21599" y="34"/>
                    <a:pt x="21600" y="69"/>
                    <a:pt x="21600" y="105"/>
                  </a:cubicBezTo>
                  <a:cubicBezTo>
                    <a:pt x="21600" y="12034"/>
                    <a:pt x="11929" y="21704"/>
                    <a:pt x="0" y="21705"/>
                  </a:cubicBezTo>
                  <a:lnTo>
                    <a:pt x="0" y="105"/>
                  </a:lnTo>
                  <a:lnTo>
                    <a:pt x="21599" y="-1"/>
                  </a:lnTo>
                  <a:close/>
                </a:path>
              </a:pathLst>
            </a:custGeom>
            <a:noFill/>
            <a:ln w="254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ipe(up)">
                                      <p:cBhvr>
                                        <p:cTn id="7" dur="500"/>
                                        <p:tgtEl>
                                          <p:spTgt spid="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3"/>
                                        </p:tgtEl>
                                        <p:attrNameLst>
                                          <p:attrName>style.visibility</p:attrName>
                                        </p:attrNameLst>
                                      </p:cBhvr>
                                      <p:to>
                                        <p:strVal val="visible"/>
                                      </p:to>
                                    </p:set>
                                  </p:childTnLst>
                                </p:cTn>
                              </p:par>
                            </p:childTnLst>
                          </p:cTn>
                        </p:par>
                        <p:par>
                          <p:cTn id="12" fill="hold" nodeType="afterGroup">
                            <p:stCondLst>
                              <p:cond delay="0"/>
                            </p:stCondLst>
                            <p:childTnLst>
                              <p:par>
                                <p:cTn id="13" presetID="22" presetClass="entr" presetSubtype="4"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subTnLst>
                                    <p:audio>
                                      <p:cMediaNode>
                                        <p:cTn display="0" masterRel="sameClick">
                                          <p:stCondLst>
                                            <p:cond evt="begin" delay="0">
                                              <p:tn val="13"/>
                                            </p:cond>
                                          </p:stCondLst>
                                          <p:endCondLst>
                                            <p:cond evt="onStopAudio" delay="0">
                                              <p:tgtEl>
                                                <p:sldTgt/>
                                              </p:tgtEl>
                                            </p:cond>
                                          </p:endCondLst>
                                        </p:cTn>
                                        <p:tgtEl>
                                          <p:sndTgt r:embed="rId3"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animBg="1" autoUpdateAnimBg="0"/>
      <p:bldP spid="2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6">
            <a:extLst>
              <a:ext uri="{FF2B5EF4-FFF2-40B4-BE49-F238E27FC236}">
                <a16:creationId xmlns:a16="http://schemas.microsoft.com/office/drawing/2014/main" id="{28281F5A-8C53-0F90-D1F0-797983F594C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053A80B-0686-428C-A4F1-42DFA05D56B0}" type="slidenum">
              <a:rPr lang="en-US" altLang="zh-CN" sz="1400">
                <a:solidFill>
                  <a:srgbClr val="000000"/>
                </a:solidFill>
                <a:latin typeface="Arial" panose="020B0604020202020204" pitchFamily="34" charset="0"/>
              </a:rPr>
              <a:pPr fontAlgn="base">
                <a:spcBef>
                  <a:spcPct val="0"/>
                </a:spcBef>
                <a:spcAft>
                  <a:spcPct val="0"/>
                </a:spcAft>
              </a:pPr>
              <a:t>8</a:t>
            </a:fld>
            <a:endParaRPr lang="en-US" altLang="zh-CN" sz="1400">
              <a:solidFill>
                <a:srgbClr val="000000"/>
              </a:solidFill>
              <a:latin typeface="Arial" panose="020B0604020202020204" pitchFamily="34" charset="0"/>
            </a:endParaRPr>
          </a:p>
        </p:txBody>
      </p:sp>
      <p:sp>
        <p:nvSpPr>
          <p:cNvPr id="115714" name="标题 1">
            <a:extLst>
              <a:ext uri="{FF2B5EF4-FFF2-40B4-BE49-F238E27FC236}">
                <a16:creationId xmlns:a16="http://schemas.microsoft.com/office/drawing/2014/main" id="{84819307-C3FA-BF93-9A2E-169EEAEAE4C1}"/>
              </a:ext>
            </a:extLst>
          </p:cNvPr>
          <p:cNvSpPr>
            <a:spLocks noGrp="1" noChangeArrowheads="1"/>
          </p:cNvSpPr>
          <p:nvPr>
            <p:ph type="title" idx="4294967295"/>
          </p:nvPr>
        </p:nvSpPr>
        <p:spPr/>
        <p:txBody>
          <a:bodyPr/>
          <a:lstStyle/>
          <a:p>
            <a:r>
              <a:rPr lang="zh-CN" altLang="en-US"/>
              <a:t>结论：适度的模块化</a:t>
            </a:r>
          </a:p>
        </p:txBody>
      </p:sp>
      <p:sp>
        <p:nvSpPr>
          <p:cNvPr id="4" name="Rectangle 3">
            <a:extLst>
              <a:ext uri="{FF2B5EF4-FFF2-40B4-BE49-F238E27FC236}">
                <a16:creationId xmlns:a16="http://schemas.microsoft.com/office/drawing/2014/main" id="{4564ABC5-7025-CCA5-92A4-9A38D27C255C}"/>
              </a:ext>
            </a:extLst>
          </p:cNvPr>
          <p:cNvSpPr txBox="1">
            <a:spLocks noChangeArrowheads="1"/>
          </p:cNvSpPr>
          <p:nvPr/>
        </p:nvSpPr>
        <p:spPr bwMode="auto">
          <a:xfrm>
            <a:off x="1919288" y="1052513"/>
            <a:ext cx="7924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0" fontAlgn="base" hangingPunct="0">
              <a:lnSpc>
                <a:spcPct val="130000"/>
              </a:lnSpc>
              <a:spcAft>
                <a:spcPct val="0"/>
              </a:spcAft>
              <a:buClr>
                <a:srgbClr val="CC9900"/>
              </a:buClr>
              <a:buFont typeface="Arial" panose="020B0604020202020204" pitchFamily="34" charset="0"/>
              <a:buChar char="•"/>
            </a:pPr>
            <a:r>
              <a:rPr lang="zh-CN" altLang="en-US">
                <a:solidFill>
                  <a:srgbClr val="000000"/>
                </a:solidFill>
              </a:rPr>
              <a:t>模块数增加时，模块间的关系也随之增加，接口和集成的工作量也随之增加；</a:t>
            </a:r>
          </a:p>
          <a:p>
            <a:pPr eaLnBrk="0" fontAlgn="base" hangingPunct="0">
              <a:lnSpc>
                <a:spcPct val="130000"/>
              </a:lnSpc>
              <a:spcAft>
                <a:spcPct val="0"/>
              </a:spcAft>
              <a:buClr>
                <a:srgbClr val="CC9900"/>
              </a:buClr>
              <a:buFont typeface="Arial" panose="020B0604020202020204" pitchFamily="34" charset="0"/>
              <a:buChar char="•"/>
            </a:pPr>
            <a:r>
              <a:rPr lang="zh-CN" altLang="en-US">
                <a:solidFill>
                  <a:srgbClr val="FF0000"/>
                </a:solidFill>
              </a:rPr>
              <a:t>结论：寻找最佳模块化程度平衡点。</a:t>
            </a:r>
          </a:p>
        </p:txBody>
      </p:sp>
      <p:pic>
        <p:nvPicPr>
          <p:cNvPr id="36868" name="Picture 4">
            <a:extLst>
              <a:ext uri="{FF2B5EF4-FFF2-40B4-BE49-F238E27FC236}">
                <a16:creationId xmlns:a16="http://schemas.microsoft.com/office/drawing/2014/main" id="{14BC464E-A2F1-9BBE-AC8F-7D03AEF955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2636838"/>
            <a:ext cx="5113338"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868"/>
                                        </p:tgtEl>
                                        <p:attrNameLst>
                                          <p:attrName>style.visibility</p:attrName>
                                        </p:attrNameLst>
                                      </p:cBhvr>
                                      <p:to>
                                        <p:strVal val="visible"/>
                                      </p:to>
                                    </p:set>
                                    <p:animEffect transition="in" filter="blinds(horizontal)">
                                      <p:cBhvr>
                                        <p:cTn id="1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6">
            <a:extLst>
              <a:ext uri="{FF2B5EF4-FFF2-40B4-BE49-F238E27FC236}">
                <a16:creationId xmlns:a16="http://schemas.microsoft.com/office/drawing/2014/main" id="{EAADA69B-0CDD-CE28-5DE5-077246CEACB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C7EC240-19BD-4B58-92E6-7F9BDD013974}" type="slidenum">
              <a:rPr lang="en-US" altLang="zh-CN" sz="1400">
                <a:solidFill>
                  <a:srgbClr val="000000"/>
                </a:solidFill>
                <a:latin typeface="Arial" panose="020B0604020202020204" pitchFamily="34" charset="0"/>
              </a:rPr>
              <a:pPr fontAlgn="base">
                <a:spcBef>
                  <a:spcPct val="0"/>
                </a:spcBef>
                <a:spcAft>
                  <a:spcPct val="0"/>
                </a:spcAft>
              </a:pPr>
              <a:t>9</a:t>
            </a:fld>
            <a:endParaRPr lang="en-US" altLang="zh-CN" sz="1400">
              <a:solidFill>
                <a:srgbClr val="000000"/>
              </a:solidFill>
              <a:latin typeface="Arial" panose="020B0604020202020204" pitchFamily="34" charset="0"/>
            </a:endParaRPr>
          </a:p>
        </p:txBody>
      </p:sp>
      <p:sp>
        <p:nvSpPr>
          <p:cNvPr id="117762" name="Rectangle 2">
            <a:extLst>
              <a:ext uri="{FF2B5EF4-FFF2-40B4-BE49-F238E27FC236}">
                <a16:creationId xmlns:a16="http://schemas.microsoft.com/office/drawing/2014/main" id="{E6BCB122-C675-0B4B-671D-2EABD94FAB69}"/>
              </a:ext>
            </a:extLst>
          </p:cNvPr>
          <p:cNvSpPr>
            <a:spLocks noGrp="1" noChangeArrowheads="1"/>
          </p:cNvSpPr>
          <p:nvPr>
            <p:ph type="title"/>
          </p:nvPr>
        </p:nvSpPr>
        <p:spPr/>
        <p:txBody>
          <a:bodyPr/>
          <a:lstStyle/>
          <a:p>
            <a:r>
              <a:rPr lang="zh-CN" altLang="en-US"/>
              <a:t>模块化的优点</a:t>
            </a:r>
          </a:p>
        </p:txBody>
      </p:sp>
      <p:sp>
        <p:nvSpPr>
          <p:cNvPr id="268291" name="Rectangle 3">
            <a:extLst>
              <a:ext uri="{FF2B5EF4-FFF2-40B4-BE49-F238E27FC236}">
                <a16:creationId xmlns:a16="http://schemas.microsoft.com/office/drawing/2014/main" id="{E836005B-461D-2D3F-56B7-F7344DB96D16}"/>
              </a:ext>
            </a:extLst>
          </p:cNvPr>
          <p:cNvSpPr>
            <a:spLocks noGrp="1" noChangeArrowheads="1"/>
          </p:cNvSpPr>
          <p:nvPr>
            <p:ph type="body" idx="1"/>
          </p:nvPr>
        </p:nvSpPr>
        <p:spPr>
          <a:xfrm>
            <a:off x="1981200" y="1268413"/>
            <a:ext cx="8229600" cy="4862512"/>
          </a:xfrm>
        </p:spPr>
        <p:txBody>
          <a:bodyPr/>
          <a:lstStyle/>
          <a:p>
            <a:pPr>
              <a:lnSpc>
                <a:spcPct val="150000"/>
              </a:lnSpc>
              <a:spcBef>
                <a:spcPct val="50000"/>
              </a:spcBef>
            </a:pPr>
            <a:r>
              <a:rPr lang="zh-CN" altLang="en-US" sz="2800"/>
              <a:t>模块化设计</a:t>
            </a:r>
            <a:r>
              <a:rPr lang="en-US" altLang="zh-CN" sz="2800"/>
              <a:t>(</a:t>
            </a:r>
            <a:r>
              <a:rPr lang="zh-CN" altLang="en-US" sz="2800"/>
              <a:t>以及由其产生的程序</a:t>
            </a:r>
            <a:r>
              <a:rPr lang="en-US" altLang="zh-CN" sz="2800"/>
              <a:t>)</a:t>
            </a:r>
            <a:r>
              <a:rPr lang="zh-CN" altLang="en-US" sz="2800"/>
              <a:t>：</a:t>
            </a:r>
          </a:p>
          <a:p>
            <a:pPr lvl="1">
              <a:lnSpc>
                <a:spcPct val="150000"/>
              </a:lnSpc>
              <a:spcBef>
                <a:spcPct val="50000"/>
              </a:spcBef>
            </a:pPr>
            <a:r>
              <a:rPr lang="zh-CN" altLang="en-US"/>
              <a:t>使开发工作</a:t>
            </a:r>
            <a:r>
              <a:rPr lang="zh-CN" altLang="en-US">
                <a:solidFill>
                  <a:srgbClr val="FF0000"/>
                </a:solidFill>
              </a:rPr>
              <a:t>更易于规划；</a:t>
            </a:r>
          </a:p>
          <a:p>
            <a:pPr lvl="1">
              <a:lnSpc>
                <a:spcPct val="150000"/>
              </a:lnSpc>
              <a:spcBef>
                <a:spcPct val="50000"/>
              </a:spcBef>
            </a:pPr>
            <a:r>
              <a:rPr lang="zh-CN" altLang="en-US"/>
              <a:t>可以</a:t>
            </a:r>
            <a:r>
              <a:rPr lang="zh-CN" altLang="en-US">
                <a:solidFill>
                  <a:srgbClr val="FF0000"/>
                </a:solidFill>
              </a:rPr>
              <a:t>定义和交付软件增量；</a:t>
            </a:r>
          </a:p>
          <a:p>
            <a:pPr lvl="1">
              <a:lnSpc>
                <a:spcPct val="150000"/>
              </a:lnSpc>
              <a:spcBef>
                <a:spcPct val="50000"/>
              </a:spcBef>
            </a:pPr>
            <a:r>
              <a:rPr lang="zh-CN" altLang="en-US"/>
              <a:t>更容易实施</a:t>
            </a:r>
            <a:r>
              <a:rPr lang="zh-CN" altLang="en-US">
                <a:solidFill>
                  <a:srgbClr val="FF0000"/>
                </a:solidFill>
              </a:rPr>
              <a:t>变更；</a:t>
            </a:r>
          </a:p>
          <a:p>
            <a:pPr lvl="1">
              <a:lnSpc>
                <a:spcPct val="150000"/>
              </a:lnSpc>
              <a:spcBef>
                <a:spcPct val="50000"/>
              </a:spcBef>
            </a:pPr>
            <a:r>
              <a:rPr lang="zh-CN" altLang="en-US"/>
              <a:t>能够更有效地开展</a:t>
            </a:r>
            <a:r>
              <a:rPr lang="zh-CN" altLang="en-US">
                <a:solidFill>
                  <a:srgbClr val="FF0000"/>
                </a:solidFill>
              </a:rPr>
              <a:t>测试</a:t>
            </a:r>
            <a:r>
              <a:rPr lang="zh-CN" altLang="en-US"/>
              <a:t>和</a:t>
            </a:r>
            <a:r>
              <a:rPr lang="zh-CN" altLang="en-US">
                <a:solidFill>
                  <a:srgbClr val="FF0000"/>
                </a:solidFill>
              </a:rPr>
              <a:t>调试；</a:t>
            </a:r>
          </a:p>
          <a:p>
            <a:pPr lvl="1">
              <a:lnSpc>
                <a:spcPct val="150000"/>
              </a:lnSpc>
              <a:spcBef>
                <a:spcPct val="50000"/>
              </a:spcBef>
            </a:pPr>
            <a:r>
              <a:rPr lang="zh-CN" altLang="en-US"/>
              <a:t>可以进行</a:t>
            </a:r>
            <a:r>
              <a:rPr lang="zh-CN" altLang="en-US">
                <a:solidFill>
                  <a:srgbClr val="FF0000"/>
                </a:solidFill>
              </a:rPr>
              <a:t>长期维护</a:t>
            </a:r>
            <a:r>
              <a:rPr lang="zh-CN" altLang="en-US"/>
              <a:t>而没有严重的副作用。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8291">
                                            <p:txEl>
                                              <p:pRg st="1" end="1"/>
                                            </p:txEl>
                                          </p:spTgt>
                                        </p:tgtEl>
                                        <p:attrNameLst>
                                          <p:attrName>style.visibility</p:attrName>
                                        </p:attrNameLst>
                                      </p:cBhvr>
                                      <p:to>
                                        <p:strVal val="visible"/>
                                      </p:to>
                                    </p:set>
                                    <p:animEffect transition="in" filter="blinds(horizontal)">
                                      <p:cBhvr>
                                        <p:cTn id="7" dur="1000"/>
                                        <p:tgtEl>
                                          <p:spTgt spid="2682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68291">
                                            <p:txEl>
                                              <p:pRg st="2" end="2"/>
                                            </p:txEl>
                                          </p:spTgt>
                                        </p:tgtEl>
                                        <p:attrNameLst>
                                          <p:attrName>style.visibility</p:attrName>
                                        </p:attrNameLst>
                                      </p:cBhvr>
                                      <p:to>
                                        <p:strVal val="visible"/>
                                      </p:to>
                                    </p:set>
                                    <p:animEffect transition="in" filter="blinds(horizontal)">
                                      <p:cBhvr>
                                        <p:cTn id="12" dur="1000"/>
                                        <p:tgtEl>
                                          <p:spTgt spid="2682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68291">
                                            <p:txEl>
                                              <p:pRg st="3" end="3"/>
                                            </p:txEl>
                                          </p:spTgt>
                                        </p:tgtEl>
                                        <p:attrNameLst>
                                          <p:attrName>style.visibility</p:attrName>
                                        </p:attrNameLst>
                                      </p:cBhvr>
                                      <p:to>
                                        <p:strVal val="visible"/>
                                      </p:to>
                                    </p:set>
                                    <p:animEffect transition="in" filter="blinds(horizontal)">
                                      <p:cBhvr>
                                        <p:cTn id="17" dur="1000"/>
                                        <p:tgtEl>
                                          <p:spTgt spid="2682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8291">
                                            <p:txEl>
                                              <p:pRg st="4" end="4"/>
                                            </p:txEl>
                                          </p:spTgt>
                                        </p:tgtEl>
                                        <p:attrNameLst>
                                          <p:attrName>style.visibility</p:attrName>
                                        </p:attrNameLst>
                                      </p:cBhvr>
                                      <p:to>
                                        <p:strVal val="visible"/>
                                      </p:to>
                                    </p:set>
                                    <p:animEffect transition="in" filter="blinds(horizontal)">
                                      <p:cBhvr>
                                        <p:cTn id="22" dur="1000"/>
                                        <p:tgtEl>
                                          <p:spTgt spid="2682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68291">
                                            <p:txEl>
                                              <p:pRg st="5" end="5"/>
                                            </p:txEl>
                                          </p:spTgt>
                                        </p:tgtEl>
                                        <p:attrNameLst>
                                          <p:attrName>style.visibility</p:attrName>
                                        </p:attrNameLst>
                                      </p:cBhvr>
                                      <p:to>
                                        <p:strVal val="visible"/>
                                      </p:to>
                                    </p:set>
                                    <p:animEffect transition="in" filter="blinds(horizontal)">
                                      <p:cBhvr>
                                        <p:cTn id="27" dur="1000"/>
                                        <p:tgtEl>
                                          <p:spTgt spid="268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0619B4B6-47B7-903A-5137-3926F54173A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D994254-FA0B-4E65-B89F-84F827B5A713}" type="slidenum">
              <a:rPr lang="en-US" altLang="zh-CN" sz="1200">
                <a:solidFill>
                  <a:srgbClr val="000000"/>
                </a:solidFill>
                <a:latin typeface="Arial" panose="020B0604020202020204" pitchFamily="34" charset="0"/>
              </a:rPr>
              <a:pPr fontAlgn="base">
                <a:spcBef>
                  <a:spcPct val="0"/>
                </a:spcBef>
                <a:spcAft>
                  <a:spcPct val="0"/>
                </a:spcAft>
              </a:pPr>
              <a:t>10</a:t>
            </a:fld>
            <a:endParaRPr lang="en-US" altLang="zh-CN" sz="1200">
              <a:solidFill>
                <a:srgbClr val="000000"/>
              </a:solidFill>
              <a:latin typeface="Arial" panose="020B0604020202020204" pitchFamily="34" charset="0"/>
            </a:endParaRPr>
          </a:p>
        </p:txBody>
      </p:sp>
      <p:sp>
        <p:nvSpPr>
          <p:cNvPr id="13315" name="Rectangle 2">
            <a:extLst>
              <a:ext uri="{FF2B5EF4-FFF2-40B4-BE49-F238E27FC236}">
                <a16:creationId xmlns:a16="http://schemas.microsoft.com/office/drawing/2014/main" id="{92DD43A1-8DB1-7AF6-629A-F40A7649B9AF}"/>
              </a:ext>
            </a:extLst>
          </p:cNvPr>
          <p:cNvSpPr>
            <a:spLocks noGrp="1" noChangeArrowheads="1"/>
          </p:cNvSpPr>
          <p:nvPr>
            <p:ph type="title"/>
          </p:nvPr>
        </p:nvSpPr>
        <p:spPr/>
        <p:txBody>
          <a:bodyPr/>
          <a:lstStyle/>
          <a:p>
            <a:r>
              <a:rPr lang="zh-CN" altLang="en-US"/>
              <a:t>本章内容</a:t>
            </a:r>
          </a:p>
        </p:txBody>
      </p:sp>
      <p:sp>
        <p:nvSpPr>
          <p:cNvPr id="13316" name="Rectangle 3">
            <a:extLst>
              <a:ext uri="{FF2B5EF4-FFF2-40B4-BE49-F238E27FC236}">
                <a16:creationId xmlns:a16="http://schemas.microsoft.com/office/drawing/2014/main" id="{02D18834-AC67-AD63-DA41-1AC385E79A73}"/>
              </a:ext>
            </a:extLst>
          </p:cNvPr>
          <p:cNvSpPr>
            <a:spLocks noGrp="1" noChangeArrowheads="1"/>
          </p:cNvSpPr>
          <p:nvPr>
            <p:ph type="body" idx="1"/>
          </p:nvPr>
        </p:nvSpPr>
        <p:spPr>
          <a:xfrm>
            <a:off x="1981200" y="908051"/>
            <a:ext cx="8229600" cy="5400675"/>
          </a:xfrm>
        </p:spPr>
        <p:txBody>
          <a:bodyPr/>
          <a:lstStyle/>
          <a:p>
            <a:pPr>
              <a:lnSpc>
                <a:spcPct val="120000"/>
              </a:lnSpc>
            </a:pPr>
            <a:r>
              <a:rPr lang="en-US" altLang="zh-CN" sz="2200">
                <a:solidFill>
                  <a:srgbClr val="FF0000"/>
                </a:solidFill>
              </a:rPr>
              <a:t>12.1 </a:t>
            </a:r>
            <a:r>
              <a:rPr lang="zh-CN" altLang="en-US" sz="2200">
                <a:solidFill>
                  <a:srgbClr val="FF0000"/>
                </a:solidFill>
              </a:rPr>
              <a:t>软件体系结构</a:t>
            </a:r>
          </a:p>
          <a:p>
            <a:pPr>
              <a:lnSpc>
                <a:spcPct val="120000"/>
              </a:lnSpc>
            </a:pPr>
            <a:r>
              <a:rPr lang="en-US" altLang="zh-CN" sz="2200"/>
              <a:t>12.2 </a:t>
            </a:r>
            <a:r>
              <a:rPr lang="zh-CN" altLang="en-US" sz="2200"/>
              <a:t>体系结构类型</a:t>
            </a:r>
          </a:p>
          <a:p>
            <a:pPr>
              <a:lnSpc>
                <a:spcPct val="120000"/>
              </a:lnSpc>
            </a:pPr>
            <a:r>
              <a:rPr lang="en-US" altLang="zh-CN" sz="2200"/>
              <a:t>12.3 </a:t>
            </a:r>
            <a:r>
              <a:rPr lang="zh-CN" altLang="en-US" sz="2200"/>
              <a:t>体系结构风格</a:t>
            </a:r>
          </a:p>
          <a:p>
            <a:pPr>
              <a:lnSpc>
                <a:spcPct val="120000"/>
              </a:lnSpc>
            </a:pPr>
            <a:r>
              <a:rPr lang="en-US" altLang="zh-CN" sz="2200"/>
              <a:t>12.4 </a:t>
            </a:r>
            <a:r>
              <a:rPr lang="zh-CN" altLang="en-US" sz="2200"/>
              <a:t>体系结构考虑要素</a:t>
            </a:r>
          </a:p>
          <a:p>
            <a:pPr>
              <a:lnSpc>
                <a:spcPct val="120000"/>
              </a:lnSpc>
            </a:pPr>
            <a:r>
              <a:rPr lang="en-US" altLang="zh-CN" sz="2200"/>
              <a:t>12.5 </a:t>
            </a:r>
            <a:r>
              <a:rPr lang="zh-CN" altLang="en-US" sz="2200"/>
              <a:t>体系结构决策</a:t>
            </a:r>
          </a:p>
          <a:p>
            <a:pPr>
              <a:lnSpc>
                <a:spcPct val="120000"/>
              </a:lnSpc>
            </a:pPr>
            <a:r>
              <a:rPr lang="en-US" altLang="zh-CN" sz="2200"/>
              <a:t>12.6 </a:t>
            </a:r>
            <a:r>
              <a:rPr lang="zh-CN" altLang="en-US" sz="2200"/>
              <a:t>体系结构设计</a:t>
            </a:r>
          </a:p>
          <a:p>
            <a:pPr>
              <a:lnSpc>
                <a:spcPct val="120000"/>
              </a:lnSpc>
            </a:pPr>
            <a:r>
              <a:rPr lang="en-US" altLang="zh-CN" sz="2200"/>
              <a:t>12.7 </a:t>
            </a:r>
            <a:r>
              <a:rPr lang="zh-CN" altLang="en-US" sz="2200"/>
              <a:t>评估候选的体系结构设计</a:t>
            </a:r>
          </a:p>
          <a:p>
            <a:pPr>
              <a:lnSpc>
                <a:spcPct val="120000"/>
              </a:lnSpc>
            </a:pPr>
            <a:r>
              <a:rPr lang="en-US" altLang="zh-CN" sz="2200"/>
              <a:t>12.8 </a:t>
            </a:r>
            <a:r>
              <a:rPr lang="zh-CN" altLang="en-US" sz="2200"/>
              <a:t>经验学习</a:t>
            </a:r>
          </a:p>
          <a:p>
            <a:pPr>
              <a:lnSpc>
                <a:spcPct val="120000"/>
              </a:lnSpc>
            </a:pPr>
            <a:r>
              <a:rPr lang="en-US" altLang="zh-CN" sz="2200"/>
              <a:t>12.9 </a:t>
            </a:r>
            <a:r>
              <a:rPr lang="zh-CN" altLang="en-US" sz="2200"/>
              <a:t>基于模式的体系结构评审</a:t>
            </a:r>
          </a:p>
          <a:p>
            <a:pPr>
              <a:lnSpc>
                <a:spcPct val="120000"/>
              </a:lnSpc>
            </a:pPr>
            <a:r>
              <a:rPr lang="en-US" altLang="zh-CN" sz="2200"/>
              <a:t>12.10 </a:t>
            </a:r>
            <a:r>
              <a:rPr lang="zh-CN" altLang="en-US" sz="2200"/>
              <a:t>体系结构一致性检查</a:t>
            </a:r>
          </a:p>
          <a:p>
            <a:pPr>
              <a:lnSpc>
                <a:spcPct val="120000"/>
              </a:lnSpc>
            </a:pPr>
            <a:r>
              <a:rPr lang="en-US" altLang="zh-CN" sz="2200"/>
              <a:t>12.11 </a:t>
            </a:r>
            <a:r>
              <a:rPr lang="zh-CN" altLang="en-US" sz="2200"/>
              <a:t>敏捷性与体系结构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ACB17702-AF70-A2D8-E8D6-19AD039887C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8F80CE0-362D-4F6D-909A-670736CDBE90}" type="slidenum">
              <a:rPr lang="en-US" altLang="zh-CN" sz="1200">
                <a:solidFill>
                  <a:srgbClr val="000000"/>
                </a:solidFill>
                <a:latin typeface="Arial" panose="020B0604020202020204" pitchFamily="34" charset="0"/>
              </a:rPr>
              <a:pPr fontAlgn="base">
                <a:spcBef>
                  <a:spcPct val="0"/>
                </a:spcBef>
                <a:spcAft>
                  <a:spcPct val="0"/>
                </a:spcAft>
              </a:pPr>
              <a:t>11</a:t>
            </a:fld>
            <a:endParaRPr lang="en-US" altLang="zh-CN" sz="1200">
              <a:solidFill>
                <a:srgbClr val="000000"/>
              </a:solidFill>
              <a:latin typeface="Arial" panose="020B0604020202020204" pitchFamily="34" charset="0"/>
            </a:endParaRPr>
          </a:p>
        </p:txBody>
      </p:sp>
      <p:sp>
        <p:nvSpPr>
          <p:cNvPr id="14339" name="Rectangle 2">
            <a:extLst>
              <a:ext uri="{FF2B5EF4-FFF2-40B4-BE49-F238E27FC236}">
                <a16:creationId xmlns:a16="http://schemas.microsoft.com/office/drawing/2014/main" id="{5EED8480-2D34-3FE9-591A-A3B428384CD0}"/>
              </a:ext>
            </a:extLst>
          </p:cNvPr>
          <p:cNvSpPr>
            <a:spLocks noGrp="1" noChangeArrowheads="1"/>
          </p:cNvSpPr>
          <p:nvPr>
            <p:ph type="title"/>
          </p:nvPr>
        </p:nvSpPr>
        <p:spPr/>
        <p:txBody>
          <a:bodyPr/>
          <a:lstStyle/>
          <a:p>
            <a:r>
              <a:rPr lang="zh-CN" altLang="en-US"/>
              <a:t>体系结构</a:t>
            </a:r>
          </a:p>
        </p:txBody>
      </p:sp>
      <p:sp>
        <p:nvSpPr>
          <p:cNvPr id="216067" name="Rectangle 3">
            <a:extLst>
              <a:ext uri="{FF2B5EF4-FFF2-40B4-BE49-F238E27FC236}">
                <a16:creationId xmlns:a16="http://schemas.microsoft.com/office/drawing/2014/main" id="{A44004B1-DC21-06C2-F0BF-2D7B352E9C66}"/>
              </a:ext>
            </a:extLst>
          </p:cNvPr>
          <p:cNvSpPr>
            <a:spLocks noGrp="1" noChangeArrowheads="1"/>
          </p:cNvSpPr>
          <p:nvPr>
            <p:ph type="body" idx="1"/>
          </p:nvPr>
        </p:nvSpPr>
        <p:spPr>
          <a:xfrm>
            <a:off x="1981200" y="908051"/>
            <a:ext cx="8229600" cy="5078413"/>
          </a:xfrm>
        </p:spPr>
        <p:txBody>
          <a:bodyPr/>
          <a:lstStyle/>
          <a:p>
            <a:pPr>
              <a:lnSpc>
                <a:spcPct val="150000"/>
              </a:lnSpc>
            </a:pPr>
            <a:r>
              <a:rPr lang="zh-CN" altLang="en-US" sz="2000"/>
              <a:t>当你考虑</a:t>
            </a:r>
            <a:r>
              <a:rPr lang="zh-CN" altLang="en-US" sz="2000">
                <a:solidFill>
                  <a:srgbClr val="FF0000"/>
                </a:solidFill>
              </a:rPr>
              <a:t>建筑物的体系结构</a:t>
            </a:r>
            <a:r>
              <a:rPr lang="zh-CN" altLang="en-US" sz="2000"/>
              <a:t>时，脑海中会出现很多不同的属性。在最简单的层面上，会考虑物理结构的</a:t>
            </a:r>
            <a:r>
              <a:rPr lang="zh-CN" altLang="en-US" sz="2000">
                <a:solidFill>
                  <a:srgbClr val="FF0000"/>
                </a:solidFill>
              </a:rPr>
              <a:t>整体形状</a:t>
            </a:r>
            <a:r>
              <a:rPr lang="zh-CN" altLang="en-US" sz="2000"/>
              <a:t>。但在实际中，</a:t>
            </a:r>
            <a:r>
              <a:rPr lang="zh-CN" altLang="en-US" sz="2000">
                <a:solidFill>
                  <a:srgbClr val="FF0000"/>
                </a:solidFill>
              </a:rPr>
              <a:t>体系结构</a:t>
            </a:r>
            <a:r>
              <a:rPr lang="zh-CN" altLang="en-US" sz="2000"/>
              <a:t>还包含更多的方面，它是各种不同</a:t>
            </a:r>
            <a:r>
              <a:rPr lang="zh-CN" altLang="en-US" sz="2000">
                <a:solidFill>
                  <a:srgbClr val="FF0000"/>
                </a:solidFill>
              </a:rPr>
              <a:t>建筑构件</a:t>
            </a:r>
            <a:r>
              <a:rPr lang="zh-CN" altLang="en-US" sz="2000"/>
              <a:t>集成为一个</a:t>
            </a:r>
            <a:r>
              <a:rPr lang="zh-CN" altLang="en-US" sz="2000">
                <a:solidFill>
                  <a:srgbClr val="FF0000"/>
                </a:solidFill>
              </a:rPr>
              <a:t>有机整体</a:t>
            </a:r>
            <a:r>
              <a:rPr lang="zh-CN" altLang="en-US" sz="2000"/>
              <a:t>的方式：</a:t>
            </a:r>
          </a:p>
          <a:p>
            <a:pPr lvl="1">
              <a:lnSpc>
                <a:spcPct val="150000"/>
              </a:lnSpc>
            </a:pPr>
            <a:r>
              <a:rPr lang="zh-CN" altLang="en-US" sz="2000"/>
              <a:t>是建筑</a:t>
            </a:r>
            <a:r>
              <a:rPr lang="zh-CN" altLang="en-US" sz="2000">
                <a:solidFill>
                  <a:srgbClr val="FF0000"/>
                </a:solidFill>
              </a:rPr>
              <a:t>融入所在环境</a:t>
            </a:r>
            <a:r>
              <a:rPr lang="zh-CN" altLang="en-US" sz="2000"/>
              <a:t>并与相邻的其他建筑相互吻合的方式；</a:t>
            </a:r>
            <a:endParaRPr lang="en-US" altLang="zh-CN" sz="2000"/>
          </a:p>
          <a:p>
            <a:pPr lvl="1">
              <a:lnSpc>
                <a:spcPct val="150000"/>
              </a:lnSpc>
            </a:pPr>
            <a:r>
              <a:rPr lang="zh-CN" altLang="en-US" sz="2000"/>
              <a:t>是建筑满足既定目标和</a:t>
            </a:r>
            <a:r>
              <a:rPr lang="zh-CN" altLang="en-US" sz="2000">
                <a:solidFill>
                  <a:srgbClr val="FF0000"/>
                </a:solidFill>
              </a:rPr>
              <a:t>满足主人要求的程度；</a:t>
            </a:r>
          </a:p>
          <a:p>
            <a:pPr lvl="1">
              <a:lnSpc>
                <a:spcPct val="150000"/>
              </a:lnSpc>
            </a:pPr>
            <a:r>
              <a:rPr lang="zh-CN" altLang="en-US" sz="2000"/>
              <a:t>是对结构的一种</a:t>
            </a:r>
            <a:r>
              <a:rPr lang="zh-CN" altLang="en-US" sz="2000">
                <a:solidFill>
                  <a:srgbClr val="FF0000"/>
                </a:solidFill>
              </a:rPr>
              <a:t>美学观感 </a:t>
            </a:r>
            <a:r>
              <a:rPr lang="en-US" altLang="zh-CN" sz="2000"/>
              <a:t>(</a:t>
            </a:r>
            <a:r>
              <a:rPr lang="zh-CN" altLang="en-US" sz="2000"/>
              <a:t>建筑的视觉效果</a:t>
            </a:r>
            <a:r>
              <a:rPr lang="en-US" altLang="zh-CN" sz="2000"/>
              <a:t>)</a:t>
            </a:r>
            <a:r>
              <a:rPr lang="zh-CN" altLang="en-US" sz="2000"/>
              <a:t>，以及纹理、颜色和材料结合在一起创建外观和内部“居住环境</a:t>
            </a:r>
            <a:r>
              <a:rPr lang="en-US" altLang="zh-CN" sz="2000"/>
              <a:t>”</a:t>
            </a:r>
            <a:r>
              <a:rPr lang="zh-CN" altLang="en-US" sz="2000"/>
              <a:t>的方式；</a:t>
            </a:r>
          </a:p>
          <a:p>
            <a:pPr lvl="1">
              <a:lnSpc>
                <a:spcPct val="150000"/>
              </a:lnSpc>
            </a:pPr>
            <a:r>
              <a:rPr lang="zh-CN" altLang="en-US" sz="2000"/>
              <a:t>是很多微小的</a:t>
            </a:r>
            <a:r>
              <a:rPr lang="zh-CN" altLang="en-US" sz="2000">
                <a:solidFill>
                  <a:srgbClr val="FF0000"/>
                </a:solidFill>
              </a:rPr>
              <a:t>细节</a:t>
            </a:r>
            <a:r>
              <a:rPr lang="en-US" altLang="zh-CN" sz="2000"/>
              <a:t>—</a:t>
            </a:r>
            <a:r>
              <a:rPr lang="zh-CN" altLang="en-US" sz="2000"/>
              <a:t>灯具、地板类型、壁挂布置等的设计。</a:t>
            </a:r>
          </a:p>
          <a:p>
            <a:pPr lvl="1">
              <a:lnSpc>
                <a:spcPct val="150000"/>
              </a:lnSpc>
            </a:pPr>
            <a:r>
              <a:rPr lang="zh-CN" altLang="en-US" sz="2000"/>
              <a:t>总而言之，它是</a:t>
            </a:r>
            <a:r>
              <a:rPr lang="zh-CN" altLang="en-US" sz="2000">
                <a:solidFill>
                  <a:srgbClr val="FF0000"/>
                </a:solidFill>
              </a:rPr>
              <a:t>艺术</a:t>
            </a:r>
            <a:r>
              <a:rPr lang="zh-CN"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6067">
                                            <p:txEl>
                                              <p:pRg st="1" end="1"/>
                                            </p:txEl>
                                          </p:spTgt>
                                        </p:tgtEl>
                                        <p:attrNameLst>
                                          <p:attrName>style.visibility</p:attrName>
                                        </p:attrNameLst>
                                      </p:cBhvr>
                                      <p:to>
                                        <p:strVal val="visible"/>
                                      </p:to>
                                    </p:set>
                                    <p:anim calcmode="lin" valueType="num">
                                      <p:cBhvr additive="base">
                                        <p:cTn id="7" dur="1000" fill="hold"/>
                                        <p:tgtEl>
                                          <p:spTgt spid="216067">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160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6067">
                                            <p:txEl>
                                              <p:pRg st="2" end="2"/>
                                            </p:txEl>
                                          </p:spTgt>
                                        </p:tgtEl>
                                        <p:attrNameLst>
                                          <p:attrName>style.visibility</p:attrName>
                                        </p:attrNameLst>
                                      </p:cBhvr>
                                      <p:to>
                                        <p:strVal val="visible"/>
                                      </p:to>
                                    </p:set>
                                    <p:anim calcmode="lin" valueType="num">
                                      <p:cBhvr additive="base">
                                        <p:cTn id="13" dur="1000" fill="hold"/>
                                        <p:tgtEl>
                                          <p:spTgt spid="216067">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160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16067">
                                            <p:txEl>
                                              <p:pRg st="3" end="3"/>
                                            </p:txEl>
                                          </p:spTgt>
                                        </p:tgtEl>
                                        <p:attrNameLst>
                                          <p:attrName>style.visibility</p:attrName>
                                        </p:attrNameLst>
                                      </p:cBhvr>
                                      <p:to>
                                        <p:strVal val="visible"/>
                                      </p:to>
                                    </p:set>
                                    <p:anim calcmode="lin" valueType="num">
                                      <p:cBhvr additive="base">
                                        <p:cTn id="19" dur="1000" fill="hold"/>
                                        <p:tgtEl>
                                          <p:spTgt spid="216067">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16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16067">
                                            <p:txEl>
                                              <p:pRg st="4" end="4"/>
                                            </p:txEl>
                                          </p:spTgt>
                                        </p:tgtEl>
                                        <p:attrNameLst>
                                          <p:attrName>style.visibility</p:attrName>
                                        </p:attrNameLst>
                                      </p:cBhvr>
                                      <p:to>
                                        <p:strVal val="visible"/>
                                      </p:to>
                                    </p:set>
                                    <p:anim calcmode="lin" valueType="num">
                                      <p:cBhvr additive="base">
                                        <p:cTn id="25" dur="1000" fill="hold"/>
                                        <p:tgtEl>
                                          <p:spTgt spid="21606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216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16067">
                                            <p:txEl>
                                              <p:pRg st="5" end="5"/>
                                            </p:txEl>
                                          </p:spTgt>
                                        </p:tgtEl>
                                        <p:attrNameLst>
                                          <p:attrName>style.visibility</p:attrName>
                                        </p:attrNameLst>
                                      </p:cBhvr>
                                      <p:to>
                                        <p:strVal val="visible"/>
                                      </p:to>
                                    </p:set>
                                    <p:anim calcmode="lin" valueType="num">
                                      <p:cBhvr additive="base">
                                        <p:cTn id="31" dur="1000" fill="hold"/>
                                        <p:tgtEl>
                                          <p:spTgt spid="216067">
                                            <p:txEl>
                                              <p:pRg st="5" end="5"/>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2160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4BD8985A-FDEB-BE6B-66F8-A635C42ADDC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1D20B8B-A6B5-43CB-9C9B-113031393CA4}" type="slidenum">
              <a:rPr lang="en-US" altLang="zh-CN" sz="1200">
                <a:solidFill>
                  <a:srgbClr val="000000"/>
                </a:solidFill>
                <a:latin typeface="Arial" panose="020B0604020202020204" pitchFamily="34" charset="0"/>
              </a:rPr>
              <a:pPr fontAlgn="base">
                <a:spcBef>
                  <a:spcPct val="0"/>
                </a:spcBef>
                <a:spcAft>
                  <a:spcPct val="0"/>
                </a:spcAft>
              </a:pPr>
              <a:t>12</a:t>
            </a:fld>
            <a:endParaRPr lang="en-US" altLang="zh-CN" sz="1200">
              <a:solidFill>
                <a:srgbClr val="000000"/>
              </a:solidFill>
              <a:latin typeface="Arial" panose="020B0604020202020204" pitchFamily="34" charset="0"/>
            </a:endParaRPr>
          </a:p>
        </p:txBody>
      </p:sp>
      <p:sp>
        <p:nvSpPr>
          <p:cNvPr id="15363" name="Rectangle 2">
            <a:extLst>
              <a:ext uri="{FF2B5EF4-FFF2-40B4-BE49-F238E27FC236}">
                <a16:creationId xmlns:a16="http://schemas.microsoft.com/office/drawing/2014/main" id="{44C08CFB-7BA7-B99D-8392-1BC9CFD42FFE}"/>
              </a:ext>
            </a:extLst>
          </p:cNvPr>
          <p:cNvSpPr>
            <a:spLocks noGrp="1" noChangeArrowheads="1"/>
          </p:cNvSpPr>
          <p:nvPr>
            <p:ph type="title" idx="4294967295"/>
          </p:nvPr>
        </p:nvSpPr>
        <p:spPr>
          <a:xfrm>
            <a:off x="1919288" y="260351"/>
            <a:ext cx="7772400" cy="576263"/>
          </a:xfrm>
        </p:spPr>
        <p:txBody>
          <a:bodyPr/>
          <a:lstStyle/>
          <a:p>
            <a:pPr eaLnBrk="1" hangingPunct="1"/>
            <a:r>
              <a:rPr lang="zh-CN" altLang="en-US"/>
              <a:t>软件体系结构</a:t>
            </a:r>
          </a:p>
        </p:txBody>
      </p:sp>
      <p:sp>
        <p:nvSpPr>
          <p:cNvPr id="3075" name="Rectangle 3">
            <a:extLst>
              <a:ext uri="{FF2B5EF4-FFF2-40B4-BE49-F238E27FC236}">
                <a16:creationId xmlns:a16="http://schemas.microsoft.com/office/drawing/2014/main" id="{9143B236-BBFA-4F32-DBF2-8ADC4E7498FA}"/>
              </a:ext>
            </a:extLst>
          </p:cNvPr>
          <p:cNvSpPr>
            <a:spLocks noGrp="1" noChangeArrowheads="1"/>
          </p:cNvSpPr>
          <p:nvPr>
            <p:ph idx="4294967295"/>
          </p:nvPr>
        </p:nvSpPr>
        <p:spPr>
          <a:xfrm>
            <a:off x="1919289" y="1484314"/>
            <a:ext cx="8353425" cy="4537075"/>
          </a:xfrm>
        </p:spPr>
        <p:txBody>
          <a:bodyPr/>
          <a:lstStyle/>
          <a:p>
            <a:pPr eaLnBrk="1" hangingPunct="1">
              <a:lnSpc>
                <a:spcPct val="150000"/>
              </a:lnSpc>
              <a:spcBef>
                <a:spcPct val="50000"/>
              </a:spcBef>
            </a:pPr>
            <a:r>
              <a:rPr lang="zh-CN" altLang="en-US"/>
              <a:t>也称</a:t>
            </a:r>
            <a:r>
              <a:rPr lang="zh-CN" altLang="en-US">
                <a:solidFill>
                  <a:schemeClr val="accent2"/>
                </a:solidFill>
              </a:rPr>
              <a:t>架构</a:t>
            </a:r>
            <a:r>
              <a:rPr lang="zh-CN" altLang="en-US"/>
              <a:t>，</a:t>
            </a:r>
            <a:r>
              <a:rPr lang="zh-CN" altLang="en-US">
                <a:solidFill>
                  <a:schemeClr val="tx2"/>
                </a:solidFill>
              </a:rPr>
              <a:t>它是</a:t>
            </a:r>
            <a:r>
              <a:rPr lang="zh-CN" altLang="en-US"/>
              <a:t>系统的一个或多个</a:t>
            </a:r>
            <a:r>
              <a:rPr lang="zh-CN" altLang="en-US">
                <a:solidFill>
                  <a:schemeClr val="accent2"/>
                </a:solidFill>
              </a:rPr>
              <a:t>结构</a:t>
            </a:r>
            <a:r>
              <a:rPr lang="zh-CN" altLang="en-US">
                <a:solidFill>
                  <a:schemeClr val="tx2"/>
                </a:solidFill>
              </a:rPr>
              <a:t>。</a:t>
            </a:r>
          </a:p>
          <a:p>
            <a:pPr lvl="1" eaLnBrk="1" hangingPunct="1">
              <a:lnSpc>
                <a:spcPct val="150000"/>
              </a:lnSpc>
              <a:spcBef>
                <a:spcPct val="50000"/>
              </a:spcBef>
            </a:pPr>
            <a:r>
              <a:rPr lang="zh-CN" altLang="en-US" sz="2000"/>
              <a:t>结构中包括：</a:t>
            </a:r>
            <a:r>
              <a:rPr lang="zh-CN" altLang="en-US" sz="2000">
                <a:solidFill>
                  <a:schemeClr val="accent2"/>
                </a:solidFill>
              </a:rPr>
              <a:t>构件</a:t>
            </a:r>
            <a:r>
              <a:rPr lang="zh-CN" altLang="en-US" sz="2000"/>
              <a:t>，构件的</a:t>
            </a:r>
            <a:r>
              <a:rPr lang="zh-CN" altLang="en-US" sz="2000">
                <a:solidFill>
                  <a:schemeClr val="accent2"/>
                </a:solidFill>
              </a:rPr>
              <a:t>外部可见属性</a:t>
            </a:r>
            <a:r>
              <a:rPr lang="zh-CN" altLang="en-US" sz="2000"/>
              <a:t>以及它们之间的相互</a:t>
            </a:r>
            <a:r>
              <a:rPr lang="zh-CN" altLang="en-US" sz="2000">
                <a:solidFill>
                  <a:schemeClr val="accent2"/>
                </a:solidFill>
              </a:rPr>
              <a:t>关系</a:t>
            </a:r>
            <a:r>
              <a:rPr lang="zh-CN" altLang="en-US" sz="2200"/>
              <a:t>。</a:t>
            </a:r>
          </a:p>
          <a:p>
            <a:pPr eaLnBrk="1" hangingPunct="1">
              <a:lnSpc>
                <a:spcPct val="150000"/>
              </a:lnSpc>
              <a:spcBef>
                <a:spcPct val="50000"/>
              </a:spcBef>
            </a:pPr>
            <a:r>
              <a:rPr lang="zh-CN" altLang="en-US"/>
              <a:t>软件体系结构的作用：</a:t>
            </a:r>
          </a:p>
          <a:p>
            <a:pPr lvl="1" eaLnBrk="1" hangingPunct="1">
              <a:lnSpc>
                <a:spcPct val="150000"/>
              </a:lnSpc>
              <a:spcBef>
                <a:spcPct val="50000"/>
              </a:spcBef>
            </a:pPr>
            <a:r>
              <a:rPr lang="en-US" altLang="zh-CN" sz="2000"/>
              <a:t>(1) </a:t>
            </a:r>
            <a:r>
              <a:rPr lang="zh-CN" altLang="en-US" sz="2000"/>
              <a:t>对设计在</a:t>
            </a:r>
            <a:r>
              <a:rPr lang="zh-CN" altLang="en-US" sz="2000">
                <a:solidFill>
                  <a:srgbClr val="FF0000"/>
                </a:solidFill>
              </a:rPr>
              <a:t>满足规定需求</a:t>
            </a:r>
            <a:r>
              <a:rPr lang="zh-CN" altLang="en-US" sz="2000"/>
              <a:t>方面的</a:t>
            </a:r>
            <a:r>
              <a:rPr lang="zh-CN" altLang="en-US" sz="2000">
                <a:solidFill>
                  <a:srgbClr val="FF0000"/>
                </a:solidFill>
              </a:rPr>
              <a:t>有效性</a:t>
            </a:r>
            <a:r>
              <a:rPr lang="zh-CN" altLang="en-US" sz="2000"/>
              <a:t>进行分析；</a:t>
            </a:r>
          </a:p>
          <a:p>
            <a:pPr lvl="1" eaLnBrk="1" hangingPunct="1">
              <a:lnSpc>
                <a:spcPct val="150000"/>
              </a:lnSpc>
              <a:spcBef>
                <a:spcPct val="50000"/>
              </a:spcBef>
            </a:pPr>
            <a:r>
              <a:rPr lang="en-US" altLang="zh-CN" sz="2000"/>
              <a:t>(2) </a:t>
            </a:r>
            <a:r>
              <a:rPr lang="zh-CN" altLang="en-US" sz="2000"/>
              <a:t>在设计变更相对容易的阶段，考虑体系结构</a:t>
            </a:r>
            <a:r>
              <a:rPr lang="zh-CN" altLang="en-US" sz="2000">
                <a:solidFill>
                  <a:srgbClr val="FF0000"/>
                </a:solidFill>
              </a:rPr>
              <a:t>可能的选择方案；</a:t>
            </a:r>
          </a:p>
          <a:p>
            <a:pPr lvl="1" eaLnBrk="1" hangingPunct="1">
              <a:lnSpc>
                <a:spcPct val="150000"/>
              </a:lnSpc>
              <a:spcBef>
                <a:spcPct val="50000"/>
              </a:spcBef>
            </a:pPr>
            <a:r>
              <a:rPr lang="en-US" altLang="zh-CN" sz="2000"/>
              <a:t>(3) </a:t>
            </a:r>
            <a:r>
              <a:rPr lang="zh-CN" altLang="en-US" sz="2000"/>
              <a:t>降低与软件构造相关联的</a:t>
            </a:r>
            <a:r>
              <a:rPr lang="zh-CN" altLang="en-US" sz="2000">
                <a:solidFill>
                  <a:srgbClr val="FF0000"/>
                </a:solidFill>
              </a:rPr>
              <a:t>风险；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Effect transition="in" filter="blinds(horizontal)">
                                      <p:cBhvr>
                                        <p:cTn id="7" dur="1000"/>
                                        <p:tgtEl>
                                          <p:spTgt spid="30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5">
                                            <p:txEl>
                                              <p:pRg st="2" end="2"/>
                                            </p:txEl>
                                          </p:spTgt>
                                        </p:tgtEl>
                                        <p:attrNameLst>
                                          <p:attrName>style.visibility</p:attrName>
                                        </p:attrNameLst>
                                      </p:cBhvr>
                                      <p:to>
                                        <p:strVal val="visible"/>
                                      </p:to>
                                    </p:set>
                                    <p:animEffect transition="in" filter="blinds(horizontal)">
                                      <p:cBhvr>
                                        <p:cTn id="12" dur="1000"/>
                                        <p:tgtEl>
                                          <p:spTgt spid="30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75">
                                            <p:txEl>
                                              <p:pRg st="3" end="3"/>
                                            </p:txEl>
                                          </p:spTgt>
                                        </p:tgtEl>
                                        <p:attrNameLst>
                                          <p:attrName>style.visibility</p:attrName>
                                        </p:attrNameLst>
                                      </p:cBhvr>
                                      <p:to>
                                        <p:strVal val="visible"/>
                                      </p:to>
                                    </p:set>
                                    <p:animEffect transition="in" filter="blinds(horizontal)">
                                      <p:cBhvr>
                                        <p:cTn id="17" dur="1000"/>
                                        <p:tgtEl>
                                          <p:spTgt spid="30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75">
                                            <p:txEl>
                                              <p:pRg st="4" end="4"/>
                                            </p:txEl>
                                          </p:spTgt>
                                        </p:tgtEl>
                                        <p:attrNameLst>
                                          <p:attrName>style.visibility</p:attrName>
                                        </p:attrNameLst>
                                      </p:cBhvr>
                                      <p:to>
                                        <p:strVal val="visible"/>
                                      </p:to>
                                    </p:set>
                                    <p:animEffect transition="in" filter="blinds(horizontal)">
                                      <p:cBhvr>
                                        <p:cTn id="22" dur="1000"/>
                                        <p:tgtEl>
                                          <p:spTgt spid="307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075">
                                            <p:txEl>
                                              <p:pRg st="5" end="5"/>
                                            </p:txEl>
                                          </p:spTgt>
                                        </p:tgtEl>
                                        <p:attrNameLst>
                                          <p:attrName>style.visibility</p:attrName>
                                        </p:attrNameLst>
                                      </p:cBhvr>
                                      <p:to>
                                        <p:strVal val="visible"/>
                                      </p:to>
                                    </p:set>
                                    <p:animEffect transition="in" filter="blinds(horizontal)">
                                      <p:cBhvr>
                                        <p:cTn id="27" dur="1000"/>
                                        <p:tgtEl>
                                          <p:spTgt spid="30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3D8D9B09-C94C-E2A7-6B56-4CA544F1D2A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7CEFB3F-BFDD-4497-957A-051B0345DEE3}" type="slidenum">
              <a:rPr lang="en-US" altLang="zh-CN" sz="1200">
                <a:solidFill>
                  <a:srgbClr val="000000"/>
                </a:solidFill>
                <a:latin typeface="Arial" panose="020B0604020202020204" pitchFamily="34" charset="0"/>
              </a:rPr>
              <a:pPr fontAlgn="base">
                <a:spcBef>
                  <a:spcPct val="0"/>
                </a:spcBef>
                <a:spcAft>
                  <a:spcPct val="0"/>
                </a:spcAft>
              </a:pPr>
              <a:t>13</a:t>
            </a:fld>
            <a:endParaRPr lang="en-US" altLang="zh-CN" sz="1200">
              <a:solidFill>
                <a:srgbClr val="000000"/>
              </a:solidFill>
              <a:latin typeface="Arial" panose="020B0604020202020204" pitchFamily="34" charset="0"/>
            </a:endParaRPr>
          </a:p>
        </p:txBody>
      </p:sp>
      <p:sp>
        <p:nvSpPr>
          <p:cNvPr id="16387" name="Rectangle 2">
            <a:extLst>
              <a:ext uri="{FF2B5EF4-FFF2-40B4-BE49-F238E27FC236}">
                <a16:creationId xmlns:a16="http://schemas.microsoft.com/office/drawing/2014/main" id="{E2A3781F-04EE-6634-5887-550A0541D6AD}"/>
              </a:ext>
            </a:extLst>
          </p:cNvPr>
          <p:cNvSpPr>
            <a:spLocks noGrp="1" noChangeArrowheads="1"/>
          </p:cNvSpPr>
          <p:nvPr>
            <p:ph type="title"/>
          </p:nvPr>
        </p:nvSpPr>
        <p:spPr/>
        <p:txBody>
          <a:bodyPr/>
          <a:lstStyle/>
          <a:p>
            <a:r>
              <a:rPr lang="zh-CN" altLang="en-US"/>
              <a:t>软件体系结构</a:t>
            </a:r>
          </a:p>
        </p:txBody>
      </p:sp>
      <p:sp>
        <p:nvSpPr>
          <p:cNvPr id="218115" name="Rectangle 3">
            <a:extLst>
              <a:ext uri="{FF2B5EF4-FFF2-40B4-BE49-F238E27FC236}">
                <a16:creationId xmlns:a16="http://schemas.microsoft.com/office/drawing/2014/main" id="{49E0EC18-BFF6-B59F-FFC6-1AA1FEF7213B}"/>
              </a:ext>
            </a:extLst>
          </p:cNvPr>
          <p:cNvSpPr>
            <a:spLocks noGrp="1" noChangeArrowheads="1"/>
          </p:cNvSpPr>
          <p:nvPr>
            <p:ph type="body" idx="1"/>
          </p:nvPr>
        </p:nvSpPr>
        <p:spPr>
          <a:xfrm>
            <a:off x="1981200" y="1268413"/>
            <a:ext cx="8229600" cy="4862512"/>
          </a:xfrm>
        </p:spPr>
        <p:txBody>
          <a:bodyPr/>
          <a:lstStyle/>
          <a:p>
            <a:pPr>
              <a:lnSpc>
                <a:spcPct val="150000"/>
              </a:lnSpc>
              <a:spcBef>
                <a:spcPct val="50000"/>
              </a:spcBef>
            </a:pPr>
            <a:r>
              <a:rPr lang="zh-CN" altLang="en-US"/>
              <a:t>“</a:t>
            </a:r>
            <a:r>
              <a:rPr lang="zh-CN" altLang="en-US">
                <a:solidFill>
                  <a:srgbClr val="FF0000"/>
                </a:solidFill>
              </a:rPr>
              <a:t>体系结构</a:t>
            </a:r>
            <a:r>
              <a:rPr lang="zh-CN" altLang="en-US"/>
              <a:t>”和“</a:t>
            </a:r>
            <a:r>
              <a:rPr lang="zh-CN" altLang="en-US">
                <a:solidFill>
                  <a:srgbClr val="FF0000"/>
                </a:solidFill>
              </a:rPr>
              <a:t>设计</a:t>
            </a:r>
            <a:r>
              <a:rPr lang="zh-CN" altLang="en-US"/>
              <a:t>”这两个术语之间有明显的不同。设计是体系结构的一个</a:t>
            </a:r>
            <a:r>
              <a:rPr lang="zh-CN" altLang="en-US">
                <a:solidFill>
                  <a:srgbClr val="FF0000"/>
                </a:solidFill>
              </a:rPr>
              <a:t>实例</a:t>
            </a:r>
            <a:r>
              <a:rPr lang="zh-CN" altLang="en-US"/>
              <a:t>，类似于对象是类的实例。</a:t>
            </a:r>
          </a:p>
          <a:p>
            <a:pPr lvl="1">
              <a:lnSpc>
                <a:spcPct val="150000"/>
              </a:lnSpc>
              <a:spcBef>
                <a:spcPct val="50000"/>
              </a:spcBef>
            </a:pPr>
            <a:r>
              <a:rPr lang="zh-CN" altLang="en-US" sz="2200"/>
              <a:t>例如，考虑“客户机</a:t>
            </a:r>
            <a:r>
              <a:rPr lang="en-US" altLang="zh-CN" sz="2200"/>
              <a:t>—</a:t>
            </a:r>
            <a:r>
              <a:rPr lang="zh-CN" altLang="en-US" sz="2200"/>
              <a:t>服务器”体系结构，我们可以使用</a:t>
            </a:r>
            <a:r>
              <a:rPr lang="en-US" altLang="zh-CN" sz="2200"/>
              <a:t>Java</a:t>
            </a:r>
            <a:r>
              <a:rPr lang="zh-CN" altLang="en-US" sz="2200"/>
              <a:t>平台 </a:t>
            </a:r>
            <a:r>
              <a:rPr lang="en-US" altLang="zh-CN" sz="2200"/>
              <a:t>(Java EE)</a:t>
            </a:r>
            <a:r>
              <a:rPr lang="zh-CN" altLang="en-US" sz="2200"/>
              <a:t>或者</a:t>
            </a:r>
            <a:r>
              <a:rPr lang="en-US" altLang="zh-CN" sz="2200"/>
              <a:t>Microsoft</a:t>
            </a:r>
            <a:r>
              <a:rPr lang="zh-CN" altLang="en-US" sz="2200"/>
              <a:t>平台 </a:t>
            </a:r>
            <a:r>
              <a:rPr lang="en-US" altLang="zh-CN" sz="2200"/>
              <a:t>(.NET</a:t>
            </a:r>
            <a:r>
              <a:rPr lang="zh-CN" altLang="en-US" sz="2200"/>
              <a:t>框架</a:t>
            </a:r>
            <a:r>
              <a:rPr lang="en-US" altLang="zh-CN" sz="2200"/>
              <a:t>)</a:t>
            </a:r>
            <a:r>
              <a:rPr lang="zh-CN" altLang="en-US" sz="2200"/>
              <a:t>选择基于该体系结构的多种不同的实现方式设计一个以网络为中心的软件系统。</a:t>
            </a:r>
          </a:p>
          <a:p>
            <a:pPr lvl="1">
              <a:lnSpc>
                <a:spcPct val="150000"/>
              </a:lnSpc>
              <a:spcBef>
                <a:spcPct val="50000"/>
              </a:spcBef>
            </a:pPr>
            <a:r>
              <a:rPr lang="zh-CN" altLang="en-US" sz="2200"/>
              <a:t>可见，</a:t>
            </a:r>
            <a:r>
              <a:rPr lang="zh-CN" altLang="en-US" sz="2200">
                <a:solidFill>
                  <a:srgbClr val="FF0000"/>
                </a:solidFill>
              </a:rPr>
              <a:t>对于同一个体系结构</a:t>
            </a:r>
            <a:r>
              <a:rPr lang="zh-CN" altLang="en-US" sz="2200"/>
              <a:t>，可能会产生</a:t>
            </a:r>
            <a:r>
              <a:rPr lang="zh-CN" altLang="en-US" sz="2200">
                <a:solidFill>
                  <a:srgbClr val="FF0000"/>
                </a:solidFill>
              </a:rPr>
              <a:t>多种基于该体系结构的设计</a:t>
            </a:r>
            <a:r>
              <a:rPr lang="zh-CN" altLang="en-US"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18115">
                                            <p:txEl>
                                              <p:pRg st="1" end="1"/>
                                            </p:txEl>
                                          </p:spTgt>
                                        </p:tgtEl>
                                        <p:attrNameLst>
                                          <p:attrName>style.visibility</p:attrName>
                                        </p:attrNameLst>
                                      </p:cBhvr>
                                      <p:to>
                                        <p:strVal val="visible"/>
                                      </p:to>
                                    </p:set>
                                    <p:animEffect transition="in" filter="diamond(in)">
                                      <p:cBhvr>
                                        <p:cTn id="7" dur="1000"/>
                                        <p:tgtEl>
                                          <p:spTgt spid="218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18115">
                                            <p:txEl>
                                              <p:pRg st="2" end="2"/>
                                            </p:txEl>
                                          </p:spTgt>
                                        </p:tgtEl>
                                        <p:attrNameLst>
                                          <p:attrName>style.visibility</p:attrName>
                                        </p:attrNameLst>
                                      </p:cBhvr>
                                      <p:to>
                                        <p:strVal val="visible"/>
                                      </p:to>
                                    </p:set>
                                    <p:animEffect transition="in" filter="diamond(in)">
                                      <p:cBhvr>
                                        <p:cTn id="12" dur="1000"/>
                                        <p:tgtEl>
                                          <p:spTgt spid="2181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39729A98-982B-2253-49BD-56B80ACDDE6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921249D-B047-43EB-B456-834C00E22472}" type="slidenum">
              <a:rPr lang="en-US" altLang="zh-CN" sz="1200">
                <a:solidFill>
                  <a:srgbClr val="000000"/>
                </a:solidFill>
                <a:latin typeface="Arial" panose="020B0604020202020204" pitchFamily="34" charset="0"/>
              </a:rPr>
              <a:pPr fontAlgn="base">
                <a:spcBef>
                  <a:spcPct val="0"/>
                </a:spcBef>
                <a:spcAft>
                  <a:spcPct val="0"/>
                </a:spcAft>
              </a:pPr>
              <a:t>14</a:t>
            </a:fld>
            <a:endParaRPr lang="en-US" altLang="zh-CN" sz="1200">
              <a:solidFill>
                <a:srgbClr val="000000"/>
              </a:solidFill>
              <a:latin typeface="Arial" panose="020B0604020202020204" pitchFamily="34" charset="0"/>
            </a:endParaRPr>
          </a:p>
        </p:txBody>
      </p:sp>
      <p:sp>
        <p:nvSpPr>
          <p:cNvPr id="17411" name="Rectangle 2">
            <a:extLst>
              <a:ext uri="{FF2B5EF4-FFF2-40B4-BE49-F238E27FC236}">
                <a16:creationId xmlns:a16="http://schemas.microsoft.com/office/drawing/2014/main" id="{B0A325D5-4FD2-0007-E7C0-6FC9DED82EC8}"/>
              </a:ext>
            </a:extLst>
          </p:cNvPr>
          <p:cNvSpPr>
            <a:spLocks noGrp="1" noChangeArrowheads="1"/>
          </p:cNvSpPr>
          <p:nvPr>
            <p:ph type="title" idx="4294967295"/>
          </p:nvPr>
        </p:nvSpPr>
        <p:spPr>
          <a:xfrm>
            <a:off x="1919288" y="260351"/>
            <a:ext cx="7772400" cy="792163"/>
          </a:xfrm>
        </p:spPr>
        <p:txBody>
          <a:bodyPr/>
          <a:lstStyle/>
          <a:p>
            <a:pPr eaLnBrk="1" hangingPunct="1"/>
            <a:r>
              <a:rPr lang="zh-CN" altLang="en-US"/>
              <a:t>软件体系结构</a:t>
            </a:r>
          </a:p>
        </p:txBody>
      </p:sp>
      <p:sp>
        <p:nvSpPr>
          <p:cNvPr id="4099" name="Rectangle 3">
            <a:extLst>
              <a:ext uri="{FF2B5EF4-FFF2-40B4-BE49-F238E27FC236}">
                <a16:creationId xmlns:a16="http://schemas.microsoft.com/office/drawing/2014/main" id="{A6CCFE0D-8B5B-4832-B511-00F3EDB05B9B}"/>
              </a:ext>
            </a:extLst>
          </p:cNvPr>
          <p:cNvSpPr>
            <a:spLocks noGrp="1" noChangeArrowheads="1"/>
          </p:cNvSpPr>
          <p:nvPr>
            <p:ph idx="4294967295"/>
          </p:nvPr>
        </p:nvSpPr>
        <p:spPr>
          <a:xfrm>
            <a:off x="1847850" y="1125539"/>
            <a:ext cx="8496300" cy="4967287"/>
          </a:xfrm>
        </p:spPr>
        <p:txBody>
          <a:bodyPr/>
          <a:lstStyle/>
          <a:p>
            <a:pPr eaLnBrk="1" hangingPunct="1">
              <a:lnSpc>
                <a:spcPct val="150000"/>
              </a:lnSpc>
              <a:spcBef>
                <a:spcPct val="25000"/>
              </a:spcBef>
            </a:pPr>
            <a:r>
              <a:rPr lang="zh-CN" altLang="en-US" sz="3000">
                <a:solidFill>
                  <a:srgbClr val="FF0000"/>
                </a:solidFill>
              </a:rPr>
              <a:t>体系结构为何重要？</a:t>
            </a:r>
          </a:p>
          <a:p>
            <a:pPr lvl="1" eaLnBrk="1" hangingPunct="1">
              <a:lnSpc>
                <a:spcPct val="150000"/>
              </a:lnSpc>
              <a:spcBef>
                <a:spcPct val="25000"/>
              </a:spcBef>
              <a:buSzPct val="65000"/>
              <a:buFont typeface="Wingdings" panose="05000000000000000000" pitchFamily="2" charset="2"/>
              <a:buChar char="n"/>
            </a:pPr>
            <a:r>
              <a:rPr lang="zh-CN" altLang="en-US" sz="2600"/>
              <a:t>有助于利益相关者的</a:t>
            </a:r>
            <a:r>
              <a:rPr lang="zh-CN" altLang="en-US" sz="2600">
                <a:solidFill>
                  <a:schemeClr val="accent2"/>
                </a:solidFill>
              </a:rPr>
              <a:t>交流 </a:t>
            </a:r>
            <a:r>
              <a:rPr lang="en-US" altLang="zh-CN" sz="2600"/>
              <a:t>(</a:t>
            </a:r>
            <a:r>
              <a:rPr lang="zh-CN" altLang="en-US" sz="2600"/>
              <a:t>对体系结构的关注点不同</a:t>
            </a:r>
            <a:r>
              <a:rPr lang="en-US" altLang="zh-CN" sz="2600"/>
              <a:t>)</a:t>
            </a:r>
            <a:r>
              <a:rPr lang="zh-CN" altLang="en-US" sz="2600"/>
              <a:t>；</a:t>
            </a:r>
          </a:p>
          <a:p>
            <a:pPr lvl="1" eaLnBrk="1" hangingPunct="1">
              <a:lnSpc>
                <a:spcPct val="150000"/>
              </a:lnSpc>
              <a:spcBef>
                <a:spcPct val="25000"/>
              </a:spcBef>
              <a:buSzPct val="65000"/>
              <a:buFont typeface="Wingdings" panose="05000000000000000000" pitchFamily="2" charset="2"/>
              <a:buChar char="n"/>
            </a:pPr>
            <a:r>
              <a:rPr lang="zh-CN" altLang="en-US" sz="2600"/>
              <a:t>突出了</a:t>
            </a:r>
            <a:r>
              <a:rPr lang="zh-CN" altLang="en-US" sz="2600">
                <a:solidFill>
                  <a:schemeClr val="accent2"/>
                </a:solidFill>
              </a:rPr>
              <a:t>早期设计决策</a:t>
            </a:r>
            <a:r>
              <a:rPr lang="zh-CN" altLang="en-US" sz="2600"/>
              <a:t>，这些决策对随后的软件工程工作有深远影响，同时对系统的成功有重要作用；</a:t>
            </a:r>
          </a:p>
          <a:p>
            <a:pPr lvl="1" eaLnBrk="1" hangingPunct="1">
              <a:lnSpc>
                <a:spcPct val="150000"/>
              </a:lnSpc>
              <a:spcBef>
                <a:spcPct val="25000"/>
              </a:spcBef>
              <a:buSzPct val="65000"/>
              <a:buFont typeface="Wingdings" panose="05000000000000000000" pitchFamily="2" charset="2"/>
              <a:buChar char="n"/>
            </a:pPr>
            <a:r>
              <a:rPr lang="zh-CN" altLang="en-US" sz="2600"/>
              <a:t>构建了一个相对小的，易于理解的</a:t>
            </a:r>
            <a:r>
              <a:rPr lang="zh-CN" altLang="en-US" sz="2600">
                <a:solidFill>
                  <a:schemeClr val="accent2"/>
                </a:solidFill>
              </a:rPr>
              <a:t>模型</a:t>
            </a:r>
            <a:r>
              <a:rPr lang="zh-CN" altLang="en-US" sz="2600"/>
              <a:t>，该模型描述了系统如何</a:t>
            </a:r>
            <a:r>
              <a:rPr lang="zh-CN" altLang="en-US" sz="2600">
                <a:solidFill>
                  <a:schemeClr val="accent2"/>
                </a:solidFill>
              </a:rPr>
              <a:t>构成</a:t>
            </a:r>
            <a:r>
              <a:rPr lang="zh-CN" altLang="en-US" sz="2600"/>
              <a:t>以及其构件如何</a:t>
            </a:r>
            <a:r>
              <a:rPr lang="zh-CN" altLang="en-US" sz="2600">
                <a:solidFill>
                  <a:schemeClr val="accent2"/>
                </a:solidFill>
              </a:rPr>
              <a:t>协同</a:t>
            </a:r>
            <a:r>
              <a:rPr lang="zh-CN" altLang="en-US" sz="2600"/>
              <a:t>工作。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1000"/>
                                        <p:tgtEl>
                                          <p:spTgt spid="40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2" dur="1000"/>
                                        <p:tgtEl>
                                          <p:spTgt spid="40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animEffect transition="in" filter="blinds(horizontal)">
                                      <p:cBhvr>
                                        <p:cTn id="17" dur="1000"/>
                                        <p:tgtEl>
                                          <p:spTgt spid="4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3FA2E671-AD0E-0702-AAF6-5CD15DC74A0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87DCC1F-18D6-4426-8676-4153754C1687}" type="slidenum">
              <a:rPr lang="en-US" altLang="zh-CN" sz="1200">
                <a:solidFill>
                  <a:srgbClr val="000000"/>
                </a:solidFill>
                <a:latin typeface="Arial" panose="020B0604020202020204" pitchFamily="34" charset="0"/>
              </a:rPr>
              <a:pPr fontAlgn="base">
                <a:spcBef>
                  <a:spcPct val="0"/>
                </a:spcBef>
                <a:spcAft>
                  <a:spcPct val="0"/>
                </a:spcAft>
              </a:pPr>
              <a:t>15</a:t>
            </a:fld>
            <a:endParaRPr lang="en-US" altLang="zh-CN" sz="1200">
              <a:solidFill>
                <a:srgbClr val="000000"/>
              </a:solidFill>
              <a:latin typeface="Arial" panose="020B0604020202020204" pitchFamily="34" charset="0"/>
            </a:endParaRPr>
          </a:p>
        </p:txBody>
      </p:sp>
      <p:sp>
        <p:nvSpPr>
          <p:cNvPr id="18435" name="Rectangle 2">
            <a:extLst>
              <a:ext uri="{FF2B5EF4-FFF2-40B4-BE49-F238E27FC236}">
                <a16:creationId xmlns:a16="http://schemas.microsoft.com/office/drawing/2014/main" id="{0E80B684-0DF4-7F8C-39F4-3DE6BF62E3E9}"/>
              </a:ext>
            </a:extLst>
          </p:cNvPr>
          <p:cNvSpPr>
            <a:spLocks noGrp="1" noChangeArrowheads="1"/>
          </p:cNvSpPr>
          <p:nvPr>
            <p:ph type="title"/>
          </p:nvPr>
        </p:nvSpPr>
        <p:spPr/>
        <p:txBody>
          <a:bodyPr/>
          <a:lstStyle/>
          <a:p>
            <a:r>
              <a:rPr lang="zh-CN" altLang="en-US"/>
              <a:t>体系结构描述</a:t>
            </a:r>
          </a:p>
        </p:txBody>
      </p:sp>
      <p:sp>
        <p:nvSpPr>
          <p:cNvPr id="254979" name="Rectangle 3">
            <a:extLst>
              <a:ext uri="{FF2B5EF4-FFF2-40B4-BE49-F238E27FC236}">
                <a16:creationId xmlns:a16="http://schemas.microsoft.com/office/drawing/2014/main" id="{AD0ACB09-7A30-645D-B5D6-D55C738053D4}"/>
              </a:ext>
            </a:extLst>
          </p:cNvPr>
          <p:cNvSpPr>
            <a:spLocks noGrp="1" noChangeArrowheads="1"/>
          </p:cNvSpPr>
          <p:nvPr>
            <p:ph type="body" idx="1"/>
          </p:nvPr>
        </p:nvSpPr>
        <p:spPr/>
        <p:txBody>
          <a:bodyPr/>
          <a:lstStyle/>
          <a:p>
            <a:pPr>
              <a:lnSpc>
                <a:spcPct val="150000"/>
              </a:lnSpc>
            </a:pPr>
            <a:r>
              <a:rPr lang="zh-CN" altLang="en-US" sz="2000"/>
              <a:t>不同的利益相关者会从不同的角度理解体系结构，这个角度是由不同的</a:t>
            </a:r>
            <a:r>
              <a:rPr lang="zh-CN" altLang="en-US" sz="2000">
                <a:solidFill>
                  <a:srgbClr val="FF0000"/>
                </a:solidFill>
              </a:rPr>
              <a:t>关注点驱动</a:t>
            </a:r>
            <a:r>
              <a:rPr lang="zh-CN" altLang="en-US" sz="2000"/>
              <a:t>的。</a:t>
            </a:r>
          </a:p>
          <a:p>
            <a:pPr>
              <a:lnSpc>
                <a:spcPct val="150000"/>
              </a:lnSpc>
            </a:pPr>
            <a:r>
              <a:rPr lang="zh-CN" altLang="en-US" sz="2000"/>
              <a:t>办公大楼的建筑师必须和许多不同利益相关者一起工作：</a:t>
            </a:r>
          </a:p>
          <a:p>
            <a:pPr lvl="1">
              <a:lnSpc>
                <a:spcPct val="150000"/>
              </a:lnSpc>
            </a:pPr>
            <a:r>
              <a:rPr lang="zh-CN" altLang="en-US" sz="1800">
                <a:solidFill>
                  <a:srgbClr val="FF0000"/>
                </a:solidFill>
                <a:latin typeface="楷体_GB2312" pitchFamily="49" charset="-122"/>
                <a:ea typeface="楷体_GB2312" pitchFamily="49" charset="-122"/>
              </a:rPr>
              <a:t>办公楼业主</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一个利益相关者</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关心的主要问题是确保大楼</a:t>
            </a:r>
            <a:r>
              <a:rPr lang="zh-CN" altLang="en-US" sz="1800">
                <a:solidFill>
                  <a:srgbClr val="FF0000"/>
                </a:solidFill>
                <a:latin typeface="楷体_GB2312" pitchFamily="49" charset="-122"/>
                <a:ea typeface="楷体_GB2312" pitchFamily="49" charset="-122"/>
              </a:rPr>
              <a:t>美观</a:t>
            </a:r>
            <a:r>
              <a:rPr lang="zh-CN" altLang="en-US" sz="1800">
                <a:latin typeface="楷体_GB2312" pitchFamily="49" charset="-122"/>
                <a:ea typeface="楷体_GB2312" pitchFamily="49" charset="-122"/>
              </a:rPr>
              <a:t>，以及提供充足的办公空间和基础设施，以保证它的盈利能力。</a:t>
            </a:r>
          </a:p>
          <a:p>
            <a:pPr lvl="1">
              <a:lnSpc>
                <a:spcPct val="150000"/>
              </a:lnSpc>
            </a:pPr>
            <a:r>
              <a:rPr lang="zh-CN" altLang="en-US" sz="1800">
                <a:solidFill>
                  <a:srgbClr val="FF0000"/>
                </a:solidFill>
                <a:latin typeface="楷体_GB2312" pitchFamily="49" charset="-122"/>
                <a:ea typeface="楷体_GB2312" pitchFamily="49" charset="-122"/>
              </a:rPr>
              <a:t>建筑师</a:t>
            </a:r>
            <a:r>
              <a:rPr lang="zh-CN" altLang="en-US" sz="1800">
                <a:latin typeface="楷体_GB2312" pitchFamily="49" charset="-122"/>
                <a:ea typeface="楷体_GB2312" pitchFamily="49" charset="-122"/>
              </a:rPr>
              <a:t>必须使用建筑视图进行描述，以解决业主关心的问题。建筑师使用的是建筑物的</a:t>
            </a:r>
            <a:r>
              <a:rPr lang="zh-CN" altLang="en-US" sz="1800">
                <a:solidFill>
                  <a:srgbClr val="FF0000"/>
                </a:solidFill>
                <a:latin typeface="楷体_GB2312" pitchFamily="49" charset="-122"/>
                <a:ea typeface="楷体_GB2312" pitchFamily="49" charset="-122"/>
              </a:rPr>
              <a:t>三维图纸</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为了说明外观美感</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和一组</a:t>
            </a:r>
            <a:r>
              <a:rPr lang="zh-CN" altLang="en-US" sz="1800">
                <a:solidFill>
                  <a:srgbClr val="FF0000"/>
                </a:solidFill>
                <a:latin typeface="楷体_GB2312" pitchFamily="49" charset="-122"/>
                <a:ea typeface="楷体_GB2312" pitchFamily="49" charset="-122"/>
              </a:rPr>
              <a:t>二维平面图</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为了解决利益相关者关心的办公空间和基础设施问题</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a:t>
            </a:r>
          </a:p>
          <a:p>
            <a:pPr lvl="1">
              <a:lnSpc>
                <a:spcPct val="150000"/>
              </a:lnSpc>
            </a:pPr>
            <a:r>
              <a:rPr lang="zh-CN" altLang="en-US" sz="1800">
                <a:solidFill>
                  <a:srgbClr val="FF0000"/>
                </a:solidFill>
                <a:latin typeface="楷体_GB2312" pitchFamily="49" charset="-122"/>
                <a:ea typeface="楷体_GB2312" pitchFamily="49" charset="-122"/>
              </a:rPr>
              <a:t>结构钢制造商</a:t>
            </a:r>
            <a:r>
              <a:rPr lang="zh-CN" altLang="en-US" sz="1800">
                <a:latin typeface="楷体_GB2312" pitchFamily="49" charset="-122"/>
                <a:ea typeface="楷体_GB2312" pitchFamily="49" charset="-122"/>
              </a:rPr>
              <a:t>将提供建筑骨架所需的钢材。结构钢制造商需要有关支持大楼的结构钢的详细建筑信息，包括</a:t>
            </a:r>
            <a:r>
              <a:rPr lang="zh-CN" altLang="en-US" sz="1800">
                <a:solidFill>
                  <a:srgbClr val="FF0000"/>
                </a:solidFill>
                <a:latin typeface="楷体_GB2312" pitchFamily="49" charset="-122"/>
                <a:ea typeface="楷体_GB2312" pitchFamily="49" charset="-122"/>
              </a:rPr>
              <a:t>钢梁的尺寸</a:t>
            </a:r>
            <a:r>
              <a:rPr lang="zh-CN" altLang="en-US" sz="1800">
                <a:latin typeface="楷体_GB2312" pitchFamily="49" charset="-122"/>
                <a:ea typeface="楷体_GB2312" pitchFamily="49" charset="-122"/>
              </a:rPr>
              <a:t>、</a:t>
            </a:r>
            <a:r>
              <a:rPr lang="zh-CN" altLang="en-US" sz="1800">
                <a:solidFill>
                  <a:srgbClr val="FF0000"/>
                </a:solidFill>
                <a:latin typeface="楷体_GB2312" pitchFamily="49" charset="-122"/>
                <a:ea typeface="楷体_GB2312" pitchFamily="49" charset="-122"/>
              </a:rPr>
              <a:t>连接</a:t>
            </a:r>
            <a:r>
              <a:rPr lang="zh-CN" altLang="en-US" sz="1800">
                <a:latin typeface="楷体_GB2312" pitchFamily="49" charset="-122"/>
                <a:ea typeface="楷体_GB2312" pitchFamily="49" charset="-122"/>
              </a:rPr>
              <a:t>、</a:t>
            </a:r>
            <a:r>
              <a:rPr lang="zh-CN" altLang="en-US" sz="1800">
                <a:solidFill>
                  <a:srgbClr val="FF0000"/>
                </a:solidFill>
                <a:latin typeface="楷体_GB2312" pitchFamily="49" charset="-122"/>
                <a:ea typeface="楷体_GB2312" pitchFamily="49" charset="-122"/>
              </a:rPr>
              <a:t>材料</a:t>
            </a:r>
            <a:r>
              <a:rPr lang="zh-CN" altLang="en-US" sz="1800">
                <a:latin typeface="楷体_GB2312" pitchFamily="49" charset="-122"/>
                <a:ea typeface="楷体_GB2312" pitchFamily="49" charset="-122"/>
              </a:rPr>
              <a:t>和许多其他详细信息。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4979">
                                            <p:txEl>
                                              <p:pRg st="1" end="1"/>
                                            </p:txEl>
                                          </p:spTgt>
                                        </p:tgtEl>
                                        <p:attrNameLst>
                                          <p:attrName>style.visibility</p:attrName>
                                        </p:attrNameLst>
                                      </p:cBhvr>
                                      <p:to>
                                        <p:strVal val="visible"/>
                                      </p:to>
                                    </p:set>
                                    <p:animEffect transition="in" filter="box(in)">
                                      <p:cBhvr>
                                        <p:cTn id="7" dur="1000"/>
                                        <p:tgtEl>
                                          <p:spTgt spid="2549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54979">
                                            <p:txEl>
                                              <p:pRg st="2" end="2"/>
                                            </p:txEl>
                                          </p:spTgt>
                                        </p:tgtEl>
                                        <p:attrNameLst>
                                          <p:attrName>style.visibility</p:attrName>
                                        </p:attrNameLst>
                                      </p:cBhvr>
                                      <p:to>
                                        <p:strVal val="visible"/>
                                      </p:to>
                                    </p:set>
                                    <p:animEffect transition="in" filter="box(in)">
                                      <p:cBhvr>
                                        <p:cTn id="12" dur="1000"/>
                                        <p:tgtEl>
                                          <p:spTgt spid="2549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54979">
                                            <p:txEl>
                                              <p:pRg st="3" end="3"/>
                                            </p:txEl>
                                          </p:spTgt>
                                        </p:tgtEl>
                                        <p:attrNameLst>
                                          <p:attrName>style.visibility</p:attrName>
                                        </p:attrNameLst>
                                      </p:cBhvr>
                                      <p:to>
                                        <p:strVal val="visible"/>
                                      </p:to>
                                    </p:set>
                                    <p:animEffect transition="in" filter="box(in)">
                                      <p:cBhvr>
                                        <p:cTn id="17" dur="1000"/>
                                        <p:tgtEl>
                                          <p:spTgt spid="25497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54979">
                                            <p:txEl>
                                              <p:pRg st="4" end="4"/>
                                            </p:txEl>
                                          </p:spTgt>
                                        </p:tgtEl>
                                        <p:attrNameLst>
                                          <p:attrName>style.visibility</p:attrName>
                                        </p:attrNameLst>
                                      </p:cBhvr>
                                      <p:to>
                                        <p:strVal val="visible"/>
                                      </p:to>
                                    </p:set>
                                    <p:animEffect transition="in" filter="box(in)">
                                      <p:cBhvr>
                                        <p:cTn id="22" dur="1000"/>
                                        <p:tgtEl>
                                          <p:spTgt spid="2549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5C101D5C-5B2C-51FB-115C-665AE44E55C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EF58EC8-BB56-4437-B2D1-D0132D4B3853}" type="slidenum">
              <a:rPr lang="en-US" altLang="zh-CN" sz="1200">
                <a:solidFill>
                  <a:srgbClr val="000000"/>
                </a:solidFill>
                <a:latin typeface="Arial" panose="020B0604020202020204" pitchFamily="34" charset="0"/>
              </a:rPr>
              <a:pPr fontAlgn="base">
                <a:spcBef>
                  <a:spcPct val="0"/>
                </a:spcBef>
                <a:spcAft>
                  <a:spcPct val="0"/>
                </a:spcAft>
              </a:pPr>
              <a:t>16</a:t>
            </a:fld>
            <a:endParaRPr lang="en-US" altLang="zh-CN" sz="1200">
              <a:solidFill>
                <a:srgbClr val="000000"/>
              </a:solidFill>
              <a:latin typeface="Arial" panose="020B0604020202020204" pitchFamily="34" charset="0"/>
            </a:endParaRPr>
          </a:p>
        </p:txBody>
      </p:sp>
      <p:sp>
        <p:nvSpPr>
          <p:cNvPr id="19459" name="Rectangle 2">
            <a:extLst>
              <a:ext uri="{FF2B5EF4-FFF2-40B4-BE49-F238E27FC236}">
                <a16:creationId xmlns:a16="http://schemas.microsoft.com/office/drawing/2014/main" id="{F71E9E6D-EA4B-89E9-5700-D9CF01613F21}"/>
              </a:ext>
            </a:extLst>
          </p:cNvPr>
          <p:cNvSpPr>
            <a:spLocks noGrp="1" noChangeArrowheads="1"/>
          </p:cNvSpPr>
          <p:nvPr>
            <p:ph type="title"/>
          </p:nvPr>
        </p:nvSpPr>
        <p:spPr/>
        <p:txBody>
          <a:bodyPr/>
          <a:lstStyle/>
          <a:p>
            <a:r>
              <a:rPr lang="zh-CN" altLang="en-US"/>
              <a:t>体系结构决策描述模板</a:t>
            </a:r>
          </a:p>
        </p:txBody>
      </p:sp>
      <p:sp>
        <p:nvSpPr>
          <p:cNvPr id="19460" name="Rectangle 3">
            <a:extLst>
              <a:ext uri="{FF2B5EF4-FFF2-40B4-BE49-F238E27FC236}">
                <a16:creationId xmlns:a16="http://schemas.microsoft.com/office/drawing/2014/main" id="{FC8BC959-31E5-62DA-04F9-057F4AE72FD5}"/>
              </a:ext>
            </a:extLst>
          </p:cNvPr>
          <p:cNvSpPr>
            <a:spLocks noGrp="1" noChangeArrowheads="1"/>
          </p:cNvSpPr>
          <p:nvPr>
            <p:ph type="body" idx="1"/>
          </p:nvPr>
        </p:nvSpPr>
        <p:spPr/>
        <p:txBody>
          <a:bodyPr/>
          <a:lstStyle/>
          <a:p>
            <a:pPr>
              <a:lnSpc>
                <a:spcPct val="150000"/>
              </a:lnSpc>
              <a:spcBef>
                <a:spcPct val="40000"/>
              </a:spcBef>
            </a:pPr>
            <a:r>
              <a:rPr lang="zh-CN" altLang="en-US" sz="2200">
                <a:solidFill>
                  <a:srgbClr val="FF0000"/>
                </a:solidFill>
                <a:latin typeface="楷体_GB2312" pitchFamily="49" charset="-122"/>
                <a:ea typeface="楷体_GB2312" pitchFamily="49" charset="-122"/>
              </a:rPr>
              <a:t>设计问题</a:t>
            </a:r>
            <a:r>
              <a:rPr lang="zh-CN" altLang="en-US" sz="2200">
                <a:latin typeface="楷体_GB2312" pitchFamily="49" charset="-122"/>
                <a:ea typeface="楷体_GB2312" pitchFamily="49" charset="-122"/>
              </a:rPr>
              <a:t>：描述将要解决的体系结构设计问题。</a:t>
            </a:r>
          </a:p>
          <a:p>
            <a:pPr>
              <a:lnSpc>
                <a:spcPct val="150000"/>
              </a:lnSpc>
              <a:spcBef>
                <a:spcPct val="40000"/>
              </a:spcBef>
            </a:pPr>
            <a:r>
              <a:rPr lang="zh-CN" altLang="en-US" sz="2200">
                <a:solidFill>
                  <a:srgbClr val="FF0000"/>
                </a:solidFill>
                <a:latin typeface="楷体_GB2312" pitchFamily="49" charset="-122"/>
                <a:ea typeface="楷体_GB2312" pitchFamily="49" charset="-122"/>
              </a:rPr>
              <a:t>解决方案</a:t>
            </a:r>
            <a:r>
              <a:rPr lang="zh-CN" altLang="en-US" sz="2200">
                <a:latin typeface="楷体_GB2312" pitchFamily="49" charset="-122"/>
                <a:ea typeface="楷体_GB2312" pitchFamily="49" charset="-122"/>
              </a:rPr>
              <a:t>：陈述所选择的解决设计问题的方法。</a:t>
            </a:r>
          </a:p>
          <a:p>
            <a:pPr>
              <a:lnSpc>
                <a:spcPct val="150000"/>
              </a:lnSpc>
              <a:spcBef>
                <a:spcPct val="40000"/>
              </a:spcBef>
            </a:pPr>
            <a:r>
              <a:rPr lang="zh-CN" altLang="en-US" sz="2200">
                <a:solidFill>
                  <a:srgbClr val="FF0000"/>
                </a:solidFill>
                <a:latin typeface="楷体_GB2312" pitchFamily="49" charset="-122"/>
                <a:ea typeface="楷体_GB2312" pitchFamily="49" charset="-122"/>
              </a:rPr>
              <a:t>分类</a:t>
            </a:r>
            <a:r>
              <a:rPr lang="zh-CN" altLang="en-US" sz="2200">
                <a:latin typeface="楷体_GB2312" pitchFamily="49" charset="-122"/>
                <a:ea typeface="楷体_GB2312" pitchFamily="49" charset="-122"/>
              </a:rPr>
              <a:t>：指定问题和解决方案陈述的分类</a:t>
            </a:r>
            <a:r>
              <a:rPr lang="en-US" altLang="zh-CN" sz="2200">
                <a:latin typeface="楷体_GB2312" pitchFamily="49" charset="-122"/>
                <a:ea typeface="楷体_GB2312" pitchFamily="49" charset="-122"/>
              </a:rPr>
              <a:t>(</a:t>
            </a:r>
            <a:r>
              <a:rPr lang="zh-CN" altLang="en-US" sz="2200">
                <a:latin typeface="楷体_GB2312" pitchFamily="49" charset="-122"/>
                <a:ea typeface="楷体_GB2312" pitchFamily="49" charset="-122"/>
              </a:rPr>
              <a:t>例如，数据设计、内容结构、构件结构、集成</a:t>
            </a:r>
            <a:r>
              <a:rPr lang="en-US" altLang="zh-CN" sz="2200">
                <a:latin typeface="楷体_GB2312" pitchFamily="49" charset="-122"/>
                <a:ea typeface="楷体_GB2312" pitchFamily="49" charset="-122"/>
              </a:rPr>
              <a:t>)</a:t>
            </a:r>
          </a:p>
          <a:p>
            <a:pPr>
              <a:lnSpc>
                <a:spcPct val="150000"/>
              </a:lnSpc>
              <a:spcBef>
                <a:spcPct val="40000"/>
              </a:spcBef>
            </a:pPr>
            <a:r>
              <a:rPr lang="zh-CN" altLang="en-US" sz="2200">
                <a:solidFill>
                  <a:srgbClr val="FF0000"/>
                </a:solidFill>
                <a:latin typeface="楷体_GB2312" pitchFamily="49" charset="-122"/>
                <a:ea typeface="楷体_GB2312" pitchFamily="49" charset="-122"/>
              </a:rPr>
              <a:t>假设</a:t>
            </a:r>
            <a:r>
              <a:rPr lang="zh-CN" altLang="en-US" sz="2200">
                <a:latin typeface="楷体_GB2312" pitchFamily="49" charset="-122"/>
                <a:ea typeface="楷体_GB2312" pitchFamily="49" charset="-122"/>
              </a:rPr>
              <a:t>：指出任何有助于制定决策的假设。</a:t>
            </a:r>
          </a:p>
          <a:p>
            <a:pPr>
              <a:lnSpc>
                <a:spcPct val="150000"/>
              </a:lnSpc>
              <a:spcBef>
                <a:spcPct val="40000"/>
              </a:spcBef>
            </a:pPr>
            <a:r>
              <a:rPr lang="zh-CN" altLang="en-US" sz="2200">
                <a:solidFill>
                  <a:srgbClr val="FF0000"/>
                </a:solidFill>
                <a:latin typeface="楷体_GB2312" pitchFamily="49" charset="-122"/>
                <a:ea typeface="楷体_GB2312" pitchFamily="49" charset="-122"/>
              </a:rPr>
              <a:t>约束</a:t>
            </a:r>
            <a:r>
              <a:rPr lang="zh-CN" altLang="en-US" sz="2200">
                <a:latin typeface="楷体_GB2312" pitchFamily="49" charset="-122"/>
                <a:ea typeface="楷体_GB2312" pitchFamily="49" charset="-122"/>
              </a:rPr>
              <a:t>：指定任何有助于制定决策的环境约束</a:t>
            </a:r>
            <a:r>
              <a:rPr lang="en-US" altLang="zh-CN" sz="2200">
                <a:latin typeface="楷体_GB2312" pitchFamily="49" charset="-122"/>
                <a:ea typeface="楷体_GB2312" pitchFamily="49" charset="-122"/>
              </a:rPr>
              <a:t>(</a:t>
            </a:r>
            <a:r>
              <a:rPr lang="zh-CN" altLang="en-US" sz="2200">
                <a:latin typeface="楷体_GB2312" pitchFamily="49" charset="-122"/>
                <a:ea typeface="楷体_GB2312" pitchFamily="49" charset="-122"/>
              </a:rPr>
              <a:t>例如，技术标准、可用的模式、项目相关问题</a:t>
            </a:r>
            <a:r>
              <a:rPr lang="en-US" altLang="zh-CN" sz="2200">
                <a:latin typeface="楷体_GB2312" pitchFamily="49" charset="-122"/>
                <a:ea typeface="楷体_GB2312" pitchFamily="49" charset="-122"/>
              </a:rPr>
              <a:t>)</a:t>
            </a:r>
            <a:r>
              <a:rPr lang="zh-CN" altLang="en-US" sz="2200">
                <a:latin typeface="楷体_GB2312" pitchFamily="49" charset="-122"/>
                <a:ea typeface="楷体_GB2312" pitchFamily="49" charset="-122"/>
              </a:rPr>
              <a:t>。</a:t>
            </a:r>
          </a:p>
          <a:p>
            <a:pPr>
              <a:lnSpc>
                <a:spcPct val="150000"/>
              </a:lnSpc>
              <a:spcBef>
                <a:spcPct val="40000"/>
              </a:spcBef>
            </a:pPr>
            <a:r>
              <a:rPr lang="zh-CN" altLang="en-US" sz="2200">
                <a:solidFill>
                  <a:srgbClr val="FF0000"/>
                </a:solidFill>
                <a:latin typeface="楷体_GB2312" pitchFamily="49" charset="-122"/>
                <a:ea typeface="楷体_GB2312" pitchFamily="49" charset="-122"/>
              </a:rPr>
              <a:t>候选方案</a:t>
            </a:r>
            <a:r>
              <a:rPr lang="zh-CN" altLang="en-US" sz="2200">
                <a:latin typeface="楷体_GB2312" pitchFamily="49" charset="-122"/>
                <a:ea typeface="楷体_GB2312" pitchFamily="49" charset="-122"/>
              </a:rPr>
              <a:t>：简要描述所考虑的体系结构设计候选方案。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9FB0348D-CC60-FAF1-0C51-B6CFDD7F802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AE17DB9-4A6C-4D1A-A2B7-453F6BBD1038}" type="slidenum">
              <a:rPr lang="en-US" altLang="zh-CN" sz="1200">
                <a:solidFill>
                  <a:srgbClr val="000000"/>
                </a:solidFill>
                <a:latin typeface="Arial" panose="020B0604020202020204" pitchFamily="34" charset="0"/>
              </a:rPr>
              <a:pPr fontAlgn="base">
                <a:spcBef>
                  <a:spcPct val="0"/>
                </a:spcBef>
                <a:spcAft>
                  <a:spcPct val="0"/>
                </a:spcAft>
              </a:pPr>
              <a:t>17</a:t>
            </a:fld>
            <a:endParaRPr lang="en-US" altLang="zh-CN" sz="1200">
              <a:solidFill>
                <a:srgbClr val="000000"/>
              </a:solidFill>
              <a:latin typeface="Arial" panose="020B0604020202020204" pitchFamily="34" charset="0"/>
            </a:endParaRPr>
          </a:p>
        </p:txBody>
      </p:sp>
      <p:sp>
        <p:nvSpPr>
          <p:cNvPr id="20483" name="Rectangle 2">
            <a:extLst>
              <a:ext uri="{FF2B5EF4-FFF2-40B4-BE49-F238E27FC236}">
                <a16:creationId xmlns:a16="http://schemas.microsoft.com/office/drawing/2014/main" id="{36A69E39-C4C0-ED1D-00E2-23F9F65A2048}"/>
              </a:ext>
            </a:extLst>
          </p:cNvPr>
          <p:cNvSpPr>
            <a:spLocks noGrp="1" noChangeArrowheads="1"/>
          </p:cNvSpPr>
          <p:nvPr>
            <p:ph type="title"/>
          </p:nvPr>
        </p:nvSpPr>
        <p:spPr/>
        <p:txBody>
          <a:bodyPr/>
          <a:lstStyle/>
          <a:p>
            <a:r>
              <a:rPr lang="zh-CN" altLang="en-US"/>
              <a:t>体系结构决策描述模板</a:t>
            </a:r>
            <a:r>
              <a:rPr lang="en-US" altLang="zh-CN"/>
              <a:t>(2)</a:t>
            </a:r>
          </a:p>
        </p:txBody>
      </p:sp>
      <p:sp>
        <p:nvSpPr>
          <p:cNvPr id="20484" name="Rectangle 3">
            <a:extLst>
              <a:ext uri="{FF2B5EF4-FFF2-40B4-BE49-F238E27FC236}">
                <a16:creationId xmlns:a16="http://schemas.microsoft.com/office/drawing/2014/main" id="{3BCA388E-C6A2-87A1-D08D-BB51E642C72F}"/>
              </a:ext>
            </a:extLst>
          </p:cNvPr>
          <p:cNvSpPr>
            <a:spLocks noGrp="1" noChangeArrowheads="1"/>
          </p:cNvSpPr>
          <p:nvPr>
            <p:ph type="body" idx="1"/>
          </p:nvPr>
        </p:nvSpPr>
        <p:spPr>
          <a:xfrm>
            <a:off x="1981200" y="1196976"/>
            <a:ext cx="8229600" cy="4862513"/>
          </a:xfrm>
        </p:spPr>
        <p:txBody>
          <a:bodyPr/>
          <a:lstStyle/>
          <a:p>
            <a:pPr>
              <a:lnSpc>
                <a:spcPct val="150000"/>
              </a:lnSpc>
              <a:spcBef>
                <a:spcPct val="50000"/>
              </a:spcBef>
            </a:pPr>
            <a:r>
              <a:rPr lang="zh-CN" altLang="en-US" sz="2200">
                <a:solidFill>
                  <a:srgbClr val="FF0000"/>
                </a:solidFill>
                <a:latin typeface="楷体_GB2312" pitchFamily="49" charset="-122"/>
                <a:ea typeface="楷体_GB2312" pitchFamily="49" charset="-122"/>
              </a:rPr>
              <a:t>争论</a:t>
            </a:r>
            <a:r>
              <a:rPr lang="zh-CN" altLang="en-US" sz="2200">
                <a:latin typeface="楷体_GB2312" pitchFamily="49" charset="-122"/>
                <a:ea typeface="楷体_GB2312" pitchFamily="49" charset="-122"/>
              </a:rPr>
              <a:t>：陈述为什么选择这种解决方案而不是其他的候选方案。</a:t>
            </a:r>
          </a:p>
          <a:p>
            <a:pPr>
              <a:lnSpc>
                <a:spcPct val="150000"/>
              </a:lnSpc>
              <a:spcBef>
                <a:spcPct val="50000"/>
              </a:spcBef>
            </a:pPr>
            <a:r>
              <a:rPr lang="zh-CN" altLang="en-US" sz="2200">
                <a:solidFill>
                  <a:srgbClr val="FF0000"/>
                </a:solidFill>
                <a:latin typeface="楷体_GB2312" pitchFamily="49" charset="-122"/>
                <a:ea typeface="楷体_GB2312" pitchFamily="49" charset="-122"/>
              </a:rPr>
              <a:t>意义</a:t>
            </a:r>
            <a:r>
              <a:rPr lang="zh-CN" altLang="en-US" sz="2200">
                <a:latin typeface="楷体_GB2312" pitchFamily="49" charset="-122"/>
                <a:ea typeface="楷体_GB2312" pitchFamily="49" charset="-122"/>
              </a:rPr>
              <a:t>：指出</a:t>
            </a:r>
            <a:r>
              <a:rPr lang="zh-CN" altLang="en-US" sz="2200">
                <a:solidFill>
                  <a:srgbClr val="FF0000"/>
                </a:solidFill>
                <a:latin typeface="楷体_GB2312" pitchFamily="49" charset="-122"/>
                <a:ea typeface="楷体_GB2312" pitchFamily="49" charset="-122"/>
              </a:rPr>
              <a:t>制定决策对设计的影响</a:t>
            </a:r>
            <a:r>
              <a:rPr lang="zh-CN" altLang="en-US" sz="2200">
                <a:latin typeface="楷体_GB2312" pitchFamily="49" charset="-122"/>
                <a:ea typeface="楷体_GB2312" pitchFamily="49" charset="-122"/>
              </a:rPr>
              <a:t>。选择的解决方案会在某种程度上约束设计吗</a:t>
            </a:r>
            <a:r>
              <a:rPr lang="en-US" altLang="zh-CN" sz="2200">
                <a:latin typeface="楷体_GB2312" pitchFamily="49" charset="-122"/>
                <a:ea typeface="楷体_GB2312" pitchFamily="49" charset="-122"/>
              </a:rPr>
              <a:t>?</a:t>
            </a:r>
          </a:p>
          <a:p>
            <a:pPr>
              <a:lnSpc>
                <a:spcPct val="150000"/>
              </a:lnSpc>
              <a:spcBef>
                <a:spcPct val="50000"/>
              </a:spcBef>
            </a:pPr>
            <a:r>
              <a:rPr lang="zh-CN" altLang="en-US" sz="2200">
                <a:solidFill>
                  <a:srgbClr val="FF0000"/>
                </a:solidFill>
                <a:latin typeface="楷体_GB2312" pitchFamily="49" charset="-122"/>
                <a:ea typeface="楷体_GB2312" pitchFamily="49" charset="-122"/>
              </a:rPr>
              <a:t>相关决策</a:t>
            </a:r>
            <a:r>
              <a:rPr lang="zh-CN" altLang="en-US" sz="2200">
                <a:latin typeface="楷体_GB2312" pitchFamily="49" charset="-122"/>
                <a:ea typeface="楷体_GB2312" pitchFamily="49" charset="-122"/>
              </a:rPr>
              <a:t>：其他记录的决策和该决策有什么相关性</a:t>
            </a:r>
            <a:r>
              <a:rPr lang="en-US" altLang="zh-CN" sz="2200">
                <a:latin typeface="楷体_GB2312" pitchFamily="49" charset="-122"/>
                <a:ea typeface="楷体_GB2312" pitchFamily="49" charset="-122"/>
              </a:rPr>
              <a:t>?</a:t>
            </a:r>
          </a:p>
          <a:p>
            <a:pPr>
              <a:lnSpc>
                <a:spcPct val="150000"/>
              </a:lnSpc>
              <a:spcBef>
                <a:spcPct val="50000"/>
              </a:spcBef>
            </a:pPr>
            <a:r>
              <a:rPr lang="zh-CN" altLang="en-US" sz="2200">
                <a:solidFill>
                  <a:srgbClr val="FF0000"/>
                </a:solidFill>
                <a:latin typeface="楷体_GB2312" pitchFamily="49" charset="-122"/>
                <a:ea typeface="楷体_GB2312" pitchFamily="49" charset="-122"/>
              </a:rPr>
              <a:t>相关关注点</a:t>
            </a:r>
            <a:r>
              <a:rPr lang="zh-CN" altLang="en-US" sz="2200">
                <a:latin typeface="楷体_GB2312" pitchFamily="49" charset="-122"/>
                <a:ea typeface="楷体_GB2312" pitchFamily="49" charset="-122"/>
              </a:rPr>
              <a:t>：其他相关的需求和该决策有什么相关性</a:t>
            </a:r>
            <a:r>
              <a:rPr lang="en-US" altLang="zh-CN" sz="2200">
                <a:latin typeface="楷体_GB2312" pitchFamily="49" charset="-122"/>
                <a:ea typeface="楷体_GB2312" pitchFamily="49" charset="-122"/>
              </a:rPr>
              <a:t>?</a:t>
            </a:r>
          </a:p>
          <a:p>
            <a:pPr>
              <a:lnSpc>
                <a:spcPct val="150000"/>
              </a:lnSpc>
              <a:spcBef>
                <a:spcPct val="50000"/>
              </a:spcBef>
            </a:pPr>
            <a:r>
              <a:rPr lang="zh-CN" altLang="en-US" sz="2200">
                <a:solidFill>
                  <a:srgbClr val="FF0000"/>
                </a:solidFill>
                <a:latin typeface="楷体_GB2312" pitchFamily="49" charset="-122"/>
                <a:ea typeface="楷体_GB2312" pitchFamily="49" charset="-122"/>
              </a:rPr>
              <a:t>工作产品</a:t>
            </a:r>
            <a:r>
              <a:rPr lang="zh-CN" altLang="en-US" sz="2200">
                <a:latin typeface="楷体_GB2312" pitchFamily="49" charset="-122"/>
                <a:ea typeface="楷体_GB2312" pitchFamily="49" charset="-122"/>
              </a:rPr>
              <a:t>：指出在体系结构描述中，决策会在哪里体现出来。</a:t>
            </a:r>
          </a:p>
          <a:p>
            <a:pPr>
              <a:lnSpc>
                <a:spcPct val="150000"/>
              </a:lnSpc>
              <a:spcBef>
                <a:spcPct val="50000"/>
              </a:spcBef>
            </a:pPr>
            <a:r>
              <a:rPr lang="zh-CN" altLang="en-US" sz="2200">
                <a:solidFill>
                  <a:srgbClr val="FF0000"/>
                </a:solidFill>
                <a:latin typeface="楷体_GB2312" pitchFamily="49" charset="-122"/>
                <a:ea typeface="楷体_GB2312" pitchFamily="49" charset="-122"/>
              </a:rPr>
              <a:t>注释</a:t>
            </a:r>
            <a:r>
              <a:rPr lang="zh-CN" altLang="en-US" sz="2200">
                <a:latin typeface="楷体_GB2312" pitchFamily="49" charset="-122"/>
                <a:ea typeface="楷体_GB2312" pitchFamily="49" charset="-122"/>
              </a:rPr>
              <a:t>：其他团队的备忘录或文档。</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6">
            <a:extLst>
              <a:ext uri="{FF2B5EF4-FFF2-40B4-BE49-F238E27FC236}">
                <a16:creationId xmlns:a16="http://schemas.microsoft.com/office/drawing/2014/main" id="{363CF789-87FF-DE1A-C1DB-4609FBF0017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B12B967-4381-457C-AFA4-1333002FA818}" type="slidenum">
              <a:rPr lang="en-US" altLang="zh-CN" sz="1200">
                <a:solidFill>
                  <a:srgbClr val="000000"/>
                </a:solidFill>
                <a:latin typeface="Arial" panose="020B0604020202020204" pitchFamily="34" charset="0"/>
              </a:rPr>
              <a:pPr fontAlgn="base">
                <a:spcBef>
                  <a:spcPct val="0"/>
                </a:spcBef>
                <a:spcAft>
                  <a:spcPct val="0"/>
                </a:spcAft>
              </a:pPr>
              <a:t>18</a:t>
            </a:fld>
            <a:endParaRPr lang="en-US" altLang="zh-CN" sz="1200">
              <a:solidFill>
                <a:srgbClr val="000000"/>
              </a:solidFill>
              <a:latin typeface="Arial" panose="020B0604020202020204" pitchFamily="34" charset="0"/>
            </a:endParaRPr>
          </a:p>
        </p:txBody>
      </p:sp>
      <p:sp>
        <p:nvSpPr>
          <p:cNvPr id="63490" name="Rectangle 2">
            <a:extLst>
              <a:ext uri="{FF2B5EF4-FFF2-40B4-BE49-F238E27FC236}">
                <a16:creationId xmlns:a16="http://schemas.microsoft.com/office/drawing/2014/main" id="{35E03DD3-D04E-A942-997D-4C6F8C13909F}"/>
              </a:ext>
            </a:extLst>
          </p:cNvPr>
          <p:cNvSpPr>
            <a:spLocks noGrp="1" noChangeArrowheads="1"/>
          </p:cNvSpPr>
          <p:nvPr>
            <p:ph type="title" idx="4294967295"/>
          </p:nvPr>
        </p:nvSpPr>
        <p:spPr/>
        <p:txBody>
          <a:bodyPr/>
          <a:lstStyle/>
          <a:p>
            <a:pPr eaLnBrk="1" hangingPunct="1"/>
            <a:r>
              <a:rPr lang="zh-CN" altLang="en-US"/>
              <a:t>什么是构件</a:t>
            </a:r>
          </a:p>
        </p:txBody>
      </p:sp>
      <p:sp>
        <p:nvSpPr>
          <p:cNvPr id="3075" name="Rectangle 3">
            <a:extLst>
              <a:ext uri="{FF2B5EF4-FFF2-40B4-BE49-F238E27FC236}">
                <a16:creationId xmlns:a16="http://schemas.microsoft.com/office/drawing/2014/main" id="{4328E33C-8591-6ACD-BC4B-85541E508CE5}"/>
              </a:ext>
            </a:extLst>
          </p:cNvPr>
          <p:cNvSpPr>
            <a:spLocks noGrp="1" noChangeArrowheads="1"/>
          </p:cNvSpPr>
          <p:nvPr>
            <p:ph idx="4294967295"/>
          </p:nvPr>
        </p:nvSpPr>
        <p:spPr>
          <a:xfrm>
            <a:off x="1847851" y="981075"/>
            <a:ext cx="8424863" cy="4895850"/>
          </a:xfrm>
        </p:spPr>
        <p:txBody>
          <a:bodyPr/>
          <a:lstStyle/>
          <a:p>
            <a:pPr eaLnBrk="1" hangingPunct="1">
              <a:lnSpc>
                <a:spcPct val="150000"/>
              </a:lnSpc>
              <a:spcBef>
                <a:spcPct val="35000"/>
              </a:spcBef>
            </a:pPr>
            <a:r>
              <a:rPr lang="zh-CN" altLang="en-US"/>
              <a:t>通俗地讲，构件是一段</a:t>
            </a:r>
            <a:r>
              <a:rPr lang="zh-CN" altLang="en-US">
                <a:solidFill>
                  <a:srgbClr val="FF0000"/>
                </a:solidFill>
              </a:rPr>
              <a:t>程序</a:t>
            </a:r>
            <a:r>
              <a:rPr lang="zh-CN" altLang="en-US"/>
              <a:t>，该程序能完成一段相对独立的功能，并有一定的</a:t>
            </a:r>
            <a:r>
              <a:rPr lang="zh-CN" altLang="en-US">
                <a:solidFill>
                  <a:srgbClr val="FF0000"/>
                </a:solidFill>
              </a:rPr>
              <a:t>通用性</a:t>
            </a:r>
            <a:r>
              <a:rPr lang="zh-CN" altLang="en-US"/>
              <a:t>。</a:t>
            </a:r>
            <a:endParaRPr lang="en-US" altLang="zh-CN"/>
          </a:p>
          <a:p>
            <a:pPr eaLnBrk="1" hangingPunct="1">
              <a:lnSpc>
                <a:spcPct val="150000"/>
              </a:lnSpc>
              <a:spcBef>
                <a:spcPct val="35000"/>
              </a:spcBef>
            </a:pPr>
            <a:r>
              <a:rPr lang="zh-CN" altLang="en-US"/>
              <a:t>构件是计算机软件中的一个</a:t>
            </a:r>
            <a:r>
              <a:rPr lang="zh-CN" altLang="en-US">
                <a:solidFill>
                  <a:srgbClr val="FF0000"/>
                </a:solidFill>
              </a:rPr>
              <a:t>模块化的构造块</a:t>
            </a:r>
            <a:r>
              <a:rPr lang="zh-CN" altLang="en-US" sz="2800">
                <a:solidFill>
                  <a:srgbClr val="FF0000"/>
                </a:solidFill>
              </a:rPr>
              <a:t>。</a:t>
            </a:r>
            <a:endParaRPr lang="en-US" altLang="zh-CN">
              <a:solidFill>
                <a:srgbClr val="FF0000"/>
              </a:solidFill>
            </a:endParaRPr>
          </a:p>
          <a:p>
            <a:pPr eaLnBrk="1" hangingPunct="1">
              <a:lnSpc>
                <a:spcPct val="150000"/>
              </a:lnSpc>
              <a:spcBef>
                <a:spcPct val="35000"/>
              </a:spcBef>
            </a:pPr>
            <a:r>
              <a:rPr lang="zh-CN" altLang="en-US"/>
              <a:t>正式定义：系统中</a:t>
            </a:r>
            <a:r>
              <a:rPr lang="zh-CN" altLang="en-US">
                <a:solidFill>
                  <a:srgbClr val="FF0000"/>
                </a:solidFill>
              </a:rPr>
              <a:t>模块化的、可部署的和可替换</a:t>
            </a:r>
            <a:r>
              <a:rPr lang="zh-CN" altLang="en-US"/>
              <a:t>的部件，该部件</a:t>
            </a:r>
            <a:r>
              <a:rPr lang="zh-CN" altLang="en-US">
                <a:solidFill>
                  <a:srgbClr val="FF0000"/>
                </a:solidFill>
              </a:rPr>
              <a:t>封装实现</a:t>
            </a:r>
            <a:r>
              <a:rPr lang="zh-CN" altLang="en-US"/>
              <a:t>并</a:t>
            </a:r>
            <a:r>
              <a:rPr lang="zh-CN" altLang="en-US">
                <a:solidFill>
                  <a:srgbClr val="FF0000"/>
                </a:solidFill>
              </a:rPr>
              <a:t>暴露</a:t>
            </a:r>
            <a:r>
              <a:rPr lang="zh-CN" altLang="en-US"/>
              <a:t>一组</a:t>
            </a:r>
            <a:r>
              <a:rPr lang="zh-CN" altLang="en-US">
                <a:solidFill>
                  <a:srgbClr val="FF0000"/>
                </a:solidFill>
              </a:rPr>
              <a:t>接口。</a:t>
            </a:r>
          </a:p>
          <a:p>
            <a:pPr eaLnBrk="1" hangingPunct="1">
              <a:lnSpc>
                <a:spcPct val="150000"/>
              </a:lnSpc>
              <a:spcBef>
                <a:spcPct val="35000"/>
              </a:spcBef>
            </a:pPr>
            <a:r>
              <a:rPr lang="zh-CN" altLang="en-US"/>
              <a:t>构件驻留于软件</a:t>
            </a:r>
            <a:r>
              <a:rPr lang="zh-CN" altLang="en-US">
                <a:solidFill>
                  <a:srgbClr val="FF0000"/>
                </a:solidFill>
              </a:rPr>
              <a:t>体系结构的内部</a:t>
            </a:r>
            <a:r>
              <a:rPr lang="zh-CN" altLang="en-US"/>
              <a:t>，它们必须</a:t>
            </a:r>
            <a:r>
              <a:rPr lang="zh-CN" altLang="en-US">
                <a:solidFill>
                  <a:srgbClr val="FF0000"/>
                </a:solidFill>
              </a:rPr>
              <a:t>与其他的构件</a:t>
            </a:r>
            <a:r>
              <a:rPr lang="zh-CN" altLang="en-US"/>
              <a:t>和存在于软件</a:t>
            </a:r>
            <a:r>
              <a:rPr lang="zh-CN" altLang="en-US">
                <a:solidFill>
                  <a:srgbClr val="FF0000"/>
                </a:solidFill>
              </a:rPr>
              <a:t>边界以外的实体</a:t>
            </a:r>
            <a:r>
              <a:rPr lang="en-US" altLang="zh-CN"/>
              <a:t>(</a:t>
            </a:r>
            <a:r>
              <a:rPr lang="zh-CN" altLang="en-US"/>
              <a:t>如其他系统、设备和人员</a:t>
            </a:r>
            <a:r>
              <a:rPr lang="en-US" altLang="zh-CN"/>
              <a:t>)</a:t>
            </a:r>
            <a:r>
              <a:rPr lang="zh-CN" altLang="en-US"/>
              <a:t>进行</a:t>
            </a:r>
            <a:r>
              <a:rPr lang="zh-CN" altLang="en-US">
                <a:solidFill>
                  <a:srgbClr val="FF0000"/>
                </a:solidFill>
              </a:rPr>
              <a:t>通信</a:t>
            </a:r>
            <a:r>
              <a:rPr lang="zh-CN" altLang="en-US"/>
              <a:t>和</a:t>
            </a:r>
            <a:r>
              <a:rPr lang="zh-CN" altLang="en-US">
                <a:solidFill>
                  <a:srgbClr val="FF0000"/>
                </a:solidFill>
              </a:rPr>
              <a:t>合作</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blinds(horizontal)">
                                      <p:cBhvr>
                                        <p:cTn id="7" dur="10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blinds(horizontal)">
                                      <p:cBhvr>
                                        <p:cTn id="12" dur="1000"/>
                                        <p:tgtEl>
                                          <p:spTgt spid="3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blinds(horizontal)">
                                      <p:cBhvr>
                                        <p:cTn id="17" dur="1000"/>
                                        <p:tgtEl>
                                          <p:spTgt spid="3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blinds(horizontal)">
                                      <p:cBhvr>
                                        <p:cTn id="22" dur="1000"/>
                                        <p:tgtEl>
                                          <p:spTgt spid="3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6">
            <a:extLst>
              <a:ext uri="{FF2B5EF4-FFF2-40B4-BE49-F238E27FC236}">
                <a16:creationId xmlns:a16="http://schemas.microsoft.com/office/drawing/2014/main" id="{05CD9F61-A50B-A32D-052F-30266E87683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908B106-B499-4625-B1CB-5DAEB92A68DE}" type="slidenum">
              <a:rPr lang="en-US" altLang="zh-CN" sz="1200">
                <a:solidFill>
                  <a:srgbClr val="000000"/>
                </a:solidFill>
                <a:latin typeface="Arial" panose="020B0604020202020204" pitchFamily="34" charset="0"/>
              </a:rPr>
              <a:pPr fontAlgn="base">
                <a:spcBef>
                  <a:spcPct val="0"/>
                </a:spcBef>
                <a:spcAft>
                  <a:spcPct val="0"/>
                </a:spcAft>
              </a:pPr>
              <a:t>19</a:t>
            </a:fld>
            <a:endParaRPr lang="en-US" altLang="zh-CN" sz="1200">
              <a:solidFill>
                <a:srgbClr val="000000"/>
              </a:solidFill>
              <a:latin typeface="Arial" panose="020B0604020202020204" pitchFamily="34" charset="0"/>
            </a:endParaRPr>
          </a:p>
        </p:txBody>
      </p:sp>
      <p:sp>
        <p:nvSpPr>
          <p:cNvPr id="65538" name="标题 1">
            <a:extLst>
              <a:ext uri="{FF2B5EF4-FFF2-40B4-BE49-F238E27FC236}">
                <a16:creationId xmlns:a16="http://schemas.microsoft.com/office/drawing/2014/main" id="{4E3E82BE-5DA7-45C9-A337-5B491692804D}"/>
              </a:ext>
            </a:extLst>
          </p:cNvPr>
          <p:cNvSpPr>
            <a:spLocks noGrp="1" noChangeArrowheads="1"/>
          </p:cNvSpPr>
          <p:nvPr>
            <p:ph type="title" idx="4294967295"/>
          </p:nvPr>
        </p:nvSpPr>
        <p:spPr/>
        <p:txBody>
          <a:bodyPr/>
          <a:lstStyle/>
          <a:p>
            <a:pPr eaLnBrk="1" hangingPunct="1"/>
            <a:r>
              <a:rPr lang="zh-CN" altLang="en-US"/>
              <a:t>构件级设计</a:t>
            </a:r>
          </a:p>
        </p:txBody>
      </p:sp>
      <p:sp>
        <p:nvSpPr>
          <p:cNvPr id="142339" name="内容占位符 2">
            <a:extLst>
              <a:ext uri="{FF2B5EF4-FFF2-40B4-BE49-F238E27FC236}">
                <a16:creationId xmlns:a16="http://schemas.microsoft.com/office/drawing/2014/main" id="{79E12308-1274-D4FD-D83C-FC9D07D0A93F}"/>
              </a:ext>
            </a:extLst>
          </p:cNvPr>
          <p:cNvSpPr>
            <a:spLocks noGrp="1" noChangeArrowheads="1"/>
          </p:cNvSpPr>
          <p:nvPr>
            <p:ph idx="4294967295"/>
          </p:nvPr>
        </p:nvSpPr>
        <p:spPr>
          <a:xfrm>
            <a:off x="1981200" y="1557339"/>
            <a:ext cx="8229600" cy="4573587"/>
          </a:xfrm>
        </p:spPr>
        <p:txBody>
          <a:bodyPr/>
          <a:lstStyle/>
          <a:p>
            <a:pPr eaLnBrk="1" hangingPunct="1">
              <a:lnSpc>
                <a:spcPct val="150000"/>
              </a:lnSpc>
              <a:spcBef>
                <a:spcPct val="50000"/>
              </a:spcBef>
            </a:pPr>
            <a:r>
              <a:rPr lang="zh-CN" altLang="en-US" sz="2800"/>
              <a:t>针对不同的系统设计体系，构件指的对象不一样：</a:t>
            </a:r>
            <a:endParaRPr lang="en-US" altLang="zh-CN" sz="2800"/>
          </a:p>
          <a:p>
            <a:pPr marL="742950" lvl="1" indent="-285750" eaLnBrk="1" hangingPunct="1">
              <a:lnSpc>
                <a:spcPct val="150000"/>
              </a:lnSpc>
              <a:spcBef>
                <a:spcPct val="50000"/>
              </a:spcBef>
            </a:pPr>
            <a:r>
              <a:rPr lang="zh-CN" altLang="en-US"/>
              <a:t>在面向对象的设计中，</a:t>
            </a:r>
            <a:r>
              <a:rPr lang="zh-CN" altLang="en-US">
                <a:solidFill>
                  <a:srgbClr val="FF0000"/>
                </a:solidFill>
              </a:rPr>
              <a:t>构件包括一组协作的类</a:t>
            </a:r>
            <a:r>
              <a:rPr lang="zh-CN" altLang="en-US"/>
              <a:t>。</a:t>
            </a:r>
            <a:endParaRPr lang="en-US" altLang="zh-CN"/>
          </a:p>
          <a:p>
            <a:pPr marL="742950" lvl="1" indent="-285750" eaLnBrk="1" hangingPunct="1">
              <a:lnSpc>
                <a:spcPct val="150000"/>
              </a:lnSpc>
              <a:spcBef>
                <a:spcPct val="50000"/>
              </a:spcBef>
            </a:pPr>
            <a:r>
              <a:rPr lang="zh-CN" altLang="en-US"/>
              <a:t>一般来讲，构件的规模比类大，但有时一个构件也可以对应一个类。</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42339">
                                            <p:txEl>
                                              <p:pRg st="1" end="1"/>
                                            </p:txEl>
                                          </p:spTgt>
                                        </p:tgtEl>
                                        <p:attrNameLst>
                                          <p:attrName>style.visibility</p:attrName>
                                        </p:attrNameLst>
                                      </p:cBhvr>
                                      <p:to>
                                        <p:strVal val="visible"/>
                                      </p:to>
                                    </p:set>
                                    <p:animEffect transition="in" filter="wipe(down)">
                                      <p:cBhvr>
                                        <p:cTn id="7" dur="1000"/>
                                        <p:tgtEl>
                                          <p:spTgt spid="1423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42339">
                                            <p:txEl>
                                              <p:pRg st="2" end="2"/>
                                            </p:txEl>
                                          </p:spTgt>
                                        </p:tgtEl>
                                        <p:attrNameLst>
                                          <p:attrName>style.visibility</p:attrName>
                                        </p:attrNameLst>
                                      </p:cBhvr>
                                      <p:to>
                                        <p:strVal val="visible"/>
                                      </p:to>
                                    </p:set>
                                    <p:animEffect transition="in" filter="wipe(down)">
                                      <p:cBhvr>
                                        <p:cTn id="12" dur="1000"/>
                                        <p:tgtEl>
                                          <p:spTgt spid="142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6">
            <a:extLst>
              <a:ext uri="{FF2B5EF4-FFF2-40B4-BE49-F238E27FC236}">
                <a16:creationId xmlns:a16="http://schemas.microsoft.com/office/drawing/2014/main" id="{DFEEC94B-9E12-5AE7-BCD9-5B4B4CC3BD2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EDAEF60-25F7-4390-859F-5BE37867D9CE}" type="slidenum">
              <a:rPr lang="en-US" altLang="zh-CN" sz="1200">
                <a:solidFill>
                  <a:srgbClr val="000000"/>
                </a:solidFill>
                <a:latin typeface="Arial" panose="020B0604020202020204" pitchFamily="34" charset="0"/>
              </a:rPr>
              <a:pPr fontAlgn="base">
                <a:spcBef>
                  <a:spcPct val="0"/>
                </a:spcBef>
                <a:spcAft>
                  <a:spcPct val="0"/>
                </a:spcAft>
              </a:pPr>
              <a:t>20</a:t>
            </a:fld>
            <a:endParaRPr lang="en-US" altLang="zh-CN" sz="1200">
              <a:solidFill>
                <a:srgbClr val="000000"/>
              </a:solidFill>
              <a:latin typeface="Arial" panose="020B0604020202020204" pitchFamily="34" charset="0"/>
            </a:endParaRPr>
          </a:p>
        </p:txBody>
      </p:sp>
      <p:sp>
        <p:nvSpPr>
          <p:cNvPr id="76802" name="Rectangle 2">
            <a:extLst>
              <a:ext uri="{FF2B5EF4-FFF2-40B4-BE49-F238E27FC236}">
                <a16:creationId xmlns:a16="http://schemas.microsoft.com/office/drawing/2014/main" id="{55F3FFEB-867C-F3DC-A6D9-643CA826BC96}"/>
              </a:ext>
            </a:extLst>
          </p:cNvPr>
          <p:cNvSpPr>
            <a:spLocks noGrp="1" noChangeArrowheads="1"/>
          </p:cNvSpPr>
          <p:nvPr>
            <p:ph type="title"/>
          </p:nvPr>
        </p:nvSpPr>
        <p:spPr/>
        <p:txBody>
          <a:bodyPr/>
          <a:lstStyle/>
          <a:p>
            <a:r>
              <a:rPr lang="zh-CN" altLang="en-US"/>
              <a:t>本章内容</a:t>
            </a:r>
          </a:p>
        </p:txBody>
      </p:sp>
      <p:sp>
        <p:nvSpPr>
          <p:cNvPr id="76803" name="Rectangle 3">
            <a:extLst>
              <a:ext uri="{FF2B5EF4-FFF2-40B4-BE49-F238E27FC236}">
                <a16:creationId xmlns:a16="http://schemas.microsoft.com/office/drawing/2014/main" id="{2CCA9C24-E653-DBDD-61D9-3062A61C83C2}"/>
              </a:ext>
            </a:extLst>
          </p:cNvPr>
          <p:cNvSpPr>
            <a:spLocks noGrp="1" noChangeArrowheads="1"/>
          </p:cNvSpPr>
          <p:nvPr>
            <p:ph type="body" idx="1"/>
          </p:nvPr>
        </p:nvSpPr>
        <p:spPr>
          <a:xfrm>
            <a:off x="1981200" y="1052513"/>
            <a:ext cx="8229600" cy="4862512"/>
          </a:xfrm>
        </p:spPr>
        <p:txBody>
          <a:bodyPr/>
          <a:lstStyle/>
          <a:p>
            <a:pPr>
              <a:lnSpc>
                <a:spcPct val="200000"/>
              </a:lnSpc>
            </a:pPr>
            <a:r>
              <a:rPr lang="en-US" altLang="zh-CN"/>
              <a:t>13.1 </a:t>
            </a:r>
            <a:r>
              <a:rPr lang="zh-CN" altLang="en-US"/>
              <a:t>什么是构件</a:t>
            </a:r>
          </a:p>
          <a:p>
            <a:pPr>
              <a:lnSpc>
                <a:spcPct val="200000"/>
              </a:lnSpc>
            </a:pPr>
            <a:r>
              <a:rPr lang="en-US" altLang="zh-CN">
                <a:solidFill>
                  <a:srgbClr val="FF0000"/>
                </a:solidFill>
              </a:rPr>
              <a:t>13.2 </a:t>
            </a:r>
            <a:r>
              <a:rPr lang="zh-CN" altLang="en-US">
                <a:solidFill>
                  <a:srgbClr val="FF0000"/>
                </a:solidFill>
              </a:rPr>
              <a:t>设计基于类的构件</a:t>
            </a:r>
          </a:p>
          <a:p>
            <a:pPr>
              <a:lnSpc>
                <a:spcPct val="200000"/>
              </a:lnSpc>
            </a:pPr>
            <a:r>
              <a:rPr lang="en-US" altLang="zh-CN"/>
              <a:t>13.3 </a:t>
            </a:r>
            <a:r>
              <a:rPr lang="zh-CN" altLang="en-US"/>
              <a:t>实施构件级设计</a:t>
            </a:r>
          </a:p>
          <a:p>
            <a:pPr>
              <a:lnSpc>
                <a:spcPct val="200000"/>
              </a:lnSpc>
            </a:pPr>
            <a:r>
              <a:rPr lang="en-US" altLang="zh-CN"/>
              <a:t>13.4 WebApp</a:t>
            </a:r>
            <a:r>
              <a:rPr lang="zh-CN" altLang="en-US"/>
              <a:t>的构件级设计</a:t>
            </a:r>
          </a:p>
          <a:p>
            <a:pPr>
              <a:lnSpc>
                <a:spcPct val="200000"/>
              </a:lnSpc>
            </a:pPr>
            <a:r>
              <a:rPr lang="en-US" altLang="zh-CN"/>
              <a:t>13.5 </a:t>
            </a:r>
            <a:r>
              <a:rPr lang="zh-CN" altLang="en-US"/>
              <a:t>设计传统构件</a:t>
            </a:r>
          </a:p>
          <a:p>
            <a:pPr>
              <a:lnSpc>
                <a:spcPct val="200000"/>
              </a:lnSpc>
            </a:pPr>
            <a:r>
              <a:rPr lang="en-US" altLang="zh-CN"/>
              <a:t>13.6 </a:t>
            </a:r>
            <a:r>
              <a:rPr lang="zh-CN" altLang="en-US"/>
              <a:t>基于构件的开发</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6">
            <a:extLst>
              <a:ext uri="{FF2B5EF4-FFF2-40B4-BE49-F238E27FC236}">
                <a16:creationId xmlns:a16="http://schemas.microsoft.com/office/drawing/2014/main" id="{6BA05D8E-C297-DAB5-DD96-079826014CF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B51D64C-691A-45E5-BADF-9D41114F8E33}" type="slidenum">
              <a:rPr lang="en-US" altLang="zh-CN" sz="1200">
                <a:solidFill>
                  <a:srgbClr val="000000"/>
                </a:solidFill>
                <a:latin typeface="Arial" panose="020B0604020202020204" pitchFamily="34" charset="0"/>
              </a:rPr>
              <a:pPr fontAlgn="base">
                <a:spcBef>
                  <a:spcPct val="0"/>
                </a:spcBef>
                <a:spcAft>
                  <a:spcPct val="0"/>
                </a:spcAft>
              </a:pPr>
              <a:t>21</a:t>
            </a:fld>
            <a:endParaRPr lang="en-US" altLang="zh-CN" sz="1200">
              <a:solidFill>
                <a:srgbClr val="000000"/>
              </a:solidFill>
              <a:latin typeface="Arial" panose="020B0604020202020204" pitchFamily="34" charset="0"/>
            </a:endParaRPr>
          </a:p>
        </p:txBody>
      </p:sp>
      <p:sp>
        <p:nvSpPr>
          <p:cNvPr id="77826" name="Rectangle 2">
            <a:extLst>
              <a:ext uri="{FF2B5EF4-FFF2-40B4-BE49-F238E27FC236}">
                <a16:creationId xmlns:a16="http://schemas.microsoft.com/office/drawing/2014/main" id="{FB3E060D-15F4-9D32-7423-AF24982DB8E0}"/>
              </a:ext>
            </a:extLst>
          </p:cNvPr>
          <p:cNvSpPr>
            <a:spLocks noGrp="1" noChangeArrowheads="1"/>
          </p:cNvSpPr>
          <p:nvPr>
            <p:ph type="title"/>
          </p:nvPr>
        </p:nvSpPr>
        <p:spPr/>
        <p:txBody>
          <a:bodyPr/>
          <a:lstStyle/>
          <a:p>
            <a:r>
              <a:rPr lang="zh-CN" altLang="en-US"/>
              <a:t>设计基于类的构件</a:t>
            </a:r>
          </a:p>
        </p:txBody>
      </p:sp>
      <p:sp>
        <p:nvSpPr>
          <p:cNvPr id="297987" name="Rectangle 3">
            <a:extLst>
              <a:ext uri="{FF2B5EF4-FFF2-40B4-BE49-F238E27FC236}">
                <a16:creationId xmlns:a16="http://schemas.microsoft.com/office/drawing/2014/main" id="{8D657078-F4C7-DC0C-903D-12D22567ED61}"/>
              </a:ext>
            </a:extLst>
          </p:cNvPr>
          <p:cNvSpPr>
            <a:spLocks noGrp="1" noChangeArrowheads="1"/>
          </p:cNvSpPr>
          <p:nvPr>
            <p:ph type="body" idx="1"/>
          </p:nvPr>
        </p:nvSpPr>
        <p:spPr>
          <a:xfrm>
            <a:off x="1981200" y="981076"/>
            <a:ext cx="8229600" cy="5294313"/>
          </a:xfrm>
        </p:spPr>
        <p:txBody>
          <a:bodyPr/>
          <a:lstStyle/>
          <a:p>
            <a:pPr>
              <a:lnSpc>
                <a:spcPct val="150000"/>
              </a:lnSpc>
              <a:spcBef>
                <a:spcPct val="50000"/>
              </a:spcBef>
            </a:pPr>
            <a:r>
              <a:rPr lang="zh-CN" altLang="en-US"/>
              <a:t>有</a:t>
            </a:r>
            <a:r>
              <a:rPr lang="en-US" altLang="zh-CN"/>
              <a:t>4</a:t>
            </a:r>
            <a:r>
              <a:rPr lang="zh-CN" altLang="en-US"/>
              <a:t>种适用于构件级设计的</a:t>
            </a:r>
            <a:r>
              <a:rPr lang="zh-CN" altLang="en-US">
                <a:solidFill>
                  <a:srgbClr val="FF0000"/>
                </a:solidFill>
              </a:rPr>
              <a:t>基本设计原则</a:t>
            </a:r>
            <a:r>
              <a:rPr lang="zh-CN" altLang="en-US"/>
              <a:t>，使用这些原则使得产生的</a:t>
            </a:r>
            <a:r>
              <a:rPr lang="zh-CN" altLang="en-US">
                <a:solidFill>
                  <a:srgbClr val="FF0000"/>
                </a:solidFill>
              </a:rPr>
              <a:t>设计在发生变更</a:t>
            </a:r>
            <a:r>
              <a:rPr lang="zh-CN" altLang="en-US"/>
              <a:t>时能够</a:t>
            </a:r>
            <a:r>
              <a:rPr lang="zh-CN" altLang="en-US">
                <a:solidFill>
                  <a:srgbClr val="FF0000"/>
                </a:solidFill>
              </a:rPr>
              <a:t>适应变更</a:t>
            </a:r>
            <a:r>
              <a:rPr lang="zh-CN" altLang="en-US"/>
              <a:t>并且减少副作用的传播。</a:t>
            </a:r>
          </a:p>
          <a:p>
            <a:pPr lvl="1" eaLnBrk="1" hangingPunct="1">
              <a:lnSpc>
                <a:spcPct val="150000"/>
              </a:lnSpc>
              <a:spcBef>
                <a:spcPct val="50000"/>
              </a:spcBef>
            </a:pPr>
            <a:r>
              <a:rPr lang="zh-CN" altLang="en-US" sz="2200">
                <a:solidFill>
                  <a:schemeClr val="accent2"/>
                </a:solidFill>
              </a:rPr>
              <a:t>开闭原则 </a:t>
            </a:r>
            <a:r>
              <a:rPr lang="en-US" altLang="zh-CN" sz="2200">
                <a:solidFill>
                  <a:schemeClr val="accent2"/>
                </a:solidFill>
              </a:rPr>
              <a:t>(The Open-Closed Principle, OCP)</a:t>
            </a:r>
            <a:r>
              <a:rPr lang="zh-CN" altLang="en-US" sz="2200">
                <a:solidFill>
                  <a:schemeClr val="accent2"/>
                </a:solidFill>
              </a:rPr>
              <a:t>：</a:t>
            </a:r>
            <a:r>
              <a:rPr lang="zh-CN" altLang="en-US" sz="2200"/>
              <a:t>模块应该对外延具有开放性，对修改具有封闭性；</a:t>
            </a:r>
          </a:p>
          <a:p>
            <a:pPr lvl="1" eaLnBrk="1" hangingPunct="1">
              <a:lnSpc>
                <a:spcPct val="150000"/>
              </a:lnSpc>
              <a:spcBef>
                <a:spcPct val="50000"/>
              </a:spcBef>
            </a:pPr>
            <a:r>
              <a:rPr lang="en-US" altLang="zh-CN" sz="2200">
                <a:solidFill>
                  <a:schemeClr val="accent2"/>
                </a:solidFill>
              </a:rPr>
              <a:t>Liskov</a:t>
            </a:r>
            <a:r>
              <a:rPr lang="zh-CN" altLang="en-US" sz="2200">
                <a:solidFill>
                  <a:schemeClr val="accent2"/>
                </a:solidFill>
              </a:rPr>
              <a:t>替换原则：</a:t>
            </a:r>
            <a:r>
              <a:rPr lang="zh-CN" altLang="en-US" sz="2200"/>
              <a:t>子类可以替换它们的基类；</a:t>
            </a:r>
          </a:p>
          <a:p>
            <a:pPr lvl="1" eaLnBrk="1" hangingPunct="1">
              <a:lnSpc>
                <a:spcPct val="150000"/>
              </a:lnSpc>
              <a:spcBef>
                <a:spcPct val="50000"/>
              </a:spcBef>
            </a:pPr>
            <a:r>
              <a:rPr lang="zh-CN" altLang="en-US" sz="2200">
                <a:solidFill>
                  <a:schemeClr val="accent2"/>
                </a:solidFill>
              </a:rPr>
              <a:t>依赖倒置原则：</a:t>
            </a:r>
            <a:r>
              <a:rPr lang="zh-CN" altLang="en-US" sz="2200"/>
              <a:t>依赖于抽象，而非具体实现 ；</a:t>
            </a:r>
          </a:p>
          <a:p>
            <a:pPr lvl="1" eaLnBrk="1" hangingPunct="1">
              <a:lnSpc>
                <a:spcPct val="150000"/>
              </a:lnSpc>
              <a:spcBef>
                <a:spcPct val="50000"/>
              </a:spcBef>
            </a:pPr>
            <a:r>
              <a:rPr lang="zh-CN" altLang="en-US" sz="2200">
                <a:solidFill>
                  <a:schemeClr val="accent2"/>
                </a:solidFill>
              </a:rPr>
              <a:t>接口分离原则：</a:t>
            </a:r>
            <a:r>
              <a:rPr lang="zh-CN" altLang="en-US" sz="2200"/>
              <a:t>多个用户专用接口比一个通用接口要好。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anim calcmode="lin" valueType="num">
                                      <p:cBhvr additive="base">
                                        <p:cTn id="7" dur="1000" fill="hold"/>
                                        <p:tgtEl>
                                          <p:spTgt spid="297987">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97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7987">
                                            <p:txEl>
                                              <p:pRg st="2" end="2"/>
                                            </p:txEl>
                                          </p:spTgt>
                                        </p:tgtEl>
                                        <p:attrNameLst>
                                          <p:attrName>style.visibility</p:attrName>
                                        </p:attrNameLst>
                                      </p:cBhvr>
                                      <p:to>
                                        <p:strVal val="visible"/>
                                      </p:to>
                                    </p:set>
                                    <p:anim calcmode="lin" valueType="num">
                                      <p:cBhvr additive="base">
                                        <p:cTn id="13" dur="1000" fill="hold"/>
                                        <p:tgtEl>
                                          <p:spTgt spid="297987">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97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97987">
                                            <p:txEl>
                                              <p:pRg st="3" end="3"/>
                                            </p:txEl>
                                          </p:spTgt>
                                        </p:tgtEl>
                                        <p:attrNameLst>
                                          <p:attrName>style.visibility</p:attrName>
                                        </p:attrNameLst>
                                      </p:cBhvr>
                                      <p:to>
                                        <p:strVal val="visible"/>
                                      </p:to>
                                    </p:set>
                                    <p:anim calcmode="lin" valueType="num">
                                      <p:cBhvr additive="base">
                                        <p:cTn id="19" dur="1000" fill="hold"/>
                                        <p:tgtEl>
                                          <p:spTgt spid="297987">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97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97987">
                                            <p:txEl>
                                              <p:pRg st="4" end="4"/>
                                            </p:txEl>
                                          </p:spTgt>
                                        </p:tgtEl>
                                        <p:attrNameLst>
                                          <p:attrName>style.visibility</p:attrName>
                                        </p:attrNameLst>
                                      </p:cBhvr>
                                      <p:to>
                                        <p:strVal val="visible"/>
                                      </p:to>
                                    </p:set>
                                    <p:anim calcmode="lin" valueType="num">
                                      <p:cBhvr additive="base">
                                        <p:cTn id="25" dur="1000" fill="hold"/>
                                        <p:tgtEl>
                                          <p:spTgt spid="29798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2979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6">
            <a:extLst>
              <a:ext uri="{FF2B5EF4-FFF2-40B4-BE49-F238E27FC236}">
                <a16:creationId xmlns:a16="http://schemas.microsoft.com/office/drawing/2014/main" id="{6E3BB6D0-BF56-906C-730A-80F9D68D859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D16E155-A417-474F-B783-833C35F79395}" type="slidenum">
              <a:rPr lang="en-US" altLang="zh-CN" sz="1200">
                <a:solidFill>
                  <a:srgbClr val="000000"/>
                </a:solidFill>
                <a:latin typeface="Arial" panose="020B0604020202020204" pitchFamily="34" charset="0"/>
              </a:rPr>
              <a:pPr fontAlgn="base">
                <a:spcBef>
                  <a:spcPct val="0"/>
                </a:spcBef>
                <a:spcAft>
                  <a:spcPct val="0"/>
                </a:spcAft>
              </a:pPr>
              <a:t>22</a:t>
            </a:fld>
            <a:endParaRPr lang="en-US" altLang="zh-CN" sz="1200">
              <a:solidFill>
                <a:srgbClr val="000000"/>
              </a:solidFill>
              <a:latin typeface="Arial" panose="020B0604020202020204" pitchFamily="34" charset="0"/>
            </a:endParaRPr>
          </a:p>
        </p:txBody>
      </p:sp>
      <p:sp>
        <p:nvSpPr>
          <p:cNvPr id="78850" name="Rectangle 2">
            <a:extLst>
              <a:ext uri="{FF2B5EF4-FFF2-40B4-BE49-F238E27FC236}">
                <a16:creationId xmlns:a16="http://schemas.microsoft.com/office/drawing/2014/main" id="{26B5A6EC-AC06-D33D-CA6D-689654798B92}"/>
              </a:ext>
            </a:extLst>
          </p:cNvPr>
          <p:cNvSpPr>
            <a:spLocks noGrp="1" noChangeArrowheads="1"/>
          </p:cNvSpPr>
          <p:nvPr>
            <p:ph type="title" idx="4294967295"/>
          </p:nvPr>
        </p:nvSpPr>
        <p:spPr>
          <a:xfrm>
            <a:off x="1919288" y="188913"/>
            <a:ext cx="7772400" cy="647700"/>
          </a:xfrm>
        </p:spPr>
        <p:txBody>
          <a:bodyPr/>
          <a:lstStyle/>
          <a:p>
            <a:pPr eaLnBrk="1" hangingPunct="1"/>
            <a:r>
              <a:rPr lang="zh-CN" altLang="en-US"/>
              <a:t>开闭原则</a:t>
            </a:r>
          </a:p>
        </p:txBody>
      </p:sp>
      <p:sp>
        <p:nvSpPr>
          <p:cNvPr id="78851" name="Rectangle 3">
            <a:extLst>
              <a:ext uri="{FF2B5EF4-FFF2-40B4-BE49-F238E27FC236}">
                <a16:creationId xmlns:a16="http://schemas.microsoft.com/office/drawing/2014/main" id="{E27CB9C0-B390-A8D8-AA1A-56A62C6925A0}"/>
              </a:ext>
            </a:extLst>
          </p:cNvPr>
          <p:cNvSpPr>
            <a:spLocks noGrp="1" noChangeArrowheads="1"/>
          </p:cNvSpPr>
          <p:nvPr>
            <p:ph idx="4294967295"/>
          </p:nvPr>
        </p:nvSpPr>
        <p:spPr>
          <a:xfrm>
            <a:off x="1774826" y="981075"/>
            <a:ext cx="8569325" cy="2514600"/>
          </a:xfrm>
        </p:spPr>
        <p:txBody>
          <a:bodyPr/>
          <a:lstStyle/>
          <a:p>
            <a:pPr eaLnBrk="1" hangingPunct="1">
              <a:lnSpc>
                <a:spcPct val="135000"/>
              </a:lnSpc>
            </a:pPr>
            <a:r>
              <a:rPr lang="zh-CN" altLang="en-US" sz="2200"/>
              <a:t>设计者应采用一种</a:t>
            </a:r>
            <a:r>
              <a:rPr lang="zh-CN" altLang="en-US" sz="2200">
                <a:solidFill>
                  <a:srgbClr val="FF0000"/>
                </a:solidFill>
              </a:rPr>
              <a:t>无需对构件自身内部</a:t>
            </a:r>
            <a:r>
              <a:rPr lang="en-US" altLang="zh-CN" sz="2200"/>
              <a:t>(</a:t>
            </a:r>
            <a:r>
              <a:rPr lang="zh-CN" altLang="en-US" sz="2200"/>
              <a:t>代码或内部逻辑</a:t>
            </a:r>
            <a:r>
              <a:rPr lang="en-US" altLang="zh-CN" sz="2200"/>
              <a:t>)</a:t>
            </a:r>
            <a:r>
              <a:rPr lang="zh-CN" altLang="en-US" sz="2200">
                <a:solidFill>
                  <a:srgbClr val="FF0000"/>
                </a:solidFill>
              </a:rPr>
              <a:t>做修改就可以进行扩展</a:t>
            </a:r>
            <a:r>
              <a:rPr lang="zh-CN" altLang="en-US" sz="2200"/>
              <a:t>的方式来说明构件。</a:t>
            </a:r>
          </a:p>
          <a:p>
            <a:pPr eaLnBrk="1" hangingPunct="1">
              <a:lnSpc>
                <a:spcPct val="135000"/>
              </a:lnSpc>
            </a:pPr>
            <a:r>
              <a:rPr lang="zh-CN" altLang="en-US" sz="2200"/>
              <a:t>解决方法：抽象、多态，</a:t>
            </a:r>
            <a:r>
              <a:rPr lang="zh-CN" altLang="en-US" sz="2200">
                <a:latin typeface="宋体" panose="02010600030101010101" pitchFamily="2" charset="-122"/>
              </a:rPr>
              <a:t>引入抽象基类，</a:t>
            </a:r>
            <a:r>
              <a:rPr lang="zh-CN" altLang="en-US" sz="2200">
                <a:solidFill>
                  <a:srgbClr val="FF0000"/>
                </a:solidFill>
                <a:latin typeface="宋体" panose="02010600030101010101" pitchFamily="2" charset="-122"/>
              </a:rPr>
              <a:t>构件的变化通过引入新的派生类来完成</a:t>
            </a:r>
            <a:r>
              <a:rPr lang="zh-CN" altLang="en-US" sz="2200"/>
              <a:t>。</a:t>
            </a:r>
          </a:p>
        </p:txBody>
      </p:sp>
      <p:pic>
        <p:nvPicPr>
          <p:cNvPr id="154628" name="Picture 4" descr="H:\软件工程\2009\图\chapter 10\绘图7.gif">
            <a:extLst>
              <a:ext uri="{FF2B5EF4-FFF2-40B4-BE49-F238E27FC236}">
                <a16:creationId xmlns:a16="http://schemas.microsoft.com/office/drawing/2014/main" id="{5DD61759-4EE3-8EB5-8496-899CA44F5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738" y="2708276"/>
            <a:ext cx="4800600" cy="324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9" name="Text Box 5">
            <a:extLst>
              <a:ext uri="{FF2B5EF4-FFF2-40B4-BE49-F238E27FC236}">
                <a16:creationId xmlns:a16="http://schemas.microsoft.com/office/drawing/2014/main" id="{AED915E6-B8C1-0FDF-FA12-29B9984D4000}"/>
              </a:ext>
            </a:extLst>
          </p:cNvPr>
          <p:cNvSpPr txBox="1">
            <a:spLocks noChangeArrowheads="1"/>
          </p:cNvSpPr>
          <p:nvPr/>
        </p:nvSpPr>
        <p:spPr bwMode="auto">
          <a:xfrm>
            <a:off x="1992314" y="3213100"/>
            <a:ext cx="3455987" cy="225583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fontAlgn="base">
              <a:lnSpc>
                <a:spcPct val="140000"/>
              </a:lnSpc>
              <a:spcBef>
                <a:spcPct val="50000"/>
              </a:spcBef>
              <a:spcAft>
                <a:spcPct val="0"/>
              </a:spcAft>
            </a:pPr>
            <a:r>
              <a:rPr lang="zh-CN" altLang="en-US" sz="2000" b="1">
                <a:solidFill>
                  <a:srgbClr val="000000"/>
                </a:solidFill>
              </a:rPr>
              <a:t>对于各种不同的传感器，</a:t>
            </a:r>
            <a:r>
              <a:rPr lang="en-US" altLang="zh-CN" sz="2000" b="1">
                <a:solidFill>
                  <a:srgbClr val="FF0000"/>
                </a:solidFill>
              </a:rPr>
              <a:t>Sensor</a:t>
            </a:r>
            <a:r>
              <a:rPr lang="zh-CN" altLang="en-US" sz="2000" b="1">
                <a:solidFill>
                  <a:srgbClr val="FF0000"/>
                </a:solidFill>
              </a:rPr>
              <a:t>接口都向</a:t>
            </a:r>
            <a:r>
              <a:rPr lang="en-US" altLang="zh-CN" sz="2000" b="1">
                <a:solidFill>
                  <a:srgbClr val="FF0000"/>
                </a:solidFill>
              </a:rPr>
              <a:t>Detector</a:t>
            </a:r>
            <a:r>
              <a:rPr lang="zh-CN" altLang="en-US" sz="2000" b="1">
                <a:solidFill>
                  <a:srgbClr val="FF0000"/>
                </a:solidFill>
              </a:rPr>
              <a:t>构件呈现一致的视图</a:t>
            </a:r>
            <a:r>
              <a:rPr lang="zh-CN" altLang="en-US" sz="2000" b="1">
                <a:solidFill>
                  <a:srgbClr val="000000"/>
                </a:solidFill>
              </a:rPr>
              <a:t>。如果需要添加新类型的传感器，对</a:t>
            </a:r>
            <a:r>
              <a:rPr lang="en-US" altLang="zh-CN" sz="2000" b="1">
                <a:solidFill>
                  <a:srgbClr val="000000"/>
                </a:solidFill>
              </a:rPr>
              <a:t>Detector</a:t>
            </a:r>
            <a:r>
              <a:rPr lang="zh-CN" altLang="en-US" sz="2000" b="1">
                <a:solidFill>
                  <a:srgbClr val="000000"/>
                </a:solidFill>
              </a:rPr>
              <a:t>类无需进行任何改变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4628"/>
                                        </p:tgtEl>
                                        <p:attrNameLst>
                                          <p:attrName>style.visibility</p:attrName>
                                        </p:attrNameLst>
                                      </p:cBhvr>
                                      <p:to>
                                        <p:strVal val="visible"/>
                                      </p:to>
                                    </p:set>
                                    <p:anim calcmode="lin" valueType="num">
                                      <p:cBhvr additive="base">
                                        <p:cTn id="7" dur="1000" fill="hold"/>
                                        <p:tgtEl>
                                          <p:spTgt spid="154628"/>
                                        </p:tgtEl>
                                        <p:attrNameLst>
                                          <p:attrName>ppt_x</p:attrName>
                                        </p:attrNameLst>
                                      </p:cBhvr>
                                      <p:tavLst>
                                        <p:tav tm="0">
                                          <p:val>
                                            <p:strVal val="#ppt_x"/>
                                          </p:val>
                                        </p:tav>
                                        <p:tav tm="100000">
                                          <p:val>
                                            <p:strVal val="#ppt_x"/>
                                          </p:val>
                                        </p:tav>
                                      </p:tavLst>
                                    </p:anim>
                                    <p:anim calcmode="lin" valueType="num">
                                      <p:cBhvr additive="base">
                                        <p:cTn id="8" dur="1000" fill="hold"/>
                                        <p:tgtEl>
                                          <p:spTgt spid="154628"/>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154629"/>
                                        </p:tgtEl>
                                        <p:attrNameLst>
                                          <p:attrName>style.visibility</p:attrName>
                                        </p:attrNameLst>
                                      </p:cBhvr>
                                      <p:to>
                                        <p:strVal val="visible"/>
                                      </p:to>
                                    </p:set>
                                    <p:animEffect transition="in" filter="blinds(horizontal)">
                                      <p:cBhvr>
                                        <p:cTn id="11" dur="1000"/>
                                        <p:tgtEl>
                                          <p:spTgt spid="154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6">
            <a:extLst>
              <a:ext uri="{FF2B5EF4-FFF2-40B4-BE49-F238E27FC236}">
                <a16:creationId xmlns:a16="http://schemas.microsoft.com/office/drawing/2014/main" id="{E04DD0EF-F65F-3FB5-4183-E01DC2DC705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A67461F-6F3D-47A7-AA92-C4ED48697134}" type="slidenum">
              <a:rPr lang="en-US" altLang="zh-CN" sz="1200">
                <a:solidFill>
                  <a:srgbClr val="000000"/>
                </a:solidFill>
                <a:latin typeface="Arial" panose="020B0604020202020204" pitchFamily="34" charset="0"/>
              </a:rPr>
              <a:pPr fontAlgn="base">
                <a:spcBef>
                  <a:spcPct val="0"/>
                </a:spcBef>
                <a:spcAft>
                  <a:spcPct val="0"/>
                </a:spcAft>
              </a:pPr>
              <a:t>23</a:t>
            </a:fld>
            <a:endParaRPr lang="en-US" altLang="zh-CN" sz="1200">
              <a:solidFill>
                <a:srgbClr val="000000"/>
              </a:solidFill>
              <a:latin typeface="Arial" panose="020B0604020202020204" pitchFamily="34" charset="0"/>
            </a:endParaRPr>
          </a:p>
        </p:txBody>
      </p:sp>
      <p:sp>
        <p:nvSpPr>
          <p:cNvPr id="28675" name="Rectangle 3">
            <a:extLst>
              <a:ext uri="{FF2B5EF4-FFF2-40B4-BE49-F238E27FC236}">
                <a16:creationId xmlns:a16="http://schemas.microsoft.com/office/drawing/2014/main" id="{413C2437-5D24-EA34-E4E7-6A0359609182}"/>
              </a:ext>
            </a:extLst>
          </p:cNvPr>
          <p:cNvSpPr>
            <a:spLocks noGrp="1" noChangeArrowheads="1"/>
          </p:cNvSpPr>
          <p:nvPr>
            <p:ph idx="4294967295"/>
          </p:nvPr>
        </p:nvSpPr>
        <p:spPr>
          <a:xfrm>
            <a:off x="2020888" y="373064"/>
            <a:ext cx="6019800" cy="6008687"/>
          </a:xfrm>
        </p:spPr>
        <p:txBody>
          <a:bodyPr/>
          <a:lstStyle/>
          <a:p>
            <a:pPr eaLnBrk="1" hangingPunct="1">
              <a:lnSpc>
                <a:spcPct val="90000"/>
              </a:lnSpc>
              <a:buFontTx/>
              <a:buNone/>
            </a:pPr>
            <a:r>
              <a:rPr lang="en-US" altLang="zh-CN" sz="2000" b="0">
                <a:solidFill>
                  <a:srgbClr val="FF0000"/>
                </a:solidFill>
              </a:rPr>
              <a:t>enum</a:t>
            </a:r>
            <a:r>
              <a:rPr lang="en-US" altLang="zh-CN" sz="2000" b="0"/>
              <a:t> ShapeType {circle, square};</a:t>
            </a:r>
          </a:p>
          <a:p>
            <a:pPr eaLnBrk="1" hangingPunct="1">
              <a:lnSpc>
                <a:spcPct val="90000"/>
              </a:lnSpc>
              <a:buFontTx/>
              <a:buNone/>
            </a:pPr>
            <a:r>
              <a:rPr lang="en-US" altLang="zh-CN" sz="2000" b="0"/>
              <a:t>struct Shape{</a:t>
            </a:r>
          </a:p>
          <a:p>
            <a:pPr lvl="1" eaLnBrk="1" hangingPunct="1">
              <a:lnSpc>
                <a:spcPct val="90000"/>
              </a:lnSpc>
              <a:buFontTx/>
              <a:buNone/>
            </a:pPr>
            <a:r>
              <a:rPr lang="en-US" altLang="zh-CN" sz="2000" b="0"/>
              <a:t>ShapeType itsType;</a:t>
            </a:r>
          </a:p>
          <a:p>
            <a:pPr eaLnBrk="1" hangingPunct="1">
              <a:lnSpc>
                <a:spcPct val="90000"/>
              </a:lnSpc>
              <a:buFontTx/>
              <a:buNone/>
            </a:pPr>
            <a:r>
              <a:rPr lang="en-US" altLang="zh-CN" sz="2000" b="0"/>
              <a:t>};</a:t>
            </a:r>
          </a:p>
          <a:p>
            <a:pPr eaLnBrk="1" hangingPunct="1">
              <a:lnSpc>
                <a:spcPct val="90000"/>
              </a:lnSpc>
              <a:spcBef>
                <a:spcPct val="100000"/>
              </a:spcBef>
              <a:buFontTx/>
              <a:buNone/>
            </a:pPr>
            <a:r>
              <a:rPr lang="en-US" altLang="zh-CN" sz="2000" b="0">
                <a:solidFill>
                  <a:srgbClr val="FF0000"/>
                </a:solidFill>
              </a:rPr>
              <a:t>struct</a:t>
            </a:r>
            <a:r>
              <a:rPr lang="en-US" altLang="zh-CN" sz="2000" b="0"/>
              <a:t> Circle</a:t>
            </a:r>
          </a:p>
          <a:p>
            <a:pPr eaLnBrk="1" hangingPunct="1">
              <a:lnSpc>
                <a:spcPct val="90000"/>
              </a:lnSpc>
              <a:buFontTx/>
              <a:buNone/>
            </a:pPr>
            <a:r>
              <a:rPr lang="en-US" altLang="zh-CN" sz="2000" b="0"/>
              <a:t>{</a:t>
            </a:r>
          </a:p>
          <a:p>
            <a:pPr lvl="1" eaLnBrk="1" hangingPunct="1">
              <a:lnSpc>
                <a:spcPct val="90000"/>
              </a:lnSpc>
              <a:buFontTx/>
              <a:buNone/>
            </a:pPr>
            <a:r>
              <a:rPr lang="en-US" altLang="zh-CN" sz="2000" b="0"/>
              <a:t>ShapeType itsType;</a:t>
            </a:r>
          </a:p>
          <a:p>
            <a:pPr lvl="1" eaLnBrk="1" hangingPunct="1">
              <a:lnSpc>
                <a:spcPct val="90000"/>
              </a:lnSpc>
              <a:buFontTx/>
              <a:buNone/>
            </a:pPr>
            <a:r>
              <a:rPr lang="en-US" altLang="zh-CN" sz="2000" b="0"/>
              <a:t>double itsRadius;</a:t>
            </a:r>
          </a:p>
          <a:p>
            <a:pPr lvl="1" eaLnBrk="1" hangingPunct="1">
              <a:lnSpc>
                <a:spcPct val="90000"/>
              </a:lnSpc>
              <a:buFontTx/>
              <a:buNone/>
            </a:pPr>
            <a:r>
              <a:rPr lang="en-US" altLang="zh-CN" sz="2000" b="0"/>
              <a:t>Point itsCenter;</a:t>
            </a:r>
          </a:p>
          <a:p>
            <a:pPr eaLnBrk="1" hangingPunct="1">
              <a:lnSpc>
                <a:spcPct val="90000"/>
              </a:lnSpc>
              <a:buFontTx/>
              <a:buNone/>
            </a:pPr>
            <a:r>
              <a:rPr lang="en-US" altLang="zh-CN" sz="2000" b="0"/>
              <a:t>}; </a:t>
            </a:r>
          </a:p>
          <a:p>
            <a:pPr eaLnBrk="1" hangingPunct="1">
              <a:lnSpc>
                <a:spcPct val="90000"/>
              </a:lnSpc>
              <a:buFontTx/>
              <a:buNone/>
            </a:pPr>
            <a:r>
              <a:rPr lang="en-US" altLang="zh-CN" sz="2000" b="0">
                <a:solidFill>
                  <a:srgbClr val="FF0000"/>
                </a:solidFill>
              </a:rPr>
              <a:t>struct</a:t>
            </a:r>
            <a:r>
              <a:rPr lang="en-US" altLang="zh-CN" sz="2000" b="0"/>
              <a:t> Square</a:t>
            </a:r>
          </a:p>
          <a:p>
            <a:pPr eaLnBrk="1" hangingPunct="1">
              <a:lnSpc>
                <a:spcPct val="90000"/>
              </a:lnSpc>
              <a:buFontTx/>
              <a:buNone/>
            </a:pPr>
            <a:r>
              <a:rPr lang="en-US" altLang="zh-CN" sz="2000" b="0"/>
              <a:t>{</a:t>
            </a:r>
          </a:p>
          <a:p>
            <a:pPr lvl="1" eaLnBrk="1" hangingPunct="1">
              <a:lnSpc>
                <a:spcPct val="90000"/>
              </a:lnSpc>
              <a:buFontTx/>
              <a:buNone/>
            </a:pPr>
            <a:r>
              <a:rPr lang="en-US" altLang="zh-CN" sz="2000" b="0"/>
              <a:t>ShapeType itsType;</a:t>
            </a:r>
          </a:p>
          <a:p>
            <a:pPr lvl="1" eaLnBrk="1" hangingPunct="1">
              <a:lnSpc>
                <a:spcPct val="90000"/>
              </a:lnSpc>
              <a:buFontTx/>
              <a:buNone/>
            </a:pPr>
            <a:r>
              <a:rPr lang="en-US" altLang="zh-CN" sz="2000" b="0"/>
              <a:t>double itsSide;</a:t>
            </a:r>
          </a:p>
          <a:p>
            <a:pPr lvl="1" eaLnBrk="1" hangingPunct="1">
              <a:lnSpc>
                <a:spcPct val="90000"/>
              </a:lnSpc>
              <a:buFontTx/>
              <a:buNone/>
            </a:pPr>
            <a:r>
              <a:rPr lang="en-US" altLang="zh-CN" sz="2000" b="0"/>
              <a:t>Point itsTopLeft;</a:t>
            </a:r>
          </a:p>
          <a:p>
            <a:pPr eaLnBrk="1" hangingPunct="1">
              <a:lnSpc>
                <a:spcPct val="90000"/>
              </a:lnSpc>
              <a:buFontTx/>
              <a:buNone/>
            </a:pPr>
            <a:r>
              <a:rPr lang="en-US" altLang="zh-CN" sz="2000" b="0"/>
              <a:t>};</a:t>
            </a:r>
          </a:p>
        </p:txBody>
      </p:sp>
      <p:sp>
        <p:nvSpPr>
          <p:cNvPr id="28677" name="Text Box 5">
            <a:extLst>
              <a:ext uri="{FF2B5EF4-FFF2-40B4-BE49-F238E27FC236}">
                <a16:creationId xmlns:a16="http://schemas.microsoft.com/office/drawing/2014/main" id="{1399CAD5-19A1-5CBC-A56C-D0F22BBFB4DD}"/>
              </a:ext>
            </a:extLst>
          </p:cNvPr>
          <p:cNvSpPr txBox="1">
            <a:spLocks noChangeArrowheads="1"/>
          </p:cNvSpPr>
          <p:nvPr/>
        </p:nvSpPr>
        <p:spPr bwMode="auto">
          <a:xfrm>
            <a:off x="5591175" y="1216025"/>
            <a:ext cx="4724400" cy="4300538"/>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kumimoji="1" lang="zh-CN" altLang="en-US">
                <a:solidFill>
                  <a:srgbClr val="000000"/>
                </a:solidFill>
                <a:latin typeface="宋体" panose="02010600030101010101" pitchFamily="2" charset="-122"/>
              </a:rPr>
              <a:t>问题：要求以一定顺序在图形用户接口上画圆和正方形。</a:t>
            </a:r>
          </a:p>
          <a:p>
            <a:pPr fontAlgn="base">
              <a:spcBef>
                <a:spcPct val="50000"/>
              </a:spcBef>
              <a:spcAft>
                <a:spcPct val="0"/>
              </a:spcAft>
              <a:buClrTx/>
              <a:buSzTx/>
              <a:buNone/>
            </a:pPr>
            <a:r>
              <a:rPr kumimoji="1" lang="zh-CN" altLang="en-US">
                <a:solidFill>
                  <a:srgbClr val="000000"/>
                </a:solidFill>
                <a:latin typeface="宋体" panose="02010600030101010101" pitchFamily="2" charset="-122"/>
              </a:rPr>
              <a:t>常规解决方法</a:t>
            </a:r>
            <a:r>
              <a:rPr kumimoji="1" lang="zh-CN" altLang="en-US">
                <a:solidFill>
                  <a:srgbClr val="000000"/>
                </a:solidFill>
                <a:latin typeface="Times New Roman" panose="02020603050405020304" pitchFamily="18" charset="0"/>
              </a:rPr>
              <a:t> ：</a:t>
            </a:r>
          </a:p>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1</a:t>
            </a:r>
            <a:r>
              <a:rPr kumimoji="1" lang="zh-CN" altLang="en-US">
                <a:solidFill>
                  <a:srgbClr val="000000"/>
                </a:solidFill>
                <a:latin typeface="Times New Roman" panose="02020603050405020304" pitchFamily="18" charset="0"/>
              </a:rPr>
              <a:t>、</a:t>
            </a:r>
            <a:r>
              <a:rPr kumimoji="1" lang="zh-CN" altLang="en-US">
                <a:solidFill>
                  <a:srgbClr val="FF0000"/>
                </a:solidFill>
                <a:latin typeface="Times New Roman" panose="02020603050405020304" pitchFamily="18" charset="0"/>
              </a:rPr>
              <a:t>枚举</a:t>
            </a:r>
            <a:r>
              <a:rPr kumimoji="1" lang="zh-CN" altLang="en-US">
                <a:solidFill>
                  <a:srgbClr val="000000"/>
                </a:solidFill>
                <a:latin typeface="Times New Roman" panose="02020603050405020304" pitchFamily="18" charset="0"/>
              </a:rPr>
              <a:t>出所有图形类型；</a:t>
            </a:r>
          </a:p>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2</a:t>
            </a:r>
            <a:r>
              <a:rPr kumimoji="1" lang="zh-CN" altLang="en-US">
                <a:solidFill>
                  <a:srgbClr val="000000"/>
                </a:solidFill>
                <a:latin typeface="Times New Roman" panose="02020603050405020304" pitchFamily="18" charset="0"/>
              </a:rPr>
              <a:t>、定义所有图形</a:t>
            </a:r>
            <a:r>
              <a:rPr kumimoji="1" lang="zh-CN" altLang="en-US">
                <a:solidFill>
                  <a:srgbClr val="FF0000"/>
                </a:solidFill>
                <a:latin typeface="Times New Roman" panose="02020603050405020304" pitchFamily="18" charset="0"/>
              </a:rPr>
              <a:t>结构</a:t>
            </a:r>
            <a:r>
              <a:rPr kumimoji="1" lang="zh-CN" altLang="en-US">
                <a:solidFill>
                  <a:srgbClr val="000000"/>
                </a:solidFill>
                <a:latin typeface="Times New Roman" panose="02020603050405020304" pitchFamily="18" charset="0"/>
              </a:rPr>
              <a:t>；</a:t>
            </a:r>
          </a:p>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3</a:t>
            </a:r>
            <a:r>
              <a:rPr kumimoji="1" lang="zh-CN" altLang="en-US">
                <a:solidFill>
                  <a:srgbClr val="000000"/>
                </a:solidFill>
                <a:latin typeface="Times New Roman" panose="02020603050405020304" pitchFamily="18" charset="0"/>
              </a:rPr>
              <a:t>、定义每一种图形的</a:t>
            </a:r>
            <a:r>
              <a:rPr kumimoji="1" lang="zh-CN" altLang="en-US">
                <a:solidFill>
                  <a:srgbClr val="FF0000"/>
                </a:solidFill>
                <a:latin typeface="Times New Roman" panose="02020603050405020304" pitchFamily="18" charset="0"/>
              </a:rPr>
              <a:t>画法</a:t>
            </a:r>
            <a:r>
              <a:rPr kumimoji="1" lang="zh-CN" altLang="en-US">
                <a:solidFill>
                  <a:srgbClr val="000000"/>
                </a:solidFill>
                <a:latin typeface="Times New Roman" panose="02020603050405020304" pitchFamily="18" charset="0"/>
              </a:rPr>
              <a:t>；</a:t>
            </a:r>
          </a:p>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4</a:t>
            </a:r>
            <a:r>
              <a:rPr kumimoji="1" lang="zh-CN" altLang="en-US">
                <a:solidFill>
                  <a:srgbClr val="000000"/>
                </a:solidFill>
                <a:latin typeface="Times New Roman" panose="02020603050405020304" pitchFamily="18" charset="0"/>
              </a:rPr>
              <a:t>、在画每一曲线时，依据类型</a:t>
            </a:r>
            <a:r>
              <a:rPr kumimoji="1" lang="zh-CN" altLang="en-US">
                <a:solidFill>
                  <a:srgbClr val="FF0000"/>
                </a:solidFill>
                <a:latin typeface="Times New Roman" panose="02020603050405020304" pitchFamily="18" charset="0"/>
              </a:rPr>
              <a:t>选择合适的函数</a:t>
            </a:r>
            <a:r>
              <a:rPr kumimoji="1" lang="zh-CN" altLang="en-US">
                <a:solidFill>
                  <a:srgbClr val="000000"/>
                </a:solidFill>
                <a:latin typeface="Times New Roman" panose="02020603050405020304" pitchFamily="18" charset="0"/>
              </a:rPr>
              <a:t>去完成绘画任务（用</a:t>
            </a:r>
            <a:r>
              <a:rPr kumimoji="1" lang="en-US" altLang="zh-CN">
                <a:solidFill>
                  <a:srgbClr val="000000"/>
                </a:solidFill>
                <a:latin typeface="Times New Roman" panose="02020603050405020304" pitchFamily="18" charset="0"/>
              </a:rPr>
              <a:t>switch</a:t>
            </a:r>
            <a:r>
              <a:rPr kumimoji="1" lang="zh-CN" altLang="en-US">
                <a:solidFill>
                  <a:srgbClr val="000000"/>
                </a:solidFill>
                <a:latin typeface="Times New Roman" panose="02020603050405020304" pitchFamily="18" charset="0"/>
              </a:rPr>
              <a:t>实现分支）。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7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8675">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675">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675">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8675">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675">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675">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675">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675">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675">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675">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675">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675">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675">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675">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67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6">
            <a:extLst>
              <a:ext uri="{FF2B5EF4-FFF2-40B4-BE49-F238E27FC236}">
                <a16:creationId xmlns:a16="http://schemas.microsoft.com/office/drawing/2014/main" id="{16E143C4-4275-B080-D518-5FCF9EFFC2D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7F4E05D-02E6-44D3-9AD7-E0EAA2FD92CF}" type="slidenum">
              <a:rPr lang="en-US" altLang="zh-CN" sz="1200">
                <a:solidFill>
                  <a:srgbClr val="000000"/>
                </a:solidFill>
                <a:latin typeface="Arial" panose="020B0604020202020204" pitchFamily="34" charset="0"/>
              </a:rPr>
              <a:pPr fontAlgn="base">
                <a:spcBef>
                  <a:spcPct val="0"/>
                </a:spcBef>
                <a:spcAft>
                  <a:spcPct val="0"/>
                </a:spcAft>
              </a:pPr>
              <a:t>24</a:t>
            </a:fld>
            <a:endParaRPr lang="en-US" altLang="zh-CN" sz="1200">
              <a:solidFill>
                <a:srgbClr val="000000"/>
              </a:solidFill>
              <a:latin typeface="Arial" panose="020B0604020202020204" pitchFamily="34" charset="0"/>
            </a:endParaRPr>
          </a:p>
        </p:txBody>
      </p:sp>
      <p:sp>
        <p:nvSpPr>
          <p:cNvPr id="29699" name="Rectangle 3">
            <a:extLst>
              <a:ext uri="{FF2B5EF4-FFF2-40B4-BE49-F238E27FC236}">
                <a16:creationId xmlns:a16="http://schemas.microsoft.com/office/drawing/2014/main" id="{E8CE8ECA-A4A4-BF30-8634-B0D734CD3A38}"/>
              </a:ext>
            </a:extLst>
          </p:cNvPr>
          <p:cNvSpPr>
            <a:spLocks noGrp="1" noChangeArrowheads="1"/>
          </p:cNvSpPr>
          <p:nvPr>
            <p:ph idx="4294967295"/>
          </p:nvPr>
        </p:nvSpPr>
        <p:spPr>
          <a:xfrm>
            <a:off x="2133600" y="260350"/>
            <a:ext cx="7162800" cy="6408738"/>
          </a:xfrm>
        </p:spPr>
        <p:txBody>
          <a:bodyPr/>
          <a:lstStyle/>
          <a:p>
            <a:pPr eaLnBrk="1" hangingPunct="1">
              <a:lnSpc>
                <a:spcPct val="110000"/>
              </a:lnSpc>
              <a:buFontTx/>
              <a:buNone/>
            </a:pPr>
            <a:r>
              <a:rPr lang="en-US" altLang="zh-CN" sz="2000" b="0"/>
              <a:t>void DrawSquare(struct Square*)</a:t>
            </a:r>
          </a:p>
          <a:p>
            <a:pPr eaLnBrk="1" hangingPunct="1">
              <a:lnSpc>
                <a:spcPct val="110000"/>
              </a:lnSpc>
              <a:buFontTx/>
              <a:buNone/>
            </a:pPr>
            <a:r>
              <a:rPr lang="en-US" altLang="zh-CN" sz="2000" b="0"/>
              <a:t>void DrawCircle(struct Circle*);</a:t>
            </a:r>
          </a:p>
          <a:p>
            <a:pPr eaLnBrk="1" hangingPunct="1">
              <a:lnSpc>
                <a:spcPct val="110000"/>
              </a:lnSpc>
              <a:buFontTx/>
              <a:buNone/>
            </a:pPr>
            <a:r>
              <a:rPr lang="en-US" altLang="zh-CN" sz="2000" b="0"/>
              <a:t>typedef struct Shape *ShapePointer;</a:t>
            </a:r>
          </a:p>
          <a:p>
            <a:pPr eaLnBrk="1" hangingPunct="1">
              <a:lnSpc>
                <a:spcPct val="110000"/>
              </a:lnSpc>
              <a:buFontTx/>
              <a:buNone/>
            </a:pPr>
            <a:r>
              <a:rPr lang="en-US" altLang="zh-CN" sz="2000" b="0"/>
              <a:t>void </a:t>
            </a:r>
            <a:r>
              <a:rPr lang="en-US" altLang="zh-CN" sz="2000" b="0">
                <a:solidFill>
                  <a:srgbClr val="FF0000"/>
                </a:solidFill>
              </a:rPr>
              <a:t>DrawAllShapes</a:t>
            </a:r>
            <a:r>
              <a:rPr lang="en-US" altLang="zh-CN" sz="2000" b="0"/>
              <a:t>(ShapePointer list[], int n)</a:t>
            </a:r>
          </a:p>
          <a:p>
            <a:pPr eaLnBrk="1" hangingPunct="1">
              <a:lnSpc>
                <a:spcPct val="110000"/>
              </a:lnSpc>
              <a:buFontTx/>
              <a:buNone/>
            </a:pPr>
            <a:r>
              <a:rPr lang="en-US" altLang="zh-CN" sz="2000" b="0"/>
              <a:t>{</a:t>
            </a:r>
          </a:p>
          <a:p>
            <a:pPr lvl="1" eaLnBrk="1" hangingPunct="1">
              <a:lnSpc>
                <a:spcPct val="110000"/>
              </a:lnSpc>
              <a:buFontTx/>
              <a:buNone/>
            </a:pPr>
            <a:r>
              <a:rPr lang="en-US" altLang="zh-CN" sz="2000" b="0"/>
              <a:t>int i;</a:t>
            </a:r>
          </a:p>
          <a:p>
            <a:pPr lvl="1" eaLnBrk="1" hangingPunct="1">
              <a:lnSpc>
                <a:spcPct val="110000"/>
              </a:lnSpc>
              <a:buFontTx/>
              <a:buNone/>
            </a:pPr>
            <a:r>
              <a:rPr lang="en-US" altLang="zh-CN" sz="2000" b="0"/>
              <a:t>for (i=0; i&lt;n; i++)</a:t>
            </a:r>
          </a:p>
          <a:p>
            <a:pPr lvl="1" eaLnBrk="1" hangingPunct="1">
              <a:lnSpc>
                <a:spcPct val="110000"/>
              </a:lnSpc>
              <a:buFontTx/>
              <a:buNone/>
            </a:pPr>
            <a:r>
              <a:rPr lang="en-US" altLang="zh-CN" sz="2000" b="0"/>
              <a:t>{</a:t>
            </a:r>
          </a:p>
          <a:p>
            <a:pPr lvl="2" eaLnBrk="1" hangingPunct="1">
              <a:lnSpc>
                <a:spcPct val="110000"/>
              </a:lnSpc>
              <a:buFontTx/>
              <a:buNone/>
            </a:pPr>
            <a:r>
              <a:rPr lang="en-US" altLang="zh-CN" sz="2000" b="0"/>
              <a:t>struct Shape* s = list[i];</a:t>
            </a:r>
          </a:p>
          <a:p>
            <a:pPr lvl="2" eaLnBrk="1" hangingPunct="1">
              <a:lnSpc>
                <a:spcPct val="110000"/>
              </a:lnSpc>
              <a:buFontTx/>
              <a:buNone/>
            </a:pPr>
            <a:r>
              <a:rPr lang="en-US" altLang="zh-CN" sz="2000" b="0">
                <a:solidFill>
                  <a:srgbClr val="FF0000"/>
                </a:solidFill>
              </a:rPr>
              <a:t>switch</a:t>
            </a:r>
            <a:r>
              <a:rPr lang="en-US" altLang="zh-CN" sz="2000" b="0"/>
              <a:t> (s-&gt;itsType)</a:t>
            </a:r>
          </a:p>
          <a:p>
            <a:pPr lvl="2" eaLnBrk="1" hangingPunct="1">
              <a:lnSpc>
                <a:spcPct val="110000"/>
              </a:lnSpc>
              <a:buFontTx/>
              <a:buNone/>
            </a:pPr>
            <a:r>
              <a:rPr lang="en-US" altLang="zh-CN" sz="2000" b="0"/>
              <a:t>{</a:t>
            </a:r>
          </a:p>
          <a:p>
            <a:pPr lvl="3" eaLnBrk="1" hangingPunct="1">
              <a:lnSpc>
                <a:spcPct val="110000"/>
              </a:lnSpc>
              <a:buFontTx/>
              <a:buNone/>
            </a:pPr>
            <a:r>
              <a:rPr lang="en-US" altLang="zh-CN" b="0">
                <a:solidFill>
                  <a:srgbClr val="FF0000"/>
                </a:solidFill>
              </a:rPr>
              <a:t>case</a:t>
            </a:r>
            <a:r>
              <a:rPr lang="en-US" altLang="zh-CN" b="0"/>
              <a:t> square:DrawSquare((struct Square*)s); break;</a:t>
            </a:r>
          </a:p>
          <a:p>
            <a:pPr lvl="3" eaLnBrk="1" hangingPunct="1">
              <a:lnSpc>
                <a:spcPct val="110000"/>
              </a:lnSpc>
              <a:buFontTx/>
              <a:buNone/>
            </a:pPr>
            <a:r>
              <a:rPr lang="en-US" altLang="zh-CN" b="0">
                <a:solidFill>
                  <a:srgbClr val="FF0000"/>
                </a:solidFill>
              </a:rPr>
              <a:t>case</a:t>
            </a:r>
            <a:r>
              <a:rPr lang="en-US" altLang="zh-CN" b="0"/>
              <a:t> circle:DrawCircle((struct Circle*)s); break;</a:t>
            </a:r>
          </a:p>
          <a:p>
            <a:pPr lvl="2" eaLnBrk="1" hangingPunct="1">
              <a:lnSpc>
                <a:spcPct val="110000"/>
              </a:lnSpc>
              <a:buFontTx/>
              <a:buNone/>
            </a:pPr>
            <a:r>
              <a:rPr lang="en-US" altLang="zh-CN" sz="2000" b="0"/>
              <a:t>}</a:t>
            </a:r>
          </a:p>
          <a:p>
            <a:pPr lvl="1" eaLnBrk="1" hangingPunct="1">
              <a:lnSpc>
                <a:spcPct val="110000"/>
              </a:lnSpc>
              <a:buFontTx/>
              <a:buNone/>
            </a:pPr>
            <a:r>
              <a:rPr lang="en-US" altLang="zh-CN" sz="2000" b="0"/>
              <a:t>}</a:t>
            </a:r>
          </a:p>
          <a:p>
            <a:pPr algn="just" eaLnBrk="1" hangingPunct="1">
              <a:lnSpc>
                <a:spcPct val="110000"/>
              </a:lnSpc>
              <a:buFontTx/>
              <a:buNone/>
            </a:pPr>
            <a:r>
              <a:rPr lang="en-US" altLang="zh-CN" sz="2000" b="0"/>
              <a:t>}</a:t>
            </a:r>
          </a:p>
        </p:txBody>
      </p:sp>
      <p:sp>
        <p:nvSpPr>
          <p:cNvPr id="158723" name="Text Box 4">
            <a:extLst>
              <a:ext uri="{FF2B5EF4-FFF2-40B4-BE49-F238E27FC236}">
                <a16:creationId xmlns:a16="http://schemas.microsoft.com/office/drawing/2014/main" id="{4E5D46BB-B86D-B8D7-1A57-E92B567C2206}"/>
              </a:ext>
            </a:extLst>
          </p:cNvPr>
          <p:cNvSpPr txBox="1">
            <a:spLocks noChangeArrowheads="1"/>
          </p:cNvSpPr>
          <p:nvPr/>
        </p:nvSpPr>
        <p:spPr bwMode="auto">
          <a:xfrm>
            <a:off x="7924800" y="11430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29701" name="Text Box 5">
            <a:extLst>
              <a:ext uri="{FF2B5EF4-FFF2-40B4-BE49-F238E27FC236}">
                <a16:creationId xmlns:a16="http://schemas.microsoft.com/office/drawing/2014/main" id="{F26F9752-8B1F-D6D4-4419-4B4C2FCB3F27}"/>
              </a:ext>
            </a:extLst>
          </p:cNvPr>
          <p:cNvSpPr txBox="1">
            <a:spLocks noChangeArrowheads="1"/>
          </p:cNvSpPr>
          <p:nvPr/>
        </p:nvSpPr>
        <p:spPr bwMode="auto">
          <a:xfrm>
            <a:off x="5664200" y="2044700"/>
            <a:ext cx="4724400" cy="2463800"/>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30000"/>
              </a:lnSpc>
              <a:spcBef>
                <a:spcPct val="50000"/>
              </a:spcBef>
              <a:spcAft>
                <a:spcPct val="0"/>
              </a:spcAft>
              <a:buClrTx/>
              <a:buSzTx/>
              <a:buNone/>
            </a:pPr>
            <a:r>
              <a:rPr kumimoji="1" lang="zh-CN" altLang="en-US" sz="2200">
                <a:solidFill>
                  <a:srgbClr val="000000"/>
                </a:solidFill>
                <a:latin typeface="Times New Roman" panose="02020603050405020304" pitchFamily="18" charset="0"/>
              </a:rPr>
              <a:t>问题：</a:t>
            </a:r>
          </a:p>
          <a:p>
            <a:pPr fontAlgn="base">
              <a:lnSpc>
                <a:spcPct val="130000"/>
              </a:lnSpc>
              <a:spcBef>
                <a:spcPct val="50000"/>
              </a:spcBef>
              <a:spcAft>
                <a:spcPct val="0"/>
              </a:spcAft>
              <a:buClrTx/>
              <a:buSzTx/>
              <a:buNone/>
            </a:pPr>
            <a:r>
              <a:rPr kumimoji="1" lang="zh-CN" altLang="en-US" sz="2200">
                <a:solidFill>
                  <a:srgbClr val="000000"/>
                </a:solidFill>
                <a:latin typeface="Times New Roman" panose="02020603050405020304" pitchFamily="18" charset="0"/>
              </a:rPr>
              <a:t>每增加一种图形就需要修改</a:t>
            </a:r>
            <a:r>
              <a:rPr kumimoji="1" lang="en-US" altLang="zh-CN" sz="2200">
                <a:solidFill>
                  <a:srgbClr val="000000"/>
                </a:solidFill>
                <a:latin typeface="Times New Roman" panose="02020603050405020304" pitchFamily="18" charset="0"/>
              </a:rPr>
              <a:t>DrawAllShapes</a:t>
            </a:r>
            <a:r>
              <a:rPr kumimoji="1" lang="zh-CN" altLang="en-US" sz="2200">
                <a:solidFill>
                  <a:srgbClr val="000000"/>
                </a:solidFill>
                <a:latin typeface="Times New Roman" panose="02020603050405020304" pitchFamily="18" charset="0"/>
              </a:rPr>
              <a:t>函数（</a:t>
            </a:r>
            <a:r>
              <a:rPr kumimoji="1" lang="zh-CN" altLang="en-US" sz="2200">
                <a:solidFill>
                  <a:srgbClr val="FF0000"/>
                </a:solidFill>
                <a:latin typeface="Times New Roman" panose="02020603050405020304" pitchFamily="18" charset="0"/>
              </a:rPr>
              <a:t>不满足开闭原则</a:t>
            </a:r>
            <a:r>
              <a:rPr kumimoji="1" lang="zh-CN" altLang="en-US" sz="2200">
                <a:solidFill>
                  <a:srgbClr val="000000"/>
                </a:solidFill>
                <a:latin typeface="Times New Roman" panose="02020603050405020304" pitchFamily="18" charset="0"/>
              </a:rPr>
              <a:t>：无需对构件内部进行修改就可以实现扩展）</a:t>
            </a:r>
          </a:p>
        </p:txBody>
      </p:sp>
      <p:sp>
        <p:nvSpPr>
          <p:cNvPr id="158725" name="Text Box 5">
            <a:extLst>
              <a:ext uri="{FF2B5EF4-FFF2-40B4-BE49-F238E27FC236}">
                <a16:creationId xmlns:a16="http://schemas.microsoft.com/office/drawing/2014/main" id="{D12D5E5E-B3F5-A763-5C09-222637FE8039}"/>
              </a:ext>
            </a:extLst>
          </p:cNvPr>
          <p:cNvSpPr txBox="1">
            <a:spLocks noChangeArrowheads="1"/>
          </p:cNvSpPr>
          <p:nvPr/>
        </p:nvSpPr>
        <p:spPr bwMode="auto">
          <a:xfrm>
            <a:off x="6456364" y="276226"/>
            <a:ext cx="3095625" cy="4159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sz="2000" b="1">
                <a:solidFill>
                  <a:srgbClr val="000000"/>
                </a:solidFill>
              </a:rPr>
              <a:t>3. </a:t>
            </a:r>
            <a:r>
              <a:rPr lang="zh-CN" altLang="en-US" sz="2000" b="1">
                <a:solidFill>
                  <a:srgbClr val="000000"/>
                </a:solidFill>
              </a:rPr>
              <a:t>定义每一种图形的画法</a:t>
            </a:r>
            <a:endParaRPr lang="en-US" altLang="zh-CN" sz="2000" b="1">
              <a:solidFill>
                <a:srgbClr val="000000"/>
              </a:solidFill>
            </a:endParaRPr>
          </a:p>
        </p:txBody>
      </p:sp>
      <p:sp>
        <p:nvSpPr>
          <p:cNvPr id="158726" name="Text Box 6">
            <a:extLst>
              <a:ext uri="{FF2B5EF4-FFF2-40B4-BE49-F238E27FC236}">
                <a16:creationId xmlns:a16="http://schemas.microsoft.com/office/drawing/2014/main" id="{B1DB4B17-BC02-1ED6-675F-D2489AD16F6B}"/>
              </a:ext>
            </a:extLst>
          </p:cNvPr>
          <p:cNvSpPr txBox="1">
            <a:spLocks noChangeArrowheads="1"/>
          </p:cNvSpPr>
          <p:nvPr/>
        </p:nvSpPr>
        <p:spPr bwMode="auto">
          <a:xfrm>
            <a:off x="7608889" y="1052514"/>
            <a:ext cx="2879725" cy="7207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en-US" altLang="zh-CN" sz="2000" b="1">
                <a:solidFill>
                  <a:srgbClr val="000000"/>
                </a:solidFill>
              </a:rPr>
              <a:t>4. </a:t>
            </a:r>
            <a:r>
              <a:rPr lang="zh-CN" altLang="en-US" sz="2000" b="1">
                <a:solidFill>
                  <a:srgbClr val="000000"/>
                </a:solidFill>
              </a:rPr>
              <a:t>依据类型选择合适的函数去完成绘画任务</a:t>
            </a:r>
            <a:endParaRPr lang="en-US" altLang="zh-CN" sz="2000" b="1">
              <a:solidFill>
                <a:srgbClr val="000000"/>
              </a:solidFill>
            </a:endParaRPr>
          </a:p>
        </p:txBody>
      </p:sp>
      <p:sp>
        <p:nvSpPr>
          <p:cNvPr id="158727" name="Line 7">
            <a:extLst>
              <a:ext uri="{FF2B5EF4-FFF2-40B4-BE49-F238E27FC236}">
                <a16:creationId xmlns:a16="http://schemas.microsoft.com/office/drawing/2014/main" id="{7AC58DD8-D132-F34F-C424-A7126D72133B}"/>
              </a:ext>
            </a:extLst>
          </p:cNvPr>
          <p:cNvSpPr>
            <a:spLocks noChangeShapeType="1"/>
          </p:cNvSpPr>
          <p:nvPr/>
        </p:nvSpPr>
        <p:spPr bwMode="auto">
          <a:xfrm flipV="1">
            <a:off x="5880101" y="333376"/>
            <a:ext cx="576263" cy="1428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58728" name="Line 8">
            <a:extLst>
              <a:ext uri="{FF2B5EF4-FFF2-40B4-BE49-F238E27FC236}">
                <a16:creationId xmlns:a16="http://schemas.microsoft.com/office/drawing/2014/main" id="{65163CDD-169A-2735-9B18-B435688CC760}"/>
              </a:ext>
            </a:extLst>
          </p:cNvPr>
          <p:cNvSpPr>
            <a:spLocks noChangeShapeType="1"/>
          </p:cNvSpPr>
          <p:nvPr/>
        </p:nvSpPr>
        <p:spPr bwMode="auto">
          <a:xfrm flipV="1">
            <a:off x="5664201" y="404814"/>
            <a:ext cx="792163" cy="503237"/>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58729" name="Line 9">
            <a:extLst>
              <a:ext uri="{FF2B5EF4-FFF2-40B4-BE49-F238E27FC236}">
                <a16:creationId xmlns:a16="http://schemas.microsoft.com/office/drawing/2014/main" id="{46E4061E-17E9-1618-F0B2-0AE48A0C8DB4}"/>
              </a:ext>
            </a:extLst>
          </p:cNvPr>
          <p:cNvSpPr>
            <a:spLocks noChangeShapeType="1"/>
          </p:cNvSpPr>
          <p:nvPr/>
        </p:nvSpPr>
        <p:spPr bwMode="auto">
          <a:xfrm>
            <a:off x="6383338" y="1268414"/>
            <a:ext cx="1225550" cy="730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58730" name="Line 10">
            <a:extLst>
              <a:ext uri="{FF2B5EF4-FFF2-40B4-BE49-F238E27FC236}">
                <a16:creationId xmlns:a16="http://schemas.microsoft.com/office/drawing/2014/main" id="{9CE308E3-54E6-C095-D3FE-44956C9BF4BC}"/>
              </a:ext>
            </a:extLst>
          </p:cNvPr>
          <p:cNvSpPr>
            <a:spLocks noChangeShapeType="1"/>
          </p:cNvSpPr>
          <p:nvPr/>
        </p:nvSpPr>
        <p:spPr bwMode="auto">
          <a:xfrm flipV="1">
            <a:off x="7391400" y="1412875"/>
            <a:ext cx="217488" cy="28733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1" end="1"/>
                                            </p:txEl>
                                          </p:spTgt>
                                        </p:tgtEl>
                                        <p:attrNameLst>
                                          <p:attrName>style.visibility</p:attrName>
                                        </p:attrNameLst>
                                      </p:cBhvr>
                                      <p:to>
                                        <p:strVal val="visible"/>
                                      </p:to>
                                    </p:set>
                                  </p:childTnLst>
                                </p:cTn>
                              </p:par>
                              <p:par>
                                <p:cTn id="9" presetID="2" presetClass="entr" presetSubtype="4" fill="hold" grpId="0" nodeType="withEffect">
                                  <p:stCondLst>
                                    <p:cond delay="0"/>
                                  </p:stCondLst>
                                  <p:childTnLst>
                                    <p:set>
                                      <p:cBhvr>
                                        <p:cTn id="10" dur="1" fill="hold">
                                          <p:stCondLst>
                                            <p:cond delay="0"/>
                                          </p:stCondLst>
                                        </p:cTn>
                                        <p:tgtEl>
                                          <p:spTgt spid="158725"/>
                                        </p:tgtEl>
                                        <p:attrNameLst>
                                          <p:attrName>style.visibility</p:attrName>
                                        </p:attrNameLst>
                                      </p:cBhvr>
                                      <p:to>
                                        <p:strVal val="visible"/>
                                      </p:to>
                                    </p:set>
                                    <p:anim calcmode="lin" valueType="num">
                                      <p:cBhvr additive="base">
                                        <p:cTn id="11" dur="2000" fill="hold"/>
                                        <p:tgtEl>
                                          <p:spTgt spid="158725"/>
                                        </p:tgtEl>
                                        <p:attrNameLst>
                                          <p:attrName>ppt_x</p:attrName>
                                        </p:attrNameLst>
                                      </p:cBhvr>
                                      <p:tavLst>
                                        <p:tav tm="0">
                                          <p:val>
                                            <p:strVal val="#ppt_x"/>
                                          </p:val>
                                        </p:tav>
                                        <p:tav tm="100000">
                                          <p:val>
                                            <p:strVal val="#ppt_x"/>
                                          </p:val>
                                        </p:tav>
                                      </p:tavLst>
                                    </p:anim>
                                    <p:anim calcmode="lin" valueType="num">
                                      <p:cBhvr additive="base">
                                        <p:cTn id="12" dur="2000" fill="hold"/>
                                        <p:tgtEl>
                                          <p:spTgt spid="15872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8727"/>
                                        </p:tgtEl>
                                        <p:attrNameLst>
                                          <p:attrName>style.visibility</p:attrName>
                                        </p:attrNameLst>
                                      </p:cBhvr>
                                      <p:to>
                                        <p:strVal val="visible"/>
                                      </p:to>
                                    </p:set>
                                    <p:anim calcmode="lin" valueType="num">
                                      <p:cBhvr additive="base">
                                        <p:cTn id="15" dur="2000" fill="hold"/>
                                        <p:tgtEl>
                                          <p:spTgt spid="158727"/>
                                        </p:tgtEl>
                                        <p:attrNameLst>
                                          <p:attrName>ppt_x</p:attrName>
                                        </p:attrNameLst>
                                      </p:cBhvr>
                                      <p:tavLst>
                                        <p:tav tm="0">
                                          <p:val>
                                            <p:strVal val="#ppt_x"/>
                                          </p:val>
                                        </p:tav>
                                        <p:tav tm="100000">
                                          <p:val>
                                            <p:strVal val="#ppt_x"/>
                                          </p:val>
                                        </p:tav>
                                      </p:tavLst>
                                    </p:anim>
                                    <p:anim calcmode="lin" valueType="num">
                                      <p:cBhvr additive="base">
                                        <p:cTn id="16" dur="2000" fill="hold"/>
                                        <p:tgtEl>
                                          <p:spTgt spid="15872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8728"/>
                                        </p:tgtEl>
                                        <p:attrNameLst>
                                          <p:attrName>style.visibility</p:attrName>
                                        </p:attrNameLst>
                                      </p:cBhvr>
                                      <p:to>
                                        <p:strVal val="visible"/>
                                      </p:to>
                                    </p:set>
                                    <p:anim calcmode="lin" valueType="num">
                                      <p:cBhvr additive="base">
                                        <p:cTn id="19" dur="2000" fill="hold"/>
                                        <p:tgtEl>
                                          <p:spTgt spid="158728"/>
                                        </p:tgtEl>
                                        <p:attrNameLst>
                                          <p:attrName>ppt_x</p:attrName>
                                        </p:attrNameLst>
                                      </p:cBhvr>
                                      <p:tavLst>
                                        <p:tav tm="0">
                                          <p:val>
                                            <p:strVal val="#ppt_x"/>
                                          </p:val>
                                        </p:tav>
                                        <p:tav tm="100000">
                                          <p:val>
                                            <p:strVal val="#ppt_x"/>
                                          </p:val>
                                        </p:tav>
                                      </p:tavLst>
                                    </p:anim>
                                    <p:anim calcmode="lin" valueType="num">
                                      <p:cBhvr additive="base">
                                        <p:cTn id="20" dur="2000" fill="hold"/>
                                        <p:tgtEl>
                                          <p:spTgt spid="15872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9699">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699">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699">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699">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699">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699">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699">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699">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699">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699">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699">
                                            <p:txEl>
                                              <p:pRg st="13" end="1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699">
                                            <p:txEl>
                                              <p:pRg st="14" end="14"/>
                                            </p:txEl>
                                          </p:spTgt>
                                        </p:tgtEl>
                                        <p:attrNameLst>
                                          <p:attrName>style.visibility</p:attrName>
                                        </p:attrNameLst>
                                      </p:cBhvr>
                                      <p:to>
                                        <p:strVal val="visible"/>
                                      </p:to>
                                    </p:set>
                                  </p:childTnLst>
                                </p:cTn>
                              </p:par>
                              <p:par>
                                <p:cTn id="49" presetID="2" presetClass="entr" presetSubtype="4" fill="hold" grpId="0" nodeType="withEffect" nodePh="1">
                                  <p:stCondLst>
                                    <p:cond delay="0"/>
                                  </p:stCondLst>
                                  <p:endCondLst>
                                    <p:cond evt="begin" delay="0">
                                      <p:tn val="49"/>
                                    </p:cond>
                                  </p:endCondLst>
                                  <p:childTnLst>
                                    <p:set>
                                      <p:cBhvr>
                                        <p:cTn id="50" dur="1" fill="hold">
                                          <p:stCondLst>
                                            <p:cond delay="0"/>
                                          </p:stCondLst>
                                        </p:cTn>
                                        <p:tgtEl>
                                          <p:spTgt spid="158723"/>
                                        </p:tgtEl>
                                        <p:attrNameLst>
                                          <p:attrName>style.visibility</p:attrName>
                                        </p:attrNameLst>
                                      </p:cBhvr>
                                      <p:to>
                                        <p:strVal val="visible"/>
                                      </p:to>
                                    </p:set>
                                    <p:anim calcmode="lin" valueType="num">
                                      <p:cBhvr additive="base">
                                        <p:cTn id="51" dur="2000" fill="hold"/>
                                        <p:tgtEl>
                                          <p:spTgt spid="158723"/>
                                        </p:tgtEl>
                                        <p:attrNameLst>
                                          <p:attrName>ppt_x</p:attrName>
                                        </p:attrNameLst>
                                      </p:cBhvr>
                                      <p:tavLst>
                                        <p:tav tm="0">
                                          <p:val>
                                            <p:strVal val="#ppt_x"/>
                                          </p:val>
                                        </p:tav>
                                        <p:tav tm="100000">
                                          <p:val>
                                            <p:strVal val="#ppt_x"/>
                                          </p:val>
                                        </p:tav>
                                      </p:tavLst>
                                    </p:anim>
                                    <p:anim calcmode="lin" valueType="num">
                                      <p:cBhvr additive="base">
                                        <p:cTn id="52" dur="2000" fill="hold"/>
                                        <p:tgtEl>
                                          <p:spTgt spid="15872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8726"/>
                                        </p:tgtEl>
                                        <p:attrNameLst>
                                          <p:attrName>style.visibility</p:attrName>
                                        </p:attrNameLst>
                                      </p:cBhvr>
                                      <p:to>
                                        <p:strVal val="visible"/>
                                      </p:to>
                                    </p:set>
                                    <p:anim calcmode="lin" valueType="num">
                                      <p:cBhvr additive="base">
                                        <p:cTn id="55" dur="2000" fill="hold"/>
                                        <p:tgtEl>
                                          <p:spTgt spid="158726"/>
                                        </p:tgtEl>
                                        <p:attrNameLst>
                                          <p:attrName>ppt_x</p:attrName>
                                        </p:attrNameLst>
                                      </p:cBhvr>
                                      <p:tavLst>
                                        <p:tav tm="0">
                                          <p:val>
                                            <p:strVal val="#ppt_x"/>
                                          </p:val>
                                        </p:tav>
                                        <p:tav tm="100000">
                                          <p:val>
                                            <p:strVal val="#ppt_x"/>
                                          </p:val>
                                        </p:tav>
                                      </p:tavLst>
                                    </p:anim>
                                    <p:anim calcmode="lin" valueType="num">
                                      <p:cBhvr additive="base">
                                        <p:cTn id="56" dur="2000" fill="hold"/>
                                        <p:tgtEl>
                                          <p:spTgt spid="1587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58729"/>
                                        </p:tgtEl>
                                        <p:attrNameLst>
                                          <p:attrName>style.visibility</p:attrName>
                                        </p:attrNameLst>
                                      </p:cBhvr>
                                      <p:to>
                                        <p:strVal val="visible"/>
                                      </p:to>
                                    </p:set>
                                    <p:anim calcmode="lin" valueType="num">
                                      <p:cBhvr additive="base">
                                        <p:cTn id="59" dur="2000" fill="hold"/>
                                        <p:tgtEl>
                                          <p:spTgt spid="158729"/>
                                        </p:tgtEl>
                                        <p:attrNameLst>
                                          <p:attrName>ppt_x</p:attrName>
                                        </p:attrNameLst>
                                      </p:cBhvr>
                                      <p:tavLst>
                                        <p:tav tm="0">
                                          <p:val>
                                            <p:strVal val="#ppt_x"/>
                                          </p:val>
                                        </p:tav>
                                        <p:tav tm="100000">
                                          <p:val>
                                            <p:strVal val="#ppt_x"/>
                                          </p:val>
                                        </p:tav>
                                      </p:tavLst>
                                    </p:anim>
                                    <p:anim calcmode="lin" valueType="num">
                                      <p:cBhvr additive="base">
                                        <p:cTn id="60" dur="2000" fill="hold"/>
                                        <p:tgtEl>
                                          <p:spTgt spid="158729"/>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58730"/>
                                        </p:tgtEl>
                                        <p:attrNameLst>
                                          <p:attrName>style.visibility</p:attrName>
                                        </p:attrNameLst>
                                      </p:cBhvr>
                                      <p:to>
                                        <p:strVal val="visible"/>
                                      </p:to>
                                    </p:set>
                                    <p:anim calcmode="lin" valueType="num">
                                      <p:cBhvr additive="base">
                                        <p:cTn id="63" dur="2000" fill="hold"/>
                                        <p:tgtEl>
                                          <p:spTgt spid="158730"/>
                                        </p:tgtEl>
                                        <p:attrNameLst>
                                          <p:attrName>ppt_x</p:attrName>
                                        </p:attrNameLst>
                                      </p:cBhvr>
                                      <p:tavLst>
                                        <p:tav tm="0">
                                          <p:val>
                                            <p:strVal val="#ppt_x"/>
                                          </p:val>
                                        </p:tav>
                                        <p:tav tm="100000">
                                          <p:val>
                                            <p:strVal val="#ppt_x"/>
                                          </p:val>
                                        </p:tav>
                                      </p:tavLst>
                                    </p:anim>
                                    <p:anim calcmode="lin" valueType="num">
                                      <p:cBhvr additive="base">
                                        <p:cTn id="64" dur="2000" fill="hold"/>
                                        <p:tgtEl>
                                          <p:spTgt spid="158730"/>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9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29701" grpId="0" animBg="1"/>
      <p:bldP spid="158725" grpId="0" animBg="1"/>
      <p:bldP spid="1587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6">
            <a:extLst>
              <a:ext uri="{FF2B5EF4-FFF2-40B4-BE49-F238E27FC236}">
                <a16:creationId xmlns:a16="http://schemas.microsoft.com/office/drawing/2014/main" id="{F3ABB8B1-C044-4A24-ECBE-3464D3CE2A8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57FA355-318F-42C4-841A-F7956A413A1D}" type="slidenum">
              <a:rPr lang="en-US" altLang="zh-CN" sz="1200">
                <a:solidFill>
                  <a:srgbClr val="000000"/>
                </a:solidFill>
                <a:latin typeface="Arial" panose="020B0604020202020204" pitchFamily="34" charset="0"/>
              </a:rPr>
              <a:pPr fontAlgn="base">
                <a:spcBef>
                  <a:spcPct val="0"/>
                </a:spcBef>
                <a:spcAft>
                  <a:spcPct val="0"/>
                </a:spcAft>
              </a:pPr>
              <a:t>25</a:t>
            </a:fld>
            <a:endParaRPr lang="en-US" altLang="zh-CN" sz="1200">
              <a:solidFill>
                <a:srgbClr val="000000"/>
              </a:solidFill>
              <a:latin typeface="Arial" panose="020B0604020202020204" pitchFamily="34" charset="0"/>
            </a:endParaRPr>
          </a:p>
        </p:txBody>
      </p:sp>
      <p:sp>
        <p:nvSpPr>
          <p:cNvPr id="30723" name="Rectangle 3">
            <a:extLst>
              <a:ext uri="{FF2B5EF4-FFF2-40B4-BE49-F238E27FC236}">
                <a16:creationId xmlns:a16="http://schemas.microsoft.com/office/drawing/2014/main" id="{2E33B885-9969-3106-10C5-600B216B88F1}"/>
              </a:ext>
            </a:extLst>
          </p:cNvPr>
          <p:cNvSpPr>
            <a:spLocks noGrp="1" noChangeArrowheads="1"/>
          </p:cNvSpPr>
          <p:nvPr>
            <p:ph idx="4294967295"/>
          </p:nvPr>
        </p:nvSpPr>
        <p:spPr>
          <a:xfrm>
            <a:off x="1981200" y="333376"/>
            <a:ext cx="7772400" cy="6048375"/>
          </a:xfrm>
        </p:spPr>
        <p:txBody>
          <a:bodyPr/>
          <a:lstStyle/>
          <a:p>
            <a:pPr eaLnBrk="1" hangingPunct="1">
              <a:lnSpc>
                <a:spcPct val="90000"/>
              </a:lnSpc>
              <a:buFontTx/>
              <a:buNone/>
            </a:pPr>
            <a:r>
              <a:rPr lang="en-US" altLang="zh-CN" sz="2000" b="0"/>
              <a:t>class Shape{</a:t>
            </a:r>
          </a:p>
          <a:p>
            <a:pPr eaLnBrk="1" hangingPunct="1">
              <a:lnSpc>
                <a:spcPct val="90000"/>
              </a:lnSpc>
              <a:buFontTx/>
              <a:buNone/>
            </a:pPr>
            <a:r>
              <a:rPr lang="en-US" altLang="zh-CN" sz="2000" b="0"/>
              <a:t>public:</a:t>
            </a:r>
          </a:p>
          <a:p>
            <a:pPr lvl="1" eaLnBrk="1" hangingPunct="1">
              <a:lnSpc>
                <a:spcPct val="90000"/>
              </a:lnSpc>
              <a:buFontTx/>
              <a:buNone/>
            </a:pPr>
            <a:r>
              <a:rPr lang="en-US" altLang="zh-CN" sz="2000" b="0"/>
              <a:t>virtual void Draw() const = 0;</a:t>
            </a:r>
          </a:p>
          <a:p>
            <a:pPr eaLnBrk="1" hangingPunct="1">
              <a:lnSpc>
                <a:spcPct val="90000"/>
              </a:lnSpc>
              <a:buFontTx/>
              <a:buNone/>
            </a:pPr>
            <a:r>
              <a:rPr lang="en-US" altLang="zh-CN" sz="2000" b="0"/>
              <a:t>};</a:t>
            </a:r>
          </a:p>
          <a:p>
            <a:pPr eaLnBrk="1" hangingPunct="1">
              <a:lnSpc>
                <a:spcPct val="90000"/>
              </a:lnSpc>
              <a:spcBef>
                <a:spcPct val="50000"/>
              </a:spcBef>
              <a:buFontTx/>
              <a:buNone/>
            </a:pPr>
            <a:r>
              <a:rPr lang="en-US" altLang="zh-CN" sz="2000" b="0"/>
              <a:t>class Square : public Shape{</a:t>
            </a:r>
          </a:p>
          <a:p>
            <a:pPr eaLnBrk="1" hangingPunct="1">
              <a:lnSpc>
                <a:spcPct val="90000"/>
              </a:lnSpc>
              <a:buFontTx/>
              <a:buNone/>
            </a:pPr>
            <a:r>
              <a:rPr lang="en-US" altLang="zh-CN" sz="2000" b="0"/>
              <a:t>public:</a:t>
            </a:r>
          </a:p>
          <a:p>
            <a:pPr eaLnBrk="1" hangingPunct="1">
              <a:lnSpc>
                <a:spcPct val="90000"/>
              </a:lnSpc>
              <a:buFontTx/>
              <a:buNone/>
            </a:pPr>
            <a:r>
              <a:rPr lang="en-US" altLang="zh-CN" sz="2000" b="0"/>
              <a:t>	virtual void Draw() const;</a:t>
            </a:r>
          </a:p>
          <a:p>
            <a:pPr eaLnBrk="1" hangingPunct="1">
              <a:lnSpc>
                <a:spcPct val="90000"/>
              </a:lnSpc>
              <a:buFontTx/>
              <a:buNone/>
            </a:pPr>
            <a:r>
              <a:rPr lang="en-US" altLang="zh-CN" sz="2000" b="0"/>
              <a:t>};</a:t>
            </a:r>
          </a:p>
          <a:p>
            <a:pPr eaLnBrk="1" hangingPunct="1">
              <a:lnSpc>
                <a:spcPct val="90000"/>
              </a:lnSpc>
              <a:buFontTx/>
              <a:buNone/>
            </a:pPr>
            <a:r>
              <a:rPr lang="en-US" altLang="zh-CN" sz="2000" b="0"/>
              <a:t>class Circle : public Shape{</a:t>
            </a:r>
          </a:p>
          <a:p>
            <a:pPr eaLnBrk="1" hangingPunct="1">
              <a:lnSpc>
                <a:spcPct val="90000"/>
              </a:lnSpc>
              <a:buFontTx/>
              <a:buNone/>
            </a:pPr>
            <a:r>
              <a:rPr lang="en-US" altLang="zh-CN" sz="2000" b="0"/>
              <a:t>public:</a:t>
            </a:r>
          </a:p>
          <a:p>
            <a:pPr eaLnBrk="1" hangingPunct="1">
              <a:lnSpc>
                <a:spcPct val="90000"/>
              </a:lnSpc>
              <a:buFontTx/>
              <a:buNone/>
            </a:pPr>
            <a:r>
              <a:rPr lang="en-US" altLang="zh-CN" sz="2000" b="0"/>
              <a:t>	virtual void Draw() const;</a:t>
            </a:r>
          </a:p>
          <a:p>
            <a:pPr eaLnBrk="1" hangingPunct="1">
              <a:lnSpc>
                <a:spcPct val="90000"/>
              </a:lnSpc>
              <a:buFontTx/>
              <a:buNone/>
            </a:pPr>
            <a:r>
              <a:rPr lang="en-US" altLang="zh-CN" sz="2000" b="0"/>
              <a:t>};</a:t>
            </a:r>
          </a:p>
          <a:p>
            <a:pPr eaLnBrk="1" hangingPunct="1">
              <a:lnSpc>
                <a:spcPct val="90000"/>
              </a:lnSpc>
              <a:spcBef>
                <a:spcPct val="50000"/>
              </a:spcBef>
              <a:buFontTx/>
              <a:buNone/>
            </a:pPr>
            <a:r>
              <a:rPr lang="en-US" altLang="zh-CN" sz="2000" b="0"/>
              <a:t>void </a:t>
            </a:r>
            <a:r>
              <a:rPr lang="en-US" altLang="zh-CN" sz="2000" b="0">
                <a:solidFill>
                  <a:srgbClr val="FF0000"/>
                </a:solidFill>
              </a:rPr>
              <a:t>DrawAllShapes</a:t>
            </a:r>
            <a:r>
              <a:rPr lang="en-US" altLang="zh-CN" sz="2000" b="0"/>
              <a:t>(Set&lt;Shape*&gt;&amp; list)</a:t>
            </a:r>
          </a:p>
          <a:p>
            <a:pPr eaLnBrk="1" hangingPunct="1">
              <a:lnSpc>
                <a:spcPct val="90000"/>
              </a:lnSpc>
              <a:buFontTx/>
              <a:buNone/>
            </a:pPr>
            <a:r>
              <a:rPr lang="en-US" altLang="zh-CN" sz="2000" b="0"/>
              <a:t>{</a:t>
            </a:r>
          </a:p>
          <a:p>
            <a:pPr eaLnBrk="1" hangingPunct="1">
              <a:lnSpc>
                <a:spcPct val="90000"/>
              </a:lnSpc>
              <a:buFontTx/>
              <a:buNone/>
            </a:pPr>
            <a:r>
              <a:rPr lang="en-US" altLang="zh-CN" sz="2000" b="0"/>
              <a:t>        for (Iterator&lt;Shape*&gt;i(list); i; i++)</a:t>
            </a:r>
          </a:p>
          <a:p>
            <a:pPr eaLnBrk="1" hangingPunct="1">
              <a:lnSpc>
                <a:spcPct val="90000"/>
              </a:lnSpc>
              <a:buFontTx/>
              <a:buNone/>
            </a:pPr>
            <a:r>
              <a:rPr lang="en-US" altLang="zh-CN" sz="2000" b="0"/>
              <a:t>                (*i)-&gt;Draw();</a:t>
            </a:r>
          </a:p>
          <a:p>
            <a:pPr eaLnBrk="1" hangingPunct="1">
              <a:lnSpc>
                <a:spcPct val="90000"/>
              </a:lnSpc>
              <a:buFontTx/>
              <a:buNone/>
            </a:pPr>
            <a:r>
              <a:rPr lang="en-US" altLang="zh-CN" sz="2000" b="0"/>
              <a:t>}</a:t>
            </a:r>
          </a:p>
        </p:txBody>
      </p:sp>
      <p:sp>
        <p:nvSpPr>
          <p:cNvPr id="30724" name="Text Box 4">
            <a:extLst>
              <a:ext uri="{FF2B5EF4-FFF2-40B4-BE49-F238E27FC236}">
                <a16:creationId xmlns:a16="http://schemas.microsoft.com/office/drawing/2014/main" id="{5D92B75E-D97F-7369-1337-B055D133536F}"/>
              </a:ext>
            </a:extLst>
          </p:cNvPr>
          <p:cNvSpPr txBox="1">
            <a:spLocks noChangeArrowheads="1"/>
          </p:cNvSpPr>
          <p:nvPr/>
        </p:nvSpPr>
        <p:spPr bwMode="auto">
          <a:xfrm>
            <a:off x="6024563" y="546100"/>
            <a:ext cx="4191000" cy="3962400"/>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85000"/>
              </a:lnSpc>
              <a:spcBef>
                <a:spcPct val="40000"/>
              </a:spcBef>
              <a:spcAft>
                <a:spcPct val="0"/>
              </a:spcAft>
              <a:buClrTx/>
              <a:buSzTx/>
              <a:buNone/>
            </a:pPr>
            <a:r>
              <a:rPr kumimoji="1" lang="zh-CN" altLang="en-US">
                <a:solidFill>
                  <a:srgbClr val="000000"/>
                </a:solidFill>
                <a:latin typeface="Times New Roman" panose="02020603050405020304" pitchFamily="18" charset="0"/>
              </a:rPr>
              <a:t>解决方法：</a:t>
            </a:r>
          </a:p>
          <a:p>
            <a:pPr fontAlgn="base">
              <a:lnSpc>
                <a:spcPct val="85000"/>
              </a:lnSpc>
              <a:spcBef>
                <a:spcPct val="40000"/>
              </a:spcBef>
              <a:spcAft>
                <a:spcPct val="0"/>
              </a:spcAft>
              <a:buClrTx/>
              <a:buSzTx/>
              <a:buNone/>
            </a:pPr>
            <a:r>
              <a:rPr kumimoji="1" lang="en-US" altLang="zh-CN">
                <a:solidFill>
                  <a:srgbClr val="000000"/>
                </a:solidFill>
                <a:latin typeface="Times New Roman" panose="02020603050405020304" pitchFamily="18" charset="0"/>
              </a:rPr>
              <a:t>1</a:t>
            </a:r>
            <a:r>
              <a:rPr kumimoji="1" lang="zh-CN" altLang="en-US">
                <a:solidFill>
                  <a:srgbClr val="000000"/>
                </a:solidFill>
                <a:latin typeface="Times New Roman" panose="02020603050405020304" pitchFamily="18" charset="0"/>
              </a:rPr>
              <a:t>、引入基类</a:t>
            </a:r>
            <a:r>
              <a:rPr kumimoji="1" lang="en-US" altLang="zh-CN">
                <a:solidFill>
                  <a:srgbClr val="000000"/>
                </a:solidFill>
                <a:latin typeface="Times New Roman" panose="02020603050405020304" pitchFamily="18" charset="0"/>
              </a:rPr>
              <a:t>Shape</a:t>
            </a:r>
            <a:r>
              <a:rPr kumimoji="1" lang="zh-CN" altLang="en-US">
                <a:solidFill>
                  <a:srgbClr val="000000"/>
                </a:solidFill>
                <a:latin typeface="Times New Roman" panose="02020603050405020304" pitchFamily="18" charset="0"/>
              </a:rPr>
              <a:t>，定义纯虚函数</a:t>
            </a:r>
            <a:r>
              <a:rPr kumimoji="1" lang="en-US" altLang="zh-CN">
                <a:solidFill>
                  <a:srgbClr val="000000"/>
                </a:solidFill>
                <a:latin typeface="Times New Roman" panose="02020603050405020304" pitchFamily="18" charset="0"/>
              </a:rPr>
              <a:t>Draw()</a:t>
            </a:r>
            <a:r>
              <a:rPr kumimoji="1" lang="zh-CN" altLang="en-US">
                <a:solidFill>
                  <a:srgbClr val="000000"/>
                </a:solidFill>
                <a:latin typeface="Times New Roman" panose="02020603050405020304" pitchFamily="18" charset="0"/>
              </a:rPr>
              <a:t>；</a:t>
            </a:r>
          </a:p>
          <a:p>
            <a:pPr fontAlgn="base">
              <a:lnSpc>
                <a:spcPct val="85000"/>
              </a:lnSpc>
              <a:spcBef>
                <a:spcPct val="40000"/>
              </a:spcBef>
              <a:spcAft>
                <a:spcPct val="0"/>
              </a:spcAft>
              <a:buClrTx/>
              <a:buSzTx/>
              <a:buNone/>
            </a:pPr>
            <a:r>
              <a:rPr kumimoji="1" lang="en-US" altLang="zh-CN">
                <a:solidFill>
                  <a:srgbClr val="000000"/>
                </a:solidFill>
                <a:latin typeface="Times New Roman" panose="02020603050405020304" pitchFamily="18" charset="0"/>
              </a:rPr>
              <a:t>2</a:t>
            </a:r>
            <a:r>
              <a:rPr kumimoji="1" lang="zh-CN" altLang="en-US">
                <a:solidFill>
                  <a:srgbClr val="000000"/>
                </a:solidFill>
                <a:latin typeface="Times New Roman" panose="02020603050405020304" pitchFamily="18" charset="0"/>
              </a:rPr>
              <a:t>、派生出</a:t>
            </a:r>
            <a:r>
              <a:rPr kumimoji="1" lang="en-US" altLang="zh-CN">
                <a:solidFill>
                  <a:srgbClr val="000000"/>
                </a:solidFill>
                <a:latin typeface="Times New Roman" panose="02020603050405020304" pitchFamily="18" charset="0"/>
              </a:rPr>
              <a:t>Square</a:t>
            </a:r>
            <a:r>
              <a:rPr kumimoji="1" lang="zh-CN" altLang="en-US">
                <a:solidFill>
                  <a:srgbClr val="000000"/>
                </a:solidFill>
                <a:latin typeface="Times New Roman" panose="02020603050405020304" pitchFamily="18" charset="0"/>
              </a:rPr>
              <a:t>和</a:t>
            </a:r>
            <a:r>
              <a:rPr kumimoji="1" lang="en-US" altLang="zh-CN">
                <a:solidFill>
                  <a:srgbClr val="000000"/>
                </a:solidFill>
                <a:latin typeface="Times New Roman" panose="02020603050405020304" pitchFamily="18" charset="0"/>
              </a:rPr>
              <a:t>Circle</a:t>
            </a:r>
            <a:r>
              <a:rPr kumimoji="1" lang="zh-CN" altLang="en-US">
                <a:solidFill>
                  <a:srgbClr val="000000"/>
                </a:solidFill>
                <a:latin typeface="Times New Roman" panose="02020603050405020304" pitchFamily="18" charset="0"/>
              </a:rPr>
              <a:t>类，其中重载</a:t>
            </a:r>
            <a:r>
              <a:rPr kumimoji="1" lang="en-US" altLang="zh-CN">
                <a:solidFill>
                  <a:srgbClr val="000000"/>
                </a:solidFill>
                <a:latin typeface="Times New Roman" panose="02020603050405020304" pitchFamily="18" charset="0"/>
              </a:rPr>
              <a:t>Draw();</a:t>
            </a:r>
          </a:p>
          <a:p>
            <a:pPr fontAlgn="base">
              <a:lnSpc>
                <a:spcPct val="85000"/>
              </a:lnSpc>
              <a:spcBef>
                <a:spcPct val="40000"/>
              </a:spcBef>
              <a:spcAft>
                <a:spcPct val="0"/>
              </a:spcAft>
              <a:buClrTx/>
              <a:buSzTx/>
              <a:buNone/>
            </a:pPr>
            <a:r>
              <a:rPr kumimoji="1" lang="en-US" altLang="zh-CN">
                <a:solidFill>
                  <a:srgbClr val="000000"/>
                </a:solidFill>
                <a:latin typeface="Times New Roman" panose="02020603050405020304" pitchFamily="18" charset="0"/>
              </a:rPr>
              <a:t>3</a:t>
            </a:r>
            <a:r>
              <a:rPr kumimoji="1" lang="zh-CN" altLang="en-US">
                <a:solidFill>
                  <a:srgbClr val="000000"/>
                </a:solidFill>
                <a:latin typeface="Times New Roman" panose="02020603050405020304" pitchFamily="18" charset="0"/>
              </a:rPr>
              <a:t>、</a:t>
            </a:r>
            <a:r>
              <a:rPr kumimoji="1" lang="en-US" altLang="zh-CN">
                <a:solidFill>
                  <a:srgbClr val="000000"/>
                </a:solidFill>
                <a:latin typeface="Times New Roman" panose="02020603050405020304" pitchFamily="18" charset="0"/>
              </a:rPr>
              <a:t>DrawAllShapes</a:t>
            </a:r>
            <a:r>
              <a:rPr kumimoji="1" lang="zh-CN" altLang="en-US">
                <a:solidFill>
                  <a:srgbClr val="000000"/>
                </a:solidFill>
                <a:latin typeface="Times New Roman" panose="02020603050405020304" pitchFamily="18" charset="0"/>
              </a:rPr>
              <a:t>的参数表是一组</a:t>
            </a:r>
            <a:r>
              <a:rPr kumimoji="1" lang="en-US" altLang="zh-CN">
                <a:solidFill>
                  <a:srgbClr val="000000"/>
                </a:solidFill>
                <a:latin typeface="Times New Roman" panose="02020603050405020304" pitchFamily="18" charset="0"/>
              </a:rPr>
              <a:t>Shape</a:t>
            </a:r>
            <a:r>
              <a:rPr kumimoji="1" lang="zh-CN" altLang="en-US">
                <a:solidFill>
                  <a:srgbClr val="000000"/>
                </a:solidFill>
                <a:latin typeface="Times New Roman" panose="02020603050405020304" pitchFamily="18" charset="0"/>
              </a:rPr>
              <a:t>的列表；</a:t>
            </a:r>
          </a:p>
          <a:p>
            <a:pPr fontAlgn="base">
              <a:lnSpc>
                <a:spcPct val="85000"/>
              </a:lnSpc>
              <a:spcBef>
                <a:spcPct val="40000"/>
              </a:spcBef>
              <a:spcAft>
                <a:spcPct val="0"/>
              </a:spcAft>
              <a:buClrTx/>
              <a:buSzTx/>
              <a:buNone/>
            </a:pPr>
            <a:r>
              <a:rPr kumimoji="1" lang="zh-CN" altLang="en-US">
                <a:solidFill>
                  <a:srgbClr val="000000"/>
                </a:solidFill>
                <a:latin typeface="Times New Roman" panose="02020603050405020304" pitchFamily="18" charset="0"/>
              </a:rPr>
              <a:t>结果：</a:t>
            </a:r>
          </a:p>
          <a:p>
            <a:pPr fontAlgn="base">
              <a:lnSpc>
                <a:spcPct val="85000"/>
              </a:lnSpc>
              <a:spcBef>
                <a:spcPct val="40000"/>
              </a:spcBef>
              <a:spcAft>
                <a:spcPct val="0"/>
              </a:spcAft>
              <a:buClrTx/>
              <a:buSzTx/>
              <a:buNone/>
            </a:pPr>
            <a:r>
              <a:rPr kumimoji="1" lang="zh-CN" altLang="en-US">
                <a:solidFill>
                  <a:srgbClr val="000000"/>
                </a:solidFill>
                <a:latin typeface="Times New Roman" panose="02020603050405020304" pitchFamily="18" charset="0"/>
              </a:rPr>
              <a:t>增加一种图形，只需再派生一个类即可。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72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2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2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72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2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723">
                                            <p:txEl>
                                              <p:pRg st="11" end="11"/>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072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72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72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723">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72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6">
            <a:extLst>
              <a:ext uri="{FF2B5EF4-FFF2-40B4-BE49-F238E27FC236}">
                <a16:creationId xmlns:a16="http://schemas.microsoft.com/office/drawing/2014/main" id="{EFE5815E-411D-097B-3F37-BDB6939225E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280E6DF-34EF-4893-9304-64C4CF4F072F}" type="slidenum">
              <a:rPr lang="en-US" altLang="zh-CN" sz="1200">
                <a:solidFill>
                  <a:srgbClr val="000000"/>
                </a:solidFill>
                <a:latin typeface="Arial" panose="020B0604020202020204" pitchFamily="34" charset="0"/>
              </a:rPr>
              <a:pPr fontAlgn="base">
                <a:spcBef>
                  <a:spcPct val="0"/>
                </a:spcBef>
                <a:spcAft>
                  <a:spcPct val="0"/>
                </a:spcAft>
              </a:pPr>
              <a:t>26</a:t>
            </a:fld>
            <a:endParaRPr lang="en-US" altLang="zh-CN" sz="1200">
              <a:solidFill>
                <a:srgbClr val="000000"/>
              </a:solidFill>
              <a:latin typeface="Arial" panose="020B0604020202020204" pitchFamily="34" charset="0"/>
            </a:endParaRPr>
          </a:p>
        </p:txBody>
      </p:sp>
      <p:sp>
        <p:nvSpPr>
          <p:cNvPr id="87042" name="Rectangle 2">
            <a:extLst>
              <a:ext uri="{FF2B5EF4-FFF2-40B4-BE49-F238E27FC236}">
                <a16:creationId xmlns:a16="http://schemas.microsoft.com/office/drawing/2014/main" id="{0636BBE6-B436-B74E-EA32-8D21D0E9CB26}"/>
              </a:ext>
            </a:extLst>
          </p:cNvPr>
          <p:cNvSpPr>
            <a:spLocks noGrp="1" noChangeArrowheads="1"/>
          </p:cNvSpPr>
          <p:nvPr>
            <p:ph type="title"/>
          </p:nvPr>
        </p:nvSpPr>
        <p:spPr/>
        <p:txBody>
          <a:bodyPr/>
          <a:lstStyle/>
          <a:p>
            <a:r>
              <a:rPr lang="en-US" altLang="zh-CN"/>
              <a:t>Liskov</a:t>
            </a:r>
            <a:r>
              <a:rPr lang="zh-CN" altLang="en-US"/>
              <a:t>替换原则</a:t>
            </a:r>
          </a:p>
        </p:txBody>
      </p:sp>
      <p:sp>
        <p:nvSpPr>
          <p:cNvPr id="325635" name="Rectangle 3">
            <a:extLst>
              <a:ext uri="{FF2B5EF4-FFF2-40B4-BE49-F238E27FC236}">
                <a16:creationId xmlns:a16="http://schemas.microsoft.com/office/drawing/2014/main" id="{F71381F5-6DDE-917E-7795-18F6B4CFF058}"/>
              </a:ext>
            </a:extLst>
          </p:cNvPr>
          <p:cNvSpPr>
            <a:spLocks noGrp="1" noChangeArrowheads="1"/>
          </p:cNvSpPr>
          <p:nvPr>
            <p:ph type="body" idx="1"/>
          </p:nvPr>
        </p:nvSpPr>
        <p:spPr>
          <a:xfrm>
            <a:off x="1981200" y="1125539"/>
            <a:ext cx="8229600" cy="5005387"/>
          </a:xfrm>
        </p:spPr>
        <p:txBody>
          <a:bodyPr/>
          <a:lstStyle/>
          <a:p>
            <a:pPr>
              <a:lnSpc>
                <a:spcPct val="150000"/>
              </a:lnSpc>
              <a:spcBef>
                <a:spcPct val="50000"/>
              </a:spcBef>
            </a:pPr>
            <a:r>
              <a:rPr lang="zh-CN" altLang="en-US"/>
              <a:t>子类可以替换它们的基类。</a:t>
            </a:r>
          </a:p>
          <a:p>
            <a:pPr>
              <a:lnSpc>
                <a:spcPct val="150000"/>
              </a:lnSpc>
              <a:spcBef>
                <a:spcPct val="50000"/>
              </a:spcBef>
            </a:pPr>
            <a:r>
              <a:rPr lang="en-US" altLang="zh-CN"/>
              <a:t>Liskov</a:t>
            </a:r>
            <a:r>
              <a:rPr lang="zh-CN" altLang="en-US"/>
              <a:t>原则要求源自基类的</a:t>
            </a:r>
            <a:r>
              <a:rPr lang="zh-CN" altLang="en-US">
                <a:solidFill>
                  <a:srgbClr val="FF0000"/>
                </a:solidFill>
              </a:rPr>
              <a:t>任何子类</a:t>
            </a:r>
            <a:r>
              <a:rPr lang="zh-CN" altLang="en-US"/>
              <a:t>必须</a:t>
            </a:r>
            <a:r>
              <a:rPr lang="zh-CN" altLang="en-US">
                <a:solidFill>
                  <a:srgbClr val="FF0000"/>
                </a:solidFill>
              </a:rPr>
              <a:t>遵守基类</a:t>
            </a:r>
            <a:r>
              <a:rPr lang="zh-CN" altLang="en-US"/>
              <a:t>与使用该基类的</a:t>
            </a:r>
            <a:r>
              <a:rPr lang="zh-CN" altLang="en-US">
                <a:solidFill>
                  <a:srgbClr val="FF0000"/>
                </a:solidFill>
              </a:rPr>
              <a:t>构件</a:t>
            </a:r>
            <a:r>
              <a:rPr lang="zh-CN" altLang="en-US"/>
              <a:t>之间的</a:t>
            </a:r>
            <a:r>
              <a:rPr lang="zh-CN" altLang="en-US">
                <a:solidFill>
                  <a:srgbClr val="FF0000"/>
                </a:solidFill>
              </a:rPr>
              <a:t>隐含约定</a:t>
            </a:r>
            <a:r>
              <a:rPr lang="zh-CN" altLang="en-US"/>
              <a:t>：</a:t>
            </a:r>
          </a:p>
          <a:p>
            <a:pPr lvl="1">
              <a:lnSpc>
                <a:spcPct val="150000"/>
              </a:lnSpc>
              <a:spcBef>
                <a:spcPct val="50000"/>
              </a:spcBef>
            </a:pPr>
            <a:r>
              <a:rPr lang="zh-CN" altLang="en-US" sz="2200"/>
              <a:t>“约定”既是</a:t>
            </a:r>
            <a:r>
              <a:rPr lang="zh-CN" altLang="en-US" sz="2200">
                <a:solidFill>
                  <a:srgbClr val="FF0000"/>
                </a:solidFill>
              </a:rPr>
              <a:t>前置条件</a:t>
            </a:r>
            <a:r>
              <a:rPr lang="en-US" altLang="zh-CN" sz="2200"/>
              <a:t>—</a:t>
            </a:r>
            <a:r>
              <a:rPr lang="zh-CN" altLang="en-US" sz="2200"/>
              <a:t>构件使用基类前必须为真；</a:t>
            </a:r>
          </a:p>
          <a:p>
            <a:pPr lvl="1">
              <a:lnSpc>
                <a:spcPct val="150000"/>
              </a:lnSpc>
              <a:spcBef>
                <a:spcPct val="50000"/>
              </a:spcBef>
            </a:pPr>
            <a:r>
              <a:rPr lang="zh-CN" altLang="en-US" sz="2200"/>
              <a:t>又是</a:t>
            </a:r>
            <a:r>
              <a:rPr lang="zh-CN" altLang="en-US" sz="2200">
                <a:solidFill>
                  <a:srgbClr val="FF0000"/>
                </a:solidFill>
              </a:rPr>
              <a:t>后置条件</a:t>
            </a:r>
            <a:r>
              <a:rPr lang="en-US" altLang="zh-CN" sz="2200"/>
              <a:t>—</a:t>
            </a:r>
            <a:r>
              <a:rPr lang="zh-CN" altLang="en-US" sz="2200"/>
              <a:t>构件使用基类后必须为真。</a:t>
            </a:r>
          </a:p>
          <a:p>
            <a:pPr lvl="1">
              <a:lnSpc>
                <a:spcPct val="150000"/>
              </a:lnSpc>
              <a:spcBef>
                <a:spcPct val="50000"/>
              </a:spcBef>
            </a:pPr>
            <a:r>
              <a:rPr lang="zh-CN" altLang="en-US" sz="2200"/>
              <a:t>当设计者创建了导出类 </a:t>
            </a:r>
            <a:r>
              <a:rPr lang="en-US" altLang="zh-CN" sz="2200"/>
              <a:t>(</a:t>
            </a:r>
            <a:r>
              <a:rPr lang="zh-CN" altLang="en-US" sz="2200"/>
              <a:t>子类</a:t>
            </a:r>
            <a:r>
              <a:rPr lang="en-US" altLang="zh-CN" sz="2200"/>
              <a:t>)</a:t>
            </a:r>
            <a:r>
              <a:rPr lang="zh-CN" altLang="en-US" sz="2200"/>
              <a:t>，则要确保这些</a:t>
            </a:r>
            <a:r>
              <a:rPr lang="zh-CN" altLang="en-US" sz="2200">
                <a:solidFill>
                  <a:srgbClr val="FF0000"/>
                </a:solidFill>
              </a:rPr>
              <a:t>导出类</a:t>
            </a:r>
            <a:r>
              <a:rPr lang="zh-CN" altLang="en-US" sz="2200"/>
              <a:t>必须遵守前置条件和后置条件。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5635">
                                            <p:txEl>
                                              <p:pRg st="1" end="1"/>
                                            </p:txEl>
                                          </p:spTgt>
                                        </p:tgtEl>
                                        <p:attrNameLst>
                                          <p:attrName>style.visibility</p:attrName>
                                        </p:attrNameLst>
                                      </p:cBhvr>
                                      <p:to>
                                        <p:strVal val="visible"/>
                                      </p:to>
                                    </p:set>
                                    <p:animEffect transition="in" filter="blinds(horizontal)">
                                      <p:cBhvr>
                                        <p:cTn id="7" dur="1000"/>
                                        <p:tgtEl>
                                          <p:spTgt spid="3256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5635">
                                            <p:txEl>
                                              <p:pRg st="2" end="2"/>
                                            </p:txEl>
                                          </p:spTgt>
                                        </p:tgtEl>
                                        <p:attrNameLst>
                                          <p:attrName>style.visibility</p:attrName>
                                        </p:attrNameLst>
                                      </p:cBhvr>
                                      <p:to>
                                        <p:strVal val="visible"/>
                                      </p:to>
                                    </p:set>
                                    <p:animEffect transition="in" filter="blinds(horizontal)">
                                      <p:cBhvr>
                                        <p:cTn id="12" dur="1000"/>
                                        <p:tgtEl>
                                          <p:spTgt spid="3256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5635">
                                            <p:txEl>
                                              <p:pRg st="3" end="3"/>
                                            </p:txEl>
                                          </p:spTgt>
                                        </p:tgtEl>
                                        <p:attrNameLst>
                                          <p:attrName>style.visibility</p:attrName>
                                        </p:attrNameLst>
                                      </p:cBhvr>
                                      <p:to>
                                        <p:strVal val="visible"/>
                                      </p:to>
                                    </p:set>
                                    <p:animEffect transition="in" filter="blinds(horizontal)">
                                      <p:cBhvr>
                                        <p:cTn id="17" dur="1000"/>
                                        <p:tgtEl>
                                          <p:spTgt spid="3256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5635">
                                            <p:txEl>
                                              <p:pRg st="4" end="4"/>
                                            </p:txEl>
                                          </p:spTgt>
                                        </p:tgtEl>
                                        <p:attrNameLst>
                                          <p:attrName>style.visibility</p:attrName>
                                        </p:attrNameLst>
                                      </p:cBhvr>
                                      <p:to>
                                        <p:strVal val="visible"/>
                                      </p:to>
                                    </p:set>
                                    <p:animEffect transition="in" filter="blinds(horizontal)">
                                      <p:cBhvr>
                                        <p:cTn id="22" dur="1000"/>
                                        <p:tgtEl>
                                          <p:spTgt spid="325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6">
            <a:extLst>
              <a:ext uri="{FF2B5EF4-FFF2-40B4-BE49-F238E27FC236}">
                <a16:creationId xmlns:a16="http://schemas.microsoft.com/office/drawing/2014/main" id="{477AAAA1-B02D-DEF1-D4F4-6D9B7737D9C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5ADA182-F8A8-4177-8B83-5804E99AF2AD}" type="slidenum">
              <a:rPr lang="en-US" altLang="zh-CN" sz="1200">
                <a:solidFill>
                  <a:srgbClr val="000000"/>
                </a:solidFill>
                <a:latin typeface="Arial" panose="020B0604020202020204" pitchFamily="34" charset="0"/>
              </a:rPr>
              <a:pPr fontAlgn="base">
                <a:spcBef>
                  <a:spcPct val="0"/>
                </a:spcBef>
                <a:spcAft>
                  <a:spcPct val="0"/>
                </a:spcAft>
              </a:pPr>
              <a:t>27</a:t>
            </a:fld>
            <a:endParaRPr lang="en-US" altLang="zh-CN" sz="1200">
              <a:solidFill>
                <a:srgbClr val="000000"/>
              </a:solidFill>
              <a:latin typeface="Arial" panose="020B0604020202020204" pitchFamily="34" charset="0"/>
            </a:endParaRPr>
          </a:p>
        </p:txBody>
      </p:sp>
      <p:sp>
        <p:nvSpPr>
          <p:cNvPr id="88066" name="Title 1">
            <a:extLst>
              <a:ext uri="{FF2B5EF4-FFF2-40B4-BE49-F238E27FC236}">
                <a16:creationId xmlns:a16="http://schemas.microsoft.com/office/drawing/2014/main" id="{3D5FD25E-DEEA-E5D7-8A0F-3F22F549AFE6}"/>
              </a:ext>
            </a:extLst>
          </p:cNvPr>
          <p:cNvSpPr>
            <a:spLocks noGrp="1" noChangeArrowheads="1"/>
          </p:cNvSpPr>
          <p:nvPr>
            <p:ph type="title" idx="4294967295"/>
          </p:nvPr>
        </p:nvSpPr>
        <p:spPr/>
        <p:txBody>
          <a:bodyPr/>
          <a:lstStyle/>
          <a:p>
            <a:r>
              <a:rPr lang="en-US" altLang="zh-CN"/>
              <a:t>Liskov</a:t>
            </a:r>
            <a:r>
              <a:rPr lang="zh-CN" altLang="en-US"/>
              <a:t>原则</a:t>
            </a:r>
            <a:endParaRPr lang="en-US" altLang="zh-CN"/>
          </a:p>
        </p:txBody>
      </p:sp>
      <p:sp>
        <p:nvSpPr>
          <p:cNvPr id="171011" name="Content Placeholder 2">
            <a:extLst>
              <a:ext uri="{FF2B5EF4-FFF2-40B4-BE49-F238E27FC236}">
                <a16:creationId xmlns:a16="http://schemas.microsoft.com/office/drawing/2014/main" id="{A2F471F3-05B0-EA57-AF34-15F127D719D7}"/>
              </a:ext>
            </a:extLst>
          </p:cNvPr>
          <p:cNvSpPr>
            <a:spLocks noGrp="1" noChangeArrowheads="1"/>
          </p:cNvSpPr>
          <p:nvPr>
            <p:ph idx="4294967295"/>
          </p:nvPr>
        </p:nvSpPr>
        <p:spPr>
          <a:xfrm>
            <a:off x="1774826" y="942976"/>
            <a:ext cx="8569325" cy="5078413"/>
          </a:xfrm>
        </p:spPr>
        <p:txBody>
          <a:bodyPr/>
          <a:lstStyle/>
          <a:p>
            <a:pPr>
              <a:lnSpc>
                <a:spcPct val="150000"/>
              </a:lnSpc>
              <a:spcBef>
                <a:spcPct val="50000"/>
              </a:spcBef>
            </a:pPr>
            <a:r>
              <a:rPr lang="zh-TW" altLang="en-US" sz="2200"/>
              <a:t>里氏替换原则的好处：</a:t>
            </a:r>
            <a:endParaRPr lang="zh-TW" altLang="zh-CN" sz="2200"/>
          </a:p>
          <a:p>
            <a:pPr marL="742950" lvl="1" indent="-285750">
              <a:lnSpc>
                <a:spcPct val="150000"/>
              </a:lnSpc>
              <a:spcBef>
                <a:spcPct val="50000"/>
              </a:spcBef>
            </a:pPr>
            <a:r>
              <a:rPr lang="zh-TW" altLang="en-US" sz="1800"/>
              <a:t>第一、保证系统或子系统有</a:t>
            </a:r>
            <a:r>
              <a:rPr lang="zh-TW" altLang="en-US" sz="1800">
                <a:solidFill>
                  <a:srgbClr val="FF0000"/>
                </a:solidFill>
              </a:rPr>
              <a:t>良好的扩展性</a:t>
            </a:r>
            <a:r>
              <a:rPr lang="zh-TW" altLang="en-US" sz="1800"/>
              <a:t>。子类能够完全替换父类，</a:t>
            </a:r>
            <a:r>
              <a:rPr lang="zh-CN" altLang="en-US" sz="1800"/>
              <a:t>可以</a:t>
            </a:r>
            <a:r>
              <a:rPr lang="zh-TW" altLang="en-US" sz="1800"/>
              <a:t>保证系统或子系统在运行期内</a:t>
            </a:r>
            <a:r>
              <a:rPr lang="zh-TW" altLang="en-US" sz="1800">
                <a:solidFill>
                  <a:srgbClr val="FF0000"/>
                </a:solidFill>
              </a:rPr>
              <a:t>识别子类就可以</a:t>
            </a:r>
            <a:r>
              <a:rPr lang="zh-TW" altLang="en-US" sz="1800"/>
              <a:t>了。</a:t>
            </a:r>
            <a:endParaRPr lang="zh-TW" altLang="zh-CN" sz="1800"/>
          </a:p>
          <a:p>
            <a:pPr marL="742950" lvl="1" indent="-285750">
              <a:lnSpc>
                <a:spcPct val="150000"/>
              </a:lnSpc>
              <a:spcBef>
                <a:spcPct val="50000"/>
              </a:spcBef>
            </a:pPr>
            <a:r>
              <a:rPr lang="zh-TW" altLang="en-US" sz="1800"/>
              <a:t>第二、实现</a:t>
            </a:r>
            <a:r>
              <a:rPr lang="zh-TW" altLang="en-US" sz="1800">
                <a:solidFill>
                  <a:srgbClr val="FF0000"/>
                </a:solidFill>
              </a:rPr>
              <a:t>运行期内绑定</a:t>
            </a:r>
            <a:r>
              <a:rPr lang="zh-TW" altLang="zh-CN" sz="1800">
                <a:solidFill>
                  <a:srgbClr val="FF0000"/>
                </a:solidFill>
              </a:rPr>
              <a:t> </a:t>
            </a:r>
            <a:r>
              <a:rPr lang="en-US" altLang="zh-CN" sz="1800"/>
              <a:t>(</a:t>
            </a:r>
            <a:r>
              <a:rPr lang="zh-CN" altLang="en-US" sz="1800"/>
              <a:t>编译时就可以确定对象使用的形式，而不必到执行阶段</a:t>
            </a:r>
            <a:r>
              <a:rPr lang="en-US" altLang="zh-CN" sz="1800"/>
              <a:t>)</a:t>
            </a:r>
            <a:r>
              <a:rPr lang="zh-TW" altLang="en-US" sz="1800"/>
              <a:t>，</a:t>
            </a:r>
            <a:r>
              <a:rPr lang="zh-CN" altLang="en-US" sz="1800"/>
              <a:t>既</a:t>
            </a:r>
            <a:r>
              <a:rPr lang="zh-TW" altLang="en-US" sz="1800"/>
              <a:t>保证了面向对象多态性的顺利进行</a:t>
            </a:r>
            <a:r>
              <a:rPr lang="zh-CN" altLang="en-US" sz="1800"/>
              <a:t>，又</a:t>
            </a:r>
            <a:r>
              <a:rPr lang="zh-TW" altLang="en-US" sz="1800"/>
              <a:t>节省了大量的代码重复或冗余。</a:t>
            </a:r>
            <a:r>
              <a:rPr lang="zh-TW" altLang="en-US" sz="1800">
                <a:solidFill>
                  <a:srgbClr val="FF0000"/>
                </a:solidFill>
              </a:rPr>
              <a:t>避免了类似</a:t>
            </a:r>
            <a:r>
              <a:rPr lang="en-US" altLang="zh-TW" sz="1800">
                <a:solidFill>
                  <a:srgbClr val="FF0000"/>
                </a:solidFill>
              </a:rPr>
              <a:t>instanceof</a:t>
            </a:r>
            <a:r>
              <a:rPr lang="zh-TW" altLang="en-US" sz="1800"/>
              <a:t>这样的语句，或者</a:t>
            </a:r>
            <a:r>
              <a:rPr lang="en-US" altLang="zh-TW" sz="1800"/>
              <a:t>getClass()</a:t>
            </a:r>
            <a:r>
              <a:rPr lang="zh-TW" altLang="en-US" sz="1800"/>
              <a:t>这样的语句，这些语句是面向对象所忌讳的。</a:t>
            </a:r>
            <a:endParaRPr lang="zh-TW" altLang="zh-CN" sz="1800"/>
          </a:p>
          <a:p>
            <a:pPr marL="742950" lvl="1" indent="-285750">
              <a:lnSpc>
                <a:spcPct val="150000"/>
              </a:lnSpc>
              <a:spcBef>
                <a:spcPct val="50000"/>
              </a:spcBef>
            </a:pPr>
            <a:r>
              <a:rPr lang="zh-TW" altLang="en-US" sz="1800"/>
              <a:t>第三、有利于实现</a:t>
            </a:r>
            <a:r>
              <a:rPr lang="zh-TW" altLang="en-US" sz="1800">
                <a:solidFill>
                  <a:srgbClr val="FF0000"/>
                </a:solidFill>
              </a:rPr>
              <a:t>契约式编程</a:t>
            </a:r>
            <a:r>
              <a:rPr lang="zh-TW" altLang="en-US" sz="1800"/>
              <a:t>。契约式编程有利于系统的分析和设计，指在分析和设计的时候，</a:t>
            </a:r>
            <a:r>
              <a:rPr lang="zh-TW" altLang="en-US" sz="1800">
                <a:solidFill>
                  <a:srgbClr val="FF0000"/>
                </a:solidFill>
              </a:rPr>
              <a:t>定义</a:t>
            </a:r>
            <a:r>
              <a:rPr lang="zh-TW" altLang="en-US" sz="1800"/>
              <a:t>好系统的接口，然后</a:t>
            </a:r>
            <a:r>
              <a:rPr lang="zh-CN" altLang="en-US" sz="1800"/>
              <a:t>在</a:t>
            </a:r>
            <a:r>
              <a:rPr lang="zh-TW" altLang="en-US" sz="1800"/>
              <a:t>编码的时候</a:t>
            </a:r>
            <a:r>
              <a:rPr lang="zh-TW" altLang="en-US" sz="1800">
                <a:solidFill>
                  <a:srgbClr val="FF0000"/>
                </a:solidFill>
              </a:rPr>
              <a:t>实现</a:t>
            </a:r>
            <a:r>
              <a:rPr lang="zh-TW" altLang="en-US" sz="1800"/>
              <a:t>这些接口即可。在父类里定义好子类需要实现的功能，而子类只要实现这些功能即可。</a:t>
            </a: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1011">
                                            <p:txEl>
                                              <p:pRg st="1" end="1"/>
                                            </p:txEl>
                                          </p:spTgt>
                                        </p:tgtEl>
                                        <p:attrNameLst>
                                          <p:attrName>style.visibility</p:attrName>
                                        </p:attrNameLst>
                                      </p:cBhvr>
                                      <p:to>
                                        <p:strVal val="visible"/>
                                      </p:to>
                                    </p:set>
                                    <p:anim calcmode="lin" valueType="num">
                                      <p:cBhvr additive="base">
                                        <p:cTn id="7" dur="1000" fill="hold"/>
                                        <p:tgtEl>
                                          <p:spTgt spid="171011">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71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71011">
                                            <p:txEl>
                                              <p:pRg st="2" end="2"/>
                                            </p:txEl>
                                          </p:spTgt>
                                        </p:tgtEl>
                                        <p:attrNameLst>
                                          <p:attrName>style.visibility</p:attrName>
                                        </p:attrNameLst>
                                      </p:cBhvr>
                                      <p:to>
                                        <p:strVal val="visible"/>
                                      </p:to>
                                    </p:set>
                                    <p:anim calcmode="lin" valueType="num">
                                      <p:cBhvr additive="base">
                                        <p:cTn id="13" dur="1000" fill="hold"/>
                                        <p:tgtEl>
                                          <p:spTgt spid="171011">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71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anim calcmode="lin" valueType="num">
                                      <p:cBhvr additive="base">
                                        <p:cTn id="19" dur="1000" fill="hold"/>
                                        <p:tgtEl>
                                          <p:spTgt spid="171011">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710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6">
            <a:extLst>
              <a:ext uri="{FF2B5EF4-FFF2-40B4-BE49-F238E27FC236}">
                <a16:creationId xmlns:a16="http://schemas.microsoft.com/office/drawing/2014/main" id="{6599B01C-9F9F-75B1-AB71-2C56B872E80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480366C-A7C5-4DA3-B084-FD1FCE4BF9B1}" type="slidenum">
              <a:rPr lang="en-US" altLang="zh-CN" sz="1200">
                <a:solidFill>
                  <a:srgbClr val="000000"/>
                </a:solidFill>
                <a:latin typeface="Arial" panose="020B0604020202020204" pitchFamily="34" charset="0"/>
              </a:rPr>
              <a:pPr fontAlgn="base">
                <a:spcBef>
                  <a:spcPct val="0"/>
                </a:spcBef>
                <a:spcAft>
                  <a:spcPct val="0"/>
                </a:spcAft>
              </a:pPr>
              <a:t>28</a:t>
            </a:fld>
            <a:endParaRPr lang="en-US" altLang="zh-CN" sz="1200">
              <a:solidFill>
                <a:srgbClr val="000000"/>
              </a:solidFill>
              <a:latin typeface="Arial" panose="020B0604020202020204" pitchFamily="34" charset="0"/>
            </a:endParaRPr>
          </a:p>
        </p:txBody>
      </p:sp>
      <p:sp>
        <p:nvSpPr>
          <p:cNvPr id="90114" name="Rectangle 2">
            <a:extLst>
              <a:ext uri="{FF2B5EF4-FFF2-40B4-BE49-F238E27FC236}">
                <a16:creationId xmlns:a16="http://schemas.microsoft.com/office/drawing/2014/main" id="{ABCA02E8-FC36-106F-4535-77D5FA0B091F}"/>
              </a:ext>
            </a:extLst>
          </p:cNvPr>
          <p:cNvSpPr>
            <a:spLocks noGrp="1" noChangeArrowheads="1"/>
          </p:cNvSpPr>
          <p:nvPr>
            <p:ph type="title" idx="4294967295"/>
          </p:nvPr>
        </p:nvSpPr>
        <p:spPr>
          <a:xfrm>
            <a:off x="1924050" y="198439"/>
            <a:ext cx="7772400" cy="782637"/>
          </a:xfrm>
        </p:spPr>
        <p:txBody>
          <a:bodyPr/>
          <a:lstStyle/>
          <a:p>
            <a:pPr eaLnBrk="1" hangingPunct="1"/>
            <a:r>
              <a:rPr lang="en-US" altLang="zh-CN"/>
              <a:t>Liskov</a:t>
            </a:r>
            <a:r>
              <a:rPr lang="zh-CN" altLang="en-US"/>
              <a:t>替换原则</a:t>
            </a:r>
            <a:r>
              <a:rPr lang="en-US" altLang="zh-CN"/>
              <a:t>——</a:t>
            </a:r>
            <a:r>
              <a:rPr lang="zh-CN" altLang="en-US"/>
              <a:t>子类可以替换它们的基类</a:t>
            </a:r>
          </a:p>
        </p:txBody>
      </p:sp>
      <p:sp>
        <p:nvSpPr>
          <p:cNvPr id="31747" name="Rectangle 3">
            <a:extLst>
              <a:ext uri="{FF2B5EF4-FFF2-40B4-BE49-F238E27FC236}">
                <a16:creationId xmlns:a16="http://schemas.microsoft.com/office/drawing/2014/main" id="{6EA7514B-B9E5-7B1A-16A7-10DE4828D0C1}"/>
              </a:ext>
            </a:extLst>
          </p:cNvPr>
          <p:cNvSpPr>
            <a:spLocks noGrp="1" noChangeArrowheads="1"/>
          </p:cNvSpPr>
          <p:nvPr>
            <p:ph idx="4294967295"/>
          </p:nvPr>
        </p:nvSpPr>
        <p:spPr>
          <a:xfrm>
            <a:off x="1992313" y="1125538"/>
            <a:ext cx="7239000" cy="5111750"/>
          </a:xfrm>
        </p:spPr>
        <p:txBody>
          <a:bodyPr/>
          <a:lstStyle/>
          <a:p>
            <a:pPr eaLnBrk="1" hangingPunct="1">
              <a:buFontTx/>
              <a:buNone/>
              <a:defRPr/>
            </a:pPr>
            <a:r>
              <a:rPr lang="en-US" altLang="zh-CN" sz="2000" b="0" dirty="0"/>
              <a:t> public class Animal</a:t>
            </a:r>
          </a:p>
          <a:p>
            <a:pPr eaLnBrk="1" hangingPunct="1">
              <a:buFontTx/>
              <a:buNone/>
              <a:defRPr/>
            </a:pPr>
            <a:r>
              <a:rPr lang="en-US" altLang="zh-CN" sz="2000" b="0" dirty="0"/>
              <a:t> {</a:t>
            </a:r>
            <a:br>
              <a:rPr lang="en-US" altLang="zh-CN" sz="2000" b="0" dirty="0"/>
            </a:br>
            <a:r>
              <a:rPr lang="en-US" altLang="zh-CN" sz="2000" b="0" dirty="0"/>
              <a:t>   private String name;</a:t>
            </a:r>
            <a:br>
              <a:rPr lang="en-US" altLang="zh-CN" sz="2000" b="0" dirty="0"/>
            </a:br>
            <a:r>
              <a:rPr lang="en-US" altLang="zh-CN" sz="2000" b="0" dirty="0"/>
              <a:t>   public Animal(String name)</a:t>
            </a:r>
            <a:br>
              <a:rPr lang="en-US" altLang="zh-CN" sz="2000" b="0" dirty="0"/>
            </a:br>
            <a:r>
              <a:rPr lang="en-US" altLang="zh-CN" sz="2000" b="0" dirty="0"/>
              <a:t>   {</a:t>
            </a:r>
            <a:br>
              <a:rPr lang="en-US" altLang="zh-CN" sz="2000" b="0" dirty="0"/>
            </a:br>
            <a:r>
              <a:rPr lang="en-US" altLang="zh-CN" sz="2000" b="0" dirty="0"/>
              <a:t>       </a:t>
            </a:r>
            <a:r>
              <a:rPr lang="en-US" altLang="zh-CN" sz="2000" b="0" dirty="0" err="1"/>
              <a:t>this.name</a:t>
            </a:r>
            <a:r>
              <a:rPr lang="en-US" altLang="zh-CN" sz="2000" b="0" dirty="0"/>
              <a:t> = name;</a:t>
            </a:r>
            <a:br>
              <a:rPr lang="en-US" altLang="zh-CN" sz="2000" b="0" dirty="0"/>
            </a:br>
            <a:r>
              <a:rPr lang="en-US" altLang="zh-CN" sz="2000" b="0" dirty="0"/>
              <a:t>   }</a:t>
            </a:r>
            <a:br>
              <a:rPr lang="en-US" altLang="zh-CN" sz="2000" b="0" dirty="0"/>
            </a:br>
            <a:endParaRPr lang="en-US" altLang="zh-CN" sz="2000" b="0" dirty="0"/>
          </a:p>
          <a:p>
            <a:pPr eaLnBrk="1" hangingPunct="1">
              <a:buFontTx/>
              <a:buNone/>
              <a:defRPr/>
            </a:pPr>
            <a:r>
              <a:rPr lang="en-US" altLang="zh-CN" sz="2000" b="0" dirty="0"/>
              <a:t>        public void description()</a:t>
            </a:r>
            <a:br>
              <a:rPr lang="en-US" altLang="zh-CN" sz="2000" b="0" dirty="0"/>
            </a:br>
            <a:r>
              <a:rPr lang="en-US" altLang="zh-CN" sz="2000" b="0" dirty="0"/>
              <a:t>   {</a:t>
            </a:r>
            <a:br>
              <a:rPr lang="en-US" altLang="zh-CN" sz="2000" b="0" dirty="0"/>
            </a:br>
            <a:r>
              <a:rPr lang="en-US" altLang="zh-CN" sz="2000" b="0" dirty="0"/>
              <a:t>       </a:t>
            </a:r>
            <a:r>
              <a:rPr lang="en-US" altLang="zh-CN" sz="2000" b="0" dirty="0" err="1"/>
              <a:t>System.out.println</a:t>
            </a:r>
            <a:r>
              <a:rPr lang="en-US" altLang="zh-CN" sz="2000" b="0" dirty="0"/>
              <a:t>(</a:t>
            </a:r>
            <a:r>
              <a:rPr lang="en-US" altLang="en-US" sz="2000" b="0" dirty="0"/>
              <a:t>“</a:t>
            </a:r>
            <a:r>
              <a:rPr lang="en-US" altLang="zh-CN" sz="2000" b="0" dirty="0"/>
              <a:t>This is a(an) </a:t>
            </a:r>
            <a:r>
              <a:rPr lang="en-US" altLang="en-US" sz="2000" b="0" dirty="0"/>
              <a:t>”</a:t>
            </a:r>
            <a:r>
              <a:rPr lang="en-US" altLang="zh-CN" sz="2000" b="0" dirty="0"/>
              <a:t>+name);</a:t>
            </a:r>
            <a:br>
              <a:rPr lang="en-US" altLang="zh-CN" sz="2000" b="0" dirty="0"/>
            </a:br>
            <a:r>
              <a:rPr lang="en-US" altLang="zh-CN" sz="2000" b="0" dirty="0"/>
              <a:t>    }</a:t>
            </a:r>
          </a:p>
          <a:p>
            <a:pPr eaLnBrk="1" hangingPunct="1">
              <a:buFontTx/>
              <a:buNone/>
              <a:defRPr/>
            </a:pPr>
            <a:r>
              <a:rPr lang="en-US" altLang="zh-CN" sz="2000" b="0" dirty="0"/>
              <a:t>}</a:t>
            </a:r>
            <a:endParaRPr lang="en-US" altLang="zh-CN" sz="2000" b="0" dirty="0">
              <a:effectLst>
                <a:outerShdw blurRad="38100" dist="38100" dir="2700000" algn="tl">
                  <a:srgbClr val="C0C0C0"/>
                </a:outerShdw>
              </a:effectLst>
            </a:endParaRPr>
          </a:p>
        </p:txBody>
      </p:sp>
      <p:sp>
        <p:nvSpPr>
          <p:cNvPr id="90116" name="Text Box 4">
            <a:extLst>
              <a:ext uri="{FF2B5EF4-FFF2-40B4-BE49-F238E27FC236}">
                <a16:creationId xmlns:a16="http://schemas.microsoft.com/office/drawing/2014/main" id="{E9F19B01-162D-2D34-D00D-325D7ACBC33D}"/>
              </a:ext>
            </a:extLst>
          </p:cNvPr>
          <p:cNvSpPr txBox="1">
            <a:spLocks noChangeArrowheads="1"/>
          </p:cNvSpPr>
          <p:nvPr/>
        </p:nvSpPr>
        <p:spPr bwMode="auto">
          <a:xfrm>
            <a:off x="6743700" y="1989138"/>
            <a:ext cx="1657350" cy="1060098"/>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20000"/>
              </a:spcBef>
              <a:spcAft>
                <a:spcPct val="0"/>
              </a:spcAft>
              <a:buClr>
                <a:srgbClr val="CC9900"/>
              </a:buClr>
              <a:buSzPct val="65000"/>
            </a:pPr>
            <a:r>
              <a:rPr kumimoji="0" lang="zh-CN" altLang="en-US" sz="4800" b="1">
                <a:solidFill>
                  <a:srgbClr val="000000"/>
                </a:solidFill>
              </a:rPr>
              <a:t>基类</a:t>
            </a:r>
          </a:p>
        </p:txBody>
      </p:sp>
      <p:sp>
        <p:nvSpPr>
          <p:cNvPr id="90117" name="Line 5">
            <a:extLst>
              <a:ext uri="{FF2B5EF4-FFF2-40B4-BE49-F238E27FC236}">
                <a16:creationId xmlns:a16="http://schemas.microsoft.com/office/drawing/2014/main" id="{9B5BD02A-42C9-86DD-9654-93F60342E420}"/>
              </a:ext>
            </a:extLst>
          </p:cNvPr>
          <p:cNvSpPr>
            <a:spLocks noChangeShapeType="1"/>
          </p:cNvSpPr>
          <p:nvPr/>
        </p:nvSpPr>
        <p:spPr bwMode="auto">
          <a:xfrm>
            <a:off x="4295776" y="1341438"/>
            <a:ext cx="2447925" cy="122396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6">
            <a:extLst>
              <a:ext uri="{FF2B5EF4-FFF2-40B4-BE49-F238E27FC236}">
                <a16:creationId xmlns:a16="http://schemas.microsoft.com/office/drawing/2014/main" id="{7D0AFAF3-4ED9-801F-2C45-D7DFBBC1ED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05A59CE-46AE-4097-80D6-EF479B641297}" type="slidenum">
              <a:rPr lang="en-US" altLang="zh-CN" sz="1200">
                <a:solidFill>
                  <a:srgbClr val="000000"/>
                </a:solidFill>
                <a:latin typeface="Arial" panose="020B0604020202020204" pitchFamily="34" charset="0"/>
              </a:rPr>
              <a:pPr fontAlgn="base">
                <a:spcBef>
                  <a:spcPct val="0"/>
                </a:spcBef>
                <a:spcAft>
                  <a:spcPct val="0"/>
                </a:spcAft>
              </a:pPr>
              <a:t>29</a:t>
            </a:fld>
            <a:endParaRPr lang="en-US" altLang="zh-CN" sz="1200">
              <a:solidFill>
                <a:srgbClr val="000000"/>
              </a:solidFill>
              <a:latin typeface="Arial" panose="020B0604020202020204" pitchFamily="34" charset="0"/>
            </a:endParaRPr>
          </a:p>
        </p:txBody>
      </p:sp>
      <p:sp>
        <p:nvSpPr>
          <p:cNvPr id="92162" name="Rectangle 3">
            <a:extLst>
              <a:ext uri="{FF2B5EF4-FFF2-40B4-BE49-F238E27FC236}">
                <a16:creationId xmlns:a16="http://schemas.microsoft.com/office/drawing/2014/main" id="{F305238F-D346-98F9-6530-0CC226276A24}"/>
              </a:ext>
            </a:extLst>
          </p:cNvPr>
          <p:cNvSpPr>
            <a:spLocks noGrp="1" noChangeArrowheads="1"/>
          </p:cNvSpPr>
          <p:nvPr>
            <p:ph idx="4294967295"/>
          </p:nvPr>
        </p:nvSpPr>
        <p:spPr>
          <a:xfrm>
            <a:off x="1416051" y="476250"/>
            <a:ext cx="4716463" cy="4267200"/>
          </a:xfrm>
        </p:spPr>
        <p:txBody>
          <a:bodyPr/>
          <a:lstStyle/>
          <a:p>
            <a:pPr eaLnBrk="1" hangingPunct="1">
              <a:lnSpc>
                <a:spcPct val="120000"/>
              </a:lnSpc>
              <a:buFontTx/>
              <a:buNone/>
            </a:pPr>
            <a:r>
              <a:rPr lang="en-US" altLang="zh-CN" sz="2200" b="0"/>
              <a:t>   </a:t>
            </a:r>
            <a:r>
              <a:rPr lang="en-US" altLang="en-US" sz="2200"/>
              <a:t>下面是它的子类：</a:t>
            </a:r>
            <a:br>
              <a:rPr lang="en-US" altLang="zh-CN" sz="2200" b="0"/>
            </a:br>
            <a:r>
              <a:rPr lang="en-US" altLang="zh-CN" sz="2200" b="0"/>
              <a:t> public class Cat extends Animal</a:t>
            </a:r>
            <a:br>
              <a:rPr lang="en-US" altLang="zh-CN" sz="2200" b="0"/>
            </a:br>
            <a:r>
              <a:rPr lang="en-US" altLang="zh-CN" sz="2200" b="0"/>
              <a:t> {</a:t>
            </a:r>
            <a:br>
              <a:rPr lang="en-US" altLang="zh-CN" sz="2200" b="0"/>
            </a:br>
            <a:r>
              <a:rPr lang="en-US" altLang="zh-CN" sz="2200" b="0"/>
              <a:t>     public Cat(String name)</a:t>
            </a:r>
            <a:br>
              <a:rPr lang="en-US" altLang="zh-CN" sz="2200" b="0"/>
            </a:br>
            <a:r>
              <a:rPr lang="en-US" altLang="zh-CN" sz="2200" b="0"/>
              <a:t>     {</a:t>
            </a:r>
            <a:br>
              <a:rPr lang="en-US" altLang="zh-CN" sz="2200" b="0"/>
            </a:br>
            <a:r>
              <a:rPr lang="en-US" altLang="zh-CN" sz="2200" b="0"/>
              <a:t>         super(name);</a:t>
            </a:r>
            <a:br>
              <a:rPr lang="en-US" altLang="zh-CN" sz="2200" b="0"/>
            </a:br>
            <a:r>
              <a:rPr lang="en-US" altLang="zh-CN" sz="2200" b="0"/>
              <a:t>     }</a:t>
            </a:r>
            <a:br>
              <a:rPr lang="en-US" altLang="zh-CN" sz="2200" b="0"/>
            </a:br>
            <a:r>
              <a:rPr lang="en-US" altLang="zh-CN" sz="2200" b="0"/>
              <a:t>    public void mew()</a:t>
            </a:r>
            <a:br>
              <a:rPr lang="en-US" altLang="zh-CN" sz="2200" b="0"/>
            </a:br>
            <a:r>
              <a:rPr lang="en-US" altLang="zh-CN" sz="2200" b="0"/>
              <a:t>    {</a:t>
            </a:r>
            <a:br>
              <a:rPr lang="en-US" altLang="zh-CN" sz="2200" b="0"/>
            </a:br>
            <a:r>
              <a:rPr lang="en-US" altLang="zh-CN" sz="2200" b="0"/>
              <a:t>       System.out.println(</a:t>
            </a:r>
            <a:r>
              <a:rPr lang="en-US" altLang="en-US" sz="2200" b="0"/>
              <a:t>“</a:t>
            </a:r>
            <a:r>
              <a:rPr lang="en-US" altLang="zh-CN" sz="2200" b="0"/>
              <a:t>The cat     is saying like “mew</a:t>
            </a:r>
            <a:r>
              <a:rPr lang="en-US" altLang="en-US" sz="2200" b="0"/>
              <a:t>”</a:t>
            </a:r>
            <a:r>
              <a:rPr lang="en-US" altLang="zh-CN" sz="2200" b="0"/>
              <a:t>);</a:t>
            </a:r>
            <a:br>
              <a:rPr lang="en-US" altLang="zh-CN" sz="2200" b="0"/>
            </a:br>
            <a:r>
              <a:rPr lang="en-US" altLang="zh-CN" sz="2200" b="0"/>
              <a:t>     }</a:t>
            </a:r>
            <a:br>
              <a:rPr lang="en-US" altLang="zh-CN" sz="2200" b="0"/>
            </a:br>
            <a:r>
              <a:rPr lang="en-US" altLang="zh-CN" sz="2200" b="0"/>
              <a:t> }</a:t>
            </a:r>
          </a:p>
        </p:txBody>
      </p:sp>
      <p:sp>
        <p:nvSpPr>
          <p:cNvPr id="4" name="Rectangle 3">
            <a:extLst>
              <a:ext uri="{FF2B5EF4-FFF2-40B4-BE49-F238E27FC236}">
                <a16:creationId xmlns:a16="http://schemas.microsoft.com/office/drawing/2014/main" id="{FC322B47-BAED-338B-BC83-2B6E0B688023}"/>
              </a:ext>
            </a:extLst>
          </p:cNvPr>
          <p:cNvSpPr txBox="1">
            <a:spLocks noChangeArrowheads="1"/>
          </p:cNvSpPr>
          <p:nvPr/>
        </p:nvSpPr>
        <p:spPr bwMode="auto">
          <a:xfrm>
            <a:off x="5735639" y="404814"/>
            <a:ext cx="4752975" cy="5329237"/>
          </a:xfrm>
          <a:prstGeom prst="rect">
            <a:avLst/>
          </a:prstGeom>
          <a:noFill/>
          <a:ln w="28575">
            <a:solidFill>
              <a:srgbClr val="FF0000"/>
            </a:solidFill>
            <a:prstDash val="dash"/>
            <a:miter lim="800000"/>
            <a:headEnd/>
            <a:tailEnd/>
          </a:ln>
        </p:spPr>
        <p:txBody>
          <a:bodyPr/>
          <a:lstStyle>
            <a:lvl1pPr marL="342900" indent="-3429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20000"/>
              </a:lnSpc>
              <a:spcAft>
                <a:spcPct val="0"/>
              </a:spcAft>
              <a:buClr>
                <a:srgbClr val="CC9900"/>
              </a:buClr>
              <a:buNone/>
            </a:pPr>
            <a:r>
              <a:rPr kumimoji="1" lang="en-US" altLang="en-US">
                <a:solidFill>
                  <a:srgbClr val="000000"/>
                </a:solidFill>
              </a:rPr>
              <a:t>然后我们来看看</a:t>
            </a:r>
            <a:r>
              <a:rPr kumimoji="1" lang="en-US" altLang="zh-CN">
                <a:solidFill>
                  <a:srgbClr val="000000"/>
                </a:solidFill>
              </a:rPr>
              <a:t>Dog</a:t>
            </a:r>
            <a:r>
              <a:rPr kumimoji="1" lang="en-US" altLang="en-US">
                <a:solidFill>
                  <a:srgbClr val="000000"/>
                </a:solidFill>
              </a:rPr>
              <a:t>的实现：</a:t>
            </a:r>
            <a:br>
              <a:rPr kumimoji="1" lang="en-US" altLang="ja-JP">
                <a:solidFill>
                  <a:srgbClr val="000000"/>
                </a:solidFill>
              </a:rPr>
            </a:br>
            <a:r>
              <a:rPr kumimoji="1" lang="en-US" altLang="ja-JP" sz="2200" b="0">
                <a:solidFill>
                  <a:srgbClr val="000000"/>
                </a:solidFill>
              </a:rPr>
              <a:t> public class Dog extends Animal</a:t>
            </a:r>
            <a:br>
              <a:rPr kumimoji="1" lang="en-US" altLang="ja-JP" sz="2200" b="0">
                <a:solidFill>
                  <a:srgbClr val="000000"/>
                </a:solidFill>
              </a:rPr>
            </a:br>
            <a:r>
              <a:rPr kumimoji="1" lang="en-US" altLang="ja-JP" sz="2200" b="0">
                <a:solidFill>
                  <a:srgbClr val="000000"/>
                </a:solidFill>
              </a:rPr>
              <a:t> {</a:t>
            </a:r>
            <a:br>
              <a:rPr kumimoji="1" lang="en-US" altLang="ja-JP" sz="2200" b="0">
                <a:solidFill>
                  <a:srgbClr val="000000"/>
                </a:solidFill>
              </a:rPr>
            </a:br>
            <a:r>
              <a:rPr kumimoji="1" lang="en-US" altLang="ja-JP" sz="2200" b="0">
                <a:solidFill>
                  <a:srgbClr val="000000"/>
                </a:solidFill>
              </a:rPr>
              <a:t>   </a:t>
            </a:r>
            <a:r>
              <a:rPr kumimoji="1" lang="en-US" altLang="zh-CN" sz="2200" b="0">
                <a:solidFill>
                  <a:srgbClr val="000000"/>
                </a:solidFill>
              </a:rPr>
              <a:t>  </a:t>
            </a:r>
            <a:r>
              <a:rPr kumimoji="1" lang="en-US" altLang="ja-JP" sz="2200" b="0">
                <a:solidFill>
                  <a:srgbClr val="000000"/>
                </a:solidFill>
              </a:rPr>
              <a:t>public Dog(String name)</a:t>
            </a:r>
            <a:br>
              <a:rPr kumimoji="1" lang="en-US" altLang="ja-JP" sz="2200" b="0">
                <a:solidFill>
                  <a:srgbClr val="000000"/>
                </a:solidFill>
              </a:rPr>
            </a:br>
            <a:r>
              <a:rPr kumimoji="1" lang="en-US" altLang="ja-JP" sz="2200" b="0">
                <a:solidFill>
                  <a:srgbClr val="000000"/>
                </a:solidFill>
              </a:rPr>
              <a:t>   </a:t>
            </a:r>
            <a:r>
              <a:rPr kumimoji="1" lang="en-US" altLang="zh-CN" sz="2200" b="0">
                <a:solidFill>
                  <a:srgbClr val="000000"/>
                </a:solidFill>
              </a:rPr>
              <a:t>  </a:t>
            </a:r>
            <a:r>
              <a:rPr kumimoji="1" lang="en-US" altLang="ja-JP" sz="2200" b="0">
                <a:solidFill>
                  <a:srgbClr val="000000"/>
                </a:solidFill>
              </a:rPr>
              <a:t>{</a:t>
            </a:r>
            <a:br>
              <a:rPr kumimoji="1" lang="en-US" altLang="ja-JP" sz="2200" b="0">
                <a:solidFill>
                  <a:srgbClr val="000000"/>
                </a:solidFill>
              </a:rPr>
            </a:br>
            <a:r>
              <a:rPr kumimoji="1" lang="en-US" altLang="ja-JP" sz="2200" b="0">
                <a:solidFill>
                  <a:srgbClr val="000000"/>
                </a:solidFill>
              </a:rPr>
              <a:t>    </a:t>
            </a:r>
            <a:r>
              <a:rPr kumimoji="1" lang="en-US" altLang="zh-CN" sz="2200" b="0">
                <a:solidFill>
                  <a:srgbClr val="000000"/>
                </a:solidFill>
              </a:rPr>
              <a:t>    </a:t>
            </a:r>
            <a:r>
              <a:rPr kumimoji="1" lang="en-US" altLang="ja-JP" sz="2200" b="0">
                <a:solidFill>
                  <a:srgbClr val="000000"/>
                </a:solidFill>
              </a:rPr>
              <a:t>super(name);</a:t>
            </a:r>
            <a:br>
              <a:rPr kumimoji="1" lang="en-US" altLang="ja-JP" sz="2200" b="0">
                <a:solidFill>
                  <a:srgbClr val="000000"/>
                </a:solidFill>
              </a:rPr>
            </a:br>
            <a:r>
              <a:rPr kumimoji="1" lang="en-US" altLang="ja-JP" sz="2200" b="0">
                <a:solidFill>
                  <a:srgbClr val="000000"/>
                </a:solidFill>
              </a:rPr>
              <a:t> </a:t>
            </a:r>
            <a:r>
              <a:rPr kumimoji="1" lang="en-US" altLang="zh-CN" sz="2200" b="0">
                <a:solidFill>
                  <a:srgbClr val="000000"/>
                </a:solidFill>
              </a:rPr>
              <a:t>     </a:t>
            </a:r>
            <a:r>
              <a:rPr kumimoji="1" lang="en-US" altLang="ja-JP" sz="2200" b="0">
                <a:solidFill>
                  <a:srgbClr val="000000"/>
                </a:solidFill>
              </a:rPr>
              <a:t>}</a:t>
            </a:r>
            <a:br>
              <a:rPr kumimoji="1" lang="en-US" altLang="ja-JP" sz="2200" b="0">
                <a:solidFill>
                  <a:srgbClr val="000000"/>
                </a:solidFill>
              </a:rPr>
            </a:br>
            <a:r>
              <a:rPr kumimoji="1" lang="en-US" altLang="zh-CN" sz="2200" b="0">
                <a:solidFill>
                  <a:srgbClr val="000000"/>
                </a:solidFill>
              </a:rPr>
              <a:t>    </a:t>
            </a:r>
            <a:r>
              <a:rPr kumimoji="1" lang="en-US" altLang="ja-JP" sz="2200" b="0">
                <a:solidFill>
                  <a:srgbClr val="000000"/>
                </a:solidFill>
              </a:rPr>
              <a:t> public void bark()</a:t>
            </a:r>
            <a:br>
              <a:rPr kumimoji="1" lang="en-US" altLang="ja-JP" sz="2200" b="0">
                <a:solidFill>
                  <a:srgbClr val="000000"/>
                </a:solidFill>
              </a:rPr>
            </a:br>
            <a:r>
              <a:rPr kumimoji="1" lang="en-US" altLang="zh-CN" sz="2200" b="0">
                <a:solidFill>
                  <a:srgbClr val="000000"/>
                </a:solidFill>
              </a:rPr>
              <a:t>    </a:t>
            </a:r>
            <a:r>
              <a:rPr kumimoji="1" lang="en-US" altLang="ja-JP" sz="2200" b="0">
                <a:solidFill>
                  <a:srgbClr val="000000"/>
                </a:solidFill>
              </a:rPr>
              <a:t> {</a:t>
            </a:r>
            <a:br>
              <a:rPr kumimoji="1" lang="en-US" altLang="ja-JP" sz="2200" b="0">
                <a:solidFill>
                  <a:srgbClr val="000000"/>
                </a:solidFill>
              </a:rPr>
            </a:br>
            <a:r>
              <a:rPr kumimoji="1" lang="en-US" altLang="ja-JP" sz="2200" b="0">
                <a:solidFill>
                  <a:srgbClr val="000000"/>
                </a:solidFill>
              </a:rPr>
              <a:t> </a:t>
            </a:r>
            <a:r>
              <a:rPr kumimoji="1" lang="en-US" altLang="zh-CN" sz="2200" b="0">
                <a:solidFill>
                  <a:srgbClr val="000000"/>
                </a:solidFill>
              </a:rPr>
              <a:t>      </a:t>
            </a:r>
            <a:r>
              <a:rPr kumimoji="1" lang="en-US" altLang="ja-JP" sz="2200" b="0">
                <a:solidFill>
                  <a:srgbClr val="000000"/>
                </a:solidFill>
              </a:rPr>
              <a:t> System.out.println(</a:t>
            </a:r>
            <a:r>
              <a:rPr kumimoji="1" lang="en-US" altLang="en-US" sz="2200" b="0">
                <a:solidFill>
                  <a:srgbClr val="000000"/>
                </a:solidFill>
              </a:rPr>
              <a:t>“</a:t>
            </a:r>
            <a:r>
              <a:rPr kumimoji="1" lang="en-US" altLang="ja-JP" sz="2200" b="0">
                <a:solidFill>
                  <a:srgbClr val="000000"/>
                </a:solidFill>
              </a:rPr>
              <a:t>The dog is saying like </a:t>
            </a:r>
            <a:r>
              <a:rPr kumimoji="1" lang="en-US" altLang="zh-CN" sz="2200" b="0">
                <a:solidFill>
                  <a:srgbClr val="000000"/>
                </a:solidFill>
              </a:rPr>
              <a:t>“</a:t>
            </a:r>
            <a:r>
              <a:rPr kumimoji="1" lang="en-US" altLang="ja-JP" sz="2200" b="0">
                <a:solidFill>
                  <a:srgbClr val="000000"/>
                </a:solidFill>
              </a:rPr>
              <a:t>bark</a:t>
            </a:r>
            <a:r>
              <a:rPr kumimoji="1" lang="en-US" altLang="en-US" sz="2200" b="0">
                <a:solidFill>
                  <a:srgbClr val="000000"/>
                </a:solidFill>
              </a:rPr>
              <a:t>”</a:t>
            </a:r>
            <a:r>
              <a:rPr kumimoji="1" lang="en-US" altLang="ja-JP" sz="2200" b="0">
                <a:solidFill>
                  <a:srgbClr val="000000"/>
                </a:solidFill>
              </a:rPr>
              <a:t>);</a:t>
            </a:r>
            <a:br>
              <a:rPr kumimoji="1" lang="en-US" altLang="ja-JP" sz="2200" b="0">
                <a:solidFill>
                  <a:srgbClr val="000000"/>
                </a:solidFill>
              </a:rPr>
            </a:br>
            <a:r>
              <a:rPr kumimoji="1" lang="en-US" altLang="zh-CN" sz="2200" b="0">
                <a:solidFill>
                  <a:srgbClr val="000000"/>
                </a:solidFill>
              </a:rPr>
              <a:t>      </a:t>
            </a:r>
            <a:r>
              <a:rPr kumimoji="1" lang="en-US" altLang="ja-JP" sz="2200" b="0">
                <a:solidFill>
                  <a:srgbClr val="000000"/>
                </a:solidFill>
              </a:rPr>
              <a:t> }</a:t>
            </a:r>
            <a:br>
              <a:rPr kumimoji="1" lang="en-US" altLang="ja-JP" sz="2200" b="0">
                <a:solidFill>
                  <a:srgbClr val="000000"/>
                </a:solidFill>
              </a:rPr>
            </a:br>
            <a:r>
              <a:rPr kumimoji="1" lang="en-US" altLang="ja-JP" sz="2200" b="0">
                <a:solidFill>
                  <a:srgbClr val="000000"/>
                </a:solidFill>
              </a:rPr>
              <a:t> }</a:t>
            </a:r>
            <a:endParaRPr kumimoji="1" lang="en-US" altLang="zh-CN" sz="2200" b="0">
              <a:solidFill>
                <a:srgbClr val="000000"/>
              </a:solidFill>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6">
            <a:extLst>
              <a:ext uri="{FF2B5EF4-FFF2-40B4-BE49-F238E27FC236}">
                <a16:creationId xmlns:a16="http://schemas.microsoft.com/office/drawing/2014/main" id="{15A1B25A-925A-3424-1FA9-9BA2543275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C05AFC5-23FD-4191-9912-AB5A45D670CA}" type="slidenum">
              <a:rPr lang="en-US" altLang="zh-CN" sz="1200">
                <a:solidFill>
                  <a:srgbClr val="000000"/>
                </a:solidFill>
                <a:latin typeface="Arial" panose="020B0604020202020204" pitchFamily="34" charset="0"/>
              </a:rPr>
              <a:pPr fontAlgn="base">
                <a:spcBef>
                  <a:spcPct val="0"/>
                </a:spcBef>
                <a:spcAft>
                  <a:spcPct val="0"/>
                </a:spcAft>
              </a:pPr>
              <a:t>30</a:t>
            </a:fld>
            <a:endParaRPr lang="en-US" altLang="zh-CN" sz="1200">
              <a:solidFill>
                <a:srgbClr val="000000"/>
              </a:solidFill>
              <a:latin typeface="Arial" panose="020B0604020202020204" pitchFamily="34" charset="0"/>
            </a:endParaRPr>
          </a:p>
        </p:txBody>
      </p:sp>
      <p:sp>
        <p:nvSpPr>
          <p:cNvPr id="94210" name="Rectangle 3">
            <a:extLst>
              <a:ext uri="{FF2B5EF4-FFF2-40B4-BE49-F238E27FC236}">
                <a16:creationId xmlns:a16="http://schemas.microsoft.com/office/drawing/2014/main" id="{A2C0694C-EA69-56B8-D986-C69A9CB3EE39}"/>
              </a:ext>
            </a:extLst>
          </p:cNvPr>
          <p:cNvSpPr>
            <a:spLocks noGrp="1" noChangeArrowheads="1"/>
          </p:cNvSpPr>
          <p:nvPr>
            <p:ph idx="4294967295"/>
          </p:nvPr>
        </p:nvSpPr>
        <p:spPr>
          <a:xfrm>
            <a:off x="1847850" y="431800"/>
            <a:ext cx="8605838" cy="6021388"/>
          </a:xfrm>
        </p:spPr>
        <p:txBody>
          <a:bodyPr/>
          <a:lstStyle/>
          <a:p>
            <a:pPr eaLnBrk="1" hangingPunct="1">
              <a:lnSpc>
                <a:spcPct val="115000"/>
              </a:lnSpc>
              <a:spcAft>
                <a:spcPct val="50000"/>
              </a:spcAft>
              <a:buFontTx/>
              <a:buNone/>
            </a:pPr>
            <a:r>
              <a:rPr lang="zh-CN" altLang="en-US"/>
              <a:t>最后，我们来看客户端的调用：</a:t>
            </a:r>
            <a:endParaRPr lang="en-US" altLang="zh-CN"/>
          </a:p>
          <a:p>
            <a:pPr eaLnBrk="1" hangingPunct="1">
              <a:lnSpc>
                <a:spcPct val="115000"/>
              </a:lnSpc>
              <a:buFontTx/>
              <a:buNone/>
            </a:pPr>
            <a:r>
              <a:rPr lang="en-US" altLang="zh-CN" sz="2000" b="0"/>
              <a:t> public decriptionTheAnimal(Animal animal)</a:t>
            </a:r>
            <a:br>
              <a:rPr lang="en-US" altLang="zh-CN" sz="2000" b="0"/>
            </a:br>
            <a:r>
              <a:rPr lang="en-US" altLang="zh-CN" sz="2000" b="0"/>
              <a:t> {</a:t>
            </a:r>
            <a:br>
              <a:rPr lang="en-US" altLang="zh-CN" sz="2000" b="0"/>
            </a:br>
            <a:r>
              <a:rPr lang="en-US" altLang="zh-CN" sz="2000" b="0"/>
              <a:t>   	if(animal </a:t>
            </a:r>
            <a:r>
              <a:rPr lang="en-US" altLang="zh-CN" sz="2000" b="0">
                <a:solidFill>
                  <a:srgbClr val="FF0000"/>
                </a:solidFill>
              </a:rPr>
              <a:t>instanceof</a:t>
            </a:r>
            <a:r>
              <a:rPr lang="en-US" altLang="zh-CN" sz="2000" b="0"/>
              <a:t> Cat)</a:t>
            </a:r>
            <a:br>
              <a:rPr lang="en-US" altLang="zh-CN" sz="2000" b="0"/>
            </a:br>
            <a:r>
              <a:rPr lang="en-US" altLang="zh-CN" sz="2000" b="0"/>
              <a:t>   	{</a:t>
            </a:r>
            <a:br>
              <a:rPr lang="en-US" altLang="zh-CN" sz="2000" b="0"/>
            </a:br>
            <a:r>
              <a:rPr lang="en-US" altLang="zh-CN" sz="2000" b="0"/>
              <a:t>   	      Cat cat =  (Cat)animal;</a:t>
            </a:r>
            <a:br>
              <a:rPr lang="en-US" altLang="zh-CN" sz="2000" b="0"/>
            </a:br>
            <a:r>
              <a:rPr lang="en-US" altLang="zh-CN" sz="2000" b="0"/>
              <a:t>    	      Cat.decription();</a:t>
            </a:r>
            <a:br>
              <a:rPr lang="en-US" altLang="zh-CN" sz="2000" b="0"/>
            </a:br>
            <a:r>
              <a:rPr lang="en-US" altLang="zh-CN" sz="2000" b="0"/>
              <a:t>    	      Cat.mew();</a:t>
            </a:r>
            <a:br>
              <a:rPr lang="en-US" altLang="zh-CN" sz="2000" b="0"/>
            </a:br>
            <a:r>
              <a:rPr lang="en-US" altLang="zh-CN" sz="2000" b="0"/>
              <a:t>	 }</a:t>
            </a:r>
            <a:br>
              <a:rPr lang="en-US" altLang="zh-CN" sz="2000" b="0"/>
            </a:br>
            <a:r>
              <a:rPr lang="en-US" altLang="zh-CN" sz="2000" b="0"/>
              <a:t> 	else if(animal </a:t>
            </a:r>
            <a:r>
              <a:rPr lang="en-US" altLang="zh-CN" sz="2000" b="0">
                <a:solidFill>
                  <a:srgbClr val="FF0000"/>
                </a:solidFill>
              </a:rPr>
              <a:t>instanceof</a:t>
            </a:r>
            <a:r>
              <a:rPr lang="en-US" altLang="zh-CN" sz="2000" b="0"/>
              <a:t> Dog)</a:t>
            </a:r>
            <a:br>
              <a:rPr lang="en-US" altLang="zh-CN" sz="2000" b="0"/>
            </a:br>
            <a:r>
              <a:rPr lang="en-US" altLang="zh-CN" sz="2000" b="0"/>
              <a:t> 	{</a:t>
            </a:r>
            <a:br>
              <a:rPr lang="en-US" altLang="zh-CN" sz="2000" b="0"/>
            </a:br>
            <a:r>
              <a:rPr lang="en-US" altLang="zh-CN" sz="2000" b="0"/>
              <a:t> 	       Dog dog = (Dog)animal;</a:t>
            </a:r>
            <a:br>
              <a:rPr lang="en-US" altLang="zh-CN" sz="2000" b="0"/>
            </a:br>
            <a:r>
              <a:rPr lang="en-US" altLang="zh-CN" sz="2000" b="0"/>
              <a:t> 	       Dog.decription();</a:t>
            </a:r>
            <a:br>
              <a:rPr lang="en-US" altLang="zh-CN" sz="2000" b="0"/>
            </a:br>
            <a:r>
              <a:rPr lang="en-US" altLang="zh-CN" sz="2000" b="0"/>
              <a:t>  	       Dog.bark();</a:t>
            </a:r>
            <a:br>
              <a:rPr lang="en-US" altLang="zh-CN" sz="2000" b="0"/>
            </a:br>
            <a:r>
              <a:rPr lang="en-US" altLang="zh-CN" sz="2000" b="0"/>
              <a:t> 	}</a:t>
            </a:r>
            <a:br>
              <a:rPr lang="en-US" altLang="zh-CN" sz="2000" b="0"/>
            </a:br>
            <a:r>
              <a:rPr lang="en-US" altLang="zh-CN" sz="2000" b="0"/>
              <a:t> }</a:t>
            </a:r>
          </a:p>
        </p:txBody>
      </p:sp>
      <p:sp>
        <p:nvSpPr>
          <p:cNvPr id="166915" name="Text Box 3">
            <a:extLst>
              <a:ext uri="{FF2B5EF4-FFF2-40B4-BE49-F238E27FC236}">
                <a16:creationId xmlns:a16="http://schemas.microsoft.com/office/drawing/2014/main" id="{593FF517-5BDD-2B1A-A664-0EF4134F0D26}"/>
              </a:ext>
            </a:extLst>
          </p:cNvPr>
          <p:cNvSpPr txBox="1">
            <a:spLocks noChangeArrowheads="1"/>
          </p:cNvSpPr>
          <p:nvPr/>
        </p:nvSpPr>
        <p:spPr bwMode="auto">
          <a:xfrm>
            <a:off x="6672264" y="1747839"/>
            <a:ext cx="3673475" cy="3633787"/>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20000"/>
              </a:spcBef>
              <a:spcAft>
                <a:spcPct val="0"/>
              </a:spcAft>
              <a:buClr>
                <a:srgbClr val="CC9900"/>
              </a:buClr>
              <a:buSzPct val="65000"/>
            </a:pPr>
            <a:r>
              <a:rPr kumimoji="0" lang="zh-TW" altLang="en-US" sz="2200" b="1">
                <a:solidFill>
                  <a:srgbClr val="000000"/>
                </a:solidFill>
              </a:rPr>
              <a:t>子类</a:t>
            </a:r>
            <a:r>
              <a:rPr kumimoji="0" lang="en-US" altLang="zh-TW" sz="2200" b="1">
                <a:solidFill>
                  <a:srgbClr val="000000"/>
                </a:solidFill>
              </a:rPr>
              <a:t>Cat</a:t>
            </a:r>
            <a:r>
              <a:rPr kumimoji="0" lang="zh-TW" altLang="en-US" sz="2200" b="1">
                <a:solidFill>
                  <a:srgbClr val="000000"/>
                </a:solidFill>
              </a:rPr>
              <a:t>有</a:t>
            </a:r>
            <a:r>
              <a:rPr kumimoji="0" lang="en-US" altLang="zh-TW" sz="2200" b="1">
                <a:solidFill>
                  <a:srgbClr val="000000"/>
                </a:solidFill>
              </a:rPr>
              <a:t>mew()</a:t>
            </a:r>
            <a:r>
              <a:rPr kumimoji="0" lang="zh-TW" altLang="en-US" sz="2200" b="1">
                <a:solidFill>
                  <a:srgbClr val="000000"/>
                </a:solidFill>
              </a:rPr>
              <a:t>方法父类根本没有，</a:t>
            </a:r>
            <a:r>
              <a:rPr kumimoji="0" lang="en-US" altLang="zh-TW" sz="2200" b="1">
                <a:solidFill>
                  <a:srgbClr val="000000"/>
                </a:solidFill>
              </a:rPr>
              <a:t>Dog</a:t>
            </a:r>
            <a:r>
              <a:rPr kumimoji="0" lang="zh-TW" altLang="en-US" sz="2200" b="1">
                <a:solidFill>
                  <a:srgbClr val="000000"/>
                </a:solidFill>
              </a:rPr>
              <a:t>类有</a:t>
            </a:r>
            <a:r>
              <a:rPr kumimoji="0" lang="en-US" altLang="zh-TW" sz="2200" b="1">
                <a:solidFill>
                  <a:srgbClr val="000000"/>
                </a:solidFill>
              </a:rPr>
              <a:t>bark()</a:t>
            </a:r>
            <a:r>
              <a:rPr kumimoji="0" lang="zh-TW" altLang="en-US" sz="2200" b="1">
                <a:solidFill>
                  <a:srgbClr val="000000"/>
                </a:solidFill>
              </a:rPr>
              <a:t>方法父类也没有，</a:t>
            </a:r>
            <a:r>
              <a:rPr kumimoji="0" lang="zh-TW" altLang="en-US" sz="2200" b="1">
                <a:solidFill>
                  <a:srgbClr val="FF0000"/>
                </a:solidFill>
              </a:rPr>
              <a:t>两个子类都不能替换父类</a:t>
            </a:r>
            <a:r>
              <a:rPr kumimoji="0" lang="zh-CN" altLang="en-US" sz="2200" b="1">
                <a:solidFill>
                  <a:srgbClr val="000000"/>
                </a:solidFill>
              </a:rPr>
              <a:t>，所以</a:t>
            </a:r>
            <a:r>
              <a:rPr kumimoji="0" lang="zh-TW" altLang="en-US" sz="2200" b="1">
                <a:solidFill>
                  <a:srgbClr val="000000"/>
                </a:solidFill>
              </a:rPr>
              <a:t>不满足里氏替换原则，这样导致了系统的</a:t>
            </a:r>
            <a:r>
              <a:rPr kumimoji="0" lang="zh-TW" altLang="en-US" sz="2200" b="1">
                <a:solidFill>
                  <a:srgbClr val="FF0000"/>
                </a:solidFill>
              </a:rPr>
              <a:t>扩展性不好</a:t>
            </a:r>
            <a:r>
              <a:rPr kumimoji="0" lang="zh-TW" altLang="en-US" sz="2200" b="1">
                <a:solidFill>
                  <a:srgbClr val="000000"/>
                </a:solidFill>
              </a:rPr>
              <a:t>和</a:t>
            </a:r>
            <a:r>
              <a:rPr kumimoji="0" lang="zh-TW" altLang="en-US" sz="2200" b="1">
                <a:solidFill>
                  <a:srgbClr val="FF0000"/>
                </a:solidFill>
              </a:rPr>
              <a:t>没有实现运行期内绑定</a:t>
            </a:r>
            <a:r>
              <a:rPr kumimoji="0" lang="zh-TW" altLang="en-US" sz="2200" b="1">
                <a:solidFill>
                  <a:srgbClr val="000000"/>
                </a:solidFill>
              </a:rPr>
              <a:t>。</a:t>
            </a:r>
            <a:endParaRPr kumimoji="0" lang="zh-CN" altLang="en-US" sz="2200" b="1">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66915"/>
                                        </p:tgtEl>
                                        <p:attrNameLst>
                                          <p:attrName>style.visibility</p:attrName>
                                        </p:attrNameLst>
                                      </p:cBhvr>
                                      <p:to>
                                        <p:strVal val="visible"/>
                                      </p:to>
                                    </p:set>
                                    <p:animEffect transition="in" filter="diamond(in)">
                                      <p:cBhvr>
                                        <p:cTn id="7" dur="2000"/>
                                        <p:tgtEl>
                                          <p:spTgt spid="16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6">
            <a:extLst>
              <a:ext uri="{FF2B5EF4-FFF2-40B4-BE49-F238E27FC236}">
                <a16:creationId xmlns:a16="http://schemas.microsoft.com/office/drawing/2014/main" id="{8749E5EE-925C-00CA-E722-647AEA80413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ED10A73-94D7-4B36-8799-5D1B4A532491}" type="slidenum">
              <a:rPr lang="en-US" altLang="zh-CN" sz="1200">
                <a:solidFill>
                  <a:srgbClr val="000000"/>
                </a:solidFill>
                <a:latin typeface="Arial" panose="020B0604020202020204" pitchFamily="34" charset="0"/>
              </a:rPr>
              <a:pPr fontAlgn="base">
                <a:spcBef>
                  <a:spcPct val="0"/>
                </a:spcBef>
                <a:spcAft>
                  <a:spcPct val="0"/>
                </a:spcAft>
              </a:pPr>
              <a:t>31</a:t>
            </a:fld>
            <a:endParaRPr lang="en-US" altLang="zh-CN" sz="1200">
              <a:solidFill>
                <a:srgbClr val="000000"/>
              </a:solidFill>
              <a:latin typeface="Arial" panose="020B0604020202020204" pitchFamily="34" charset="0"/>
            </a:endParaRPr>
          </a:p>
        </p:txBody>
      </p:sp>
      <p:sp>
        <p:nvSpPr>
          <p:cNvPr id="96258" name="Rectangle 2">
            <a:extLst>
              <a:ext uri="{FF2B5EF4-FFF2-40B4-BE49-F238E27FC236}">
                <a16:creationId xmlns:a16="http://schemas.microsoft.com/office/drawing/2014/main" id="{7B713281-4C9B-6075-32B0-B9F998744971}"/>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依赖倒置原则</a:t>
            </a:r>
          </a:p>
        </p:txBody>
      </p:sp>
      <p:sp>
        <p:nvSpPr>
          <p:cNvPr id="34819" name="Rectangle 3">
            <a:extLst>
              <a:ext uri="{FF2B5EF4-FFF2-40B4-BE49-F238E27FC236}">
                <a16:creationId xmlns:a16="http://schemas.microsoft.com/office/drawing/2014/main" id="{AA7A3CC2-F957-72DB-0034-55A1F26CE990}"/>
              </a:ext>
            </a:extLst>
          </p:cNvPr>
          <p:cNvSpPr>
            <a:spLocks noGrp="1" noChangeArrowheads="1"/>
          </p:cNvSpPr>
          <p:nvPr>
            <p:ph idx="4294967295"/>
          </p:nvPr>
        </p:nvSpPr>
        <p:spPr>
          <a:xfrm>
            <a:off x="1919289" y="1268413"/>
            <a:ext cx="8353425" cy="4824412"/>
          </a:xfrm>
        </p:spPr>
        <p:txBody>
          <a:bodyPr/>
          <a:lstStyle/>
          <a:p>
            <a:pPr eaLnBrk="1" hangingPunct="1">
              <a:lnSpc>
                <a:spcPct val="150000"/>
              </a:lnSpc>
              <a:spcBef>
                <a:spcPct val="50000"/>
              </a:spcBef>
            </a:pPr>
            <a:r>
              <a:rPr lang="zh-CN" altLang="en-US">
                <a:latin typeface="宋体" panose="02010600030101010101" pitchFamily="2" charset="-122"/>
              </a:rPr>
              <a:t>在</a:t>
            </a:r>
            <a:r>
              <a:rPr lang="zh-CN" altLang="en-US">
                <a:solidFill>
                  <a:schemeClr val="accent2"/>
                </a:solidFill>
                <a:latin typeface="宋体" panose="02010600030101010101" pitchFamily="2" charset="-122"/>
              </a:rPr>
              <a:t>传统</a:t>
            </a:r>
            <a:r>
              <a:rPr lang="zh-CN" altLang="en-US">
                <a:latin typeface="宋体" panose="02010600030101010101" pitchFamily="2" charset="-122"/>
              </a:rPr>
              <a:t>设计策略中，</a:t>
            </a:r>
            <a:r>
              <a:rPr lang="zh-CN" altLang="en-US">
                <a:solidFill>
                  <a:schemeClr val="accent2"/>
                </a:solidFill>
                <a:latin typeface="宋体" panose="02010600030101010101" pitchFamily="2" charset="-122"/>
              </a:rPr>
              <a:t>下层定义接口</a:t>
            </a:r>
            <a:r>
              <a:rPr lang="zh-CN" altLang="en-US">
                <a:latin typeface="宋体" panose="02010600030101010101" pitchFamily="2" charset="-122"/>
              </a:rPr>
              <a:t>，</a:t>
            </a:r>
            <a:r>
              <a:rPr lang="zh-CN" altLang="en-US">
                <a:solidFill>
                  <a:schemeClr val="accent2"/>
                </a:solidFill>
                <a:latin typeface="宋体" panose="02010600030101010101" pitchFamily="2" charset="-122"/>
              </a:rPr>
              <a:t>上层利用接口</a:t>
            </a:r>
            <a:r>
              <a:rPr lang="zh-CN" altLang="en-US">
                <a:latin typeface="宋体" panose="02010600030101010101" pitchFamily="2" charset="-122"/>
              </a:rPr>
              <a:t>来使用下层提供的服务，下层的任何改动都可能会直接影响到上层的实现，并且</a:t>
            </a:r>
            <a:r>
              <a:rPr lang="zh-CN" altLang="en-US">
                <a:solidFill>
                  <a:schemeClr val="accent2"/>
                </a:solidFill>
                <a:latin typeface="宋体" panose="02010600030101010101" pitchFamily="2" charset="-122"/>
              </a:rPr>
              <a:t>影响是可传递</a:t>
            </a:r>
            <a:r>
              <a:rPr lang="zh-CN" altLang="en-US">
                <a:latin typeface="宋体" panose="02010600030101010101" pitchFamily="2" charset="-122"/>
              </a:rPr>
              <a:t>的。</a:t>
            </a:r>
            <a:r>
              <a:rPr lang="zh-CN" altLang="en-US"/>
              <a:t> </a:t>
            </a:r>
          </a:p>
          <a:p>
            <a:pPr eaLnBrk="1" hangingPunct="1">
              <a:lnSpc>
                <a:spcPct val="150000"/>
              </a:lnSpc>
              <a:spcBef>
                <a:spcPct val="50000"/>
              </a:spcBef>
            </a:pPr>
            <a:r>
              <a:rPr lang="zh-CN" altLang="en-US"/>
              <a:t>正确方法是：</a:t>
            </a:r>
            <a:r>
              <a:rPr lang="zh-CN" altLang="en-US">
                <a:latin typeface="宋体" panose="02010600030101010101" pitchFamily="2" charset="-122"/>
              </a:rPr>
              <a:t>上层策略包含一组接口，上层利用这组接口。同时实现一组接口的</a:t>
            </a:r>
            <a:r>
              <a:rPr lang="zh-CN" altLang="en-US">
                <a:solidFill>
                  <a:schemeClr val="accent2"/>
                </a:solidFill>
                <a:latin typeface="宋体" panose="02010600030101010101" pitchFamily="2" charset="-122"/>
              </a:rPr>
              <a:t>底层机制</a:t>
            </a:r>
            <a:r>
              <a:rPr lang="en-US" altLang="zh-CN">
                <a:solidFill>
                  <a:schemeClr val="accent2"/>
                </a:solidFill>
                <a:latin typeface="宋体" panose="02010600030101010101" pitchFamily="2" charset="-122"/>
              </a:rPr>
              <a:t>(</a:t>
            </a:r>
            <a:r>
              <a:rPr lang="zh-CN" altLang="en-US">
                <a:solidFill>
                  <a:schemeClr val="accent2"/>
                </a:solidFill>
                <a:latin typeface="宋体" panose="02010600030101010101" pitchFamily="2" charset="-122"/>
              </a:rPr>
              <a:t>比如通过增加一层的抽象类</a:t>
            </a:r>
            <a:r>
              <a:rPr lang="en-US" altLang="zh-CN">
                <a:solidFill>
                  <a:schemeClr val="accent2"/>
                </a:solidFill>
                <a:latin typeface="宋体" panose="02010600030101010101" pitchFamily="2" charset="-122"/>
              </a:rPr>
              <a:t>)</a:t>
            </a:r>
            <a:r>
              <a:rPr lang="zh-CN" altLang="en-US">
                <a:latin typeface="宋体" panose="02010600030101010101" pitchFamily="2" charset="-122"/>
              </a:rPr>
              <a:t>，来支持上层策略，并且这些底层机制是可以互换的，因为它们都支持上层策略所需要的接口实现。</a:t>
            </a:r>
            <a:endParaRPr lang="en-US" altLang="zh-CN">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ox(in)">
                                      <p:cBhvr>
                                        <p:cTn id="7" dur="100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ox(in)">
                                      <p:cBhvr>
                                        <p:cTn id="12" dur="1000"/>
                                        <p:tgtEl>
                                          <p:spTgt spid="348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6">
            <a:extLst>
              <a:ext uri="{FF2B5EF4-FFF2-40B4-BE49-F238E27FC236}">
                <a16:creationId xmlns:a16="http://schemas.microsoft.com/office/drawing/2014/main" id="{D99FD15F-D7EC-3EE8-2C13-40EE30A7274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14673C9-D6DA-48CE-B34D-1F7E66D40438}" type="slidenum">
              <a:rPr lang="en-US" altLang="zh-CN" sz="1200">
                <a:solidFill>
                  <a:srgbClr val="000000"/>
                </a:solidFill>
                <a:latin typeface="Arial" panose="020B0604020202020204" pitchFamily="34" charset="0"/>
              </a:rPr>
              <a:pPr fontAlgn="base">
                <a:spcBef>
                  <a:spcPct val="0"/>
                </a:spcBef>
                <a:spcAft>
                  <a:spcPct val="0"/>
                </a:spcAft>
              </a:pPr>
              <a:t>32</a:t>
            </a:fld>
            <a:endParaRPr lang="en-US" altLang="zh-CN" sz="1200">
              <a:solidFill>
                <a:srgbClr val="000000"/>
              </a:solidFill>
              <a:latin typeface="Arial" panose="020B0604020202020204" pitchFamily="34" charset="0"/>
            </a:endParaRPr>
          </a:p>
        </p:txBody>
      </p:sp>
      <p:pic>
        <p:nvPicPr>
          <p:cNvPr id="98306" name="Picture 4" descr="H:\软件工程\2009\图\chapter 10\2.gif">
            <a:extLst>
              <a:ext uri="{FF2B5EF4-FFF2-40B4-BE49-F238E27FC236}">
                <a16:creationId xmlns:a16="http://schemas.microsoft.com/office/drawing/2014/main" id="{5407ED72-B306-AFD9-BCDC-076FDF1824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228850"/>
            <a:ext cx="4141788"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3">
            <a:extLst>
              <a:ext uri="{FF2B5EF4-FFF2-40B4-BE49-F238E27FC236}">
                <a16:creationId xmlns:a16="http://schemas.microsoft.com/office/drawing/2014/main" id="{65C49768-F157-0BB2-914B-40CF6EC953C2}"/>
              </a:ext>
            </a:extLst>
          </p:cNvPr>
          <p:cNvSpPr>
            <a:spLocks noGrp="1" noChangeArrowheads="1"/>
          </p:cNvSpPr>
          <p:nvPr>
            <p:ph idx="4294967295"/>
          </p:nvPr>
        </p:nvSpPr>
        <p:spPr>
          <a:xfrm>
            <a:off x="1919289" y="304800"/>
            <a:ext cx="7177087" cy="3352800"/>
          </a:xfrm>
        </p:spPr>
        <p:txBody>
          <a:bodyPr/>
          <a:lstStyle/>
          <a:p>
            <a:pPr eaLnBrk="1" hangingPunct="1">
              <a:buFontTx/>
              <a:buNone/>
            </a:pPr>
            <a:r>
              <a:rPr lang="en-US" altLang="zh-CN" b="0"/>
              <a:t>void Copy()</a:t>
            </a:r>
          </a:p>
          <a:p>
            <a:pPr eaLnBrk="1" hangingPunct="1">
              <a:buFontTx/>
              <a:buNone/>
            </a:pPr>
            <a:r>
              <a:rPr lang="en-US" altLang="zh-CN" b="0"/>
              <a:t>{</a:t>
            </a:r>
          </a:p>
          <a:p>
            <a:pPr lvl="1" eaLnBrk="1" hangingPunct="1">
              <a:buFontTx/>
              <a:buNone/>
            </a:pPr>
            <a:r>
              <a:rPr lang="en-US" altLang="zh-CN" b="0"/>
              <a:t>int c;</a:t>
            </a:r>
          </a:p>
          <a:p>
            <a:pPr lvl="1" eaLnBrk="1" hangingPunct="1">
              <a:buFontTx/>
              <a:buNone/>
            </a:pPr>
            <a:r>
              <a:rPr lang="en-US" altLang="zh-CN" b="0"/>
              <a:t>while ((c = ReadKeyboard()) != EOF)</a:t>
            </a:r>
          </a:p>
          <a:p>
            <a:pPr lvl="1" eaLnBrk="1" hangingPunct="1">
              <a:buFontTx/>
              <a:buNone/>
            </a:pPr>
            <a:r>
              <a:rPr lang="en-US" altLang="zh-CN" b="0"/>
              <a:t>WritePrinter(c);</a:t>
            </a:r>
          </a:p>
          <a:p>
            <a:pPr eaLnBrk="1" hangingPunct="1">
              <a:buFontTx/>
              <a:buNone/>
            </a:pPr>
            <a:r>
              <a:rPr lang="en-US" altLang="zh-CN" b="0"/>
              <a:t>}</a:t>
            </a:r>
          </a:p>
        </p:txBody>
      </p:sp>
      <p:sp>
        <p:nvSpPr>
          <p:cNvPr id="35846" name="Text Box 6">
            <a:extLst>
              <a:ext uri="{FF2B5EF4-FFF2-40B4-BE49-F238E27FC236}">
                <a16:creationId xmlns:a16="http://schemas.microsoft.com/office/drawing/2014/main" id="{BE7F60D8-C2AF-C95B-871B-9D7954B07411}"/>
              </a:ext>
            </a:extLst>
          </p:cNvPr>
          <p:cNvSpPr txBox="1">
            <a:spLocks noChangeArrowheads="1"/>
          </p:cNvSpPr>
          <p:nvPr/>
        </p:nvSpPr>
        <p:spPr bwMode="auto">
          <a:xfrm>
            <a:off x="3071813" y="5373688"/>
            <a:ext cx="5334000" cy="53816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kumimoji="1" lang="zh-CN" altLang="en-US" sz="2800">
                <a:solidFill>
                  <a:srgbClr val="000000"/>
                </a:solidFill>
                <a:latin typeface="Times New Roman" panose="02020603050405020304" pitchFamily="18" charset="0"/>
              </a:rPr>
              <a:t>下层模块的变化将扩散到上层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 calcmode="lin" valueType="num">
                                      <p:cBhvr additive="base">
                                        <p:cTn id="7" dur="1000" fill="hold"/>
                                        <p:tgtEl>
                                          <p:spTgt spid="35846"/>
                                        </p:tgtEl>
                                        <p:attrNameLst>
                                          <p:attrName>ppt_x</p:attrName>
                                        </p:attrNameLst>
                                      </p:cBhvr>
                                      <p:tavLst>
                                        <p:tav tm="0">
                                          <p:val>
                                            <p:strVal val="#ppt_x"/>
                                          </p:val>
                                        </p:tav>
                                        <p:tav tm="100000">
                                          <p:val>
                                            <p:strVal val="#ppt_x"/>
                                          </p:val>
                                        </p:tav>
                                      </p:tavLst>
                                    </p:anim>
                                    <p:anim calcmode="lin" valueType="num">
                                      <p:cBhvr additive="base">
                                        <p:cTn id="8" dur="1000" fill="hold"/>
                                        <p:tgtEl>
                                          <p:spTgt spid="358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6">
            <a:extLst>
              <a:ext uri="{FF2B5EF4-FFF2-40B4-BE49-F238E27FC236}">
                <a16:creationId xmlns:a16="http://schemas.microsoft.com/office/drawing/2014/main" id="{19F7FE66-7890-10ED-9447-07A6BE599C7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AE74052-A1DA-44A7-89C1-06DC7604A0B6}" type="slidenum">
              <a:rPr lang="en-US" altLang="zh-CN" sz="1200">
                <a:solidFill>
                  <a:srgbClr val="000000"/>
                </a:solidFill>
                <a:latin typeface="Arial" panose="020B0604020202020204" pitchFamily="34" charset="0"/>
              </a:rPr>
              <a:pPr fontAlgn="base">
                <a:spcBef>
                  <a:spcPct val="0"/>
                </a:spcBef>
                <a:spcAft>
                  <a:spcPct val="0"/>
                </a:spcAft>
              </a:pPr>
              <a:t>33</a:t>
            </a:fld>
            <a:endParaRPr lang="en-US" altLang="zh-CN" sz="1200">
              <a:solidFill>
                <a:srgbClr val="000000"/>
              </a:solidFill>
              <a:latin typeface="Arial" panose="020B0604020202020204" pitchFamily="34" charset="0"/>
            </a:endParaRPr>
          </a:p>
        </p:txBody>
      </p:sp>
      <p:pic>
        <p:nvPicPr>
          <p:cNvPr id="100354" name="Picture 4" descr="H:\软件工程\2009\图\chapter 10\3.gif">
            <a:extLst>
              <a:ext uri="{FF2B5EF4-FFF2-40B4-BE49-F238E27FC236}">
                <a16:creationId xmlns:a16="http://schemas.microsoft.com/office/drawing/2014/main" id="{E034E054-0CF3-622C-4B98-31CF21808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900" y="260350"/>
            <a:ext cx="4103688"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3">
            <a:extLst>
              <a:ext uri="{FF2B5EF4-FFF2-40B4-BE49-F238E27FC236}">
                <a16:creationId xmlns:a16="http://schemas.microsoft.com/office/drawing/2014/main" id="{B9C70F23-CBBF-A390-2B8F-04DEB2485327}"/>
              </a:ext>
            </a:extLst>
          </p:cNvPr>
          <p:cNvSpPr>
            <a:spLocks noGrp="1" noChangeArrowheads="1"/>
          </p:cNvSpPr>
          <p:nvPr>
            <p:ph idx="4294967295"/>
          </p:nvPr>
        </p:nvSpPr>
        <p:spPr>
          <a:xfrm>
            <a:off x="1876425" y="287339"/>
            <a:ext cx="4724400" cy="6237287"/>
          </a:xfrm>
        </p:spPr>
        <p:txBody>
          <a:bodyPr/>
          <a:lstStyle/>
          <a:p>
            <a:pPr eaLnBrk="1" hangingPunct="1">
              <a:lnSpc>
                <a:spcPct val="95000"/>
              </a:lnSpc>
              <a:buFontTx/>
              <a:buNone/>
            </a:pPr>
            <a:r>
              <a:rPr lang="en-US" altLang="zh-CN" sz="2000" b="0"/>
              <a:t>class Reader</a:t>
            </a:r>
          </a:p>
          <a:p>
            <a:pPr eaLnBrk="1" hangingPunct="1">
              <a:lnSpc>
                <a:spcPct val="95000"/>
              </a:lnSpc>
              <a:buFontTx/>
              <a:buNone/>
            </a:pPr>
            <a:r>
              <a:rPr lang="en-US" altLang="zh-CN" sz="2000" b="0"/>
              <a:t>{</a:t>
            </a:r>
          </a:p>
          <a:p>
            <a:pPr eaLnBrk="1" hangingPunct="1">
              <a:lnSpc>
                <a:spcPct val="95000"/>
              </a:lnSpc>
              <a:buFontTx/>
              <a:buNone/>
            </a:pPr>
            <a:r>
              <a:rPr lang="en-US" altLang="zh-CN" sz="2000" b="0"/>
              <a:t>public:</a:t>
            </a:r>
          </a:p>
          <a:p>
            <a:pPr eaLnBrk="1" hangingPunct="1">
              <a:lnSpc>
                <a:spcPct val="95000"/>
              </a:lnSpc>
              <a:buFontTx/>
              <a:buNone/>
            </a:pPr>
            <a:r>
              <a:rPr lang="en-US" altLang="zh-CN" sz="2000" b="0"/>
              <a:t>	virtual int </a:t>
            </a:r>
            <a:r>
              <a:rPr lang="en-US" altLang="zh-CN" sz="2000" b="0">
                <a:solidFill>
                  <a:srgbClr val="FF0000"/>
                </a:solidFill>
              </a:rPr>
              <a:t>Read</a:t>
            </a:r>
            <a:r>
              <a:rPr lang="en-US" altLang="zh-CN" sz="2000" b="0"/>
              <a:t>() = 0;</a:t>
            </a:r>
          </a:p>
          <a:p>
            <a:pPr eaLnBrk="1" hangingPunct="1">
              <a:lnSpc>
                <a:spcPct val="95000"/>
              </a:lnSpc>
              <a:buFontTx/>
              <a:buNone/>
            </a:pPr>
            <a:r>
              <a:rPr lang="en-US" altLang="zh-CN" sz="2000" b="0"/>
              <a:t>};</a:t>
            </a:r>
          </a:p>
          <a:p>
            <a:pPr eaLnBrk="1" hangingPunct="1">
              <a:lnSpc>
                <a:spcPct val="95000"/>
              </a:lnSpc>
              <a:spcBef>
                <a:spcPct val="50000"/>
              </a:spcBef>
              <a:buFontTx/>
              <a:buNone/>
            </a:pPr>
            <a:r>
              <a:rPr lang="en-US" altLang="zh-CN" sz="2000" b="0"/>
              <a:t>class Writer</a:t>
            </a:r>
          </a:p>
          <a:p>
            <a:pPr eaLnBrk="1" hangingPunct="1">
              <a:lnSpc>
                <a:spcPct val="95000"/>
              </a:lnSpc>
              <a:buFontTx/>
              <a:buNone/>
            </a:pPr>
            <a:r>
              <a:rPr lang="en-US" altLang="zh-CN" sz="2000" b="0"/>
              <a:t>{</a:t>
            </a:r>
          </a:p>
          <a:p>
            <a:pPr eaLnBrk="1" hangingPunct="1">
              <a:lnSpc>
                <a:spcPct val="95000"/>
              </a:lnSpc>
              <a:buFontTx/>
              <a:buNone/>
            </a:pPr>
            <a:r>
              <a:rPr lang="en-US" altLang="zh-CN" sz="2000" b="0"/>
              <a:t>public:</a:t>
            </a:r>
          </a:p>
          <a:p>
            <a:pPr eaLnBrk="1" hangingPunct="1">
              <a:lnSpc>
                <a:spcPct val="95000"/>
              </a:lnSpc>
              <a:buFontTx/>
              <a:buNone/>
            </a:pPr>
            <a:r>
              <a:rPr lang="en-US" altLang="zh-CN" sz="2000" b="0"/>
              <a:t>	virtual void </a:t>
            </a:r>
            <a:r>
              <a:rPr lang="en-US" altLang="zh-CN" sz="2000" b="0">
                <a:solidFill>
                  <a:srgbClr val="FF0000"/>
                </a:solidFill>
              </a:rPr>
              <a:t>Write</a:t>
            </a:r>
            <a:r>
              <a:rPr lang="en-US" altLang="zh-CN" sz="2000" b="0"/>
              <a:t>(char) = 0;</a:t>
            </a:r>
          </a:p>
          <a:p>
            <a:pPr eaLnBrk="1" hangingPunct="1">
              <a:lnSpc>
                <a:spcPct val="95000"/>
              </a:lnSpc>
              <a:buFontTx/>
              <a:buNone/>
            </a:pPr>
            <a:r>
              <a:rPr lang="en-US" altLang="zh-CN" sz="2000" b="0"/>
              <a:t>};</a:t>
            </a:r>
          </a:p>
          <a:p>
            <a:pPr eaLnBrk="1" hangingPunct="1">
              <a:lnSpc>
                <a:spcPct val="95000"/>
              </a:lnSpc>
              <a:spcBef>
                <a:spcPct val="50000"/>
              </a:spcBef>
              <a:buFontTx/>
              <a:buNone/>
            </a:pPr>
            <a:r>
              <a:rPr lang="en-US" altLang="zh-CN" sz="2000" b="0"/>
              <a:t>void Copy(Reader&amp; r, Writer&amp; w)</a:t>
            </a:r>
          </a:p>
          <a:p>
            <a:pPr eaLnBrk="1" hangingPunct="1">
              <a:lnSpc>
                <a:spcPct val="95000"/>
              </a:lnSpc>
              <a:buFontTx/>
              <a:buNone/>
            </a:pPr>
            <a:r>
              <a:rPr lang="en-US" altLang="zh-CN" sz="2000" b="0"/>
              <a:t>{</a:t>
            </a:r>
          </a:p>
          <a:p>
            <a:pPr eaLnBrk="1" hangingPunct="1">
              <a:lnSpc>
                <a:spcPct val="95000"/>
              </a:lnSpc>
              <a:buFontTx/>
              <a:buNone/>
            </a:pPr>
            <a:r>
              <a:rPr lang="en-US" altLang="zh-CN" sz="2000" b="0"/>
              <a:t>	int c;</a:t>
            </a:r>
          </a:p>
          <a:p>
            <a:pPr eaLnBrk="1" hangingPunct="1">
              <a:lnSpc>
                <a:spcPct val="95000"/>
              </a:lnSpc>
              <a:buFontTx/>
              <a:buNone/>
            </a:pPr>
            <a:r>
              <a:rPr lang="en-US" altLang="zh-CN" sz="2000" b="0"/>
              <a:t>	while((c=r.</a:t>
            </a:r>
            <a:r>
              <a:rPr lang="en-US" altLang="zh-CN" sz="2000" b="0">
                <a:solidFill>
                  <a:srgbClr val="FF0000"/>
                </a:solidFill>
              </a:rPr>
              <a:t>Read</a:t>
            </a:r>
            <a:r>
              <a:rPr lang="en-US" altLang="zh-CN" sz="2000" b="0"/>
              <a:t>()) != EOF)</a:t>
            </a:r>
          </a:p>
          <a:p>
            <a:pPr eaLnBrk="1" hangingPunct="1">
              <a:lnSpc>
                <a:spcPct val="95000"/>
              </a:lnSpc>
              <a:buFontTx/>
              <a:buNone/>
            </a:pPr>
            <a:r>
              <a:rPr lang="en-US" altLang="zh-CN" sz="2000" b="0"/>
              <a:t>		w.</a:t>
            </a:r>
            <a:r>
              <a:rPr lang="en-US" altLang="zh-CN" sz="2000" b="0">
                <a:solidFill>
                  <a:srgbClr val="FF0000"/>
                </a:solidFill>
              </a:rPr>
              <a:t>Write</a:t>
            </a:r>
            <a:r>
              <a:rPr lang="en-US" altLang="zh-CN" sz="2000" b="0"/>
              <a:t>(c);</a:t>
            </a:r>
          </a:p>
          <a:p>
            <a:pPr eaLnBrk="1" hangingPunct="1">
              <a:lnSpc>
                <a:spcPct val="95000"/>
              </a:lnSpc>
              <a:buFontTx/>
              <a:buNone/>
            </a:pPr>
            <a:r>
              <a:rPr lang="en-US" altLang="zh-CN" sz="2000" b="0"/>
              <a:t>}</a:t>
            </a:r>
          </a:p>
        </p:txBody>
      </p:sp>
      <p:sp>
        <p:nvSpPr>
          <p:cNvPr id="177156" name="Text Box 4">
            <a:extLst>
              <a:ext uri="{FF2B5EF4-FFF2-40B4-BE49-F238E27FC236}">
                <a16:creationId xmlns:a16="http://schemas.microsoft.com/office/drawing/2014/main" id="{22CDC928-C5FF-60A5-8A46-B7493CE6E7B8}"/>
              </a:ext>
            </a:extLst>
          </p:cNvPr>
          <p:cNvSpPr txBox="1">
            <a:spLocks noChangeArrowheads="1"/>
          </p:cNvSpPr>
          <p:nvPr/>
        </p:nvSpPr>
        <p:spPr bwMode="auto">
          <a:xfrm>
            <a:off x="7824788" y="1628776"/>
            <a:ext cx="1008062" cy="930319"/>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45000"/>
              </a:lnSpc>
              <a:spcBef>
                <a:spcPct val="50000"/>
              </a:spcBef>
              <a:spcAft>
                <a:spcPct val="0"/>
              </a:spcAft>
            </a:pPr>
            <a:r>
              <a:rPr lang="zh-CN" altLang="en-US" sz="2000" b="1">
                <a:solidFill>
                  <a:srgbClr val="000000"/>
                </a:solidFill>
              </a:rPr>
              <a:t>引入抽象类</a:t>
            </a:r>
          </a:p>
        </p:txBody>
      </p:sp>
      <p:sp>
        <p:nvSpPr>
          <p:cNvPr id="177157" name="Text Box 5">
            <a:extLst>
              <a:ext uri="{FF2B5EF4-FFF2-40B4-BE49-F238E27FC236}">
                <a16:creationId xmlns:a16="http://schemas.microsoft.com/office/drawing/2014/main" id="{C7BAA36F-D573-18D0-3A7C-E23123E69AD0}"/>
              </a:ext>
            </a:extLst>
          </p:cNvPr>
          <p:cNvSpPr txBox="1">
            <a:spLocks noChangeArrowheads="1"/>
          </p:cNvSpPr>
          <p:nvPr/>
        </p:nvSpPr>
        <p:spPr bwMode="auto">
          <a:xfrm>
            <a:off x="6240464" y="4797426"/>
            <a:ext cx="2376487" cy="930319"/>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45000"/>
              </a:lnSpc>
              <a:spcBef>
                <a:spcPct val="50000"/>
              </a:spcBef>
              <a:spcAft>
                <a:spcPct val="0"/>
              </a:spcAft>
            </a:pPr>
            <a:r>
              <a:rPr lang="zh-CN" altLang="en-US" sz="2000" b="1">
                <a:solidFill>
                  <a:srgbClr val="000000"/>
                </a:solidFill>
              </a:rPr>
              <a:t>下层模块的变化不会扩散到上层</a:t>
            </a:r>
          </a:p>
        </p:txBody>
      </p:sp>
      <p:sp>
        <p:nvSpPr>
          <p:cNvPr id="177158" name="Line 6">
            <a:extLst>
              <a:ext uri="{FF2B5EF4-FFF2-40B4-BE49-F238E27FC236}">
                <a16:creationId xmlns:a16="http://schemas.microsoft.com/office/drawing/2014/main" id="{CB0E8E75-47F2-9AAE-5A66-F2D0B76A6B93}"/>
              </a:ext>
            </a:extLst>
          </p:cNvPr>
          <p:cNvSpPr>
            <a:spLocks noChangeShapeType="1"/>
          </p:cNvSpPr>
          <p:nvPr/>
        </p:nvSpPr>
        <p:spPr bwMode="auto">
          <a:xfrm flipV="1">
            <a:off x="4008438" y="5013325"/>
            <a:ext cx="2159000" cy="2159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77159" name="Line 7">
            <a:extLst>
              <a:ext uri="{FF2B5EF4-FFF2-40B4-BE49-F238E27FC236}">
                <a16:creationId xmlns:a16="http://schemas.microsoft.com/office/drawing/2014/main" id="{3A01531C-251F-ECF3-51AF-524A0C13393F}"/>
              </a:ext>
            </a:extLst>
          </p:cNvPr>
          <p:cNvSpPr>
            <a:spLocks noChangeShapeType="1"/>
          </p:cNvSpPr>
          <p:nvPr/>
        </p:nvSpPr>
        <p:spPr bwMode="auto">
          <a:xfrm flipV="1">
            <a:off x="3575051" y="5373688"/>
            <a:ext cx="2665413" cy="2159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177156"/>
                                        </p:tgtEl>
                                        <p:attrNameLst>
                                          <p:attrName>style.visibility</p:attrName>
                                        </p:attrNameLst>
                                      </p:cBhvr>
                                      <p:to>
                                        <p:strVal val="visible"/>
                                      </p:to>
                                    </p:set>
                                    <p:anim calcmode="lin" valueType="num">
                                      <p:cBhvr additive="base">
                                        <p:cTn id="7" dur="2000" fill="hold"/>
                                        <p:tgtEl>
                                          <p:spTgt spid="177156"/>
                                        </p:tgtEl>
                                        <p:attrNameLst>
                                          <p:attrName>ppt_x</p:attrName>
                                        </p:attrNameLst>
                                      </p:cBhvr>
                                      <p:tavLst>
                                        <p:tav tm="0">
                                          <p:val>
                                            <p:strVal val="#ppt_x"/>
                                          </p:val>
                                        </p:tav>
                                        <p:tav tm="100000">
                                          <p:val>
                                            <p:strVal val="#ppt_x"/>
                                          </p:val>
                                        </p:tav>
                                      </p:tavLst>
                                    </p:anim>
                                    <p:anim calcmode="lin" valueType="num">
                                      <p:cBhvr additive="base">
                                        <p:cTn id="8" dur="2000" fill="hold"/>
                                        <p:tgtEl>
                                          <p:spTgt spid="17715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36867">
                                            <p:txEl>
                                              <p:pRg st="0" end="0"/>
                                            </p:txEl>
                                          </p:spTgt>
                                        </p:tgtEl>
                                        <p:attrNameLst>
                                          <p:attrName>style.visibility</p:attrName>
                                        </p:attrNameLst>
                                      </p:cBhvr>
                                      <p:to>
                                        <p:strVal val="visible"/>
                                      </p:to>
                                    </p:set>
                                    <p:animEffect transition="in" filter="box(in)">
                                      <p:cBhvr>
                                        <p:cTn id="13" dur="1000"/>
                                        <p:tgtEl>
                                          <p:spTgt spid="36867">
                                            <p:txEl>
                                              <p:pRg st="0" end="0"/>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6867">
                                            <p:txEl>
                                              <p:pRg st="1" end="1"/>
                                            </p:txEl>
                                          </p:spTgt>
                                        </p:tgtEl>
                                        <p:attrNameLst>
                                          <p:attrName>style.visibility</p:attrName>
                                        </p:attrNameLst>
                                      </p:cBhvr>
                                      <p:to>
                                        <p:strVal val="visible"/>
                                      </p:to>
                                    </p:set>
                                    <p:animEffect transition="in" filter="box(in)">
                                      <p:cBhvr>
                                        <p:cTn id="16" dur="1000"/>
                                        <p:tgtEl>
                                          <p:spTgt spid="36867">
                                            <p:txEl>
                                              <p:pRg st="1" end="1"/>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Effect transition="in" filter="box(in)">
                                      <p:cBhvr>
                                        <p:cTn id="19" dur="1000"/>
                                        <p:tgtEl>
                                          <p:spTgt spid="36867">
                                            <p:txEl>
                                              <p:pRg st="2" end="2"/>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ox(in)">
                                      <p:cBhvr>
                                        <p:cTn id="22" dur="1000"/>
                                        <p:tgtEl>
                                          <p:spTgt spid="36867">
                                            <p:txEl>
                                              <p:pRg st="3" end="3"/>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Effect transition="in" filter="box(in)">
                                      <p:cBhvr>
                                        <p:cTn id="25" dur="1000"/>
                                        <p:tgtEl>
                                          <p:spTgt spid="36867">
                                            <p:txEl>
                                              <p:pRg st="4" end="4"/>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6867">
                                            <p:txEl>
                                              <p:pRg st="5" end="5"/>
                                            </p:txEl>
                                          </p:spTgt>
                                        </p:tgtEl>
                                        <p:attrNameLst>
                                          <p:attrName>style.visibility</p:attrName>
                                        </p:attrNameLst>
                                      </p:cBhvr>
                                      <p:to>
                                        <p:strVal val="visible"/>
                                      </p:to>
                                    </p:set>
                                    <p:animEffect transition="in" filter="box(in)">
                                      <p:cBhvr>
                                        <p:cTn id="28" dur="1000"/>
                                        <p:tgtEl>
                                          <p:spTgt spid="36867">
                                            <p:txEl>
                                              <p:pRg st="5" end="5"/>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6867">
                                            <p:txEl>
                                              <p:pRg st="6" end="6"/>
                                            </p:txEl>
                                          </p:spTgt>
                                        </p:tgtEl>
                                        <p:attrNameLst>
                                          <p:attrName>style.visibility</p:attrName>
                                        </p:attrNameLst>
                                      </p:cBhvr>
                                      <p:to>
                                        <p:strVal val="visible"/>
                                      </p:to>
                                    </p:set>
                                    <p:animEffect transition="in" filter="box(in)">
                                      <p:cBhvr>
                                        <p:cTn id="31" dur="1000"/>
                                        <p:tgtEl>
                                          <p:spTgt spid="36867">
                                            <p:txEl>
                                              <p:pRg st="6" end="6"/>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6867">
                                            <p:txEl>
                                              <p:pRg st="7" end="7"/>
                                            </p:txEl>
                                          </p:spTgt>
                                        </p:tgtEl>
                                        <p:attrNameLst>
                                          <p:attrName>style.visibility</p:attrName>
                                        </p:attrNameLst>
                                      </p:cBhvr>
                                      <p:to>
                                        <p:strVal val="visible"/>
                                      </p:to>
                                    </p:set>
                                    <p:animEffect transition="in" filter="box(in)">
                                      <p:cBhvr>
                                        <p:cTn id="34" dur="1000"/>
                                        <p:tgtEl>
                                          <p:spTgt spid="36867">
                                            <p:txEl>
                                              <p:pRg st="7" end="7"/>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36867">
                                            <p:txEl>
                                              <p:pRg st="8" end="8"/>
                                            </p:txEl>
                                          </p:spTgt>
                                        </p:tgtEl>
                                        <p:attrNameLst>
                                          <p:attrName>style.visibility</p:attrName>
                                        </p:attrNameLst>
                                      </p:cBhvr>
                                      <p:to>
                                        <p:strVal val="visible"/>
                                      </p:to>
                                    </p:set>
                                    <p:animEffect transition="in" filter="box(in)">
                                      <p:cBhvr>
                                        <p:cTn id="37" dur="1000"/>
                                        <p:tgtEl>
                                          <p:spTgt spid="36867">
                                            <p:txEl>
                                              <p:pRg st="8" end="8"/>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36867">
                                            <p:txEl>
                                              <p:pRg st="9" end="9"/>
                                            </p:txEl>
                                          </p:spTgt>
                                        </p:tgtEl>
                                        <p:attrNameLst>
                                          <p:attrName>style.visibility</p:attrName>
                                        </p:attrNameLst>
                                      </p:cBhvr>
                                      <p:to>
                                        <p:strVal val="visible"/>
                                      </p:to>
                                    </p:set>
                                    <p:animEffect transition="in" filter="box(in)">
                                      <p:cBhvr>
                                        <p:cTn id="40" dur="1000"/>
                                        <p:tgtEl>
                                          <p:spTgt spid="36867">
                                            <p:txEl>
                                              <p:pRg st="9" end="9"/>
                                            </p:txEl>
                                          </p:spTgt>
                                        </p:tgtEl>
                                      </p:cBhvr>
                                    </p:animEffect>
                                  </p:childTnLst>
                                </p:cTn>
                              </p:par>
                              <p:par>
                                <p:cTn id="41" presetID="4" presetClass="entr" presetSubtype="16" fill="hold" nodeType="withEffect">
                                  <p:stCondLst>
                                    <p:cond delay="0"/>
                                  </p:stCondLst>
                                  <p:childTnLst>
                                    <p:set>
                                      <p:cBhvr>
                                        <p:cTn id="42" dur="1" fill="hold">
                                          <p:stCondLst>
                                            <p:cond delay="0"/>
                                          </p:stCondLst>
                                        </p:cTn>
                                        <p:tgtEl>
                                          <p:spTgt spid="36867">
                                            <p:txEl>
                                              <p:pRg st="10" end="10"/>
                                            </p:txEl>
                                          </p:spTgt>
                                        </p:tgtEl>
                                        <p:attrNameLst>
                                          <p:attrName>style.visibility</p:attrName>
                                        </p:attrNameLst>
                                      </p:cBhvr>
                                      <p:to>
                                        <p:strVal val="visible"/>
                                      </p:to>
                                    </p:set>
                                    <p:animEffect transition="in" filter="box(in)">
                                      <p:cBhvr>
                                        <p:cTn id="43" dur="1000"/>
                                        <p:tgtEl>
                                          <p:spTgt spid="36867">
                                            <p:txEl>
                                              <p:pRg st="10" end="10"/>
                                            </p:txEl>
                                          </p:spTgt>
                                        </p:tgtEl>
                                      </p:cBhvr>
                                    </p:animEffect>
                                  </p:childTnLst>
                                </p:cTn>
                              </p:par>
                              <p:par>
                                <p:cTn id="44" presetID="4" presetClass="entr" presetSubtype="16" fill="hold" nodeType="withEffect">
                                  <p:stCondLst>
                                    <p:cond delay="0"/>
                                  </p:stCondLst>
                                  <p:childTnLst>
                                    <p:set>
                                      <p:cBhvr>
                                        <p:cTn id="45" dur="1" fill="hold">
                                          <p:stCondLst>
                                            <p:cond delay="0"/>
                                          </p:stCondLst>
                                        </p:cTn>
                                        <p:tgtEl>
                                          <p:spTgt spid="36867">
                                            <p:txEl>
                                              <p:pRg st="11" end="11"/>
                                            </p:txEl>
                                          </p:spTgt>
                                        </p:tgtEl>
                                        <p:attrNameLst>
                                          <p:attrName>style.visibility</p:attrName>
                                        </p:attrNameLst>
                                      </p:cBhvr>
                                      <p:to>
                                        <p:strVal val="visible"/>
                                      </p:to>
                                    </p:set>
                                    <p:animEffect transition="in" filter="box(in)">
                                      <p:cBhvr>
                                        <p:cTn id="46" dur="1000"/>
                                        <p:tgtEl>
                                          <p:spTgt spid="36867">
                                            <p:txEl>
                                              <p:pRg st="11" end="11"/>
                                            </p:txEl>
                                          </p:spTgt>
                                        </p:tgtEl>
                                      </p:cBhvr>
                                    </p:animEffect>
                                  </p:childTnLst>
                                </p:cTn>
                              </p:par>
                              <p:par>
                                <p:cTn id="47" presetID="4" presetClass="entr" presetSubtype="16" fill="hold" nodeType="withEffect">
                                  <p:stCondLst>
                                    <p:cond delay="0"/>
                                  </p:stCondLst>
                                  <p:childTnLst>
                                    <p:set>
                                      <p:cBhvr>
                                        <p:cTn id="48" dur="1" fill="hold">
                                          <p:stCondLst>
                                            <p:cond delay="0"/>
                                          </p:stCondLst>
                                        </p:cTn>
                                        <p:tgtEl>
                                          <p:spTgt spid="36867">
                                            <p:txEl>
                                              <p:pRg st="12" end="12"/>
                                            </p:txEl>
                                          </p:spTgt>
                                        </p:tgtEl>
                                        <p:attrNameLst>
                                          <p:attrName>style.visibility</p:attrName>
                                        </p:attrNameLst>
                                      </p:cBhvr>
                                      <p:to>
                                        <p:strVal val="visible"/>
                                      </p:to>
                                    </p:set>
                                    <p:animEffect transition="in" filter="box(in)">
                                      <p:cBhvr>
                                        <p:cTn id="49" dur="1000"/>
                                        <p:tgtEl>
                                          <p:spTgt spid="36867">
                                            <p:txEl>
                                              <p:pRg st="12" end="12"/>
                                            </p:txEl>
                                          </p:spTgt>
                                        </p:tgtEl>
                                      </p:cBhvr>
                                    </p:animEffect>
                                  </p:childTnLst>
                                </p:cTn>
                              </p:par>
                              <p:par>
                                <p:cTn id="50" presetID="4" presetClass="entr" presetSubtype="16" fill="hold" nodeType="withEffect">
                                  <p:stCondLst>
                                    <p:cond delay="0"/>
                                  </p:stCondLst>
                                  <p:childTnLst>
                                    <p:set>
                                      <p:cBhvr>
                                        <p:cTn id="51" dur="1" fill="hold">
                                          <p:stCondLst>
                                            <p:cond delay="0"/>
                                          </p:stCondLst>
                                        </p:cTn>
                                        <p:tgtEl>
                                          <p:spTgt spid="36867">
                                            <p:txEl>
                                              <p:pRg st="13" end="13"/>
                                            </p:txEl>
                                          </p:spTgt>
                                        </p:tgtEl>
                                        <p:attrNameLst>
                                          <p:attrName>style.visibility</p:attrName>
                                        </p:attrNameLst>
                                      </p:cBhvr>
                                      <p:to>
                                        <p:strVal val="visible"/>
                                      </p:to>
                                    </p:set>
                                    <p:animEffect transition="in" filter="box(in)">
                                      <p:cBhvr>
                                        <p:cTn id="52" dur="1000"/>
                                        <p:tgtEl>
                                          <p:spTgt spid="36867">
                                            <p:txEl>
                                              <p:pRg st="13" end="13"/>
                                            </p:txEl>
                                          </p:spTgt>
                                        </p:tgtEl>
                                      </p:cBhvr>
                                    </p:animEffect>
                                  </p:childTnLst>
                                </p:cTn>
                              </p:par>
                              <p:par>
                                <p:cTn id="53" presetID="4" presetClass="entr" presetSubtype="16" fill="hold" nodeType="withEffect">
                                  <p:stCondLst>
                                    <p:cond delay="0"/>
                                  </p:stCondLst>
                                  <p:childTnLst>
                                    <p:set>
                                      <p:cBhvr>
                                        <p:cTn id="54" dur="1" fill="hold">
                                          <p:stCondLst>
                                            <p:cond delay="0"/>
                                          </p:stCondLst>
                                        </p:cTn>
                                        <p:tgtEl>
                                          <p:spTgt spid="36867">
                                            <p:txEl>
                                              <p:pRg st="14" end="14"/>
                                            </p:txEl>
                                          </p:spTgt>
                                        </p:tgtEl>
                                        <p:attrNameLst>
                                          <p:attrName>style.visibility</p:attrName>
                                        </p:attrNameLst>
                                      </p:cBhvr>
                                      <p:to>
                                        <p:strVal val="visible"/>
                                      </p:to>
                                    </p:set>
                                    <p:animEffect transition="in" filter="box(in)">
                                      <p:cBhvr>
                                        <p:cTn id="55" dur="1000"/>
                                        <p:tgtEl>
                                          <p:spTgt spid="36867">
                                            <p:txEl>
                                              <p:pRg st="14" end="14"/>
                                            </p:txEl>
                                          </p:spTgt>
                                        </p:tgtEl>
                                      </p:cBhvr>
                                    </p:animEffect>
                                  </p:childTnLst>
                                </p:cTn>
                              </p:par>
                              <p:par>
                                <p:cTn id="56" presetID="4" presetClass="entr" presetSubtype="16" fill="hold" nodeType="withEffect">
                                  <p:stCondLst>
                                    <p:cond delay="0"/>
                                  </p:stCondLst>
                                  <p:childTnLst>
                                    <p:set>
                                      <p:cBhvr>
                                        <p:cTn id="57" dur="1" fill="hold">
                                          <p:stCondLst>
                                            <p:cond delay="0"/>
                                          </p:stCondLst>
                                        </p:cTn>
                                        <p:tgtEl>
                                          <p:spTgt spid="36867">
                                            <p:txEl>
                                              <p:pRg st="15" end="15"/>
                                            </p:txEl>
                                          </p:spTgt>
                                        </p:tgtEl>
                                        <p:attrNameLst>
                                          <p:attrName>style.visibility</p:attrName>
                                        </p:attrNameLst>
                                      </p:cBhvr>
                                      <p:to>
                                        <p:strVal val="visible"/>
                                      </p:to>
                                    </p:set>
                                    <p:animEffect transition="in" filter="box(in)">
                                      <p:cBhvr>
                                        <p:cTn id="58" dur="1000"/>
                                        <p:tgtEl>
                                          <p:spTgt spid="36867">
                                            <p:txEl>
                                              <p:pRg st="15" end="15"/>
                                            </p:txEl>
                                          </p:spTgt>
                                        </p:tgtEl>
                                      </p:cBhvr>
                                    </p:animEffect>
                                  </p:childTnLst>
                                </p:cTn>
                              </p:par>
                              <p:par>
                                <p:cTn id="59" presetID="2" presetClass="entr" presetSubtype="4" fill="hold" grpId="0" nodeType="withEffect">
                                  <p:stCondLst>
                                    <p:cond delay="0"/>
                                  </p:stCondLst>
                                  <p:childTnLst>
                                    <p:set>
                                      <p:cBhvr>
                                        <p:cTn id="60" dur="1" fill="hold">
                                          <p:stCondLst>
                                            <p:cond delay="0"/>
                                          </p:stCondLst>
                                        </p:cTn>
                                        <p:tgtEl>
                                          <p:spTgt spid="177157"/>
                                        </p:tgtEl>
                                        <p:attrNameLst>
                                          <p:attrName>style.visibility</p:attrName>
                                        </p:attrNameLst>
                                      </p:cBhvr>
                                      <p:to>
                                        <p:strVal val="visible"/>
                                      </p:to>
                                    </p:set>
                                    <p:anim calcmode="lin" valueType="num">
                                      <p:cBhvr additive="base">
                                        <p:cTn id="61" dur="1000" fill="hold"/>
                                        <p:tgtEl>
                                          <p:spTgt spid="177157"/>
                                        </p:tgtEl>
                                        <p:attrNameLst>
                                          <p:attrName>ppt_x</p:attrName>
                                        </p:attrNameLst>
                                      </p:cBhvr>
                                      <p:tavLst>
                                        <p:tav tm="0">
                                          <p:val>
                                            <p:strVal val="#ppt_x"/>
                                          </p:val>
                                        </p:tav>
                                        <p:tav tm="100000">
                                          <p:val>
                                            <p:strVal val="#ppt_x"/>
                                          </p:val>
                                        </p:tav>
                                      </p:tavLst>
                                    </p:anim>
                                    <p:anim calcmode="lin" valueType="num">
                                      <p:cBhvr additive="base">
                                        <p:cTn id="62" dur="1000" fill="hold"/>
                                        <p:tgtEl>
                                          <p:spTgt spid="177157"/>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77158"/>
                                        </p:tgtEl>
                                        <p:attrNameLst>
                                          <p:attrName>style.visibility</p:attrName>
                                        </p:attrNameLst>
                                      </p:cBhvr>
                                      <p:to>
                                        <p:strVal val="visible"/>
                                      </p:to>
                                    </p:set>
                                    <p:anim calcmode="lin" valueType="num">
                                      <p:cBhvr additive="base">
                                        <p:cTn id="65" dur="1000" fill="hold"/>
                                        <p:tgtEl>
                                          <p:spTgt spid="177158"/>
                                        </p:tgtEl>
                                        <p:attrNameLst>
                                          <p:attrName>ppt_x</p:attrName>
                                        </p:attrNameLst>
                                      </p:cBhvr>
                                      <p:tavLst>
                                        <p:tav tm="0">
                                          <p:val>
                                            <p:strVal val="#ppt_x"/>
                                          </p:val>
                                        </p:tav>
                                        <p:tav tm="100000">
                                          <p:val>
                                            <p:strVal val="#ppt_x"/>
                                          </p:val>
                                        </p:tav>
                                      </p:tavLst>
                                    </p:anim>
                                    <p:anim calcmode="lin" valueType="num">
                                      <p:cBhvr additive="base">
                                        <p:cTn id="66" dur="1000" fill="hold"/>
                                        <p:tgtEl>
                                          <p:spTgt spid="177158"/>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77159"/>
                                        </p:tgtEl>
                                        <p:attrNameLst>
                                          <p:attrName>style.visibility</p:attrName>
                                        </p:attrNameLst>
                                      </p:cBhvr>
                                      <p:to>
                                        <p:strVal val="visible"/>
                                      </p:to>
                                    </p:set>
                                    <p:anim calcmode="lin" valueType="num">
                                      <p:cBhvr additive="base">
                                        <p:cTn id="69" dur="1000" fill="hold"/>
                                        <p:tgtEl>
                                          <p:spTgt spid="177159"/>
                                        </p:tgtEl>
                                        <p:attrNameLst>
                                          <p:attrName>ppt_x</p:attrName>
                                        </p:attrNameLst>
                                      </p:cBhvr>
                                      <p:tavLst>
                                        <p:tav tm="0">
                                          <p:val>
                                            <p:strVal val="#ppt_x"/>
                                          </p:val>
                                        </p:tav>
                                        <p:tav tm="100000">
                                          <p:val>
                                            <p:strVal val="#ppt_x"/>
                                          </p:val>
                                        </p:tav>
                                      </p:tavLst>
                                    </p:anim>
                                    <p:anim calcmode="lin" valueType="num">
                                      <p:cBhvr additive="base">
                                        <p:cTn id="70" dur="1000" fill="hold"/>
                                        <p:tgtEl>
                                          <p:spTgt spid="1771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6" grpId="0" animBg="1"/>
      <p:bldP spid="17715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6">
            <a:extLst>
              <a:ext uri="{FF2B5EF4-FFF2-40B4-BE49-F238E27FC236}">
                <a16:creationId xmlns:a16="http://schemas.microsoft.com/office/drawing/2014/main" id="{F8E7BD0D-1AD4-4BF7-2AB7-22EEC24CCBC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EDEEC52-2557-4427-8B4A-B6161B70CD46}" type="slidenum">
              <a:rPr lang="en-US" altLang="zh-CN" sz="1200">
                <a:solidFill>
                  <a:srgbClr val="000000"/>
                </a:solidFill>
                <a:latin typeface="Arial" panose="020B0604020202020204" pitchFamily="34" charset="0"/>
              </a:rPr>
              <a:pPr fontAlgn="base">
                <a:spcBef>
                  <a:spcPct val="0"/>
                </a:spcBef>
                <a:spcAft>
                  <a:spcPct val="0"/>
                </a:spcAft>
              </a:pPr>
              <a:t>34</a:t>
            </a:fld>
            <a:endParaRPr lang="en-US" altLang="zh-CN" sz="1200">
              <a:solidFill>
                <a:srgbClr val="000000"/>
              </a:solidFill>
              <a:latin typeface="Arial" panose="020B0604020202020204" pitchFamily="34" charset="0"/>
            </a:endParaRPr>
          </a:p>
        </p:txBody>
      </p:sp>
      <p:sp>
        <p:nvSpPr>
          <p:cNvPr id="102402" name="Title 1">
            <a:extLst>
              <a:ext uri="{FF2B5EF4-FFF2-40B4-BE49-F238E27FC236}">
                <a16:creationId xmlns:a16="http://schemas.microsoft.com/office/drawing/2014/main" id="{B7F269B2-094D-A586-D065-8A1B74D44C10}"/>
              </a:ext>
            </a:extLst>
          </p:cNvPr>
          <p:cNvSpPr>
            <a:spLocks noGrp="1" noChangeArrowheads="1"/>
          </p:cNvSpPr>
          <p:nvPr>
            <p:ph type="title" idx="4294967295"/>
          </p:nvPr>
        </p:nvSpPr>
        <p:spPr/>
        <p:txBody>
          <a:bodyPr/>
          <a:lstStyle/>
          <a:p>
            <a:r>
              <a:rPr lang="zh-CN" altLang="en-US"/>
              <a:t>依赖倒置原则</a:t>
            </a:r>
            <a:endParaRPr lang="en-US" altLang="zh-CN"/>
          </a:p>
        </p:txBody>
      </p:sp>
      <p:sp>
        <p:nvSpPr>
          <p:cNvPr id="181251" name="Content Placeholder 2">
            <a:extLst>
              <a:ext uri="{FF2B5EF4-FFF2-40B4-BE49-F238E27FC236}">
                <a16:creationId xmlns:a16="http://schemas.microsoft.com/office/drawing/2014/main" id="{F341D062-1A83-6C30-ECB4-86DD9629584E}"/>
              </a:ext>
            </a:extLst>
          </p:cNvPr>
          <p:cNvSpPr>
            <a:spLocks noGrp="1" noChangeArrowheads="1"/>
          </p:cNvSpPr>
          <p:nvPr>
            <p:ph idx="4294967295"/>
          </p:nvPr>
        </p:nvSpPr>
        <p:spPr>
          <a:xfrm>
            <a:off x="1981201" y="836613"/>
            <a:ext cx="8291513" cy="5256212"/>
          </a:xfrm>
        </p:spPr>
        <p:txBody>
          <a:bodyPr/>
          <a:lstStyle/>
          <a:p>
            <a:pPr>
              <a:lnSpc>
                <a:spcPct val="150000"/>
              </a:lnSpc>
            </a:pPr>
            <a:r>
              <a:rPr lang="zh-TW" altLang="en-US" sz="2200">
                <a:solidFill>
                  <a:srgbClr val="FF0000"/>
                </a:solidFill>
              </a:rPr>
              <a:t>依赖</a:t>
            </a:r>
            <a:r>
              <a:rPr lang="zh-TW" altLang="zh-TW" sz="2200">
                <a:solidFill>
                  <a:srgbClr val="FF0000"/>
                </a:solidFill>
              </a:rPr>
              <a:t>倒置</a:t>
            </a:r>
            <a:r>
              <a:rPr lang="zh-TW" altLang="en-US" sz="2200">
                <a:solidFill>
                  <a:srgbClr val="FF0000"/>
                </a:solidFill>
              </a:rPr>
              <a:t>原则</a:t>
            </a:r>
            <a:r>
              <a:rPr lang="zh-TW" altLang="en-US" sz="2200"/>
              <a:t>，</a:t>
            </a:r>
            <a:r>
              <a:rPr lang="zh-CN" altLang="en-US" sz="2200"/>
              <a:t>即</a:t>
            </a:r>
            <a:r>
              <a:rPr lang="zh-TW" altLang="en-US" sz="2200"/>
              <a:t>父类不能依赖子类，它们都要</a:t>
            </a:r>
            <a:r>
              <a:rPr lang="zh-TW" altLang="en-US" sz="2200">
                <a:solidFill>
                  <a:srgbClr val="FF0000"/>
                </a:solidFill>
              </a:rPr>
              <a:t>依赖抽象类</a:t>
            </a:r>
            <a:r>
              <a:rPr lang="zh-CN" altLang="en-US" sz="2200"/>
              <a:t>：</a:t>
            </a:r>
            <a:endParaRPr lang="zh-CN" altLang="zh-CN" sz="2200"/>
          </a:p>
          <a:p>
            <a:pPr marL="742950" lvl="1" indent="-285750">
              <a:lnSpc>
                <a:spcPct val="150000"/>
              </a:lnSpc>
            </a:pPr>
            <a:r>
              <a:rPr lang="zh-TW" altLang="en-US" sz="2000"/>
              <a:t>一旦类的使用者</a:t>
            </a:r>
            <a:r>
              <a:rPr lang="zh-TW" altLang="en-US" sz="2000">
                <a:solidFill>
                  <a:srgbClr val="FF0000"/>
                </a:solidFill>
              </a:rPr>
              <a:t>依赖某个具体的类</a:t>
            </a:r>
            <a:r>
              <a:rPr lang="zh-TW" altLang="en-US" sz="2000"/>
              <a:t>，那么对该依赖的</a:t>
            </a:r>
            <a:r>
              <a:rPr lang="zh-TW" altLang="en-US" sz="2000">
                <a:solidFill>
                  <a:srgbClr val="FF0000"/>
                </a:solidFill>
              </a:rPr>
              <a:t>扩展就无从谈起</a:t>
            </a:r>
            <a:r>
              <a:rPr lang="zh-TW" altLang="en-US" sz="2000"/>
              <a:t>；</a:t>
            </a:r>
            <a:endParaRPr lang="zh-TW" altLang="zh-CN" sz="2000"/>
          </a:p>
          <a:p>
            <a:pPr marL="742950" lvl="1" indent="-285750">
              <a:lnSpc>
                <a:spcPct val="150000"/>
              </a:lnSpc>
            </a:pPr>
            <a:r>
              <a:rPr lang="zh-TW" altLang="en-US" sz="2000"/>
              <a:t>而</a:t>
            </a:r>
            <a:r>
              <a:rPr lang="zh-TW" altLang="en-US" sz="2000">
                <a:solidFill>
                  <a:srgbClr val="FF0000"/>
                </a:solidFill>
              </a:rPr>
              <a:t>依赖某个抽象类</a:t>
            </a:r>
            <a:r>
              <a:rPr lang="zh-TW" altLang="en-US" sz="2000"/>
              <a:t>，则只要</a:t>
            </a:r>
            <a:r>
              <a:rPr lang="zh-TW" altLang="en-US" sz="2000">
                <a:solidFill>
                  <a:srgbClr val="FF0000"/>
                </a:solidFill>
              </a:rPr>
              <a:t>实现了该抽象类的子类</a:t>
            </a:r>
            <a:r>
              <a:rPr lang="zh-TW" altLang="en-US" sz="2000"/>
              <a:t>，都可以被类的使用者使用，从而实现了系统的扩展。</a:t>
            </a:r>
            <a:endParaRPr lang="en-US" altLang="zh-TW" sz="2000"/>
          </a:p>
          <a:p>
            <a:pPr>
              <a:lnSpc>
                <a:spcPct val="150000"/>
              </a:lnSpc>
            </a:pPr>
            <a:r>
              <a:rPr lang="zh-TW" altLang="en-US" sz="2200"/>
              <a:t>一个系统或子系统要拥有良好的扩展性和实现运行期内绑定，有两个</a:t>
            </a:r>
            <a:r>
              <a:rPr lang="zh-TW" altLang="en-US" sz="2200">
                <a:solidFill>
                  <a:srgbClr val="FF0000"/>
                </a:solidFill>
              </a:rPr>
              <a:t>必要条件</a:t>
            </a:r>
            <a:r>
              <a:rPr lang="zh-TW" altLang="en-US" sz="2200"/>
              <a:t>：第</a:t>
            </a:r>
            <a:r>
              <a:rPr lang="zh-CN" altLang="en-US" sz="2200"/>
              <a:t>一</a:t>
            </a:r>
            <a:r>
              <a:rPr lang="zh-TW" altLang="en-US" sz="2200"/>
              <a:t>是里氏替换原则</a:t>
            </a:r>
            <a:r>
              <a:rPr lang="en-US" altLang="zh-CN" sz="2200"/>
              <a:t>(</a:t>
            </a:r>
            <a:r>
              <a:rPr lang="zh-CN" altLang="en-US" sz="2200"/>
              <a:t>子类可以替换父类，例如运动员可以替换人，</a:t>
            </a:r>
            <a:r>
              <a:rPr lang="zh-CN" altLang="en-US" sz="2200">
                <a:solidFill>
                  <a:srgbClr val="FF0000"/>
                </a:solidFill>
              </a:rPr>
              <a:t>人的所有属性与操作运动员都具备</a:t>
            </a:r>
            <a:r>
              <a:rPr lang="en-US" altLang="zh-CN" sz="2200"/>
              <a:t>)</a:t>
            </a:r>
            <a:r>
              <a:rPr lang="zh-CN" altLang="en-US" sz="2200"/>
              <a:t>；</a:t>
            </a:r>
            <a:r>
              <a:rPr lang="zh-TW" altLang="en-US" sz="2200"/>
              <a:t>第</a:t>
            </a:r>
            <a:r>
              <a:rPr lang="zh-CN" altLang="en-US" sz="2200"/>
              <a:t>二</a:t>
            </a:r>
            <a:r>
              <a:rPr lang="zh-TW" altLang="en-US" sz="2200"/>
              <a:t>是依赖</a:t>
            </a:r>
            <a:r>
              <a:rPr lang="zh-TW" altLang="zh-CN" sz="2200"/>
              <a:t>倒置</a:t>
            </a:r>
            <a:r>
              <a:rPr lang="zh-TW" altLang="en-US" sz="2200"/>
              <a:t>原则</a:t>
            </a:r>
            <a:r>
              <a:rPr lang="en-US" altLang="zh-CN" sz="2200"/>
              <a:t>(</a:t>
            </a:r>
            <a:r>
              <a:rPr lang="zh-CN" altLang="en-US" sz="2200"/>
              <a:t>父类不能依赖于子类，例如人不能依赖于运动员，</a:t>
            </a:r>
            <a:r>
              <a:rPr lang="zh-CN" altLang="en-US" sz="2200">
                <a:solidFill>
                  <a:srgbClr val="FF0000"/>
                </a:solidFill>
              </a:rPr>
              <a:t>运动员的某些属性与操作有些人不具备</a:t>
            </a:r>
            <a:r>
              <a:rPr lang="en-US" altLang="zh-CN" sz="2200"/>
              <a:t>)</a:t>
            </a:r>
            <a:r>
              <a:rPr lang="zh-CN" altLang="en-US" sz="2200"/>
              <a:t>。</a:t>
            </a:r>
            <a:endParaRPr lang="en-US" altLang="zh-CN" sz="2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1251">
                                            <p:txEl>
                                              <p:pRg st="1" end="1"/>
                                            </p:txEl>
                                          </p:spTgt>
                                        </p:tgtEl>
                                        <p:attrNameLst>
                                          <p:attrName>style.visibility</p:attrName>
                                        </p:attrNameLst>
                                      </p:cBhvr>
                                      <p:to>
                                        <p:strVal val="visible"/>
                                      </p:to>
                                    </p:set>
                                    <p:animEffect transition="in" filter="blinds(horizontal)">
                                      <p:cBhvr>
                                        <p:cTn id="7" dur="1000"/>
                                        <p:tgtEl>
                                          <p:spTgt spid="1812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1251">
                                            <p:txEl>
                                              <p:pRg st="2" end="2"/>
                                            </p:txEl>
                                          </p:spTgt>
                                        </p:tgtEl>
                                        <p:attrNameLst>
                                          <p:attrName>style.visibility</p:attrName>
                                        </p:attrNameLst>
                                      </p:cBhvr>
                                      <p:to>
                                        <p:strVal val="visible"/>
                                      </p:to>
                                    </p:set>
                                    <p:animEffect transition="in" filter="blinds(horizontal)">
                                      <p:cBhvr>
                                        <p:cTn id="12" dur="1000"/>
                                        <p:tgtEl>
                                          <p:spTgt spid="1812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1251">
                                            <p:txEl>
                                              <p:pRg st="3" end="3"/>
                                            </p:txEl>
                                          </p:spTgt>
                                        </p:tgtEl>
                                        <p:attrNameLst>
                                          <p:attrName>style.visibility</p:attrName>
                                        </p:attrNameLst>
                                      </p:cBhvr>
                                      <p:to>
                                        <p:strVal val="visible"/>
                                      </p:to>
                                    </p:set>
                                    <p:animEffect transition="in" filter="blinds(horizontal)">
                                      <p:cBhvr>
                                        <p:cTn id="17" dur="1000"/>
                                        <p:tgtEl>
                                          <p:spTgt spid="181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6">
            <a:extLst>
              <a:ext uri="{FF2B5EF4-FFF2-40B4-BE49-F238E27FC236}">
                <a16:creationId xmlns:a16="http://schemas.microsoft.com/office/drawing/2014/main" id="{B9F0DE3E-282A-8424-8858-263CEDD47C7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2F41A9B-DC52-436B-9965-287D70651924}" type="slidenum">
              <a:rPr lang="en-US" altLang="zh-CN" sz="1200">
                <a:solidFill>
                  <a:srgbClr val="000000"/>
                </a:solidFill>
                <a:latin typeface="Arial" panose="020B0604020202020204" pitchFamily="34" charset="0"/>
              </a:rPr>
              <a:pPr fontAlgn="base">
                <a:spcBef>
                  <a:spcPct val="0"/>
                </a:spcBef>
                <a:spcAft>
                  <a:spcPct val="0"/>
                </a:spcAft>
              </a:pPr>
              <a:t>35</a:t>
            </a:fld>
            <a:endParaRPr lang="en-US" altLang="zh-CN" sz="1200">
              <a:solidFill>
                <a:srgbClr val="000000"/>
              </a:solidFill>
              <a:latin typeface="Arial" panose="020B0604020202020204" pitchFamily="34" charset="0"/>
            </a:endParaRPr>
          </a:p>
        </p:txBody>
      </p:sp>
      <p:sp>
        <p:nvSpPr>
          <p:cNvPr id="104450" name="Rectangle 2">
            <a:extLst>
              <a:ext uri="{FF2B5EF4-FFF2-40B4-BE49-F238E27FC236}">
                <a16:creationId xmlns:a16="http://schemas.microsoft.com/office/drawing/2014/main" id="{3495F21B-D788-1250-D10D-AAC8138281AB}"/>
              </a:ext>
            </a:extLst>
          </p:cNvPr>
          <p:cNvSpPr>
            <a:spLocks noGrp="1" noChangeArrowheads="1"/>
          </p:cNvSpPr>
          <p:nvPr>
            <p:ph type="title"/>
          </p:nvPr>
        </p:nvSpPr>
        <p:spPr/>
        <p:txBody>
          <a:bodyPr/>
          <a:lstStyle/>
          <a:p>
            <a:r>
              <a:rPr lang="zh-CN" altLang="en-US" sz="2600"/>
              <a:t>接口分离原则 </a:t>
            </a:r>
            <a:r>
              <a:rPr lang="en-US" altLang="zh-CN" sz="2600"/>
              <a:t>(Interface Segregation Principle, ISP)</a:t>
            </a:r>
          </a:p>
        </p:txBody>
      </p:sp>
      <p:sp>
        <p:nvSpPr>
          <p:cNvPr id="104451" name="Rectangle 3">
            <a:extLst>
              <a:ext uri="{FF2B5EF4-FFF2-40B4-BE49-F238E27FC236}">
                <a16:creationId xmlns:a16="http://schemas.microsoft.com/office/drawing/2014/main" id="{3857D617-C4A9-901A-2B37-B0C3F3691C11}"/>
              </a:ext>
            </a:extLst>
          </p:cNvPr>
          <p:cNvSpPr>
            <a:spLocks noGrp="1" noChangeArrowheads="1"/>
          </p:cNvSpPr>
          <p:nvPr>
            <p:ph type="body" idx="1"/>
          </p:nvPr>
        </p:nvSpPr>
        <p:spPr>
          <a:xfrm>
            <a:off x="1981200" y="1773239"/>
            <a:ext cx="8229600" cy="4141787"/>
          </a:xfrm>
        </p:spPr>
        <p:txBody>
          <a:bodyPr/>
          <a:lstStyle/>
          <a:p>
            <a:pPr>
              <a:lnSpc>
                <a:spcPct val="150000"/>
              </a:lnSpc>
              <a:spcBef>
                <a:spcPct val="50000"/>
              </a:spcBef>
            </a:pPr>
            <a:r>
              <a:rPr lang="en-US" altLang="zh-CN" sz="3600"/>
              <a:t>ISP</a:t>
            </a:r>
            <a:r>
              <a:rPr lang="zh-CN" altLang="en-US" sz="3600"/>
              <a:t>原则建议设计者应该</a:t>
            </a:r>
            <a:r>
              <a:rPr lang="zh-CN" altLang="en-US" sz="3600">
                <a:solidFill>
                  <a:srgbClr val="FF0000"/>
                </a:solidFill>
              </a:rPr>
              <a:t>为每个主要的客户类型</a:t>
            </a:r>
            <a:r>
              <a:rPr lang="zh-CN" altLang="en-US" sz="3600"/>
              <a:t>都设计一个</a:t>
            </a:r>
            <a:r>
              <a:rPr lang="zh-CN" altLang="en-US" sz="3600">
                <a:solidFill>
                  <a:srgbClr val="FF0000"/>
                </a:solidFill>
              </a:rPr>
              <a:t>特定的接口</a:t>
            </a:r>
            <a:r>
              <a:rPr lang="zh-CN" altLang="en-US" sz="3600"/>
              <a:t>。只有那些</a:t>
            </a:r>
            <a:r>
              <a:rPr lang="zh-CN" altLang="en-US" sz="3600">
                <a:solidFill>
                  <a:srgbClr val="FF0000"/>
                </a:solidFill>
              </a:rPr>
              <a:t>与特定客户类型相关的操作</a:t>
            </a:r>
            <a:r>
              <a:rPr lang="zh-CN" altLang="en-US" sz="3600"/>
              <a:t>才应该出现在该客户的接口说明中。</a:t>
            </a:r>
          </a:p>
          <a:p>
            <a:pPr>
              <a:buFont typeface="Wingdings" panose="05000000000000000000" pitchFamily="2" charset="2"/>
              <a:buNone/>
            </a:pP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6">
            <a:extLst>
              <a:ext uri="{FF2B5EF4-FFF2-40B4-BE49-F238E27FC236}">
                <a16:creationId xmlns:a16="http://schemas.microsoft.com/office/drawing/2014/main" id="{90A9F712-3FD9-FE0F-779C-2C5E1794F08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D5F9649-AF8A-44EC-B7F2-E598E80F178C}" type="slidenum">
              <a:rPr lang="en-US" altLang="zh-CN" sz="1200">
                <a:solidFill>
                  <a:srgbClr val="000000"/>
                </a:solidFill>
                <a:latin typeface="Arial" panose="020B0604020202020204" pitchFamily="34" charset="0"/>
              </a:rPr>
              <a:pPr fontAlgn="base">
                <a:spcBef>
                  <a:spcPct val="0"/>
                </a:spcBef>
                <a:spcAft>
                  <a:spcPct val="0"/>
                </a:spcAft>
              </a:pPr>
              <a:t>36</a:t>
            </a:fld>
            <a:endParaRPr lang="en-US" altLang="zh-CN" sz="1200">
              <a:solidFill>
                <a:srgbClr val="000000"/>
              </a:solidFill>
              <a:latin typeface="Arial" panose="020B0604020202020204" pitchFamily="34" charset="0"/>
            </a:endParaRPr>
          </a:p>
        </p:txBody>
      </p:sp>
      <p:sp>
        <p:nvSpPr>
          <p:cNvPr id="105474" name="Rectangle 1026">
            <a:extLst>
              <a:ext uri="{FF2B5EF4-FFF2-40B4-BE49-F238E27FC236}">
                <a16:creationId xmlns:a16="http://schemas.microsoft.com/office/drawing/2014/main" id="{90CD04BD-1E27-4E6A-AE39-2B6B616964E9}"/>
              </a:ext>
            </a:extLst>
          </p:cNvPr>
          <p:cNvSpPr>
            <a:spLocks noGrp="1" noChangeArrowheads="1"/>
          </p:cNvSpPr>
          <p:nvPr>
            <p:ph type="title" idx="4294967295"/>
          </p:nvPr>
        </p:nvSpPr>
        <p:spPr>
          <a:xfrm>
            <a:off x="1919288" y="260350"/>
            <a:ext cx="7772400" cy="647700"/>
          </a:xfrm>
        </p:spPr>
        <p:txBody>
          <a:bodyPr/>
          <a:lstStyle/>
          <a:p>
            <a:pPr eaLnBrk="1" hangingPunct="1"/>
            <a:r>
              <a:rPr lang="zh-CN" altLang="en-US" sz="3200"/>
              <a:t>接口分离原则</a:t>
            </a:r>
          </a:p>
        </p:txBody>
      </p:sp>
      <p:sp>
        <p:nvSpPr>
          <p:cNvPr id="105475" name="Rectangle 1027">
            <a:extLst>
              <a:ext uri="{FF2B5EF4-FFF2-40B4-BE49-F238E27FC236}">
                <a16:creationId xmlns:a16="http://schemas.microsoft.com/office/drawing/2014/main" id="{760634C0-EE1D-150D-B25E-9B50B48B54A4}"/>
              </a:ext>
            </a:extLst>
          </p:cNvPr>
          <p:cNvSpPr>
            <a:spLocks noGrp="1" noChangeArrowheads="1"/>
          </p:cNvSpPr>
          <p:nvPr>
            <p:ph idx="4294967295"/>
          </p:nvPr>
        </p:nvSpPr>
        <p:spPr>
          <a:xfrm>
            <a:off x="1739901" y="1125539"/>
            <a:ext cx="8532813" cy="574675"/>
          </a:xfrm>
        </p:spPr>
        <p:txBody>
          <a:bodyPr/>
          <a:lstStyle/>
          <a:p>
            <a:pPr eaLnBrk="1" hangingPunct="1"/>
            <a:r>
              <a:rPr lang="zh-CN" altLang="en-US" sz="2200"/>
              <a:t>一个</a:t>
            </a:r>
            <a:r>
              <a:rPr lang="zh-CN" altLang="en-US" sz="2200">
                <a:solidFill>
                  <a:schemeClr val="accent2"/>
                </a:solidFill>
              </a:rPr>
              <a:t>肥接口</a:t>
            </a:r>
            <a:r>
              <a:rPr lang="zh-CN" altLang="en-US" sz="2200"/>
              <a:t>（包含众多接口的总接口）应该分解成多个</a:t>
            </a:r>
            <a:r>
              <a:rPr lang="zh-CN" altLang="en-US" sz="2200">
                <a:solidFill>
                  <a:srgbClr val="FF0000"/>
                </a:solidFill>
              </a:rPr>
              <a:t>专门接口</a:t>
            </a:r>
            <a:endParaRPr lang="en-US" altLang="zh-CN">
              <a:solidFill>
                <a:srgbClr val="FF0000"/>
              </a:solidFill>
            </a:endParaRPr>
          </a:p>
        </p:txBody>
      </p:sp>
      <p:pic>
        <p:nvPicPr>
          <p:cNvPr id="35844" name="Picture 1030" descr="H:\软件工程\2009\图\chapter 10\6.gif">
            <a:extLst>
              <a:ext uri="{FF2B5EF4-FFF2-40B4-BE49-F238E27FC236}">
                <a16:creationId xmlns:a16="http://schemas.microsoft.com/office/drawing/2014/main" id="{76DB9CAE-6EE4-E914-575E-04DDC2F06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1916114"/>
            <a:ext cx="4378325"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1031" descr="H:\软件工程\2009\图\chapter 10\7.gif">
            <a:extLst>
              <a:ext uri="{FF2B5EF4-FFF2-40B4-BE49-F238E27FC236}">
                <a16:creationId xmlns:a16="http://schemas.microsoft.com/office/drawing/2014/main" id="{46480D3B-FA2D-806E-DC77-F98B93F290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0588" y="3251200"/>
            <a:ext cx="4697412"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Line 1032">
            <a:extLst>
              <a:ext uri="{FF2B5EF4-FFF2-40B4-BE49-F238E27FC236}">
                <a16:creationId xmlns:a16="http://schemas.microsoft.com/office/drawing/2014/main" id="{8AEBB59E-2D5E-0AF8-02AF-18D43DA16A22}"/>
              </a:ext>
            </a:extLst>
          </p:cNvPr>
          <p:cNvSpPr>
            <a:spLocks noChangeShapeType="1"/>
          </p:cNvSpPr>
          <p:nvPr/>
        </p:nvSpPr>
        <p:spPr bwMode="auto">
          <a:xfrm>
            <a:off x="3360738" y="3446463"/>
            <a:ext cx="2590800" cy="990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6">
            <a:extLst>
              <a:ext uri="{FF2B5EF4-FFF2-40B4-BE49-F238E27FC236}">
                <a16:creationId xmlns:a16="http://schemas.microsoft.com/office/drawing/2014/main" id="{F89AA446-3BE2-1F8C-32F4-848D671DA41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0F68CCB-4FA0-48E4-A6CF-2684AF2DB37B}" type="slidenum">
              <a:rPr lang="en-US" altLang="zh-CN" sz="1200">
                <a:solidFill>
                  <a:srgbClr val="000000"/>
                </a:solidFill>
                <a:latin typeface="Arial" panose="020B0604020202020204" pitchFamily="34" charset="0"/>
              </a:rPr>
              <a:pPr fontAlgn="base">
                <a:spcBef>
                  <a:spcPct val="0"/>
                </a:spcBef>
                <a:spcAft>
                  <a:spcPct val="0"/>
                </a:spcAft>
              </a:pPr>
              <a:t>37</a:t>
            </a:fld>
            <a:endParaRPr lang="en-US" altLang="zh-CN" sz="1200">
              <a:solidFill>
                <a:srgbClr val="000000"/>
              </a:solidFill>
              <a:latin typeface="Arial" panose="020B0604020202020204" pitchFamily="34" charset="0"/>
            </a:endParaRPr>
          </a:p>
        </p:txBody>
      </p:sp>
      <p:sp>
        <p:nvSpPr>
          <p:cNvPr id="107522" name="Rectangle 2">
            <a:extLst>
              <a:ext uri="{FF2B5EF4-FFF2-40B4-BE49-F238E27FC236}">
                <a16:creationId xmlns:a16="http://schemas.microsoft.com/office/drawing/2014/main" id="{09082A58-B8B8-60DC-763D-0CFF2A4BA638}"/>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构件级设计指导方针</a:t>
            </a:r>
          </a:p>
        </p:txBody>
      </p:sp>
      <p:sp>
        <p:nvSpPr>
          <p:cNvPr id="7171" name="Rectangle 3">
            <a:extLst>
              <a:ext uri="{FF2B5EF4-FFF2-40B4-BE49-F238E27FC236}">
                <a16:creationId xmlns:a16="http://schemas.microsoft.com/office/drawing/2014/main" id="{F1EA9EE9-CC3D-920C-28FA-DE10589FD802}"/>
              </a:ext>
            </a:extLst>
          </p:cNvPr>
          <p:cNvSpPr>
            <a:spLocks noGrp="1" noChangeArrowheads="1"/>
          </p:cNvSpPr>
          <p:nvPr>
            <p:ph idx="4294967295"/>
          </p:nvPr>
        </p:nvSpPr>
        <p:spPr>
          <a:xfrm>
            <a:off x="1905001" y="836614"/>
            <a:ext cx="8367713" cy="5400675"/>
          </a:xfrm>
        </p:spPr>
        <p:txBody>
          <a:bodyPr/>
          <a:lstStyle/>
          <a:p>
            <a:pPr eaLnBrk="1" hangingPunct="1">
              <a:lnSpc>
                <a:spcPct val="145000"/>
              </a:lnSpc>
            </a:pPr>
            <a:r>
              <a:rPr lang="zh-CN" altLang="en-US">
                <a:solidFill>
                  <a:schemeClr val="tx2"/>
                </a:solidFill>
              </a:rPr>
              <a:t>构件：</a:t>
            </a:r>
          </a:p>
          <a:p>
            <a:pPr lvl="1" eaLnBrk="1" hangingPunct="1">
              <a:lnSpc>
                <a:spcPct val="145000"/>
              </a:lnSpc>
            </a:pPr>
            <a:r>
              <a:rPr lang="zh-CN" altLang="en-US" sz="2200"/>
              <a:t>对那些已经被确定为体系结构模型一部分的构件应该</a:t>
            </a:r>
            <a:r>
              <a:rPr lang="zh-CN" altLang="en-US" sz="2200">
                <a:solidFill>
                  <a:schemeClr val="tx2"/>
                </a:solidFill>
              </a:rPr>
              <a:t>建立命名约定：</a:t>
            </a:r>
          </a:p>
          <a:p>
            <a:pPr lvl="2" eaLnBrk="1" hangingPunct="1">
              <a:lnSpc>
                <a:spcPct val="145000"/>
              </a:lnSpc>
            </a:pPr>
            <a:r>
              <a:rPr lang="zh-CN" altLang="en-US" sz="2000">
                <a:solidFill>
                  <a:srgbClr val="000000"/>
                </a:solidFill>
                <a:latin typeface="宋体" panose="02010600030101010101" pitchFamily="2" charset="-122"/>
              </a:rPr>
              <a:t>使用全名，例如：</a:t>
            </a:r>
            <a:r>
              <a:rPr lang="en-US" altLang="zh-CN" sz="2000">
                <a:solidFill>
                  <a:srgbClr val="000000"/>
                </a:solidFill>
                <a:latin typeface="宋体" panose="02010600030101010101" pitchFamily="2" charset="-122"/>
              </a:rPr>
              <a:t>Job management system, Read print job data</a:t>
            </a:r>
            <a:r>
              <a:rPr lang="zh-CN" altLang="en-US" sz="2000">
                <a:solidFill>
                  <a:srgbClr val="000000"/>
                </a:solidFill>
                <a:latin typeface="宋体" panose="02010600030101010101" pitchFamily="2" charset="-122"/>
              </a:rPr>
              <a:t>；</a:t>
            </a:r>
          </a:p>
          <a:p>
            <a:pPr lvl="2" eaLnBrk="1" hangingPunct="1">
              <a:lnSpc>
                <a:spcPct val="145000"/>
              </a:lnSpc>
            </a:pPr>
            <a:r>
              <a:rPr lang="zh-CN" altLang="en-US" sz="2000">
                <a:latin typeface="宋体" panose="02010600030101010101" pitchFamily="2" charset="-122"/>
              </a:rPr>
              <a:t>采用与日常描述一致的词</a:t>
            </a:r>
            <a:r>
              <a:rPr lang="zh-CN" altLang="en-US" sz="2000"/>
              <a:t>，</a:t>
            </a:r>
            <a:r>
              <a:rPr lang="zh-CN" altLang="en-US" sz="2000">
                <a:solidFill>
                  <a:srgbClr val="000000"/>
                </a:solidFill>
                <a:latin typeface="宋体" panose="02010600030101010101" pitchFamily="2" charset="-122"/>
              </a:rPr>
              <a:t>例如：</a:t>
            </a:r>
            <a:r>
              <a:rPr lang="en-US" altLang="zh-CN" sz="2000">
                <a:solidFill>
                  <a:srgbClr val="000000"/>
                </a:solidFill>
                <a:latin typeface="宋体" panose="02010600030101010101" pitchFamily="2" charset="-122"/>
              </a:rPr>
              <a:t>Detector, Phone</a:t>
            </a:r>
            <a:r>
              <a:rPr lang="zh-CN" altLang="en-US" sz="2000">
                <a:solidFill>
                  <a:srgbClr val="000000"/>
                </a:solidFill>
                <a:latin typeface="宋体" panose="02010600030101010101" pitchFamily="2" charset="-122"/>
              </a:rPr>
              <a:t>；</a:t>
            </a:r>
          </a:p>
          <a:p>
            <a:pPr lvl="2" eaLnBrk="1" hangingPunct="1">
              <a:lnSpc>
                <a:spcPct val="145000"/>
              </a:lnSpc>
            </a:pPr>
            <a:r>
              <a:rPr lang="zh-CN" altLang="en-US" sz="2000">
                <a:latin typeface="宋体" panose="02010600030101010101" pitchFamily="2" charset="-122"/>
              </a:rPr>
              <a:t>混合大小写</a:t>
            </a:r>
            <a:r>
              <a:rPr lang="zh-CN" altLang="en-US" sz="2000"/>
              <a:t>，</a:t>
            </a:r>
            <a:r>
              <a:rPr lang="zh-CN" altLang="en-US" sz="2000">
                <a:solidFill>
                  <a:srgbClr val="000000"/>
                </a:solidFill>
                <a:latin typeface="宋体" panose="02010600030101010101" pitchFamily="2" charset="-122"/>
              </a:rPr>
              <a:t>例如：</a:t>
            </a:r>
            <a:r>
              <a:rPr lang="en-US" altLang="zh-CN" sz="2000">
                <a:solidFill>
                  <a:srgbClr val="000000"/>
                </a:solidFill>
                <a:latin typeface="宋体" panose="02010600030101010101" pitchFamily="2" charset="-122"/>
              </a:rPr>
              <a:t>checkPriority, totalJobCost</a:t>
            </a:r>
            <a:r>
              <a:rPr lang="zh-CN" altLang="en-US" sz="2000">
                <a:solidFill>
                  <a:srgbClr val="000000"/>
                </a:solidFill>
                <a:latin typeface="宋体" panose="02010600030101010101" pitchFamily="2" charset="-122"/>
              </a:rPr>
              <a:t>；</a:t>
            </a:r>
          </a:p>
          <a:p>
            <a:pPr lvl="2" eaLnBrk="1" hangingPunct="1">
              <a:lnSpc>
                <a:spcPct val="145000"/>
              </a:lnSpc>
            </a:pPr>
            <a:r>
              <a:rPr lang="zh-CN" altLang="en-US" sz="2000">
                <a:latin typeface="宋体" panose="02010600030101010101" pitchFamily="2" charset="-122"/>
              </a:rPr>
              <a:t>采用动</a:t>
            </a:r>
            <a:r>
              <a:rPr lang="en-US" altLang="zh-CN" sz="2000"/>
              <a:t>/</a:t>
            </a:r>
            <a:r>
              <a:rPr lang="zh-CN" altLang="en-US" sz="2000">
                <a:latin typeface="宋体" panose="02010600030101010101" pitchFamily="2" charset="-122"/>
              </a:rPr>
              <a:t>名或名</a:t>
            </a:r>
            <a:r>
              <a:rPr lang="en-US" altLang="zh-CN" sz="2000"/>
              <a:t>/</a:t>
            </a:r>
            <a:r>
              <a:rPr lang="zh-CN" altLang="en-US" sz="2000">
                <a:latin typeface="宋体" panose="02010600030101010101" pitchFamily="2" charset="-122"/>
              </a:rPr>
              <a:t>动形式来描述方法</a:t>
            </a:r>
            <a:r>
              <a:rPr lang="en-US" altLang="zh-CN" sz="2000">
                <a:latin typeface="宋体" panose="02010600030101010101" pitchFamily="2" charset="-122"/>
              </a:rPr>
              <a:t>,</a:t>
            </a:r>
            <a:r>
              <a:rPr lang="zh-CN" altLang="en-US" sz="2000">
                <a:solidFill>
                  <a:srgbClr val="000000"/>
                </a:solidFill>
                <a:latin typeface="宋体" panose="02010600030101010101" pitchFamily="2" charset="-122"/>
              </a:rPr>
              <a:t>例如：</a:t>
            </a:r>
            <a:r>
              <a:rPr lang="en-US" altLang="zh-CN" sz="2000">
                <a:solidFill>
                  <a:srgbClr val="000000"/>
                </a:solidFill>
                <a:latin typeface="宋体" panose="02010600030101010101" pitchFamily="2" charset="-122"/>
              </a:rPr>
              <a:t>computePageCost()</a:t>
            </a:r>
            <a:r>
              <a:rPr lang="zh-CN" altLang="en-US" sz="2000">
                <a:solidFill>
                  <a:srgbClr val="000000"/>
                </a:solidFill>
                <a:latin typeface="宋体" panose="02010600030101010101" pitchFamily="2" charset="-122"/>
              </a:rPr>
              <a:t>；</a:t>
            </a:r>
            <a:endParaRPr lang="zh-CN" altLang="en-US" sz="2000"/>
          </a:p>
          <a:p>
            <a:pPr lvl="2" eaLnBrk="1" hangingPunct="1">
              <a:lnSpc>
                <a:spcPct val="145000"/>
              </a:lnSpc>
            </a:pPr>
            <a:r>
              <a:rPr lang="zh-CN" altLang="en-US" sz="2000">
                <a:latin typeface="宋体" panose="02010600030101010101" pitchFamily="2" charset="-122"/>
              </a:rPr>
              <a:t>方法名不要与类名重复</a:t>
            </a:r>
            <a:r>
              <a:rPr lang="zh-CN" altLang="en-US" sz="2000">
                <a:solidFill>
                  <a:schemeClr val="tx2"/>
                </a:solidFill>
              </a:rPr>
              <a:t>；</a:t>
            </a:r>
          </a:p>
          <a:p>
            <a:pPr lvl="2" eaLnBrk="1" hangingPunct="1">
              <a:lnSpc>
                <a:spcPct val="145000"/>
              </a:lnSpc>
            </a:pPr>
            <a:r>
              <a:rPr lang="zh-CN" altLang="en-US" sz="2000">
                <a:solidFill>
                  <a:schemeClr val="tx2"/>
                </a:solidFill>
              </a:rPr>
              <a:t>意义明确</a:t>
            </a:r>
            <a:r>
              <a:rPr lang="zh-CN" altLang="en-US" sz="2000"/>
              <a:t>，</a:t>
            </a:r>
            <a:r>
              <a:rPr lang="zh-CN" altLang="en-US" sz="2000">
                <a:solidFill>
                  <a:srgbClr val="000000"/>
                </a:solidFill>
                <a:latin typeface="宋体" panose="02010600030101010101" pitchFamily="2" charset="-122"/>
              </a:rPr>
              <a:t>例如不要出现：</a:t>
            </a:r>
            <a:r>
              <a:rPr lang="en-US" altLang="zh-CN" sz="2000">
                <a:solidFill>
                  <a:srgbClr val="000000"/>
                </a:solidFill>
                <a:latin typeface="宋体" panose="02010600030101010101" pitchFamily="2" charset="-122"/>
              </a:rPr>
              <a:t>a, a()</a:t>
            </a:r>
            <a:r>
              <a:rPr lang="zh-CN" altLang="en-US" sz="2000">
                <a:solidFill>
                  <a:srgbClr val="000000"/>
                </a:solidFill>
                <a:latin typeface="宋体" panose="02010600030101010101" pitchFamily="2" charset="-122"/>
              </a:rPr>
              <a:t>；</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7" dur="1000"/>
                                        <p:tgtEl>
                                          <p:spTgt spid="71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2" dur="1000"/>
                                        <p:tgtEl>
                                          <p:spTgt spid="717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animEffect transition="in" filter="blinds(horizontal)">
                                      <p:cBhvr>
                                        <p:cTn id="17" dur="1000"/>
                                        <p:tgtEl>
                                          <p:spTgt spid="717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22" dur="1000"/>
                                        <p:tgtEl>
                                          <p:spTgt spid="7171">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27" dur="1000"/>
                                        <p:tgtEl>
                                          <p:spTgt spid="7171">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71">
                                            <p:txEl>
                                              <p:pRg st="7" end="7"/>
                                            </p:txEl>
                                          </p:spTgt>
                                        </p:tgtEl>
                                        <p:attrNameLst>
                                          <p:attrName>style.visibility</p:attrName>
                                        </p:attrNameLst>
                                      </p:cBhvr>
                                      <p:to>
                                        <p:strVal val="visible"/>
                                      </p:to>
                                    </p:set>
                                    <p:animEffect transition="in" filter="blinds(horizontal)">
                                      <p:cBhvr>
                                        <p:cTn id="32" dur="1000"/>
                                        <p:tgtEl>
                                          <p:spTgt spid="71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6">
            <a:extLst>
              <a:ext uri="{FF2B5EF4-FFF2-40B4-BE49-F238E27FC236}">
                <a16:creationId xmlns:a16="http://schemas.microsoft.com/office/drawing/2014/main" id="{70277726-AC04-9648-A34A-8865F04E46B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75AF5AC-29C5-4EDB-BED0-74716AEEA23D}" type="slidenum">
              <a:rPr lang="en-US" altLang="zh-CN" sz="1200">
                <a:solidFill>
                  <a:srgbClr val="000000"/>
                </a:solidFill>
                <a:latin typeface="Arial" panose="020B0604020202020204" pitchFamily="34" charset="0"/>
              </a:rPr>
              <a:pPr fontAlgn="base">
                <a:spcBef>
                  <a:spcPct val="0"/>
                </a:spcBef>
                <a:spcAft>
                  <a:spcPct val="0"/>
                </a:spcAft>
              </a:pPr>
              <a:t>38</a:t>
            </a:fld>
            <a:endParaRPr lang="en-US" altLang="zh-CN" sz="1200">
              <a:solidFill>
                <a:srgbClr val="000000"/>
              </a:solidFill>
              <a:latin typeface="Arial" panose="020B0604020202020204" pitchFamily="34" charset="0"/>
            </a:endParaRPr>
          </a:p>
        </p:txBody>
      </p:sp>
      <p:sp>
        <p:nvSpPr>
          <p:cNvPr id="109570" name="Rectangle 2">
            <a:extLst>
              <a:ext uri="{FF2B5EF4-FFF2-40B4-BE49-F238E27FC236}">
                <a16:creationId xmlns:a16="http://schemas.microsoft.com/office/drawing/2014/main" id="{125D61D0-42B8-4CF0-99DD-5858088531D2}"/>
              </a:ext>
            </a:extLst>
          </p:cNvPr>
          <p:cNvSpPr>
            <a:spLocks noGrp="1" noChangeArrowheads="1"/>
          </p:cNvSpPr>
          <p:nvPr>
            <p:ph type="title"/>
          </p:nvPr>
        </p:nvSpPr>
        <p:spPr/>
        <p:txBody>
          <a:bodyPr/>
          <a:lstStyle/>
          <a:p>
            <a:r>
              <a:rPr lang="zh-CN" altLang="en-US"/>
              <a:t>构件级设计指导方针</a:t>
            </a:r>
          </a:p>
        </p:txBody>
      </p:sp>
      <p:sp>
        <p:nvSpPr>
          <p:cNvPr id="300035" name="Rectangle 3">
            <a:extLst>
              <a:ext uri="{FF2B5EF4-FFF2-40B4-BE49-F238E27FC236}">
                <a16:creationId xmlns:a16="http://schemas.microsoft.com/office/drawing/2014/main" id="{671B7D36-7616-9ABC-329A-002D6985F35D}"/>
              </a:ext>
            </a:extLst>
          </p:cNvPr>
          <p:cNvSpPr>
            <a:spLocks noGrp="1" noChangeArrowheads="1"/>
          </p:cNvSpPr>
          <p:nvPr>
            <p:ph type="body" idx="1"/>
          </p:nvPr>
        </p:nvSpPr>
        <p:spPr>
          <a:xfrm>
            <a:off x="1981200" y="908051"/>
            <a:ext cx="8229600" cy="5078413"/>
          </a:xfrm>
        </p:spPr>
        <p:txBody>
          <a:bodyPr/>
          <a:lstStyle/>
          <a:p>
            <a:pPr eaLnBrk="1" hangingPunct="1">
              <a:lnSpc>
                <a:spcPct val="150000"/>
              </a:lnSpc>
            </a:pPr>
            <a:r>
              <a:rPr lang="zh-CN" altLang="en-US">
                <a:solidFill>
                  <a:schemeClr val="tx2"/>
                </a:solidFill>
              </a:rPr>
              <a:t>接口：</a:t>
            </a:r>
          </a:p>
          <a:p>
            <a:pPr lvl="1" eaLnBrk="1" hangingPunct="1">
              <a:lnSpc>
                <a:spcPct val="150000"/>
              </a:lnSpc>
            </a:pPr>
            <a:r>
              <a:rPr lang="zh-CN" altLang="en-US" sz="2000">
                <a:solidFill>
                  <a:srgbClr val="000000"/>
                </a:solidFill>
                <a:latin typeface="宋体" panose="02010600030101010101" pitchFamily="2" charset="-122"/>
              </a:rPr>
              <a:t>记号中的接口用棒棒糖式记号；</a:t>
            </a:r>
          </a:p>
          <a:p>
            <a:pPr lvl="1" eaLnBrk="1" hangingPunct="1">
              <a:lnSpc>
                <a:spcPct val="150000"/>
              </a:lnSpc>
            </a:pPr>
            <a:r>
              <a:rPr lang="zh-CN" altLang="en-US" sz="2000">
                <a:solidFill>
                  <a:srgbClr val="000000"/>
                </a:solidFill>
                <a:latin typeface="宋体" panose="02010600030101010101" pitchFamily="2" charset="-122"/>
              </a:rPr>
              <a:t>接口都放在构件框的左边</a:t>
            </a:r>
            <a:r>
              <a:rPr lang="zh-CN" altLang="en-US" sz="2000">
                <a:solidFill>
                  <a:schemeClr val="tx2"/>
                </a:solidFill>
              </a:rPr>
              <a:t> ；</a:t>
            </a:r>
          </a:p>
          <a:p>
            <a:pPr lvl="1" eaLnBrk="1" hangingPunct="1">
              <a:lnSpc>
                <a:spcPct val="150000"/>
              </a:lnSpc>
            </a:pPr>
            <a:r>
              <a:rPr lang="zh-CN" altLang="en-US" sz="2000"/>
              <a:t>即使其他接口也适用，只表现出那些</a:t>
            </a:r>
            <a:r>
              <a:rPr lang="zh-CN" altLang="en-US" sz="2000">
                <a:solidFill>
                  <a:srgbClr val="FF0000"/>
                </a:solidFill>
              </a:rPr>
              <a:t>与构件相关</a:t>
            </a:r>
            <a:r>
              <a:rPr lang="zh-CN" altLang="en-US" sz="2000"/>
              <a:t>的接口；</a:t>
            </a:r>
          </a:p>
          <a:p>
            <a:pPr lvl="1" eaLnBrk="1" hangingPunct="1">
              <a:lnSpc>
                <a:spcPct val="150000"/>
              </a:lnSpc>
            </a:pPr>
            <a:r>
              <a:rPr lang="zh-CN" altLang="en-US" sz="2000"/>
              <a:t>结果：系统易于查看。</a:t>
            </a:r>
          </a:p>
          <a:p>
            <a:pPr eaLnBrk="1" hangingPunct="1">
              <a:lnSpc>
                <a:spcPct val="150000"/>
              </a:lnSpc>
            </a:pPr>
            <a:r>
              <a:rPr lang="zh-CN" altLang="en-US">
                <a:solidFill>
                  <a:schemeClr val="tx2"/>
                </a:solidFill>
              </a:rPr>
              <a:t>依赖与继承：</a:t>
            </a:r>
          </a:p>
          <a:p>
            <a:pPr lvl="1" eaLnBrk="1" hangingPunct="1">
              <a:lnSpc>
                <a:spcPct val="150000"/>
              </a:lnSpc>
            </a:pPr>
            <a:r>
              <a:rPr lang="zh-CN" altLang="en-US" sz="2000"/>
              <a:t>依赖关系</a:t>
            </a:r>
            <a:r>
              <a:rPr lang="zh-CN" altLang="en-US" sz="2000">
                <a:solidFill>
                  <a:srgbClr val="FF0000"/>
                </a:solidFill>
              </a:rPr>
              <a:t>自左向右</a:t>
            </a:r>
            <a:r>
              <a:rPr lang="zh-CN" altLang="en-US" sz="2000"/>
              <a:t>，继承关系</a:t>
            </a:r>
            <a:r>
              <a:rPr lang="zh-CN" altLang="en-US" sz="2000">
                <a:solidFill>
                  <a:srgbClr val="FF0000"/>
                </a:solidFill>
              </a:rPr>
              <a:t>自底</a:t>
            </a:r>
            <a:r>
              <a:rPr lang="en-US" altLang="zh-CN" sz="2000">
                <a:solidFill>
                  <a:srgbClr val="FF0000"/>
                </a:solidFill>
              </a:rPr>
              <a:t>(</a:t>
            </a:r>
            <a:r>
              <a:rPr lang="zh-CN" altLang="en-US" sz="2000">
                <a:solidFill>
                  <a:srgbClr val="FF0000"/>
                </a:solidFill>
              </a:rPr>
              <a:t>导出类</a:t>
            </a:r>
            <a:r>
              <a:rPr lang="en-US" altLang="zh-CN" sz="2000">
                <a:solidFill>
                  <a:srgbClr val="FF0000"/>
                </a:solidFill>
              </a:rPr>
              <a:t>)</a:t>
            </a:r>
            <a:r>
              <a:rPr lang="zh-CN" altLang="en-US" sz="2000">
                <a:solidFill>
                  <a:srgbClr val="FF0000"/>
                </a:solidFill>
              </a:rPr>
              <a:t>向上</a:t>
            </a:r>
            <a:r>
              <a:rPr lang="en-US" altLang="zh-CN" sz="2000">
                <a:solidFill>
                  <a:srgbClr val="FF0000"/>
                </a:solidFill>
              </a:rPr>
              <a:t>(</a:t>
            </a:r>
            <a:r>
              <a:rPr lang="zh-CN" altLang="en-US" sz="2000">
                <a:solidFill>
                  <a:srgbClr val="FF0000"/>
                </a:solidFill>
              </a:rPr>
              <a:t>基类</a:t>
            </a:r>
            <a:r>
              <a:rPr lang="en-US" altLang="zh-CN" sz="2000">
                <a:solidFill>
                  <a:srgbClr val="FF0000"/>
                </a:solidFill>
              </a:rPr>
              <a:t>)</a:t>
            </a:r>
            <a:r>
              <a:rPr lang="zh-CN" altLang="en-US" sz="2000">
                <a:solidFill>
                  <a:srgbClr val="FF0000"/>
                </a:solidFill>
              </a:rPr>
              <a:t>；</a:t>
            </a:r>
          </a:p>
          <a:p>
            <a:pPr lvl="1" eaLnBrk="1" hangingPunct="1">
              <a:lnSpc>
                <a:spcPct val="150000"/>
              </a:lnSpc>
            </a:pPr>
            <a:r>
              <a:rPr lang="zh-CN" altLang="en-US" sz="2000"/>
              <a:t>依赖通过接口来表示，而不是采用“构件到构件”的方法；</a:t>
            </a:r>
          </a:p>
          <a:p>
            <a:pPr lvl="1" eaLnBrk="1" hangingPunct="1">
              <a:lnSpc>
                <a:spcPct val="150000"/>
              </a:lnSpc>
            </a:pPr>
            <a:r>
              <a:rPr lang="zh-CN" altLang="en-US" sz="2000"/>
              <a:t>结果：系统更易于维护。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animEffect transition="in" filter="diamond(in)">
                                      <p:cBhvr>
                                        <p:cTn id="7" dur="1000"/>
                                        <p:tgtEl>
                                          <p:spTgt spid="3000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00035">
                                            <p:txEl>
                                              <p:pRg st="2" end="2"/>
                                            </p:txEl>
                                          </p:spTgt>
                                        </p:tgtEl>
                                        <p:attrNameLst>
                                          <p:attrName>style.visibility</p:attrName>
                                        </p:attrNameLst>
                                      </p:cBhvr>
                                      <p:to>
                                        <p:strVal val="visible"/>
                                      </p:to>
                                    </p:set>
                                    <p:animEffect transition="in" filter="diamond(in)">
                                      <p:cBhvr>
                                        <p:cTn id="12" dur="1000"/>
                                        <p:tgtEl>
                                          <p:spTgt spid="3000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00035">
                                            <p:txEl>
                                              <p:pRg st="3" end="3"/>
                                            </p:txEl>
                                          </p:spTgt>
                                        </p:tgtEl>
                                        <p:attrNameLst>
                                          <p:attrName>style.visibility</p:attrName>
                                        </p:attrNameLst>
                                      </p:cBhvr>
                                      <p:to>
                                        <p:strVal val="visible"/>
                                      </p:to>
                                    </p:set>
                                    <p:animEffect transition="in" filter="diamond(in)">
                                      <p:cBhvr>
                                        <p:cTn id="17" dur="1000"/>
                                        <p:tgtEl>
                                          <p:spTgt spid="3000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00035">
                                            <p:txEl>
                                              <p:pRg st="4" end="4"/>
                                            </p:txEl>
                                          </p:spTgt>
                                        </p:tgtEl>
                                        <p:attrNameLst>
                                          <p:attrName>style.visibility</p:attrName>
                                        </p:attrNameLst>
                                      </p:cBhvr>
                                      <p:to>
                                        <p:strVal val="visible"/>
                                      </p:to>
                                    </p:set>
                                    <p:animEffect transition="in" filter="diamond(in)">
                                      <p:cBhvr>
                                        <p:cTn id="22" dur="1000"/>
                                        <p:tgtEl>
                                          <p:spTgt spid="30003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300035">
                                            <p:txEl>
                                              <p:pRg st="5" end="5"/>
                                            </p:txEl>
                                          </p:spTgt>
                                        </p:tgtEl>
                                        <p:attrNameLst>
                                          <p:attrName>style.visibility</p:attrName>
                                        </p:attrNameLst>
                                      </p:cBhvr>
                                      <p:to>
                                        <p:strVal val="visible"/>
                                      </p:to>
                                    </p:set>
                                    <p:animEffect transition="in" filter="diamond(in)">
                                      <p:cBhvr>
                                        <p:cTn id="27" dur="1000"/>
                                        <p:tgtEl>
                                          <p:spTgt spid="30003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nodeType="clickEffect">
                                  <p:stCondLst>
                                    <p:cond delay="0"/>
                                  </p:stCondLst>
                                  <p:childTnLst>
                                    <p:set>
                                      <p:cBhvr>
                                        <p:cTn id="31" dur="1" fill="hold">
                                          <p:stCondLst>
                                            <p:cond delay="0"/>
                                          </p:stCondLst>
                                        </p:cTn>
                                        <p:tgtEl>
                                          <p:spTgt spid="300035">
                                            <p:txEl>
                                              <p:pRg st="6" end="6"/>
                                            </p:txEl>
                                          </p:spTgt>
                                        </p:tgtEl>
                                        <p:attrNameLst>
                                          <p:attrName>style.visibility</p:attrName>
                                        </p:attrNameLst>
                                      </p:cBhvr>
                                      <p:to>
                                        <p:strVal val="visible"/>
                                      </p:to>
                                    </p:set>
                                    <p:animEffect transition="in" filter="diamond(in)">
                                      <p:cBhvr>
                                        <p:cTn id="32" dur="1000"/>
                                        <p:tgtEl>
                                          <p:spTgt spid="30003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8" presetClass="entr" presetSubtype="16" fill="hold" nodeType="clickEffect">
                                  <p:stCondLst>
                                    <p:cond delay="0"/>
                                  </p:stCondLst>
                                  <p:childTnLst>
                                    <p:set>
                                      <p:cBhvr>
                                        <p:cTn id="36" dur="1" fill="hold">
                                          <p:stCondLst>
                                            <p:cond delay="0"/>
                                          </p:stCondLst>
                                        </p:cTn>
                                        <p:tgtEl>
                                          <p:spTgt spid="300035">
                                            <p:txEl>
                                              <p:pRg st="7" end="7"/>
                                            </p:txEl>
                                          </p:spTgt>
                                        </p:tgtEl>
                                        <p:attrNameLst>
                                          <p:attrName>style.visibility</p:attrName>
                                        </p:attrNameLst>
                                      </p:cBhvr>
                                      <p:to>
                                        <p:strVal val="visible"/>
                                      </p:to>
                                    </p:set>
                                    <p:animEffect transition="in" filter="diamond(in)">
                                      <p:cBhvr>
                                        <p:cTn id="37" dur="1000"/>
                                        <p:tgtEl>
                                          <p:spTgt spid="30003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8" presetClass="entr" presetSubtype="16" fill="hold" nodeType="clickEffect">
                                  <p:stCondLst>
                                    <p:cond delay="0"/>
                                  </p:stCondLst>
                                  <p:childTnLst>
                                    <p:set>
                                      <p:cBhvr>
                                        <p:cTn id="41" dur="1" fill="hold">
                                          <p:stCondLst>
                                            <p:cond delay="0"/>
                                          </p:stCondLst>
                                        </p:cTn>
                                        <p:tgtEl>
                                          <p:spTgt spid="300035">
                                            <p:txEl>
                                              <p:pRg st="8" end="8"/>
                                            </p:txEl>
                                          </p:spTgt>
                                        </p:tgtEl>
                                        <p:attrNameLst>
                                          <p:attrName>style.visibility</p:attrName>
                                        </p:attrNameLst>
                                      </p:cBhvr>
                                      <p:to>
                                        <p:strVal val="visible"/>
                                      </p:to>
                                    </p:set>
                                    <p:animEffect transition="in" filter="diamond(in)">
                                      <p:cBhvr>
                                        <p:cTn id="42" dur="1000"/>
                                        <p:tgtEl>
                                          <p:spTgt spid="3000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6">
            <a:extLst>
              <a:ext uri="{FF2B5EF4-FFF2-40B4-BE49-F238E27FC236}">
                <a16:creationId xmlns:a16="http://schemas.microsoft.com/office/drawing/2014/main" id="{D2474EC1-A224-058D-3A74-D01D206D328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511BD4D-E1C8-48D7-A330-411AA19EAFA6}" type="slidenum">
              <a:rPr lang="en-US" altLang="zh-CN" sz="1200">
                <a:solidFill>
                  <a:srgbClr val="000000"/>
                </a:solidFill>
                <a:latin typeface="Arial" panose="020B0604020202020204" pitchFamily="34" charset="0"/>
              </a:rPr>
              <a:pPr fontAlgn="base">
                <a:spcBef>
                  <a:spcPct val="0"/>
                </a:spcBef>
                <a:spcAft>
                  <a:spcPct val="0"/>
                </a:spcAft>
              </a:pPr>
              <a:t>39</a:t>
            </a:fld>
            <a:endParaRPr lang="en-US" altLang="zh-CN" sz="1200">
              <a:solidFill>
                <a:srgbClr val="000000"/>
              </a:solidFill>
              <a:latin typeface="Arial" panose="020B0604020202020204" pitchFamily="34" charset="0"/>
            </a:endParaRPr>
          </a:p>
        </p:txBody>
      </p:sp>
      <p:sp>
        <p:nvSpPr>
          <p:cNvPr id="110594" name="Rectangle 2">
            <a:extLst>
              <a:ext uri="{FF2B5EF4-FFF2-40B4-BE49-F238E27FC236}">
                <a16:creationId xmlns:a16="http://schemas.microsoft.com/office/drawing/2014/main" id="{1695B5F7-680C-F3F4-685A-A4625C8B6215}"/>
              </a:ext>
            </a:extLst>
          </p:cNvPr>
          <p:cNvSpPr>
            <a:spLocks noGrp="1" noChangeArrowheads="1"/>
          </p:cNvSpPr>
          <p:nvPr>
            <p:ph type="title"/>
          </p:nvPr>
        </p:nvSpPr>
        <p:spPr/>
        <p:txBody>
          <a:bodyPr/>
          <a:lstStyle/>
          <a:p>
            <a:r>
              <a:rPr lang="zh-CN" altLang="en-US" dirty="0"/>
              <a:t>内聚性</a:t>
            </a:r>
          </a:p>
        </p:txBody>
      </p:sp>
      <p:sp>
        <p:nvSpPr>
          <p:cNvPr id="301059" name="Rectangle 3">
            <a:extLst>
              <a:ext uri="{FF2B5EF4-FFF2-40B4-BE49-F238E27FC236}">
                <a16:creationId xmlns:a16="http://schemas.microsoft.com/office/drawing/2014/main" id="{D169B49A-050D-05D7-F666-42BD867BAA48}"/>
              </a:ext>
            </a:extLst>
          </p:cNvPr>
          <p:cNvSpPr>
            <a:spLocks noGrp="1" noChangeArrowheads="1"/>
          </p:cNvSpPr>
          <p:nvPr>
            <p:ph type="body" idx="1"/>
          </p:nvPr>
        </p:nvSpPr>
        <p:spPr>
          <a:xfrm>
            <a:off x="1981200" y="1268414"/>
            <a:ext cx="8229600" cy="4575175"/>
          </a:xfrm>
        </p:spPr>
        <p:txBody>
          <a:bodyPr/>
          <a:lstStyle/>
          <a:p>
            <a:pPr eaLnBrk="1" hangingPunct="1">
              <a:lnSpc>
                <a:spcPct val="150000"/>
              </a:lnSpc>
              <a:spcBef>
                <a:spcPct val="50000"/>
              </a:spcBef>
            </a:pPr>
            <a:r>
              <a:rPr lang="zh-CN" altLang="en-US"/>
              <a:t>描述为构件的</a:t>
            </a:r>
            <a:r>
              <a:rPr lang="zh-CN" altLang="en-US">
                <a:solidFill>
                  <a:srgbClr val="FF0000"/>
                </a:solidFill>
              </a:rPr>
              <a:t>专一性。</a:t>
            </a:r>
          </a:p>
          <a:p>
            <a:pPr eaLnBrk="1" hangingPunct="1">
              <a:lnSpc>
                <a:spcPct val="150000"/>
              </a:lnSpc>
              <a:spcBef>
                <a:spcPct val="50000"/>
              </a:spcBef>
            </a:pPr>
            <a:r>
              <a:rPr lang="zh-CN" altLang="en-US"/>
              <a:t>内聚性意味着构件或者类</a:t>
            </a:r>
            <a:r>
              <a:rPr lang="zh-CN" altLang="en-US">
                <a:solidFill>
                  <a:srgbClr val="FF0000"/>
                </a:solidFill>
              </a:rPr>
              <a:t>只封装那些相互关联密切</a:t>
            </a:r>
            <a:r>
              <a:rPr lang="zh-CN" altLang="en-US"/>
              <a:t>，以及与构件或类</a:t>
            </a:r>
            <a:r>
              <a:rPr lang="zh-CN" altLang="en-US">
                <a:solidFill>
                  <a:srgbClr val="FF0000"/>
                </a:solidFill>
              </a:rPr>
              <a:t>自身</a:t>
            </a:r>
            <a:r>
              <a:rPr lang="zh-CN" altLang="en-US"/>
              <a:t>有密切关系的</a:t>
            </a:r>
            <a:r>
              <a:rPr lang="zh-CN" altLang="en-US">
                <a:solidFill>
                  <a:srgbClr val="FF0000"/>
                </a:solidFill>
              </a:rPr>
              <a:t>属性</a:t>
            </a:r>
            <a:r>
              <a:rPr lang="zh-CN" altLang="en-US"/>
              <a:t>和</a:t>
            </a:r>
            <a:r>
              <a:rPr lang="zh-CN" altLang="en-US">
                <a:solidFill>
                  <a:srgbClr val="FF0000"/>
                </a:solidFill>
              </a:rPr>
              <a:t>操作</a:t>
            </a:r>
            <a:r>
              <a:rPr lang="zh-CN" altLang="en-US"/>
              <a:t>。</a:t>
            </a:r>
          </a:p>
          <a:p>
            <a:pPr eaLnBrk="1" hangingPunct="1">
              <a:lnSpc>
                <a:spcPct val="150000"/>
              </a:lnSpc>
              <a:spcBef>
                <a:spcPct val="50000"/>
              </a:spcBef>
            </a:pPr>
            <a:r>
              <a:rPr lang="zh-CN" altLang="en-US">
                <a:solidFill>
                  <a:srgbClr val="FF0000"/>
                </a:solidFill>
              </a:rPr>
              <a:t>功能内聚：</a:t>
            </a:r>
          </a:p>
          <a:p>
            <a:pPr lvl="1" eaLnBrk="1" hangingPunct="1">
              <a:lnSpc>
                <a:spcPct val="150000"/>
              </a:lnSpc>
              <a:spcBef>
                <a:spcPct val="50000"/>
              </a:spcBef>
            </a:pPr>
            <a:r>
              <a:rPr lang="zh-CN" altLang="en-US" sz="2200"/>
              <a:t>主要通过操作来体现，当一个模块中的各个部分</a:t>
            </a:r>
            <a:r>
              <a:rPr lang="zh-CN" altLang="en-US" sz="2200">
                <a:solidFill>
                  <a:srgbClr val="FF0000"/>
                </a:solidFill>
              </a:rPr>
              <a:t>只完成某一组特定操作</a:t>
            </a:r>
            <a:r>
              <a:rPr lang="zh-CN" altLang="en-US" sz="2200"/>
              <a:t>并返回结果时，就称此模块是功能内聚的。</a:t>
            </a:r>
            <a:r>
              <a:rPr lang="en-US" altLang="zh-CN" sz="2200"/>
              <a:t>(</a:t>
            </a:r>
            <a:r>
              <a:rPr lang="zh-CN" altLang="en-US" sz="2200"/>
              <a:t>最好的内聚</a:t>
            </a:r>
            <a:r>
              <a:rPr lang="en-US" altLang="zh-CN"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animEffect transition="in" filter="blinds(horizontal)">
                                      <p:cBhvr>
                                        <p:cTn id="7" dur="1000"/>
                                        <p:tgtEl>
                                          <p:spTgt spid="301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1059">
                                            <p:txEl>
                                              <p:pRg st="1" end="1"/>
                                            </p:txEl>
                                          </p:spTgt>
                                        </p:tgtEl>
                                        <p:attrNameLst>
                                          <p:attrName>style.visibility</p:attrName>
                                        </p:attrNameLst>
                                      </p:cBhvr>
                                      <p:to>
                                        <p:strVal val="visible"/>
                                      </p:to>
                                    </p:set>
                                    <p:animEffect transition="in" filter="blinds(horizontal)">
                                      <p:cBhvr>
                                        <p:cTn id="12" dur="1000"/>
                                        <p:tgtEl>
                                          <p:spTgt spid="301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1059">
                                            <p:txEl>
                                              <p:pRg st="2" end="2"/>
                                            </p:txEl>
                                          </p:spTgt>
                                        </p:tgtEl>
                                        <p:attrNameLst>
                                          <p:attrName>style.visibility</p:attrName>
                                        </p:attrNameLst>
                                      </p:cBhvr>
                                      <p:to>
                                        <p:strVal val="visible"/>
                                      </p:to>
                                    </p:set>
                                    <p:animEffect transition="in" filter="blinds(horizontal)">
                                      <p:cBhvr>
                                        <p:cTn id="17" dur="1000"/>
                                        <p:tgtEl>
                                          <p:spTgt spid="301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1059">
                                            <p:txEl>
                                              <p:pRg st="3" end="3"/>
                                            </p:txEl>
                                          </p:spTgt>
                                        </p:tgtEl>
                                        <p:attrNameLst>
                                          <p:attrName>style.visibility</p:attrName>
                                        </p:attrNameLst>
                                      </p:cBhvr>
                                      <p:to>
                                        <p:strVal val="visible"/>
                                      </p:to>
                                    </p:set>
                                    <p:animEffect transition="in" filter="blinds(horizontal)">
                                      <p:cBhvr>
                                        <p:cTn id="22" dur="1000"/>
                                        <p:tgtEl>
                                          <p:spTgt spid="301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6">
            <a:extLst>
              <a:ext uri="{FF2B5EF4-FFF2-40B4-BE49-F238E27FC236}">
                <a16:creationId xmlns:a16="http://schemas.microsoft.com/office/drawing/2014/main" id="{91726FE4-DD6A-7F67-23F1-4652D739772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A588D01-95FE-4C7A-B1C1-2767EA72103F}" type="slidenum">
              <a:rPr lang="en-US" altLang="zh-CN" sz="1200">
                <a:solidFill>
                  <a:srgbClr val="000000"/>
                </a:solidFill>
                <a:latin typeface="Arial" panose="020B0604020202020204" pitchFamily="34" charset="0"/>
              </a:rPr>
              <a:pPr fontAlgn="base">
                <a:spcBef>
                  <a:spcPct val="0"/>
                </a:spcBef>
                <a:spcAft>
                  <a:spcPct val="0"/>
                </a:spcAft>
              </a:pPr>
              <a:t>40</a:t>
            </a:fld>
            <a:endParaRPr lang="en-US" altLang="zh-CN" sz="1200">
              <a:solidFill>
                <a:srgbClr val="000000"/>
              </a:solidFill>
              <a:latin typeface="Arial" panose="020B0604020202020204" pitchFamily="34" charset="0"/>
            </a:endParaRPr>
          </a:p>
        </p:txBody>
      </p:sp>
      <p:sp>
        <p:nvSpPr>
          <p:cNvPr id="111618" name="Rectangle 2">
            <a:extLst>
              <a:ext uri="{FF2B5EF4-FFF2-40B4-BE49-F238E27FC236}">
                <a16:creationId xmlns:a16="http://schemas.microsoft.com/office/drawing/2014/main" id="{C6299040-C6BD-AEAB-EB9D-BEB21DC3D7CB}"/>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顺序内聚</a:t>
            </a:r>
          </a:p>
        </p:txBody>
      </p:sp>
      <p:sp>
        <p:nvSpPr>
          <p:cNvPr id="111619" name="Rectangle 3">
            <a:extLst>
              <a:ext uri="{FF2B5EF4-FFF2-40B4-BE49-F238E27FC236}">
                <a16:creationId xmlns:a16="http://schemas.microsoft.com/office/drawing/2014/main" id="{381A8AA2-9D39-C2EE-1DD5-D9FE2B179895}"/>
              </a:ext>
            </a:extLst>
          </p:cNvPr>
          <p:cNvSpPr>
            <a:spLocks noGrp="1" noChangeArrowheads="1"/>
          </p:cNvSpPr>
          <p:nvPr>
            <p:ph idx="4294967295"/>
          </p:nvPr>
        </p:nvSpPr>
        <p:spPr>
          <a:xfrm>
            <a:off x="1774825" y="1268414"/>
            <a:ext cx="8713788" cy="1368425"/>
          </a:xfrm>
        </p:spPr>
        <p:txBody>
          <a:bodyPr/>
          <a:lstStyle/>
          <a:p>
            <a:pPr>
              <a:lnSpc>
                <a:spcPct val="150000"/>
              </a:lnSpc>
            </a:pPr>
            <a:r>
              <a:rPr lang="zh-CN" altLang="en-US">
                <a:latin typeface="宋体" panose="02010600030101010101" pitchFamily="2" charset="-122"/>
              </a:rPr>
              <a:t>模块中各个处理元素密切相关，必须</a:t>
            </a:r>
            <a:r>
              <a:rPr lang="zh-CN" altLang="en-US">
                <a:solidFill>
                  <a:srgbClr val="FF0000"/>
                </a:solidFill>
                <a:latin typeface="宋体" panose="02010600030101010101" pitchFamily="2" charset="-122"/>
              </a:rPr>
              <a:t>顺序执行</a:t>
            </a:r>
            <a:r>
              <a:rPr lang="zh-CN" altLang="en-US">
                <a:latin typeface="宋体" panose="02010600030101010101" pitchFamily="2" charset="-122"/>
              </a:rPr>
              <a:t>，前一功能元素的输出就是下一功能元素的输入。</a:t>
            </a:r>
            <a:endParaRPr lang="zh-CN" altLang="en-US"/>
          </a:p>
        </p:txBody>
      </p:sp>
      <p:grpSp>
        <p:nvGrpSpPr>
          <p:cNvPr id="199684" name="Group 4">
            <a:extLst>
              <a:ext uri="{FF2B5EF4-FFF2-40B4-BE49-F238E27FC236}">
                <a16:creationId xmlns:a16="http://schemas.microsoft.com/office/drawing/2014/main" id="{FA1B4827-6B1F-919E-E21C-4EF50DAFA7E1}"/>
              </a:ext>
            </a:extLst>
          </p:cNvPr>
          <p:cNvGrpSpPr>
            <a:grpSpLocks/>
          </p:cNvGrpSpPr>
          <p:nvPr/>
        </p:nvGrpSpPr>
        <p:grpSpPr bwMode="auto">
          <a:xfrm>
            <a:off x="2743200" y="2438400"/>
            <a:ext cx="6477000" cy="3151188"/>
            <a:chOff x="3312" y="504"/>
            <a:chExt cx="4860" cy="2028"/>
          </a:xfrm>
        </p:grpSpPr>
        <p:sp>
          <p:nvSpPr>
            <p:cNvPr id="19461" name="Text Box 5">
              <a:extLst>
                <a:ext uri="{FF2B5EF4-FFF2-40B4-BE49-F238E27FC236}">
                  <a16:creationId xmlns:a16="http://schemas.microsoft.com/office/drawing/2014/main" id="{902E7550-0931-0A4A-BEEF-AC3979F2637E}"/>
                </a:ext>
              </a:extLst>
            </p:cNvPr>
            <p:cNvSpPr txBox="1">
              <a:spLocks noChangeArrowheads="1"/>
            </p:cNvSpPr>
            <p:nvPr/>
          </p:nvSpPr>
          <p:spPr bwMode="auto">
            <a:xfrm>
              <a:off x="3312" y="1440"/>
              <a:ext cx="2160" cy="468"/>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lang="en-US" altLang="zh-CN" sz="4800" b="1">
                  <a:solidFill>
                    <a:srgbClr val="000000"/>
                  </a:solidFill>
                  <a:effectLst>
                    <a:outerShdw blurRad="38100" dist="38100" dir="2700000" algn="tl">
                      <a:srgbClr val="C0C0C0"/>
                    </a:outerShdw>
                  </a:effectLst>
                </a:rPr>
                <a:t>A</a:t>
              </a:r>
              <a:endParaRPr lang="en-US" altLang="zh-CN" sz="4800" b="1">
                <a:solidFill>
                  <a:srgbClr val="000000"/>
                </a:solidFill>
                <a:effectLst>
                  <a:outerShdw blurRad="38100" dist="38100" dir="2700000" algn="tl">
                    <a:srgbClr val="C0C0C0"/>
                  </a:outerShdw>
                </a:effectLst>
                <a:latin typeface="Tahoma" panose="020B0604030504040204" pitchFamily="34" charset="0"/>
              </a:endParaRPr>
            </a:p>
          </p:txBody>
        </p:sp>
        <p:sp>
          <p:nvSpPr>
            <p:cNvPr id="111622" name="Line 6">
              <a:extLst>
                <a:ext uri="{FF2B5EF4-FFF2-40B4-BE49-F238E27FC236}">
                  <a16:creationId xmlns:a16="http://schemas.microsoft.com/office/drawing/2014/main" id="{F322A44C-380E-342D-EECB-924830C9DEBF}"/>
                </a:ext>
              </a:extLst>
            </p:cNvPr>
            <p:cNvSpPr>
              <a:spLocks noChangeShapeType="1"/>
            </p:cNvSpPr>
            <p:nvPr/>
          </p:nvSpPr>
          <p:spPr bwMode="auto">
            <a:xfrm>
              <a:off x="4392" y="81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1623" name="AutoShape 7">
              <a:extLst>
                <a:ext uri="{FF2B5EF4-FFF2-40B4-BE49-F238E27FC236}">
                  <a16:creationId xmlns:a16="http://schemas.microsoft.com/office/drawing/2014/main" id="{A7188E41-91EB-CEC1-3418-A3ABC730A19E}"/>
                </a:ext>
              </a:extLst>
            </p:cNvPr>
            <p:cNvSpPr>
              <a:spLocks/>
            </p:cNvSpPr>
            <p:nvPr/>
          </p:nvSpPr>
          <p:spPr bwMode="auto">
            <a:xfrm>
              <a:off x="5832" y="660"/>
              <a:ext cx="180" cy="1872"/>
            </a:xfrm>
            <a:prstGeom prst="leftBrace">
              <a:avLst>
                <a:gd name="adj1" fmla="val 8666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endParaRPr kumimoji="1" lang="zh-CN" altLang="en-US" b="0">
                <a:solidFill>
                  <a:srgbClr val="000000"/>
                </a:solidFill>
                <a:latin typeface="Times New Roman" panose="02020603050405020304" pitchFamily="18" charset="0"/>
              </a:endParaRPr>
            </a:p>
          </p:txBody>
        </p:sp>
        <p:sp>
          <p:nvSpPr>
            <p:cNvPr id="111624" name="Text Box 8">
              <a:extLst>
                <a:ext uri="{FF2B5EF4-FFF2-40B4-BE49-F238E27FC236}">
                  <a16:creationId xmlns:a16="http://schemas.microsoft.com/office/drawing/2014/main" id="{9106F717-2346-FED3-8E03-BC918F1F0796}"/>
                </a:ext>
              </a:extLst>
            </p:cNvPr>
            <p:cNvSpPr txBox="1">
              <a:spLocks noChangeArrowheads="1"/>
            </p:cNvSpPr>
            <p:nvPr/>
          </p:nvSpPr>
          <p:spPr bwMode="auto">
            <a:xfrm>
              <a:off x="6192" y="504"/>
              <a:ext cx="1980" cy="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230000"/>
                </a:lnSpc>
                <a:spcBef>
                  <a:spcPct val="0"/>
                </a:spcBef>
                <a:spcAft>
                  <a:spcPct val="0"/>
                </a:spcAft>
                <a:buClrTx/>
                <a:buSzTx/>
                <a:buFont typeface="Wingdings" panose="05000000000000000000" pitchFamily="2" charset="2"/>
                <a:buChar char="l"/>
              </a:pPr>
              <a:r>
                <a:rPr kumimoji="1" lang="zh-CN" altLang="en-US" sz="2800">
                  <a:solidFill>
                    <a:srgbClr val="000000"/>
                  </a:solidFill>
                  <a:latin typeface="Tahoma" panose="020B0604030504040204" pitchFamily="34" charset="0"/>
                </a:rPr>
                <a:t>输入系数</a:t>
              </a:r>
              <a:endParaRPr kumimoji="1" lang="zh-CN" altLang="en-US" sz="2800">
                <a:solidFill>
                  <a:srgbClr val="000000"/>
                </a:solidFill>
                <a:latin typeface="Times New Roman" panose="02020603050405020304" pitchFamily="18" charset="0"/>
              </a:endParaRPr>
            </a:p>
            <a:p>
              <a:pPr fontAlgn="base">
                <a:lnSpc>
                  <a:spcPct val="230000"/>
                </a:lnSpc>
                <a:spcBef>
                  <a:spcPct val="0"/>
                </a:spcBef>
                <a:spcAft>
                  <a:spcPct val="0"/>
                </a:spcAft>
                <a:buClrTx/>
                <a:buSzTx/>
                <a:buFont typeface="Wingdings" panose="05000000000000000000" pitchFamily="2" charset="2"/>
                <a:buChar char="l"/>
              </a:pPr>
              <a:r>
                <a:rPr kumimoji="1" lang="zh-CN" altLang="en-US" sz="2800">
                  <a:solidFill>
                    <a:srgbClr val="000000"/>
                  </a:solidFill>
                  <a:latin typeface="Times New Roman" panose="02020603050405020304" pitchFamily="18" charset="0"/>
                </a:rPr>
                <a:t>求解</a:t>
              </a:r>
            </a:p>
            <a:p>
              <a:pPr fontAlgn="base">
                <a:lnSpc>
                  <a:spcPct val="230000"/>
                </a:lnSpc>
                <a:spcBef>
                  <a:spcPct val="0"/>
                </a:spcBef>
                <a:spcAft>
                  <a:spcPct val="0"/>
                </a:spcAft>
                <a:buClrTx/>
                <a:buSzTx/>
                <a:buFont typeface="Wingdings" panose="05000000000000000000" pitchFamily="2" charset="2"/>
                <a:buChar char="l"/>
              </a:pPr>
              <a:r>
                <a:rPr kumimoji="1" lang="zh-CN" altLang="en-US" sz="2800">
                  <a:solidFill>
                    <a:srgbClr val="000000"/>
                  </a:solidFill>
                  <a:latin typeface="Times New Roman" panose="02020603050405020304" pitchFamily="18" charset="0"/>
                </a:rPr>
                <a:t>打印方程解</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diamond(in)">
                                      <p:cBhvr>
                                        <p:cTn id="7" dur="1000"/>
                                        <p:tgtEl>
                                          <p:spTgt spid="199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6">
            <a:extLst>
              <a:ext uri="{FF2B5EF4-FFF2-40B4-BE49-F238E27FC236}">
                <a16:creationId xmlns:a16="http://schemas.microsoft.com/office/drawing/2014/main" id="{CC38A593-DED2-578A-633B-C9819B04D21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6FAB676-6A60-4B77-AF6C-2A808FA69649}" type="slidenum">
              <a:rPr lang="en-US" altLang="zh-CN" sz="1200">
                <a:solidFill>
                  <a:srgbClr val="000000"/>
                </a:solidFill>
                <a:latin typeface="Arial" panose="020B0604020202020204" pitchFamily="34" charset="0"/>
              </a:rPr>
              <a:pPr fontAlgn="base">
                <a:spcBef>
                  <a:spcPct val="0"/>
                </a:spcBef>
                <a:spcAft>
                  <a:spcPct val="0"/>
                </a:spcAft>
              </a:pPr>
              <a:t>41</a:t>
            </a:fld>
            <a:endParaRPr lang="en-US" altLang="zh-CN" sz="1200">
              <a:solidFill>
                <a:srgbClr val="000000"/>
              </a:solidFill>
              <a:latin typeface="Arial" panose="020B0604020202020204" pitchFamily="34" charset="0"/>
            </a:endParaRPr>
          </a:p>
        </p:txBody>
      </p:sp>
      <p:sp>
        <p:nvSpPr>
          <p:cNvPr id="113666" name="Rectangle 2">
            <a:extLst>
              <a:ext uri="{FF2B5EF4-FFF2-40B4-BE49-F238E27FC236}">
                <a16:creationId xmlns:a16="http://schemas.microsoft.com/office/drawing/2014/main" id="{6B4F9345-F224-4BE2-B2B1-32B8C434F9A0}"/>
              </a:ext>
            </a:extLst>
          </p:cNvPr>
          <p:cNvSpPr>
            <a:spLocks noGrp="1" noChangeArrowheads="1"/>
          </p:cNvSpPr>
          <p:nvPr>
            <p:ph type="title" idx="4294967295"/>
          </p:nvPr>
        </p:nvSpPr>
        <p:spPr>
          <a:xfrm>
            <a:off x="1919288" y="260350"/>
            <a:ext cx="7772400" cy="914400"/>
          </a:xfrm>
        </p:spPr>
        <p:txBody>
          <a:bodyPr/>
          <a:lstStyle/>
          <a:p>
            <a:pPr eaLnBrk="1" hangingPunct="1"/>
            <a:r>
              <a:rPr lang="zh-CN" altLang="en-US"/>
              <a:t>时间内聚</a:t>
            </a:r>
          </a:p>
        </p:txBody>
      </p:sp>
      <p:sp>
        <p:nvSpPr>
          <p:cNvPr id="113667" name="Rectangle 3">
            <a:extLst>
              <a:ext uri="{FF2B5EF4-FFF2-40B4-BE49-F238E27FC236}">
                <a16:creationId xmlns:a16="http://schemas.microsoft.com/office/drawing/2014/main" id="{D1C2C053-8A51-154B-F5D9-C30A771D7411}"/>
              </a:ext>
            </a:extLst>
          </p:cNvPr>
          <p:cNvSpPr>
            <a:spLocks noGrp="1" noChangeArrowheads="1"/>
          </p:cNvSpPr>
          <p:nvPr>
            <p:ph idx="4294967295"/>
          </p:nvPr>
        </p:nvSpPr>
        <p:spPr>
          <a:xfrm>
            <a:off x="1847850" y="914400"/>
            <a:ext cx="8496300" cy="1752600"/>
          </a:xfrm>
        </p:spPr>
        <p:txBody>
          <a:bodyPr/>
          <a:lstStyle/>
          <a:p>
            <a:pPr eaLnBrk="1" hangingPunct="1">
              <a:lnSpc>
                <a:spcPct val="130000"/>
              </a:lnSpc>
            </a:pPr>
            <a:r>
              <a:rPr lang="zh-CN" altLang="en-US">
                <a:latin typeface="宋体" panose="02010600030101010101" pitchFamily="2" charset="-122"/>
              </a:rPr>
              <a:t>模块各个功能的执行与时间有关，通常要求</a:t>
            </a:r>
            <a:r>
              <a:rPr lang="zh-CN" altLang="en-US">
                <a:solidFill>
                  <a:srgbClr val="FF0000"/>
                </a:solidFill>
                <a:latin typeface="宋体" panose="02010600030101010101" pitchFamily="2" charset="-122"/>
              </a:rPr>
              <a:t>所有功能</a:t>
            </a:r>
            <a:r>
              <a:rPr lang="zh-CN" altLang="en-US">
                <a:latin typeface="宋体" panose="02010600030101010101" pitchFamily="2" charset="-122"/>
              </a:rPr>
              <a:t>必须</a:t>
            </a:r>
            <a:r>
              <a:rPr lang="zh-CN" altLang="en-US">
                <a:solidFill>
                  <a:srgbClr val="FF0000"/>
                </a:solidFill>
                <a:latin typeface="宋体" panose="02010600030101010101" pitchFamily="2" charset="-122"/>
              </a:rPr>
              <a:t>在同一时间段内执行</a:t>
            </a:r>
            <a:r>
              <a:rPr lang="zh-CN" altLang="en-US">
                <a:latin typeface="宋体" panose="02010600030101010101" pitchFamily="2" charset="-122"/>
              </a:rPr>
              <a:t>。</a:t>
            </a:r>
          </a:p>
          <a:p>
            <a:pPr marL="742950" lvl="1" indent="-285750" eaLnBrk="1" hangingPunct="1">
              <a:lnSpc>
                <a:spcPct val="130000"/>
              </a:lnSpc>
            </a:pPr>
            <a:r>
              <a:rPr lang="zh-CN" altLang="en-US" sz="2200">
                <a:latin typeface="宋体" panose="02010600030101010101" pitchFamily="2" charset="-122"/>
              </a:rPr>
              <a:t>例如初始化模块和终止模块。</a:t>
            </a:r>
            <a:endParaRPr lang="zh-CN" altLang="en-US" sz="2200"/>
          </a:p>
        </p:txBody>
      </p:sp>
      <p:sp>
        <p:nvSpPr>
          <p:cNvPr id="21508" name="Rectangle 4">
            <a:extLst>
              <a:ext uri="{FF2B5EF4-FFF2-40B4-BE49-F238E27FC236}">
                <a16:creationId xmlns:a16="http://schemas.microsoft.com/office/drawing/2014/main" id="{CA4CA452-D181-24BE-3305-A467C00A6594}"/>
              </a:ext>
            </a:extLst>
          </p:cNvPr>
          <p:cNvSpPr>
            <a:spLocks noChangeArrowheads="1"/>
          </p:cNvSpPr>
          <p:nvPr/>
        </p:nvSpPr>
        <p:spPr bwMode="auto">
          <a:xfrm>
            <a:off x="2757488" y="2614614"/>
            <a:ext cx="5930900" cy="3622675"/>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procedure initializeData()</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font = "times";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windowSize = "200,400";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foo.name = "Not Set";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foo.size = 12;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foo.location = "/usr/local/lib/java"; </a:t>
            </a:r>
          </a:p>
          <a:p>
            <a:pPr fontAlgn="base">
              <a:spcBef>
                <a:spcPct val="35000"/>
              </a:spcBef>
              <a:spcAft>
                <a:spcPct val="0"/>
              </a:spcAft>
              <a:buClrTx/>
              <a:buSzTx/>
              <a:buNone/>
            </a:pPr>
            <a:r>
              <a:rPr kumimoji="1" lang="en-US" altLang="zh-CN" sz="2200">
                <a:solidFill>
                  <a:srgbClr val="000000"/>
                </a:solidFill>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2000" fill="hold"/>
                                        <p:tgtEl>
                                          <p:spTgt spid="21508"/>
                                        </p:tgtEl>
                                        <p:attrNameLst>
                                          <p:attrName>ppt_x</p:attrName>
                                        </p:attrNameLst>
                                      </p:cBhvr>
                                      <p:tavLst>
                                        <p:tav tm="0">
                                          <p:val>
                                            <p:strVal val="#ppt_x"/>
                                          </p:val>
                                        </p:tav>
                                        <p:tav tm="100000">
                                          <p:val>
                                            <p:strVal val="#ppt_x"/>
                                          </p:val>
                                        </p:tav>
                                      </p:tavLst>
                                    </p:anim>
                                    <p:anim calcmode="lin" valueType="num">
                                      <p:cBhvr additive="base">
                                        <p:cTn id="8" dur="20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6">
            <a:extLst>
              <a:ext uri="{FF2B5EF4-FFF2-40B4-BE49-F238E27FC236}">
                <a16:creationId xmlns:a16="http://schemas.microsoft.com/office/drawing/2014/main" id="{D7D20F92-562F-02BF-4BDC-5E0DA2691F0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E98A343-7051-4003-8DCC-1180BA27B3D3}" type="slidenum">
              <a:rPr lang="en-US" altLang="zh-CN" sz="1200">
                <a:solidFill>
                  <a:srgbClr val="000000"/>
                </a:solidFill>
                <a:latin typeface="Arial" panose="020B0604020202020204" pitchFamily="34" charset="0"/>
              </a:rPr>
              <a:pPr fontAlgn="base">
                <a:spcBef>
                  <a:spcPct val="0"/>
                </a:spcBef>
                <a:spcAft>
                  <a:spcPct val="0"/>
                </a:spcAft>
              </a:pPr>
              <a:t>42</a:t>
            </a:fld>
            <a:endParaRPr lang="en-US" altLang="zh-CN" sz="1200">
              <a:solidFill>
                <a:srgbClr val="000000"/>
              </a:solidFill>
              <a:latin typeface="Arial" panose="020B0604020202020204" pitchFamily="34" charset="0"/>
            </a:endParaRPr>
          </a:p>
        </p:txBody>
      </p:sp>
      <p:sp>
        <p:nvSpPr>
          <p:cNvPr id="115714" name="Rectangle 1026">
            <a:extLst>
              <a:ext uri="{FF2B5EF4-FFF2-40B4-BE49-F238E27FC236}">
                <a16:creationId xmlns:a16="http://schemas.microsoft.com/office/drawing/2014/main" id="{E09D25C4-7A90-0672-3970-D05062CCCCFA}"/>
              </a:ext>
            </a:extLst>
          </p:cNvPr>
          <p:cNvSpPr>
            <a:spLocks noGrp="1" noChangeArrowheads="1"/>
          </p:cNvSpPr>
          <p:nvPr>
            <p:ph type="title" idx="4294967295"/>
          </p:nvPr>
        </p:nvSpPr>
        <p:spPr>
          <a:xfrm>
            <a:off x="1919288" y="277813"/>
            <a:ext cx="7772400" cy="990600"/>
          </a:xfrm>
        </p:spPr>
        <p:txBody>
          <a:bodyPr/>
          <a:lstStyle/>
          <a:p>
            <a:pPr eaLnBrk="1" hangingPunct="1"/>
            <a:r>
              <a:rPr lang="zh-CN" altLang="en-US"/>
              <a:t>逻辑内聚</a:t>
            </a:r>
          </a:p>
        </p:txBody>
      </p:sp>
      <p:sp>
        <p:nvSpPr>
          <p:cNvPr id="115715" name="Rectangle 1027">
            <a:extLst>
              <a:ext uri="{FF2B5EF4-FFF2-40B4-BE49-F238E27FC236}">
                <a16:creationId xmlns:a16="http://schemas.microsoft.com/office/drawing/2014/main" id="{920A542F-D8AB-FFB1-5134-96FE5823FDD6}"/>
              </a:ext>
            </a:extLst>
          </p:cNvPr>
          <p:cNvSpPr>
            <a:spLocks noGrp="1" noChangeArrowheads="1"/>
          </p:cNvSpPr>
          <p:nvPr>
            <p:ph idx="4294967295"/>
          </p:nvPr>
        </p:nvSpPr>
        <p:spPr>
          <a:xfrm>
            <a:off x="2057400" y="1341438"/>
            <a:ext cx="3962400" cy="4464050"/>
          </a:xfrm>
        </p:spPr>
        <p:txBody>
          <a:bodyPr/>
          <a:lstStyle/>
          <a:p>
            <a:pPr eaLnBrk="1" hangingPunct="1">
              <a:lnSpc>
                <a:spcPct val="150000"/>
              </a:lnSpc>
              <a:spcBef>
                <a:spcPct val="50000"/>
              </a:spcBef>
              <a:buFont typeface="Wingdings" panose="05000000000000000000" pitchFamily="2" charset="2"/>
              <a:buChar char="p"/>
            </a:pPr>
            <a:r>
              <a:rPr lang="zh-CN" altLang="en-US" sz="2800">
                <a:latin typeface="宋体" panose="02010600030101010101" pitchFamily="2" charset="-122"/>
              </a:rPr>
              <a:t>模块把几种相关的功能组合在一起，每次被调用时，由传送给模块的</a:t>
            </a:r>
            <a:r>
              <a:rPr lang="zh-CN" altLang="en-US" sz="2800">
                <a:solidFill>
                  <a:schemeClr val="accent2"/>
                </a:solidFill>
                <a:latin typeface="宋体" panose="02010600030101010101" pitchFamily="2" charset="-122"/>
              </a:rPr>
              <a:t>判定参数</a:t>
            </a:r>
            <a:r>
              <a:rPr lang="zh-CN" altLang="en-US" sz="2800">
                <a:latin typeface="宋体" panose="02010600030101010101" pitchFamily="2" charset="-122"/>
              </a:rPr>
              <a:t>来确定该模块应执行哪一种功能。</a:t>
            </a:r>
          </a:p>
          <a:p>
            <a:pPr eaLnBrk="1" hangingPunct="1"/>
            <a:endParaRPr lang="en-US" altLang="zh-CN" sz="2800"/>
          </a:p>
        </p:txBody>
      </p:sp>
      <p:pic>
        <p:nvPicPr>
          <p:cNvPr id="205828" name="Picture 1028">
            <a:extLst>
              <a:ext uri="{FF2B5EF4-FFF2-40B4-BE49-F238E27FC236}">
                <a16:creationId xmlns:a16="http://schemas.microsoft.com/office/drawing/2014/main" id="{84BA0129-88B9-B8E5-C17D-49D85009D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1" y="1060450"/>
            <a:ext cx="38449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5828"/>
                                        </p:tgtEl>
                                        <p:attrNameLst>
                                          <p:attrName>style.visibility</p:attrName>
                                        </p:attrNameLst>
                                      </p:cBhvr>
                                      <p:to>
                                        <p:strVal val="visible"/>
                                      </p:to>
                                    </p:set>
                                    <p:anim calcmode="lin" valueType="num">
                                      <p:cBhvr additive="base">
                                        <p:cTn id="7" dur="2000" fill="hold"/>
                                        <p:tgtEl>
                                          <p:spTgt spid="205828"/>
                                        </p:tgtEl>
                                        <p:attrNameLst>
                                          <p:attrName>ppt_x</p:attrName>
                                        </p:attrNameLst>
                                      </p:cBhvr>
                                      <p:tavLst>
                                        <p:tav tm="0">
                                          <p:val>
                                            <p:strVal val="#ppt_x"/>
                                          </p:val>
                                        </p:tav>
                                        <p:tav tm="100000">
                                          <p:val>
                                            <p:strVal val="#ppt_x"/>
                                          </p:val>
                                        </p:tav>
                                      </p:tavLst>
                                    </p:anim>
                                    <p:anim calcmode="lin" valueType="num">
                                      <p:cBhvr additive="base">
                                        <p:cTn id="8" dur="2000" fill="hold"/>
                                        <p:tgtEl>
                                          <p:spTgt spid="2058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6">
            <a:extLst>
              <a:ext uri="{FF2B5EF4-FFF2-40B4-BE49-F238E27FC236}">
                <a16:creationId xmlns:a16="http://schemas.microsoft.com/office/drawing/2014/main" id="{E42E407B-F425-D926-76EC-7F6F7CAE189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2027E6F-1A37-4ADD-B60B-2B7B9DDC6331}" type="slidenum">
              <a:rPr lang="en-US" altLang="zh-CN" sz="1200">
                <a:solidFill>
                  <a:srgbClr val="000000"/>
                </a:solidFill>
                <a:latin typeface="Arial" panose="020B0604020202020204" pitchFamily="34" charset="0"/>
              </a:rPr>
              <a:pPr fontAlgn="base">
                <a:spcBef>
                  <a:spcPct val="0"/>
                </a:spcBef>
                <a:spcAft>
                  <a:spcPct val="0"/>
                </a:spcAft>
              </a:pPr>
              <a:t>43</a:t>
            </a:fld>
            <a:endParaRPr lang="en-US" altLang="zh-CN" sz="1200">
              <a:solidFill>
                <a:srgbClr val="000000"/>
              </a:solidFill>
              <a:latin typeface="Arial" panose="020B0604020202020204" pitchFamily="34" charset="0"/>
            </a:endParaRPr>
          </a:p>
        </p:txBody>
      </p:sp>
      <p:sp>
        <p:nvSpPr>
          <p:cNvPr id="117762" name="Rectangle 2">
            <a:extLst>
              <a:ext uri="{FF2B5EF4-FFF2-40B4-BE49-F238E27FC236}">
                <a16:creationId xmlns:a16="http://schemas.microsoft.com/office/drawing/2014/main" id="{9550A026-1646-1A83-AE24-498B820314E4}"/>
              </a:ext>
            </a:extLst>
          </p:cNvPr>
          <p:cNvSpPr>
            <a:spLocks noGrp="1" noChangeArrowheads="1"/>
          </p:cNvSpPr>
          <p:nvPr>
            <p:ph type="title"/>
          </p:nvPr>
        </p:nvSpPr>
        <p:spPr/>
        <p:txBody>
          <a:bodyPr/>
          <a:lstStyle/>
          <a:p>
            <a:r>
              <a:rPr lang="zh-CN" altLang="en-US"/>
              <a:t>实用内聚</a:t>
            </a:r>
          </a:p>
        </p:txBody>
      </p:sp>
      <p:sp>
        <p:nvSpPr>
          <p:cNvPr id="117763" name="Rectangle 3">
            <a:extLst>
              <a:ext uri="{FF2B5EF4-FFF2-40B4-BE49-F238E27FC236}">
                <a16:creationId xmlns:a16="http://schemas.microsoft.com/office/drawing/2014/main" id="{8E59EA52-81E7-32FA-351C-1C09CFFEE855}"/>
              </a:ext>
            </a:extLst>
          </p:cNvPr>
          <p:cNvSpPr>
            <a:spLocks noGrp="1" noChangeArrowheads="1"/>
          </p:cNvSpPr>
          <p:nvPr>
            <p:ph type="body" idx="1"/>
          </p:nvPr>
        </p:nvSpPr>
        <p:spPr>
          <a:xfrm>
            <a:off x="1981200" y="1916113"/>
            <a:ext cx="8229600" cy="4214812"/>
          </a:xfrm>
        </p:spPr>
        <p:txBody>
          <a:bodyPr/>
          <a:lstStyle/>
          <a:p>
            <a:pPr>
              <a:lnSpc>
                <a:spcPct val="150000"/>
              </a:lnSpc>
              <a:spcBef>
                <a:spcPct val="50000"/>
              </a:spcBef>
            </a:pPr>
            <a:r>
              <a:rPr lang="zh-CN" altLang="en-US" sz="3600">
                <a:solidFill>
                  <a:srgbClr val="FF0000"/>
                </a:solidFill>
              </a:rPr>
              <a:t>逻辑上</a:t>
            </a:r>
            <a:r>
              <a:rPr lang="zh-CN" altLang="en-US" sz="3600"/>
              <a:t>不能纳入其他内聚类型的相关实用程序放在一起，形成实用内聚 </a:t>
            </a:r>
            <a:r>
              <a:rPr lang="en-US" altLang="zh-CN" sz="3600"/>
              <a:t>(</a:t>
            </a:r>
            <a:r>
              <a:rPr lang="zh-CN" altLang="en-US" sz="3600"/>
              <a:t>巧合内聚</a:t>
            </a:r>
            <a:r>
              <a:rPr lang="en-US" altLang="zh-CN" sz="3600"/>
              <a:t>)</a:t>
            </a:r>
            <a:r>
              <a:rPr lang="zh-CN" altLang="en-US" sz="3600"/>
              <a:t>。</a:t>
            </a:r>
            <a:endParaRPr lang="zh-CN" alt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6">
            <a:extLst>
              <a:ext uri="{FF2B5EF4-FFF2-40B4-BE49-F238E27FC236}">
                <a16:creationId xmlns:a16="http://schemas.microsoft.com/office/drawing/2014/main" id="{DFE15473-17C0-4B4D-20C7-0CFCE8266CD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4B19E47-523C-449F-A3C5-9F6CBA0F6DBF}" type="slidenum">
              <a:rPr lang="en-US" altLang="zh-CN" sz="1200">
                <a:solidFill>
                  <a:srgbClr val="000000"/>
                </a:solidFill>
                <a:latin typeface="Arial" panose="020B0604020202020204" pitchFamily="34" charset="0"/>
              </a:rPr>
              <a:pPr fontAlgn="base">
                <a:spcBef>
                  <a:spcPct val="0"/>
                </a:spcBef>
                <a:spcAft>
                  <a:spcPct val="0"/>
                </a:spcAft>
              </a:pPr>
              <a:t>44</a:t>
            </a:fld>
            <a:endParaRPr lang="en-US" altLang="zh-CN" sz="1200">
              <a:solidFill>
                <a:srgbClr val="000000"/>
              </a:solidFill>
              <a:latin typeface="Arial" panose="020B0604020202020204" pitchFamily="34" charset="0"/>
            </a:endParaRPr>
          </a:p>
        </p:txBody>
      </p:sp>
      <p:sp>
        <p:nvSpPr>
          <p:cNvPr id="118786" name="Rectangle 2">
            <a:extLst>
              <a:ext uri="{FF2B5EF4-FFF2-40B4-BE49-F238E27FC236}">
                <a16:creationId xmlns:a16="http://schemas.microsoft.com/office/drawing/2014/main" id="{BF4AC400-CF2F-38D9-1518-CD021B4C3448}"/>
              </a:ext>
            </a:extLst>
          </p:cNvPr>
          <p:cNvSpPr>
            <a:spLocks noGrp="1" noChangeArrowheads="1"/>
          </p:cNvSpPr>
          <p:nvPr>
            <p:ph type="title" idx="4294967295"/>
          </p:nvPr>
        </p:nvSpPr>
        <p:spPr>
          <a:xfrm>
            <a:off x="1919288" y="188913"/>
            <a:ext cx="7772400" cy="647700"/>
          </a:xfrm>
        </p:spPr>
        <p:txBody>
          <a:bodyPr/>
          <a:lstStyle/>
          <a:p>
            <a:pPr eaLnBrk="1" hangingPunct="1"/>
            <a:r>
              <a:rPr lang="zh-CN" altLang="en-GB" sz="3200"/>
              <a:t>请指出以下内聚度类型</a:t>
            </a:r>
            <a:endParaRPr lang="zh-CN" altLang="en-US" sz="3200"/>
          </a:p>
        </p:txBody>
      </p:sp>
      <p:sp>
        <p:nvSpPr>
          <p:cNvPr id="45059" name="Rectangle 3">
            <a:extLst>
              <a:ext uri="{FF2B5EF4-FFF2-40B4-BE49-F238E27FC236}">
                <a16:creationId xmlns:a16="http://schemas.microsoft.com/office/drawing/2014/main" id="{2342800E-CC48-8603-D81D-F9B0E4A10FCE}"/>
              </a:ext>
            </a:extLst>
          </p:cNvPr>
          <p:cNvSpPr>
            <a:spLocks noGrp="1" noChangeArrowheads="1"/>
          </p:cNvSpPr>
          <p:nvPr>
            <p:ph idx="4294967295"/>
          </p:nvPr>
        </p:nvSpPr>
        <p:spPr>
          <a:xfrm>
            <a:off x="1524000" y="914401"/>
            <a:ext cx="8820150" cy="4962525"/>
          </a:xfrm>
        </p:spPr>
        <p:txBody>
          <a:bodyPr/>
          <a:lstStyle/>
          <a:p>
            <a:pPr lvl="1" eaLnBrk="1" hangingPunct="1">
              <a:lnSpc>
                <a:spcPct val="150000"/>
              </a:lnSpc>
              <a:spcBef>
                <a:spcPts val="800"/>
              </a:spcBef>
              <a:buNone/>
            </a:pPr>
            <a:r>
              <a:rPr lang="en-US" altLang="zh-CN">
                <a:latin typeface="宋体" panose="02010600030101010101" pitchFamily="2" charset="-122"/>
              </a:rPr>
              <a:t>1</a:t>
            </a:r>
            <a:r>
              <a:rPr lang="zh-CN" altLang="en-US">
                <a:latin typeface="宋体" panose="02010600030101010101" pitchFamily="2" charset="-122"/>
              </a:rPr>
              <a:t>、一组</a:t>
            </a:r>
            <a:r>
              <a:rPr lang="zh-CN" altLang="en-US">
                <a:solidFill>
                  <a:srgbClr val="FF0000"/>
                </a:solidFill>
                <a:latin typeface="宋体" panose="02010600030101010101" pitchFamily="2" charset="-122"/>
              </a:rPr>
              <a:t>语句在程序的多处出现</a:t>
            </a:r>
            <a:r>
              <a:rPr lang="zh-CN" altLang="en-US">
                <a:latin typeface="宋体" panose="02010600030101010101" pitchFamily="2" charset="-122"/>
              </a:rPr>
              <a:t>，为了</a:t>
            </a:r>
            <a:r>
              <a:rPr lang="zh-CN" altLang="en-US">
                <a:solidFill>
                  <a:srgbClr val="FF0000"/>
                </a:solidFill>
                <a:latin typeface="宋体" panose="02010600030101010101" pitchFamily="2" charset="-122"/>
              </a:rPr>
              <a:t>节省内存空间</a:t>
            </a:r>
            <a:r>
              <a:rPr lang="zh-CN" altLang="en-US">
                <a:latin typeface="宋体" panose="02010600030101010101" pitchFamily="2" charset="-122"/>
              </a:rPr>
              <a:t>把这些语句放在一个模块中，该模块的内聚度是 </a:t>
            </a:r>
            <a:r>
              <a:rPr lang="en-US" altLang="zh-CN">
                <a:latin typeface="宋体" panose="02010600030101010101" pitchFamily="2" charset="-122"/>
              </a:rPr>
              <a:t>__</a:t>
            </a:r>
            <a:r>
              <a:rPr lang="en-US" altLang="zh-CN" u="sng">
                <a:latin typeface="宋体" panose="02010600030101010101" pitchFamily="2" charset="-122"/>
              </a:rPr>
              <a:t>         </a:t>
            </a:r>
            <a:r>
              <a:rPr lang="en-US" altLang="zh-CN">
                <a:latin typeface="宋体" panose="02010600030101010101" pitchFamily="2" charset="-122"/>
              </a:rPr>
              <a:t>_ </a:t>
            </a:r>
            <a:r>
              <a:rPr lang="zh-CN" altLang="en-US">
                <a:latin typeface="宋体" panose="02010600030101010101" pitchFamily="2" charset="-122"/>
              </a:rPr>
              <a:t>的。</a:t>
            </a:r>
          </a:p>
          <a:p>
            <a:pPr lvl="1" eaLnBrk="1" hangingPunct="1">
              <a:lnSpc>
                <a:spcPct val="150000"/>
              </a:lnSpc>
              <a:spcBef>
                <a:spcPts val="800"/>
              </a:spcBef>
              <a:buNone/>
            </a:pPr>
            <a:r>
              <a:rPr lang="en-US" altLang="zh-CN">
                <a:latin typeface="宋体" panose="02010600030101010101" pitchFamily="2" charset="-122"/>
              </a:rPr>
              <a:t>2</a:t>
            </a:r>
            <a:r>
              <a:rPr lang="zh-CN" altLang="en-US">
                <a:latin typeface="宋体" panose="02010600030101010101" pitchFamily="2" charset="-122"/>
              </a:rPr>
              <a:t>、模块中所有成分</a:t>
            </a:r>
            <a:r>
              <a:rPr lang="zh-CN" altLang="en-US">
                <a:solidFill>
                  <a:srgbClr val="FF0000"/>
                </a:solidFill>
                <a:latin typeface="宋体" panose="02010600030101010101" pitchFamily="2" charset="-122"/>
              </a:rPr>
              <a:t>引用共同的数据</a:t>
            </a:r>
            <a:r>
              <a:rPr lang="zh-CN" altLang="en-US">
                <a:latin typeface="宋体" panose="02010600030101010101" pitchFamily="2" charset="-122"/>
              </a:rPr>
              <a:t>，该模块的内聚度是 </a:t>
            </a:r>
            <a:r>
              <a:rPr lang="en-US" altLang="zh-CN">
                <a:latin typeface="宋体" panose="02010600030101010101" pitchFamily="2" charset="-122"/>
              </a:rPr>
              <a:t>__</a:t>
            </a:r>
            <a:r>
              <a:rPr lang="en-US" altLang="zh-CN" u="sng">
                <a:latin typeface="宋体" panose="02010600030101010101" pitchFamily="2" charset="-122"/>
              </a:rPr>
              <a:t> _   </a:t>
            </a:r>
            <a:r>
              <a:rPr lang="en-US" altLang="zh-CN">
                <a:latin typeface="宋体" panose="02010600030101010101" pitchFamily="2" charset="-122"/>
              </a:rPr>
              <a:t>_       </a:t>
            </a:r>
            <a:r>
              <a:rPr lang="zh-CN" altLang="en-US">
                <a:latin typeface="宋体" panose="02010600030101010101" pitchFamily="2" charset="-122"/>
              </a:rPr>
              <a:t>的。</a:t>
            </a:r>
          </a:p>
          <a:p>
            <a:pPr lvl="1" eaLnBrk="1" hangingPunct="1">
              <a:lnSpc>
                <a:spcPct val="150000"/>
              </a:lnSpc>
              <a:spcBef>
                <a:spcPts val="800"/>
              </a:spcBef>
              <a:buNone/>
            </a:pPr>
            <a:r>
              <a:rPr lang="en-US" altLang="zh-CN">
                <a:latin typeface="宋体" panose="02010600030101010101" pitchFamily="2" charset="-122"/>
              </a:rPr>
              <a:t>3</a:t>
            </a:r>
            <a:r>
              <a:rPr lang="zh-CN" altLang="en-US">
                <a:latin typeface="宋体" panose="02010600030101010101" pitchFamily="2" charset="-122"/>
              </a:rPr>
              <a:t>、模块内的某成分的</a:t>
            </a:r>
            <a:r>
              <a:rPr lang="zh-CN" altLang="en-US">
                <a:solidFill>
                  <a:srgbClr val="FF0000"/>
                </a:solidFill>
                <a:latin typeface="宋体" panose="02010600030101010101" pitchFamily="2" charset="-122"/>
              </a:rPr>
              <a:t>输出是另一些成分的输入</a:t>
            </a:r>
            <a:r>
              <a:rPr lang="zh-CN" altLang="en-US">
                <a:latin typeface="宋体" panose="02010600030101010101" pitchFamily="2" charset="-122"/>
              </a:rPr>
              <a:t>，该模块的内聚度是 </a:t>
            </a:r>
            <a:r>
              <a:rPr lang="en-US" altLang="zh-CN">
                <a:latin typeface="宋体" panose="02010600030101010101" pitchFamily="2" charset="-122"/>
              </a:rPr>
              <a:t>_  </a:t>
            </a:r>
            <a:r>
              <a:rPr lang="en-US" altLang="zh-CN" u="sng">
                <a:latin typeface="宋体" panose="02010600030101010101" pitchFamily="2" charset="-122"/>
              </a:rPr>
              <a:t>_       </a:t>
            </a:r>
            <a:r>
              <a:rPr lang="en-US" altLang="zh-CN">
                <a:latin typeface="宋体" panose="02010600030101010101" pitchFamily="2" charset="-122"/>
              </a:rPr>
              <a:t>_ </a:t>
            </a:r>
            <a:r>
              <a:rPr lang="zh-CN" altLang="en-US">
                <a:latin typeface="宋体" panose="02010600030101010101" pitchFamily="2" charset="-122"/>
              </a:rPr>
              <a:t>的。</a:t>
            </a:r>
          </a:p>
          <a:p>
            <a:pPr lvl="1" eaLnBrk="1" hangingPunct="1">
              <a:lnSpc>
                <a:spcPct val="150000"/>
              </a:lnSpc>
              <a:spcBef>
                <a:spcPts val="800"/>
              </a:spcBef>
              <a:buNone/>
            </a:pPr>
            <a:r>
              <a:rPr lang="en-US" altLang="zh-CN">
                <a:latin typeface="宋体" panose="02010600030101010101" pitchFamily="2" charset="-122"/>
              </a:rPr>
              <a:t>4</a:t>
            </a:r>
            <a:r>
              <a:rPr lang="zh-CN" altLang="en-US">
                <a:latin typeface="宋体" panose="02010600030101010101" pitchFamily="2" charset="-122"/>
              </a:rPr>
              <a:t>、模块中</a:t>
            </a:r>
            <a:r>
              <a:rPr lang="zh-CN" altLang="en-US">
                <a:solidFill>
                  <a:srgbClr val="FF0000"/>
                </a:solidFill>
                <a:latin typeface="宋体" panose="02010600030101010101" pitchFamily="2" charset="-122"/>
              </a:rPr>
              <a:t>所有成分结合起来完成一项任务</a:t>
            </a:r>
            <a:r>
              <a:rPr lang="zh-CN" altLang="en-US">
                <a:latin typeface="宋体" panose="02010600030101010101" pitchFamily="2" charset="-122"/>
              </a:rPr>
              <a:t>，该模块的内聚度是 </a:t>
            </a:r>
            <a:r>
              <a:rPr lang="en-US" altLang="zh-CN">
                <a:latin typeface="宋体" panose="02010600030101010101" pitchFamily="2" charset="-122"/>
              </a:rPr>
              <a:t>_</a:t>
            </a:r>
            <a:r>
              <a:rPr lang="en-US" altLang="zh-CN" u="sng">
                <a:latin typeface="宋体" panose="02010600030101010101" pitchFamily="2" charset="-122"/>
              </a:rPr>
              <a:t>_         </a:t>
            </a:r>
            <a:r>
              <a:rPr lang="en-US" altLang="zh-CN">
                <a:latin typeface="宋体" panose="02010600030101010101" pitchFamily="2" charset="-122"/>
              </a:rPr>
              <a:t>_ </a:t>
            </a:r>
            <a:r>
              <a:rPr lang="zh-CN" altLang="en-US">
                <a:latin typeface="宋体" panose="02010600030101010101" pitchFamily="2" charset="-122"/>
              </a:rPr>
              <a:t>的。</a:t>
            </a:r>
          </a:p>
        </p:txBody>
      </p:sp>
      <p:sp>
        <p:nvSpPr>
          <p:cNvPr id="4" name="TextBox 3">
            <a:extLst>
              <a:ext uri="{FF2B5EF4-FFF2-40B4-BE49-F238E27FC236}">
                <a16:creationId xmlns:a16="http://schemas.microsoft.com/office/drawing/2014/main" id="{5EB82297-106F-7E0D-5D31-295E1F47F615}"/>
              </a:ext>
            </a:extLst>
          </p:cNvPr>
          <p:cNvSpPr txBox="1">
            <a:spLocks noChangeArrowheads="1"/>
          </p:cNvSpPr>
          <p:nvPr/>
        </p:nvSpPr>
        <p:spPr bwMode="auto">
          <a:xfrm>
            <a:off x="7896225" y="1531938"/>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zh-CN" altLang="en-US">
                <a:solidFill>
                  <a:srgbClr val="0070C0"/>
                </a:solidFill>
                <a:latin typeface="Times New Roman" panose="02020603050405020304" pitchFamily="18" charset="0"/>
              </a:rPr>
              <a:t>实用内聚</a:t>
            </a:r>
          </a:p>
        </p:txBody>
      </p:sp>
      <p:sp>
        <p:nvSpPr>
          <p:cNvPr id="5" name="TextBox 4">
            <a:extLst>
              <a:ext uri="{FF2B5EF4-FFF2-40B4-BE49-F238E27FC236}">
                <a16:creationId xmlns:a16="http://schemas.microsoft.com/office/drawing/2014/main" id="{7250CD07-E113-1B98-5275-225A921EE303}"/>
              </a:ext>
            </a:extLst>
          </p:cNvPr>
          <p:cNvSpPr txBox="1">
            <a:spLocks noChangeArrowheads="1"/>
          </p:cNvSpPr>
          <p:nvPr/>
        </p:nvSpPr>
        <p:spPr bwMode="auto">
          <a:xfrm>
            <a:off x="3000375" y="5132388"/>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zh-CN" altLang="en-US">
                <a:solidFill>
                  <a:srgbClr val="0070C0"/>
                </a:solidFill>
                <a:latin typeface="Times New Roman" panose="02020603050405020304" pitchFamily="18" charset="0"/>
              </a:rPr>
              <a:t>功能内聚</a:t>
            </a:r>
          </a:p>
        </p:txBody>
      </p:sp>
      <p:sp>
        <p:nvSpPr>
          <p:cNvPr id="6" name="TextBox 5">
            <a:extLst>
              <a:ext uri="{FF2B5EF4-FFF2-40B4-BE49-F238E27FC236}">
                <a16:creationId xmlns:a16="http://schemas.microsoft.com/office/drawing/2014/main" id="{2D784245-A923-0C31-E582-59A08F5ACA9F}"/>
              </a:ext>
            </a:extLst>
          </p:cNvPr>
          <p:cNvSpPr txBox="1">
            <a:spLocks noChangeArrowheads="1"/>
          </p:cNvSpPr>
          <p:nvPr/>
        </p:nvSpPr>
        <p:spPr bwMode="auto">
          <a:xfrm>
            <a:off x="3575050" y="4005263"/>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zh-CN" altLang="en-US">
                <a:solidFill>
                  <a:srgbClr val="0070C0"/>
                </a:solidFill>
                <a:latin typeface="Times New Roman" panose="02020603050405020304" pitchFamily="18" charset="0"/>
              </a:rPr>
              <a:t>顺序内聚</a:t>
            </a:r>
          </a:p>
        </p:txBody>
      </p:sp>
      <p:sp>
        <p:nvSpPr>
          <p:cNvPr id="7" name="TextBox 6">
            <a:extLst>
              <a:ext uri="{FF2B5EF4-FFF2-40B4-BE49-F238E27FC236}">
                <a16:creationId xmlns:a16="http://schemas.microsoft.com/office/drawing/2014/main" id="{B14532D7-2D13-5218-66A6-F0B9CF306C1D}"/>
              </a:ext>
            </a:extLst>
          </p:cNvPr>
          <p:cNvSpPr txBox="1">
            <a:spLocks noChangeArrowheads="1"/>
          </p:cNvSpPr>
          <p:nvPr/>
        </p:nvSpPr>
        <p:spPr bwMode="auto">
          <a:xfrm>
            <a:off x="1992313" y="2827338"/>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kumimoji="1" lang="zh-CN" altLang="en-US">
                <a:solidFill>
                  <a:srgbClr val="0070C0"/>
                </a:solidFill>
                <a:latin typeface="Times New Roman" panose="02020603050405020304" pitchFamily="18" charset="0"/>
              </a:rPr>
              <a:t>通信内聚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7" dur="500"/>
                                        <p:tgtEl>
                                          <p:spTgt spid="450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27" dur="500"/>
                                        <p:tgtEl>
                                          <p:spTgt spid="45059">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37" dur="500"/>
                                        <p:tgtEl>
                                          <p:spTgt spid="45059">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6">
            <a:extLst>
              <a:ext uri="{FF2B5EF4-FFF2-40B4-BE49-F238E27FC236}">
                <a16:creationId xmlns:a16="http://schemas.microsoft.com/office/drawing/2014/main" id="{1196C0BF-22DC-259C-8743-AE916A654B7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E320C6F-76C5-4C0F-A321-C6923DE9BE25}" type="slidenum">
              <a:rPr lang="en-US" altLang="zh-CN" sz="1200">
                <a:solidFill>
                  <a:srgbClr val="000000"/>
                </a:solidFill>
                <a:latin typeface="Arial" panose="020B0604020202020204" pitchFamily="34" charset="0"/>
              </a:rPr>
              <a:pPr fontAlgn="base">
                <a:spcBef>
                  <a:spcPct val="0"/>
                </a:spcBef>
                <a:spcAft>
                  <a:spcPct val="0"/>
                </a:spcAft>
              </a:pPr>
              <a:t>45</a:t>
            </a:fld>
            <a:endParaRPr lang="en-US" altLang="zh-CN" sz="1200">
              <a:solidFill>
                <a:srgbClr val="000000"/>
              </a:solidFill>
              <a:latin typeface="Arial" panose="020B0604020202020204" pitchFamily="34" charset="0"/>
            </a:endParaRPr>
          </a:p>
        </p:txBody>
      </p:sp>
      <p:sp>
        <p:nvSpPr>
          <p:cNvPr id="120834" name="Rectangle 2">
            <a:extLst>
              <a:ext uri="{FF2B5EF4-FFF2-40B4-BE49-F238E27FC236}">
                <a16:creationId xmlns:a16="http://schemas.microsoft.com/office/drawing/2014/main" id="{86C3FF12-F32F-2166-8F1E-4D1EFDD34F63}"/>
              </a:ext>
            </a:extLst>
          </p:cNvPr>
          <p:cNvSpPr>
            <a:spLocks noGrp="1" noChangeArrowheads="1"/>
          </p:cNvSpPr>
          <p:nvPr>
            <p:ph type="title"/>
          </p:nvPr>
        </p:nvSpPr>
        <p:spPr/>
        <p:txBody>
          <a:bodyPr/>
          <a:lstStyle/>
          <a:p>
            <a:r>
              <a:rPr lang="zh-CN" altLang="en-US"/>
              <a:t>耦合性</a:t>
            </a:r>
          </a:p>
        </p:txBody>
      </p:sp>
      <p:sp>
        <p:nvSpPr>
          <p:cNvPr id="120835" name="Rectangle 3">
            <a:extLst>
              <a:ext uri="{FF2B5EF4-FFF2-40B4-BE49-F238E27FC236}">
                <a16:creationId xmlns:a16="http://schemas.microsoft.com/office/drawing/2014/main" id="{CED0C704-48C2-3F1D-F0C8-B15A600B2B76}"/>
              </a:ext>
            </a:extLst>
          </p:cNvPr>
          <p:cNvSpPr>
            <a:spLocks noGrp="1" noChangeArrowheads="1"/>
          </p:cNvSpPr>
          <p:nvPr>
            <p:ph type="body" idx="1"/>
          </p:nvPr>
        </p:nvSpPr>
        <p:spPr>
          <a:xfrm>
            <a:off x="1981200" y="1557339"/>
            <a:ext cx="8229600" cy="4573587"/>
          </a:xfrm>
        </p:spPr>
        <p:txBody>
          <a:bodyPr/>
          <a:lstStyle/>
          <a:p>
            <a:pPr eaLnBrk="1" hangingPunct="1">
              <a:lnSpc>
                <a:spcPct val="150000"/>
              </a:lnSpc>
              <a:spcBef>
                <a:spcPct val="50000"/>
              </a:spcBef>
            </a:pPr>
            <a:r>
              <a:rPr lang="zh-CN" altLang="en-US" sz="2800">
                <a:solidFill>
                  <a:srgbClr val="FF0000"/>
                </a:solidFill>
              </a:rPr>
              <a:t>构件之间</a:t>
            </a:r>
            <a:r>
              <a:rPr lang="zh-CN" altLang="en-US" sz="2800"/>
              <a:t>彼此联系紧密程度的一种</a:t>
            </a:r>
            <a:r>
              <a:rPr lang="zh-CN" altLang="en-US" sz="2800">
                <a:solidFill>
                  <a:srgbClr val="FF0000"/>
                </a:solidFill>
              </a:rPr>
              <a:t>定性度量。</a:t>
            </a:r>
          </a:p>
          <a:p>
            <a:pPr lvl="1" eaLnBrk="1" hangingPunct="1">
              <a:lnSpc>
                <a:spcPct val="150000"/>
              </a:lnSpc>
              <a:spcBef>
                <a:spcPct val="50000"/>
              </a:spcBef>
            </a:pPr>
            <a:r>
              <a:rPr lang="zh-CN" altLang="en-US"/>
              <a:t>随着构件相互依赖的增加，构件的耦合程度也会增加。</a:t>
            </a:r>
          </a:p>
          <a:p>
            <a:pPr eaLnBrk="1" hangingPunct="1">
              <a:lnSpc>
                <a:spcPct val="150000"/>
              </a:lnSpc>
              <a:spcBef>
                <a:spcPct val="50000"/>
              </a:spcBef>
            </a:pPr>
            <a:r>
              <a:rPr lang="zh-CN" altLang="en-US" sz="2800"/>
              <a:t>面向对象：</a:t>
            </a:r>
            <a:r>
              <a:rPr lang="zh-CN" altLang="en-US" sz="2800">
                <a:solidFill>
                  <a:schemeClr val="accent2"/>
                </a:solidFill>
              </a:rPr>
              <a:t>类间</a:t>
            </a:r>
            <a:r>
              <a:rPr lang="zh-CN" altLang="en-US" sz="2800"/>
              <a:t>联系的紧密程度。</a:t>
            </a:r>
          </a:p>
          <a:p>
            <a:pPr>
              <a:lnSpc>
                <a:spcPct val="150000"/>
              </a:lnSpc>
              <a:spcBef>
                <a:spcPct val="50000"/>
              </a:spcBef>
            </a:pPr>
            <a:r>
              <a:rPr lang="zh-CN" altLang="en-US" sz="2800"/>
              <a:t>目标：低耦合。</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6">
            <a:extLst>
              <a:ext uri="{FF2B5EF4-FFF2-40B4-BE49-F238E27FC236}">
                <a16:creationId xmlns:a16="http://schemas.microsoft.com/office/drawing/2014/main" id="{569B89E3-0FF6-3492-9BAA-1727158BF2F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B2500F9-BB16-4197-9089-C83853AF2E4C}" type="slidenum">
              <a:rPr lang="en-US" altLang="zh-CN" sz="1200">
                <a:solidFill>
                  <a:srgbClr val="000000"/>
                </a:solidFill>
                <a:latin typeface="Arial" panose="020B0604020202020204" pitchFamily="34" charset="0"/>
              </a:rPr>
              <a:pPr fontAlgn="base">
                <a:spcBef>
                  <a:spcPct val="0"/>
                </a:spcBef>
                <a:spcAft>
                  <a:spcPct val="0"/>
                </a:spcAft>
              </a:pPr>
              <a:t>46</a:t>
            </a:fld>
            <a:endParaRPr lang="en-US" altLang="zh-CN" sz="1200">
              <a:solidFill>
                <a:srgbClr val="000000"/>
              </a:solidFill>
              <a:latin typeface="Arial" panose="020B0604020202020204" pitchFamily="34" charset="0"/>
            </a:endParaRPr>
          </a:p>
        </p:txBody>
      </p:sp>
      <p:sp>
        <p:nvSpPr>
          <p:cNvPr id="121858" name="Rectangle 2">
            <a:extLst>
              <a:ext uri="{FF2B5EF4-FFF2-40B4-BE49-F238E27FC236}">
                <a16:creationId xmlns:a16="http://schemas.microsoft.com/office/drawing/2014/main" id="{65794D8D-9D56-8534-5645-45A0A7E1D821}"/>
              </a:ext>
            </a:extLst>
          </p:cNvPr>
          <p:cNvSpPr>
            <a:spLocks noGrp="1" noChangeArrowheads="1"/>
          </p:cNvSpPr>
          <p:nvPr>
            <p:ph type="title" idx="4294967295"/>
          </p:nvPr>
        </p:nvSpPr>
        <p:spPr>
          <a:xfrm>
            <a:off x="1924050" y="260351"/>
            <a:ext cx="7772400" cy="720725"/>
          </a:xfrm>
        </p:spPr>
        <p:txBody>
          <a:bodyPr/>
          <a:lstStyle/>
          <a:p>
            <a:pPr eaLnBrk="1" hangingPunct="1"/>
            <a:r>
              <a:rPr lang="zh-CN" altLang="en-US"/>
              <a:t>内容耦合 </a:t>
            </a:r>
            <a:r>
              <a:rPr lang="en-US" altLang="zh-CN"/>
              <a:t>(</a:t>
            </a:r>
            <a:r>
              <a:rPr lang="zh-CN" altLang="en-US"/>
              <a:t>耦合度最高，最不推荐</a:t>
            </a:r>
            <a:r>
              <a:rPr lang="en-US" altLang="zh-CN"/>
              <a:t>)</a:t>
            </a:r>
          </a:p>
        </p:txBody>
      </p:sp>
      <p:sp>
        <p:nvSpPr>
          <p:cNvPr id="22531" name="Rectangle 3">
            <a:extLst>
              <a:ext uri="{FF2B5EF4-FFF2-40B4-BE49-F238E27FC236}">
                <a16:creationId xmlns:a16="http://schemas.microsoft.com/office/drawing/2014/main" id="{49F0ABEB-F130-F770-00DA-6DDDF8D940B0}"/>
              </a:ext>
            </a:extLst>
          </p:cNvPr>
          <p:cNvSpPr>
            <a:spLocks noGrp="1" noChangeArrowheads="1"/>
          </p:cNvSpPr>
          <p:nvPr>
            <p:ph idx="4294967295"/>
          </p:nvPr>
        </p:nvSpPr>
        <p:spPr>
          <a:xfrm>
            <a:off x="1703388" y="908051"/>
            <a:ext cx="8642350" cy="2016125"/>
          </a:xfrm>
        </p:spPr>
        <p:txBody>
          <a:bodyPr/>
          <a:lstStyle/>
          <a:p>
            <a:pPr eaLnBrk="1" hangingPunct="1">
              <a:lnSpc>
                <a:spcPct val="130000"/>
              </a:lnSpc>
            </a:pPr>
            <a:r>
              <a:rPr lang="zh-CN" altLang="en-US" sz="2200">
                <a:latin typeface="宋体" panose="02010600030101010101" pitchFamily="2" charset="-122"/>
              </a:rPr>
              <a:t>包括下列情形：</a:t>
            </a:r>
          </a:p>
          <a:p>
            <a:pPr marL="742950" lvl="1" indent="-285750" eaLnBrk="1" hangingPunct="1">
              <a:lnSpc>
                <a:spcPct val="130000"/>
              </a:lnSpc>
            </a:pPr>
            <a:r>
              <a:rPr lang="en-US" altLang="zh-CN" sz="2000">
                <a:latin typeface="宋体" panose="02010600030101010101" pitchFamily="2" charset="-122"/>
              </a:rPr>
              <a:t>(1) </a:t>
            </a:r>
            <a:r>
              <a:rPr lang="zh-CN" altLang="en-US" sz="2000">
                <a:latin typeface="宋体" panose="02010600030101010101" pitchFamily="2" charset="-122"/>
              </a:rPr>
              <a:t>一个模块直接访问另一个模块的内部数据；</a:t>
            </a:r>
          </a:p>
          <a:p>
            <a:pPr marL="742950" lvl="1" indent="-285750" eaLnBrk="1" hangingPunct="1">
              <a:lnSpc>
                <a:spcPct val="130000"/>
              </a:lnSpc>
            </a:pPr>
            <a:r>
              <a:rPr lang="en-US" altLang="zh-CN" sz="2000">
                <a:latin typeface="宋体" panose="02010600030101010101" pitchFamily="2" charset="-122"/>
              </a:rPr>
              <a:t>(2) </a:t>
            </a:r>
            <a:r>
              <a:rPr lang="zh-CN" altLang="en-US" sz="2000">
                <a:latin typeface="宋体" panose="02010600030101010101" pitchFamily="2" charset="-122"/>
              </a:rPr>
              <a:t>一个模块不通过正常入口</a:t>
            </a:r>
            <a:r>
              <a:rPr lang="en-US" altLang="zh-CN" sz="2000">
                <a:latin typeface="宋体" panose="02010600030101010101" pitchFamily="2" charset="-122"/>
              </a:rPr>
              <a:t>(</a:t>
            </a:r>
            <a:r>
              <a:rPr lang="zh-CN" altLang="en-US" sz="2000">
                <a:latin typeface="宋体" panose="02010600030101010101" pitchFamily="2" charset="-122"/>
              </a:rPr>
              <a:t>调用或顺序执行</a:t>
            </a:r>
            <a:r>
              <a:rPr lang="en-US" altLang="zh-CN" sz="2000">
                <a:latin typeface="宋体" panose="02010600030101010101" pitchFamily="2" charset="-122"/>
              </a:rPr>
              <a:t>)</a:t>
            </a:r>
            <a:r>
              <a:rPr lang="zh-CN" altLang="en-US" sz="2000">
                <a:latin typeface="宋体" panose="02010600030101010101" pitchFamily="2" charset="-122"/>
              </a:rPr>
              <a:t>转到另一模块内部；</a:t>
            </a:r>
            <a:endParaRPr lang="en-US" altLang="zh-CN" sz="2000">
              <a:latin typeface="宋体" panose="02010600030101010101" pitchFamily="2" charset="-122"/>
            </a:endParaRPr>
          </a:p>
          <a:p>
            <a:pPr marL="742950" lvl="1" indent="-285750" eaLnBrk="1" hangingPunct="1">
              <a:lnSpc>
                <a:spcPct val="130000"/>
              </a:lnSpc>
            </a:pPr>
            <a:r>
              <a:rPr lang="en-US" altLang="zh-CN" sz="2000">
                <a:latin typeface="宋体" panose="02010600030101010101" pitchFamily="2" charset="-122"/>
              </a:rPr>
              <a:t>(3) </a:t>
            </a:r>
            <a:r>
              <a:rPr lang="zh-CN" altLang="en-US" sz="2000">
                <a:latin typeface="宋体" panose="02010600030101010101" pitchFamily="2" charset="-122"/>
              </a:rPr>
              <a:t>一个模块有多个入口。</a:t>
            </a:r>
          </a:p>
        </p:txBody>
      </p:sp>
      <p:grpSp>
        <p:nvGrpSpPr>
          <p:cNvPr id="2" name="Group 5">
            <a:extLst>
              <a:ext uri="{FF2B5EF4-FFF2-40B4-BE49-F238E27FC236}">
                <a16:creationId xmlns:a16="http://schemas.microsoft.com/office/drawing/2014/main" id="{C97B66C2-CEDB-46AB-1BE2-1BCFB2CBC1E7}"/>
              </a:ext>
            </a:extLst>
          </p:cNvPr>
          <p:cNvGrpSpPr>
            <a:grpSpLocks/>
          </p:cNvGrpSpPr>
          <p:nvPr/>
        </p:nvGrpSpPr>
        <p:grpSpPr bwMode="auto">
          <a:xfrm>
            <a:off x="3514725" y="2781301"/>
            <a:ext cx="2895600" cy="3313113"/>
            <a:chOff x="3024" y="5814"/>
            <a:chExt cx="3402" cy="4168"/>
          </a:xfrm>
        </p:grpSpPr>
        <p:grpSp>
          <p:nvGrpSpPr>
            <p:cNvPr id="121865" name="Group 6">
              <a:extLst>
                <a:ext uri="{FF2B5EF4-FFF2-40B4-BE49-F238E27FC236}">
                  <a16:creationId xmlns:a16="http://schemas.microsoft.com/office/drawing/2014/main" id="{FDC23365-435D-3C89-424F-C9D926DEF422}"/>
                </a:ext>
              </a:extLst>
            </p:cNvPr>
            <p:cNvGrpSpPr>
              <a:grpSpLocks/>
            </p:cNvGrpSpPr>
            <p:nvPr/>
          </p:nvGrpSpPr>
          <p:grpSpPr bwMode="auto">
            <a:xfrm>
              <a:off x="4309" y="5814"/>
              <a:ext cx="1248" cy="652"/>
              <a:chOff x="4309" y="5814"/>
              <a:chExt cx="1248" cy="652"/>
            </a:xfrm>
          </p:grpSpPr>
          <p:sp>
            <p:nvSpPr>
              <p:cNvPr id="121877" name="Text Box 7">
                <a:extLst>
                  <a:ext uri="{FF2B5EF4-FFF2-40B4-BE49-F238E27FC236}">
                    <a16:creationId xmlns:a16="http://schemas.microsoft.com/office/drawing/2014/main" id="{B10A2131-8D64-E7A8-E0B7-8AF9F2E7BBFB}"/>
                  </a:ext>
                </a:extLst>
              </p:cNvPr>
              <p:cNvSpPr txBox="1">
                <a:spLocks noChangeArrowheads="1"/>
              </p:cNvSpPr>
              <p:nvPr/>
            </p:nvSpPr>
            <p:spPr bwMode="auto">
              <a:xfrm>
                <a:off x="4536" y="5814"/>
                <a:ext cx="794"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000">
                    <a:solidFill>
                      <a:srgbClr val="000000"/>
                    </a:solidFill>
                    <a:latin typeface="Times New Roman" panose="02020603050405020304" pitchFamily="18" charset="0"/>
                  </a:rPr>
                  <a:t>……</a:t>
                </a:r>
                <a:endParaRPr kumimoji="1" lang="en-US" altLang="zh-CN" sz="1000" b="0">
                  <a:solidFill>
                    <a:srgbClr val="000000"/>
                  </a:solidFill>
                  <a:latin typeface="Times New Roman" panose="02020603050405020304" pitchFamily="18" charset="0"/>
                </a:endParaRPr>
              </a:p>
            </p:txBody>
          </p:sp>
          <p:sp>
            <p:nvSpPr>
              <p:cNvPr id="121878" name="Line 8">
                <a:extLst>
                  <a:ext uri="{FF2B5EF4-FFF2-40B4-BE49-F238E27FC236}">
                    <a16:creationId xmlns:a16="http://schemas.microsoft.com/office/drawing/2014/main" id="{7776828A-9839-C7B8-9689-D403E674C1E7}"/>
                  </a:ext>
                </a:extLst>
              </p:cNvPr>
              <p:cNvSpPr>
                <a:spLocks noChangeShapeType="1"/>
              </p:cNvSpPr>
              <p:nvPr/>
            </p:nvSpPr>
            <p:spPr bwMode="auto">
              <a:xfrm>
                <a:off x="4933" y="6126"/>
                <a:ext cx="0" cy="17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79" name="Line 9">
                <a:extLst>
                  <a:ext uri="{FF2B5EF4-FFF2-40B4-BE49-F238E27FC236}">
                    <a16:creationId xmlns:a16="http://schemas.microsoft.com/office/drawing/2014/main" id="{50A3C428-6C9A-FC1A-BE64-9BA4DA19820B}"/>
                  </a:ext>
                </a:extLst>
              </p:cNvPr>
              <p:cNvSpPr>
                <a:spLocks noChangeShapeType="1"/>
              </p:cNvSpPr>
              <p:nvPr/>
            </p:nvSpPr>
            <p:spPr bwMode="auto">
              <a:xfrm>
                <a:off x="4536" y="6296"/>
                <a:ext cx="794"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80" name="Line 10">
                <a:extLst>
                  <a:ext uri="{FF2B5EF4-FFF2-40B4-BE49-F238E27FC236}">
                    <a16:creationId xmlns:a16="http://schemas.microsoft.com/office/drawing/2014/main" id="{71D012AA-F650-C68B-6BB0-8C89A13B199F}"/>
                  </a:ext>
                </a:extLst>
              </p:cNvPr>
              <p:cNvSpPr>
                <a:spLocks noChangeShapeType="1"/>
              </p:cNvSpPr>
              <p:nvPr/>
            </p:nvSpPr>
            <p:spPr bwMode="auto">
              <a:xfrm flipH="1">
                <a:off x="4309" y="6296"/>
                <a:ext cx="227" cy="17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81" name="Line 11">
                <a:extLst>
                  <a:ext uri="{FF2B5EF4-FFF2-40B4-BE49-F238E27FC236}">
                    <a16:creationId xmlns:a16="http://schemas.microsoft.com/office/drawing/2014/main" id="{89430B34-16A3-7FF6-BBAB-F97BE5850B54}"/>
                  </a:ext>
                </a:extLst>
              </p:cNvPr>
              <p:cNvSpPr>
                <a:spLocks noChangeShapeType="1"/>
              </p:cNvSpPr>
              <p:nvPr/>
            </p:nvSpPr>
            <p:spPr bwMode="auto">
              <a:xfrm>
                <a:off x="5330" y="6296"/>
                <a:ext cx="227" cy="17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
          <p:nvSpPr>
            <p:cNvPr id="121866" name="Text Box 12">
              <a:extLst>
                <a:ext uri="{FF2B5EF4-FFF2-40B4-BE49-F238E27FC236}">
                  <a16:creationId xmlns:a16="http://schemas.microsoft.com/office/drawing/2014/main" id="{DB28FBCF-750E-1102-351F-A712E8D0B948}"/>
                </a:ext>
              </a:extLst>
            </p:cNvPr>
            <p:cNvSpPr txBox="1">
              <a:spLocks noChangeArrowheads="1"/>
            </p:cNvSpPr>
            <p:nvPr/>
          </p:nvSpPr>
          <p:spPr bwMode="auto">
            <a:xfrm>
              <a:off x="4026" y="6466"/>
              <a:ext cx="567" cy="567"/>
            </a:xfrm>
            <a:prstGeom prst="rect">
              <a:avLst/>
            </a:prstGeom>
            <a:solidFill>
              <a:srgbClr val="FFFFFF"/>
            </a:solidFill>
            <a:ln w="15875">
              <a:solidFill>
                <a:srgbClr val="000000"/>
              </a:solidFill>
              <a:miter lim="800000"/>
              <a:headEnd/>
              <a:tailEnd/>
            </a:ln>
          </p:spPr>
          <p:txBody>
            <a:bodyPr lIns="18000" tIns="54000" rIns="18000" bIns="180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000">
                  <a:solidFill>
                    <a:srgbClr val="000000"/>
                  </a:solidFill>
                  <a:latin typeface="Times New Roman" panose="02020603050405020304" pitchFamily="18" charset="0"/>
                </a:rPr>
                <a:t>A</a:t>
              </a:r>
              <a:endParaRPr kumimoji="1" lang="en-US" altLang="zh-CN" sz="1400" b="0">
                <a:solidFill>
                  <a:srgbClr val="000000"/>
                </a:solidFill>
                <a:latin typeface="Times New Roman" panose="02020603050405020304" pitchFamily="18" charset="0"/>
              </a:endParaRPr>
            </a:p>
          </p:txBody>
        </p:sp>
        <p:sp>
          <p:nvSpPr>
            <p:cNvPr id="121867" name="Text Box 13">
              <a:extLst>
                <a:ext uri="{FF2B5EF4-FFF2-40B4-BE49-F238E27FC236}">
                  <a16:creationId xmlns:a16="http://schemas.microsoft.com/office/drawing/2014/main" id="{275FF6C3-5BA1-C5F7-44BF-BBAE1AF7130C}"/>
                </a:ext>
              </a:extLst>
            </p:cNvPr>
            <p:cNvSpPr txBox="1">
              <a:spLocks noChangeArrowheads="1"/>
            </p:cNvSpPr>
            <p:nvPr/>
          </p:nvSpPr>
          <p:spPr bwMode="auto">
            <a:xfrm>
              <a:off x="5330" y="6466"/>
              <a:ext cx="567" cy="567"/>
            </a:xfrm>
            <a:prstGeom prst="rect">
              <a:avLst/>
            </a:prstGeom>
            <a:solidFill>
              <a:srgbClr val="FFFFFF"/>
            </a:solidFill>
            <a:ln w="15875">
              <a:solidFill>
                <a:srgbClr val="000000"/>
              </a:solidFill>
              <a:miter lim="800000"/>
              <a:headEnd/>
              <a:tailEnd/>
            </a:ln>
          </p:spPr>
          <p:txBody>
            <a:bodyPr lIns="18000" tIns="54000" rIns="18000" bIns="180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000">
                  <a:solidFill>
                    <a:srgbClr val="000000"/>
                  </a:solidFill>
                  <a:latin typeface="Times New Roman" panose="02020603050405020304" pitchFamily="18" charset="0"/>
                </a:rPr>
                <a:t>B</a:t>
              </a:r>
              <a:endParaRPr kumimoji="1" lang="en-US" altLang="zh-CN" sz="1400" b="0">
                <a:solidFill>
                  <a:srgbClr val="000000"/>
                </a:solidFill>
                <a:latin typeface="Times New Roman" panose="02020603050405020304" pitchFamily="18" charset="0"/>
              </a:endParaRPr>
            </a:p>
          </p:txBody>
        </p:sp>
        <p:sp>
          <p:nvSpPr>
            <p:cNvPr id="121868" name="Text Box 14">
              <a:extLst>
                <a:ext uri="{FF2B5EF4-FFF2-40B4-BE49-F238E27FC236}">
                  <a16:creationId xmlns:a16="http://schemas.microsoft.com/office/drawing/2014/main" id="{2B510663-AF9A-B564-6658-98E64BA36C56}"/>
                </a:ext>
              </a:extLst>
            </p:cNvPr>
            <p:cNvSpPr txBox="1">
              <a:spLocks noChangeArrowheads="1"/>
            </p:cNvSpPr>
            <p:nvPr/>
          </p:nvSpPr>
          <p:spPr bwMode="auto">
            <a:xfrm>
              <a:off x="4914" y="7374"/>
              <a:ext cx="567" cy="567"/>
            </a:xfrm>
            <a:prstGeom prst="rect">
              <a:avLst/>
            </a:prstGeom>
            <a:solidFill>
              <a:srgbClr val="FFFFFF"/>
            </a:solidFill>
            <a:ln w="15875">
              <a:solidFill>
                <a:srgbClr val="000000"/>
              </a:solidFill>
              <a:miter lim="800000"/>
              <a:headEnd/>
              <a:tailEnd/>
            </a:ln>
          </p:spPr>
          <p:txBody>
            <a:bodyPr lIns="18000" tIns="54000" rIns="18000" bIns="180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000">
                  <a:solidFill>
                    <a:srgbClr val="000000"/>
                  </a:solidFill>
                  <a:latin typeface="Times New Roman" panose="02020603050405020304" pitchFamily="18" charset="0"/>
                </a:rPr>
                <a:t>C</a:t>
              </a:r>
              <a:endParaRPr kumimoji="1" lang="en-US" altLang="zh-CN" sz="1400" b="0">
                <a:solidFill>
                  <a:srgbClr val="000000"/>
                </a:solidFill>
                <a:latin typeface="Times New Roman" panose="02020603050405020304" pitchFamily="18" charset="0"/>
              </a:endParaRPr>
            </a:p>
          </p:txBody>
        </p:sp>
        <p:sp>
          <p:nvSpPr>
            <p:cNvPr id="121869" name="Text Box 15">
              <a:extLst>
                <a:ext uri="{FF2B5EF4-FFF2-40B4-BE49-F238E27FC236}">
                  <a16:creationId xmlns:a16="http://schemas.microsoft.com/office/drawing/2014/main" id="{DD944E39-7CEC-5585-6EE8-9E86EB517C72}"/>
                </a:ext>
              </a:extLst>
            </p:cNvPr>
            <p:cNvSpPr txBox="1">
              <a:spLocks noChangeArrowheads="1"/>
            </p:cNvSpPr>
            <p:nvPr/>
          </p:nvSpPr>
          <p:spPr bwMode="auto">
            <a:xfrm>
              <a:off x="5859" y="7374"/>
              <a:ext cx="567" cy="567"/>
            </a:xfrm>
            <a:prstGeom prst="rect">
              <a:avLst/>
            </a:prstGeom>
            <a:solidFill>
              <a:srgbClr val="FFFFFF"/>
            </a:solidFill>
            <a:ln w="15875">
              <a:solidFill>
                <a:srgbClr val="000000"/>
              </a:solidFill>
              <a:miter lim="800000"/>
              <a:headEnd/>
              <a:tailEnd/>
            </a:ln>
          </p:spPr>
          <p:txBody>
            <a:bodyPr lIns="18000" tIns="54000" rIns="18000" bIns="180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kumimoji="1" lang="en-US" altLang="zh-CN" sz="2000">
                  <a:solidFill>
                    <a:srgbClr val="000000"/>
                  </a:solidFill>
                  <a:latin typeface="Times New Roman" panose="02020603050405020304" pitchFamily="18" charset="0"/>
                </a:rPr>
                <a:t>D</a:t>
              </a:r>
              <a:endParaRPr kumimoji="1" lang="en-US" altLang="zh-CN" sz="1400" b="0">
                <a:solidFill>
                  <a:srgbClr val="000000"/>
                </a:solidFill>
                <a:latin typeface="Times New Roman" panose="02020603050405020304" pitchFamily="18" charset="0"/>
              </a:endParaRPr>
            </a:p>
          </p:txBody>
        </p:sp>
        <p:sp>
          <p:nvSpPr>
            <p:cNvPr id="121870" name="Line 16">
              <a:extLst>
                <a:ext uri="{FF2B5EF4-FFF2-40B4-BE49-F238E27FC236}">
                  <a16:creationId xmlns:a16="http://schemas.microsoft.com/office/drawing/2014/main" id="{5B5402A5-3017-C8BB-DC3B-76CCBD7F9BAA}"/>
                </a:ext>
              </a:extLst>
            </p:cNvPr>
            <p:cNvSpPr>
              <a:spLocks noChangeShapeType="1"/>
            </p:cNvSpPr>
            <p:nvPr/>
          </p:nvSpPr>
          <p:spPr bwMode="auto">
            <a:xfrm flipH="1">
              <a:off x="5199" y="7033"/>
              <a:ext cx="414" cy="3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71" name="Line 17">
              <a:extLst>
                <a:ext uri="{FF2B5EF4-FFF2-40B4-BE49-F238E27FC236}">
                  <a16:creationId xmlns:a16="http://schemas.microsoft.com/office/drawing/2014/main" id="{829EF332-F201-912A-0D91-FA80882C838C}"/>
                </a:ext>
              </a:extLst>
            </p:cNvPr>
            <p:cNvSpPr>
              <a:spLocks noChangeShapeType="1"/>
            </p:cNvSpPr>
            <p:nvPr/>
          </p:nvSpPr>
          <p:spPr bwMode="auto">
            <a:xfrm flipH="1" flipV="1">
              <a:off x="5613" y="7033"/>
              <a:ext cx="414" cy="3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72" name="Arc 18">
              <a:extLst>
                <a:ext uri="{FF2B5EF4-FFF2-40B4-BE49-F238E27FC236}">
                  <a16:creationId xmlns:a16="http://schemas.microsoft.com/office/drawing/2014/main" id="{6802095A-CDAC-FDFA-C7CC-425A63066C89}"/>
                </a:ext>
              </a:extLst>
            </p:cNvPr>
            <p:cNvSpPr>
              <a:spLocks/>
            </p:cNvSpPr>
            <p:nvPr/>
          </p:nvSpPr>
          <p:spPr bwMode="auto">
            <a:xfrm flipH="1" flipV="1">
              <a:off x="4389" y="6906"/>
              <a:ext cx="499" cy="7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5875">
              <a:solidFill>
                <a:srgbClr val="000000"/>
              </a:solidFill>
              <a:prstDash val="sysDot"/>
              <a:round/>
              <a:headEnd type="arrow" w="sm" len="sm"/>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73" name="Text Box 19">
              <a:extLst>
                <a:ext uri="{FF2B5EF4-FFF2-40B4-BE49-F238E27FC236}">
                  <a16:creationId xmlns:a16="http://schemas.microsoft.com/office/drawing/2014/main" id="{566F80A4-D1B3-9A81-7DC4-9B7E669D2B97}"/>
                </a:ext>
              </a:extLst>
            </p:cNvPr>
            <p:cNvSpPr txBox="1">
              <a:spLocks noChangeArrowheads="1"/>
            </p:cNvSpPr>
            <p:nvPr/>
          </p:nvSpPr>
          <p:spPr bwMode="auto">
            <a:xfrm>
              <a:off x="3024" y="7374"/>
              <a:ext cx="1155" cy="1672"/>
            </a:xfrm>
            <a:prstGeom prst="rect">
              <a:avLst/>
            </a:prstGeom>
            <a:solidFill>
              <a:srgbClr val="FFFFFF"/>
            </a:solidFill>
            <a:ln w="15875">
              <a:solidFill>
                <a:srgbClr val="000000"/>
              </a:solidFill>
              <a:miter lim="800000"/>
              <a:headEnd/>
              <a:tailEnd/>
            </a:ln>
          </p:spPr>
          <p:txBody>
            <a:bodyPr lIns="18000" tIns="10800" rIns="18000" bIns="108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1400">
                  <a:solidFill>
                    <a:srgbClr val="FF0000"/>
                  </a:solidFill>
                  <a:latin typeface="Times New Roman" panose="02020603050405020304" pitchFamily="18" charset="0"/>
                </a:rPr>
                <a:t>goto C1</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p:txBody>
        </p:sp>
        <p:sp>
          <p:nvSpPr>
            <p:cNvPr id="121874" name="Line 20">
              <a:extLst>
                <a:ext uri="{FF2B5EF4-FFF2-40B4-BE49-F238E27FC236}">
                  <a16:creationId xmlns:a16="http://schemas.microsoft.com/office/drawing/2014/main" id="{BE26F29B-BF8D-EC01-1F8D-DF002EF5F2F6}"/>
                </a:ext>
              </a:extLst>
            </p:cNvPr>
            <p:cNvSpPr>
              <a:spLocks noChangeShapeType="1"/>
            </p:cNvSpPr>
            <p:nvPr/>
          </p:nvSpPr>
          <p:spPr bwMode="auto">
            <a:xfrm flipH="1">
              <a:off x="3444" y="6906"/>
              <a:ext cx="735" cy="624"/>
            </a:xfrm>
            <a:prstGeom prst="line">
              <a:avLst/>
            </a:prstGeom>
            <a:noFill/>
            <a:ln w="158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75" name="Text Box 21">
              <a:extLst>
                <a:ext uri="{FF2B5EF4-FFF2-40B4-BE49-F238E27FC236}">
                  <a16:creationId xmlns:a16="http://schemas.microsoft.com/office/drawing/2014/main" id="{D295153E-4AF2-80BA-422A-2A1093B270C4}"/>
                </a:ext>
              </a:extLst>
            </p:cNvPr>
            <p:cNvSpPr txBox="1">
              <a:spLocks noChangeArrowheads="1"/>
            </p:cNvSpPr>
            <p:nvPr/>
          </p:nvSpPr>
          <p:spPr bwMode="auto">
            <a:xfrm>
              <a:off x="4599" y="8310"/>
              <a:ext cx="1155" cy="1672"/>
            </a:xfrm>
            <a:prstGeom prst="rect">
              <a:avLst/>
            </a:prstGeom>
            <a:solidFill>
              <a:srgbClr val="FFFFFF"/>
            </a:solidFill>
            <a:ln w="15875">
              <a:solidFill>
                <a:srgbClr val="000000"/>
              </a:solidFill>
              <a:miter lim="800000"/>
              <a:headEnd/>
              <a:tailEnd/>
            </a:ln>
          </p:spPr>
          <p:txBody>
            <a:bodyPr lIns="18000" tIns="10800" rIns="18000" bIns="10800"/>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C:</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C1:</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   ……</a:t>
              </a:r>
            </a:p>
            <a:p>
              <a:pPr algn="just" fontAlgn="base">
                <a:lnSpc>
                  <a:spcPct val="90000"/>
                </a:lnSpc>
                <a:spcBef>
                  <a:spcPct val="0"/>
                </a:spcBef>
                <a:spcAft>
                  <a:spcPct val="0"/>
                </a:spcAft>
                <a:buClrTx/>
                <a:buSzTx/>
                <a:buNone/>
              </a:pPr>
              <a:r>
                <a:rPr kumimoji="1" lang="en-US" altLang="zh-CN" sz="1400">
                  <a:solidFill>
                    <a:srgbClr val="000000"/>
                  </a:solidFill>
                  <a:latin typeface="Times New Roman" panose="02020603050405020304" pitchFamily="18" charset="0"/>
                </a:rPr>
                <a:t>   ……</a:t>
              </a:r>
              <a:endParaRPr kumimoji="1" lang="en-US" altLang="zh-CN" sz="1400" b="0">
                <a:solidFill>
                  <a:srgbClr val="000000"/>
                </a:solidFill>
                <a:latin typeface="Times New Roman" panose="02020603050405020304" pitchFamily="18" charset="0"/>
              </a:endParaRPr>
            </a:p>
          </p:txBody>
        </p:sp>
        <p:sp>
          <p:nvSpPr>
            <p:cNvPr id="121876" name="Line 22">
              <a:extLst>
                <a:ext uri="{FF2B5EF4-FFF2-40B4-BE49-F238E27FC236}">
                  <a16:creationId xmlns:a16="http://schemas.microsoft.com/office/drawing/2014/main" id="{BF4E5F45-B519-8BB3-506E-DFFFE7EF3D76}"/>
                </a:ext>
              </a:extLst>
            </p:cNvPr>
            <p:cNvSpPr>
              <a:spLocks noChangeShapeType="1"/>
            </p:cNvSpPr>
            <p:nvPr/>
          </p:nvSpPr>
          <p:spPr bwMode="auto">
            <a:xfrm flipH="1">
              <a:off x="4914" y="7842"/>
              <a:ext cx="210" cy="624"/>
            </a:xfrm>
            <a:prstGeom prst="line">
              <a:avLst/>
            </a:prstGeom>
            <a:noFill/>
            <a:ln w="158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6" name="Group 29">
            <a:extLst>
              <a:ext uri="{FF2B5EF4-FFF2-40B4-BE49-F238E27FC236}">
                <a16:creationId xmlns:a16="http://schemas.microsoft.com/office/drawing/2014/main" id="{745920A3-2ED1-13CE-D8FD-B402CF702DEE}"/>
              </a:ext>
            </a:extLst>
          </p:cNvPr>
          <p:cNvGrpSpPr>
            <a:grpSpLocks/>
          </p:cNvGrpSpPr>
          <p:nvPr/>
        </p:nvGrpSpPr>
        <p:grpSpPr bwMode="auto">
          <a:xfrm>
            <a:off x="7464426" y="3119439"/>
            <a:ext cx="2652713" cy="2860675"/>
            <a:chOff x="2736" y="1776"/>
            <a:chExt cx="1671" cy="1802"/>
          </a:xfrm>
        </p:grpSpPr>
        <p:sp>
          <p:nvSpPr>
            <p:cNvPr id="121862" name="Text Box 30">
              <a:extLst>
                <a:ext uri="{FF2B5EF4-FFF2-40B4-BE49-F238E27FC236}">
                  <a16:creationId xmlns:a16="http://schemas.microsoft.com/office/drawing/2014/main" id="{7D6CD701-F7AF-CFAA-39F5-652F5E9CAD6B}"/>
                </a:ext>
              </a:extLst>
            </p:cNvPr>
            <p:cNvSpPr txBox="1">
              <a:spLocks noChangeArrowheads="1"/>
            </p:cNvSpPr>
            <p:nvPr/>
          </p:nvSpPr>
          <p:spPr bwMode="auto">
            <a:xfrm>
              <a:off x="3017" y="1776"/>
              <a:ext cx="1390" cy="1802"/>
            </a:xfrm>
            <a:prstGeom prst="rect">
              <a:avLst/>
            </a:prstGeom>
            <a:solidFill>
              <a:srgbClr val="FFFFFF"/>
            </a:solidFill>
            <a:ln w="1587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entry 1:</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entry 2:</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a:p>
              <a:pPr algn="just" fontAlgn="base">
                <a:lnSpc>
                  <a:spcPct val="90000"/>
                </a:lnSpc>
                <a:spcBef>
                  <a:spcPct val="0"/>
                </a:spcBef>
                <a:spcAft>
                  <a:spcPct val="0"/>
                </a:spcAft>
                <a:buClrTx/>
                <a:buSzTx/>
                <a:buNone/>
              </a:pPr>
              <a:r>
                <a:rPr kumimoji="1" lang="en-US" altLang="zh-CN" sz="2000">
                  <a:solidFill>
                    <a:srgbClr val="000000"/>
                  </a:solidFill>
                  <a:latin typeface="Times New Roman" panose="02020603050405020304" pitchFamily="18" charset="0"/>
                </a:rPr>
                <a:t>………………</a:t>
              </a:r>
            </a:p>
          </p:txBody>
        </p:sp>
        <p:sp>
          <p:nvSpPr>
            <p:cNvPr id="121863" name="AutoShape 31">
              <a:extLst>
                <a:ext uri="{FF2B5EF4-FFF2-40B4-BE49-F238E27FC236}">
                  <a16:creationId xmlns:a16="http://schemas.microsoft.com/office/drawing/2014/main" id="{12E5E006-8606-1700-7886-1194DC0E989B}"/>
                </a:ext>
              </a:extLst>
            </p:cNvPr>
            <p:cNvSpPr>
              <a:spLocks noChangeArrowheads="1"/>
            </p:cNvSpPr>
            <p:nvPr/>
          </p:nvSpPr>
          <p:spPr bwMode="auto">
            <a:xfrm flipV="1">
              <a:off x="2736" y="2269"/>
              <a:ext cx="245" cy="22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1 w 21600"/>
                <a:gd name="T13" fmla="*/ 2880 h 21600"/>
                <a:gd name="T14" fmla="*/ 18250 w 21600"/>
                <a:gd name="T15" fmla="*/ 921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000000"/>
            </a:solidFill>
            <a:ln w="9525">
              <a:solidFill>
                <a:srgbClr val="000000"/>
              </a:solidFill>
              <a:miter lim="800000"/>
              <a:headEnd/>
              <a:tailEnd/>
            </a:ln>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1864" name="AutoShape 32">
              <a:extLst>
                <a:ext uri="{FF2B5EF4-FFF2-40B4-BE49-F238E27FC236}">
                  <a16:creationId xmlns:a16="http://schemas.microsoft.com/office/drawing/2014/main" id="{28D65734-509B-91AA-0846-5EA64907652C}"/>
                </a:ext>
              </a:extLst>
            </p:cNvPr>
            <p:cNvSpPr>
              <a:spLocks noChangeArrowheads="1"/>
            </p:cNvSpPr>
            <p:nvPr/>
          </p:nvSpPr>
          <p:spPr bwMode="auto">
            <a:xfrm flipV="1">
              <a:off x="2736" y="2786"/>
              <a:ext cx="245" cy="22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1 w 21600"/>
                <a:gd name="T13" fmla="*/ 2880 h 21600"/>
                <a:gd name="T14" fmla="*/ 18250 w 21600"/>
                <a:gd name="T15" fmla="*/ 921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000000"/>
            </a:solidFill>
            <a:ln w="9525">
              <a:solidFill>
                <a:srgbClr val="000000"/>
              </a:solidFill>
              <a:miter lim="800000"/>
              <a:headEnd/>
              <a:tailEnd/>
            </a:ln>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1000"/>
                                        <p:tgtEl>
                                          <p:spTgt spid="225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1000"/>
                                        <p:tgtEl>
                                          <p:spTgt spid="225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2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22" dur="1000"/>
                                        <p:tgtEl>
                                          <p:spTgt spid="225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6">
            <a:extLst>
              <a:ext uri="{FF2B5EF4-FFF2-40B4-BE49-F238E27FC236}">
                <a16:creationId xmlns:a16="http://schemas.microsoft.com/office/drawing/2014/main" id="{EC39AE8C-1ADF-A464-E646-84001516F0B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62A2EC3-319F-4096-87D2-D371D8413B36}" type="slidenum">
              <a:rPr lang="en-US" altLang="zh-CN" sz="1200">
                <a:solidFill>
                  <a:srgbClr val="000000"/>
                </a:solidFill>
                <a:latin typeface="Arial" panose="020B0604020202020204" pitchFamily="34" charset="0"/>
              </a:rPr>
              <a:pPr fontAlgn="base">
                <a:spcBef>
                  <a:spcPct val="0"/>
                </a:spcBef>
                <a:spcAft>
                  <a:spcPct val="0"/>
                </a:spcAft>
              </a:pPr>
              <a:t>47</a:t>
            </a:fld>
            <a:endParaRPr lang="en-US" altLang="zh-CN" sz="1200">
              <a:solidFill>
                <a:srgbClr val="000000"/>
              </a:solidFill>
              <a:latin typeface="Arial" panose="020B0604020202020204" pitchFamily="34" charset="0"/>
            </a:endParaRPr>
          </a:p>
        </p:txBody>
      </p:sp>
      <p:sp>
        <p:nvSpPr>
          <p:cNvPr id="123906" name="Rectangle 2">
            <a:extLst>
              <a:ext uri="{FF2B5EF4-FFF2-40B4-BE49-F238E27FC236}">
                <a16:creationId xmlns:a16="http://schemas.microsoft.com/office/drawing/2014/main" id="{27618E16-6B1E-A702-B752-CE89CB87E95C}"/>
              </a:ext>
            </a:extLst>
          </p:cNvPr>
          <p:cNvSpPr>
            <a:spLocks noGrp="1" noChangeArrowheads="1"/>
          </p:cNvSpPr>
          <p:nvPr>
            <p:ph type="title" idx="4294967295"/>
          </p:nvPr>
        </p:nvSpPr>
        <p:spPr>
          <a:xfrm>
            <a:off x="1919288" y="260350"/>
            <a:ext cx="7772400" cy="1143000"/>
          </a:xfrm>
        </p:spPr>
        <p:txBody>
          <a:bodyPr/>
          <a:lstStyle/>
          <a:p>
            <a:pPr eaLnBrk="1" hangingPunct="1"/>
            <a:r>
              <a:rPr lang="zh-CN" altLang="en-US"/>
              <a:t>共用耦合</a:t>
            </a:r>
          </a:p>
        </p:txBody>
      </p:sp>
      <p:sp>
        <p:nvSpPr>
          <p:cNvPr id="23555" name="Rectangle 3">
            <a:extLst>
              <a:ext uri="{FF2B5EF4-FFF2-40B4-BE49-F238E27FC236}">
                <a16:creationId xmlns:a16="http://schemas.microsoft.com/office/drawing/2014/main" id="{693D6B9E-EE62-EF6E-AF82-EF37EDAE576D}"/>
              </a:ext>
            </a:extLst>
          </p:cNvPr>
          <p:cNvSpPr>
            <a:spLocks noGrp="1" noChangeArrowheads="1"/>
          </p:cNvSpPr>
          <p:nvPr>
            <p:ph idx="4294967295"/>
          </p:nvPr>
        </p:nvSpPr>
        <p:spPr>
          <a:xfrm>
            <a:off x="1919289" y="981076"/>
            <a:ext cx="8353425" cy="2016125"/>
          </a:xfrm>
        </p:spPr>
        <p:txBody>
          <a:bodyPr/>
          <a:lstStyle/>
          <a:p>
            <a:pPr eaLnBrk="1" hangingPunct="1">
              <a:lnSpc>
                <a:spcPct val="145000"/>
              </a:lnSpc>
              <a:spcBef>
                <a:spcPct val="25000"/>
              </a:spcBef>
            </a:pPr>
            <a:r>
              <a:rPr lang="zh-CN" altLang="en-US" sz="2000">
                <a:latin typeface="宋体" panose="02010600030101010101" pitchFamily="2" charset="-122"/>
              </a:rPr>
              <a:t>若一组模块都访问</a:t>
            </a:r>
            <a:r>
              <a:rPr lang="zh-CN" altLang="en-US" sz="2000">
                <a:solidFill>
                  <a:srgbClr val="3333FF"/>
                </a:solidFill>
                <a:latin typeface="宋体" panose="02010600030101010101" pitchFamily="2" charset="-122"/>
              </a:rPr>
              <a:t>同一个公共数据环境</a:t>
            </a:r>
            <a:r>
              <a:rPr lang="zh-CN" altLang="en-US" sz="2000">
                <a:latin typeface="宋体" panose="02010600030101010101" pitchFamily="2" charset="-122"/>
              </a:rPr>
              <a:t>，则它们之间的耦合就称为共用</a:t>
            </a:r>
            <a:r>
              <a:rPr lang="en-US" altLang="zh-CN" sz="2000">
                <a:latin typeface="宋体" panose="02010600030101010101" pitchFamily="2" charset="-122"/>
              </a:rPr>
              <a:t>(</a:t>
            </a:r>
            <a:r>
              <a:rPr lang="zh-CN" altLang="en-US" sz="2000">
                <a:latin typeface="宋体" panose="02010600030101010101" pitchFamily="2" charset="-122"/>
              </a:rPr>
              <a:t>公共</a:t>
            </a:r>
            <a:r>
              <a:rPr lang="en-US" altLang="zh-CN" sz="2000">
                <a:latin typeface="宋体" panose="02010600030101010101" pitchFamily="2" charset="-122"/>
              </a:rPr>
              <a:t>)</a:t>
            </a:r>
            <a:r>
              <a:rPr lang="zh-CN" altLang="en-US" sz="2000">
                <a:latin typeface="宋体" panose="02010600030101010101" pitchFamily="2" charset="-122"/>
              </a:rPr>
              <a:t>耦合。公共的数据环境可以是</a:t>
            </a:r>
            <a:r>
              <a:rPr lang="zh-CN" altLang="en-US" sz="2000">
                <a:solidFill>
                  <a:srgbClr val="FF0000"/>
                </a:solidFill>
                <a:latin typeface="宋体" panose="02010600030101010101" pitchFamily="2" charset="-122"/>
              </a:rPr>
              <a:t>全局数据结构</a:t>
            </a:r>
            <a:r>
              <a:rPr lang="zh-CN" altLang="en-US" sz="2000">
                <a:latin typeface="宋体" panose="02010600030101010101" pitchFamily="2" charset="-122"/>
              </a:rPr>
              <a:t>、</a:t>
            </a:r>
            <a:r>
              <a:rPr lang="zh-CN" altLang="en-US" sz="2000">
                <a:solidFill>
                  <a:srgbClr val="FF0000"/>
                </a:solidFill>
                <a:latin typeface="宋体" panose="02010600030101010101" pitchFamily="2" charset="-122"/>
              </a:rPr>
              <a:t>共享的通信区</a:t>
            </a:r>
            <a:r>
              <a:rPr lang="zh-CN" altLang="en-US" sz="2000">
                <a:latin typeface="宋体" panose="02010600030101010101" pitchFamily="2" charset="-122"/>
              </a:rPr>
              <a:t>、</a:t>
            </a:r>
            <a:r>
              <a:rPr lang="zh-CN" altLang="en-US" sz="2000">
                <a:solidFill>
                  <a:srgbClr val="FF0000"/>
                </a:solidFill>
                <a:latin typeface="宋体" panose="02010600030101010101" pitchFamily="2" charset="-122"/>
              </a:rPr>
              <a:t>内存的公共覆盖区</a:t>
            </a:r>
            <a:r>
              <a:rPr lang="zh-CN" altLang="en-US" sz="2000">
                <a:latin typeface="宋体" panose="02010600030101010101" pitchFamily="2" charset="-122"/>
              </a:rPr>
              <a:t>等。</a:t>
            </a:r>
          </a:p>
          <a:p>
            <a:pPr eaLnBrk="1" hangingPunct="1">
              <a:lnSpc>
                <a:spcPct val="145000"/>
              </a:lnSpc>
              <a:spcBef>
                <a:spcPct val="25000"/>
              </a:spcBef>
            </a:pPr>
            <a:r>
              <a:rPr lang="zh-CN" altLang="en-US" sz="2000">
                <a:solidFill>
                  <a:srgbClr val="FF0000"/>
                </a:solidFill>
                <a:latin typeface="宋体" panose="02010600030101010101" pitchFamily="2" charset="-122"/>
              </a:rPr>
              <a:t>缺点</a:t>
            </a:r>
            <a:r>
              <a:rPr lang="zh-CN" altLang="en-US" sz="2000">
                <a:latin typeface="宋体" panose="02010600030101010101" pitchFamily="2" charset="-122"/>
              </a:rPr>
              <a:t>：进行变更时，会导致不可控制的错误蔓延和不可预见的副作用</a:t>
            </a:r>
          </a:p>
        </p:txBody>
      </p:sp>
      <p:pic>
        <p:nvPicPr>
          <p:cNvPr id="214020" name="Picture 4">
            <a:extLst>
              <a:ext uri="{FF2B5EF4-FFF2-40B4-BE49-F238E27FC236}">
                <a16:creationId xmlns:a16="http://schemas.microsoft.com/office/drawing/2014/main" id="{8E708AD3-B639-1481-51B3-E09AD359F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14" y="3035300"/>
            <a:ext cx="5400675"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1000"/>
                                        <p:tgtEl>
                                          <p:spTgt spid="235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4020"/>
                                        </p:tgtEl>
                                        <p:attrNameLst>
                                          <p:attrName>style.visibility</p:attrName>
                                        </p:attrNameLst>
                                      </p:cBhvr>
                                      <p:to>
                                        <p:strVal val="visible"/>
                                      </p:to>
                                    </p:set>
                                    <p:animEffect transition="in" filter="blinds(horizontal)">
                                      <p:cBhvr>
                                        <p:cTn id="12" dur="2000"/>
                                        <p:tgtEl>
                                          <p:spTgt spid="214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6">
            <a:extLst>
              <a:ext uri="{FF2B5EF4-FFF2-40B4-BE49-F238E27FC236}">
                <a16:creationId xmlns:a16="http://schemas.microsoft.com/office/drawing/2014/main" id="{551A6B67-3A4F-EA26-90FC-B15946734DD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AA570F7-AECE-4719-99B1-6374CB7839AF}" type="slidenum">
              <a:rPr lang="en-US" altLang="zh-CN" sz="1200">
                <a:solidFill>
                  <a:srgbClr val="000000"/>
                </a:solidFill>
                <a:latin typeface="Arial" panose="020B0604020202020204" pitchFamily="34" charset="0"/>
              </a:rPr>
              <a:pPr fontAlgn="base">
                <a:spcBef>
                  <a:spcPct val="0"/>
                </a:spcBef>
                <a:spcAft>
                  <a:spcPct val="0"/>
                </a:spcAft>
              </a:pPr>
              <a:t>48</a:t>
            </a:fld>
            <a:endParaRPr lang="en-US" altLang="zh-CN" sz="1200">
              <a:solidFill>
                <a:srgbClr val="000000"/>
              </a:solidFill>
              <a:latin typeface="Arial" panose="020B0604020202020204" pitchFamily="34" charset="0"/>
            </a:endParaRPr>
          </a:p>
        </p:txBody>
      </p:sp>
      <p:pic>
        <p:nvPicPr>
          <p:cNvPr id="216066" name="Picture 4">
            <a:extLst>
              <a:ext uri="{FF2B5EF4-FFF2-40B4-BE49-F238E27FC236}">
                <a16:creationId xmlns:a16="http://schemas.microsoft.com/office/drawing/2014/main" id="{11586DF9-83E5-5920-E73C-47262719FE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314" y="1371600"/>
            <a:ext cx="3849687"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5" name="Rectangle 2">
            <a:extLst>
              <a:ext uri="{FF2B5EF4-FFF2-40B4-BE49-F238E27FC236}">
                <a16:creationId xmlns:a16="http://schemas.microsoft.com/office/drawing/2014/main" id="{CF366D10-D473-E8D7-BD20-065ADF5B5701}"/>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控制耦合</a:t>
            </a:r>
          </a:p>
        </p:txBody>
      </p:sp>
      <p:sp>
        <p:nvSpPr>
          <p:cNvPr id="24579" name="Rectangle 3">
            <a:extLst>
              <a:ext uri="{FF2B5EF4-FFF2-40B4-BE49-F238E27FC236}">
                <a16:creationId xmlns:a16="http://schemas.microsoft.com/office/drawing/2014/main" id="{FFAFDB3B-0B16-14D7-B930-36782A4296CD}"/>
              </a:ext>
            </a:extLst>
          </p:cNvPr>
          <p:cNvSpPr>
            <a:spLocks noGrp="1" noChangeArrowheads="1"/>
          </p:cNvSpPr>
          <p:nvPr>
            <p:ph idx="4294967295"/>
          </p:nvPr>
        </p:nvSpPr>
        <p:spPr>
          <a:xfrm>
            <a:off x="1739901" y="1457325"/>
            <a:ext cx="4932363" cy="4419600"/>
          </a:xfrm>
        </p:spPr>
        <p:txBody>
          <a:bodyPr/>
          <a:lstStyle/>
          <a:p>
            <a:pPr eaLnBrk="1" hangingPunct="1">
              <a:lnSpc>
                <a:spcPct val="150000"/>
              </a:lnSpc>
              <a:spcBef>
                <a:spcPct val="50000"/>
              </a:spcBef>
            </a:pPr>
            <a:r>
              <a:rPr lang="zh-CN" altLang="en-US">
                <a:latin typeface="宋体" panose="02010600030101010101" pitchFamily="2" charset="-122"/>
              </a:rPr>
              <a:t>如果一个模块通过传送开关、标志、名字等</a:t>
            </a:r>
            <a:r>
              <a:rPr lang="zh-CN" altLang="en-US">
                <a:solidFill>
                  <a:srgbClr val="FF0000"/>
                </a:solidFill>
                <a:latin typeface="宋体" panose="02010600030101010101" pitchFamily="2" charset="-122"/>
              </a:rPr>
              <a:t>控制信息</a:t>
            </a:r>
            <a:r>
              <a:rPr lang="zh-CN" altLang="en-US">
                <a:latin typeface="宋体" panose="02010600030101010101" pitchFamily="2" charset="-122"/>
              </a:rPr>
              <a:t>，控制选择另一模块的功能，就是控制耦合。</a:t>
            </a:r>
          </a:p>
          <a:p>
            <a:pPr eaLnBrk="1" hangingPunct="1">
              <a:lnSpc>
                <a:spcPct val="150000"/>
              </a:lnSpc>
              <a:spcBef>
                <a:spcPct val="50000"/>
              </a:spcBef>
            </a:pPr>
            <a:r>
              <a:rPr lang="zh-CN" altLang="en-US">
                <a:solidFill>
                  <a:srgbClr val="FF0000"/>
                </a:solidFill>
                <a:latin typeface="宋体" panose="02010600030101010101" pitchFamily="2" charset="-122"/>
              </a:rPr>
              <a:t>缺点</a:t>
            </a:r>
            <a:r>
              <a:rPr lang="zh-CN" altLang="en-US">
                <a:latin typeface="宋体" panose="02010600030101010101" pitchFamily="2" charset="-122"/>
              </a:rPr>
              <a:t>：模块</a:t>
            </a:r>
            <a:r>
              <a:rPr lang="en-US" altLang="zh-CN">
                <a:latin typeface="宋体" panose="02010600030101010101" pitchFamily="2" charset="-122"/>
              </a:rPr>
              <a:t>B</a:t>
            </a:r>
            <a:r>
              <a:rPr lang="zh-CN" altLang="en-US">
                <a:latin typeface="宋体" panose="02010600030101010101" pitchFamily="2" charset="-122"/>
              </a:rPr>
              <a:t>中的一个不相关变更，可能会导致模块</a:t>
            </a:r>
            <a:r>
              <a:rPr lang="en-US" altLang="zh-CN">
                <a:latin typeface="宋体" panose="02010600030101010101" pitchFamily="2" charset="-122"/>
              </a:rPr>
              <a:t>A</a:t>
            </a:r>
            <a:r>
              <a:rPr lang="zh-CN" altLang="en-US">
                <a:latin typeface="宋体" panose="02010600030101010101" pitchFamily="2" charset="-122"/>
              </a:rPr>
              <a:t>所传递的控制标记的意义也必须发生变更。</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6066"/>
                                        </p:tgtEl>
                                        <p:attrNameLst>
                                          <p:attrName>style.visibility</p:attrName>
                                        </p:attrNameLst>
                                      </p:cBhvr>
                                      <p:to>
                                        <p:strVal val="visible"/>
                                      </p:to>
                                    </p:set>
                                    <p:anim calcmode="lin" valueType="num">
                                      <p:cBhvr additive="base">
                                        <p:cTn id="7" dur="2000" fill="hold"/>
                                        <p:tgtEl>
                                          <p:spTgt spid="216066"/>
                                        </p:tgtEl>
                                        <p:attrNameLst>
                                          <p:attrName>ppt_x</p:attrName>
                                        </p:attrNameLst>
                                      </p:cBhvr>
                                      <p:tavLst>
                                        <p:tav tm="0">
                                          <p:val>
                                            <p:strVal val="#ppt_x"/>
                                          </p:val>
                                        </p:tav>
                                        <p:tav tm="100000">
                                          <p:val>
                                            <p:strVal val="#ppt_x"/>
                                          </p:val>
                                        </p:tav>
                                      </p:tavLst>
                                    </p:anim>
                                    <p:anim calcmode="lin" valueType="num">
                                      <p:cBhvr additive="base">
                                        <p:cTn id="8" dur="2000" fill="hold"/>
                                        <p:tgtEl>
                                          <p:spTgt spid="21606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Effect transition="in" filter="checkerboard(across)">
                                      <p:cBhvr>
                                        <p:cTn id="13" dur="1000"/>
                                        <p:tgtEl>
                                          <p:spTgt spid="245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6">
            <a:extLst>
              <a:ext uri="{FF2B5EF4-FFF2-40B4-BE49-F238E27FC236}">
                <a16:creationId xmlns:a16="http://schemas.microsoft.com/office/drawing/2014/main" id="{4B4B5C59-0EEF-070B-CD85-98285E5DDD8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1334FA7-A6F7-40A7-9BF6-1DEDCD0A4278}" type="slidenum">
              <a:rPr lang="en-US" altLang="zh-CN" sz="1200">
                <a:solidFill>
                  <a:srgbClr val="000000"/>
                </a:solidFill>
                <a:latin typeface="Arial" panose="020B0604020202020204" pitchFamily="34" charset="0"/>
              </a:rPr>
              <a:pPr fontAlgn="base">
                <a:spcBef>
                  <a:spcPct val="0"/>
                </a:spcBef>
                <a:spcAft>
                  <a:spcPct val="0"/>
                </a:spcAft>
              </a:pPr>
              <a:t>49</a:t>
            </a:fld>
            <a:endParaRPr lang="en-US" altLang="zh-CN" sz="1200">
              <a:solidFill>
                <a:srgbClr val="000000"/>
              </a:solidFill>
              <a:latin typeface="Arial" panose="020B0604020202020204" pitchFamily="34" charset="0"/>
            </a:endParaRPr>
          </a:p>
        </p:txBody>
      </p:sp>
      <p:sp>
        <p:nvSpPr>
          <p:cNvPr id="128002" name="Rectangle 2">
            <a:extLst>
              <a:ext uri="{FF2B5EF4-FFF2-40B4-BE49-F238E27FC236}">
                <a16:creationId xmlns:a16="http://schemas.microsoft.com/office/drawing/2014/main" id="{CB5F7039-D83D-8A53-7FB7-164F8AF77BD2}"/>
              </a:ext>
            </a:extLst>
          </p:cNvPr>
          <p:cNvSpPr>
            <a:spLocks noGrp="1" noChangeArrowheads="1"/>
          </p:cNvSpPr>
          <p:nvPr>
            <p:ph type="title" idx="4294967295"/>
          </p:nvPr>
        </p:nvSpPr>
        <p:spPr>
          <a:xfrm>
            <a:off x="1919288" y="228600"/>
            <a:ext cx="7772400" cy="679450"/>
          </a:xfrm>
        </p:spPr>
        <p:txBody>
          <a:bodyPr/>
          <a:lstStyle/>
          <a:p>
            <a:pPr eaLnBrk="1" hangingPunct="1"/>
            <a:r>
              <a:rPr lang="zh-CN" altLang="en-US"/>
              <a:t>标记耦合（特征耦合）</a:t>
            </a:r>
          </a:p>
        </p:txBody>
      </p:sp>
      <p:sp>
        <p:nvSpPr>
          <p:cNvPr id="25603" name="Rectangle 3">
            <a:extLst>
              <a:ext uri="{FF2B5EF4-FFF2-40B4-BE49-F238E27FC236}">
                <a16:creationId xmlns:a16="http://schemas.microsoft.com/office/drawing/2014/main" id="{23B4DA89-9239-6462-7A9B-8515FE50CC56}"/>
              </a:ext>
            </a:extLst>
          </p:cNvPr>
          <p:cNvSpPr>
            <a:spLocks noGrp="1" noChangeArrowheads="1"/>
          </p:cNvSpPr>
          <p:nvPr>
            <p:ph idx="4294967295"/>
          </p:nvPr>
        </p:nvSpPr>
        <p:spPr>
          <a:xfrm>
            <a:off x="1919288" y="1700214"/>
            <a:ext cx="8424862" cy="4395787"/>
          </a:xfrm>
        </p:spPr>
        <p:txBody>
          <a:bodyPr/>
          <a:lstStyle/>
          <a:p>
            <a:pPr>
              <a:lnSpc>
                <a:spcPct val="150000"/>
              </a:lnSpc>
              <a:spcBef>
                <a:spcPct val="50000"/>
              </a:spcBef>
            </a:pPr>
            <a:r>
              <a:rPr lang="zh-CN" altLang="en-US" sz="2800"/>
              <a:t>一个数据结构被作为参数传递。</a:t>
            </a:r>
          </a:p>
          <a:p>
            <a:pPr>
              <a:lnSpc>
                <a:spcPct val="150000"/>
              </a:lnSpc>
              <a:spcBef>
                <a:spcPct val="50000"/>
              </a:spcBef>
            </a:pPr>
            <a:r>
              <a:rPr lang="zh-CN" altLang="en-US" sz="2800">
                <a:solidFill>
                  <a:srgbClr val="FF0066"/>
                </a:solidFill>
              </a:rPr>
              <a:t>并且</a:t>
            </a:r>
            <a:r>
              <a:rPr lang="zh-CN" altLang="en-US" sz="2800"/>
              <a:t>被调用模块只使用了</a:t>
            </a:r>
            <a:r>
              <a:rPr lang="zh-CN" altLang="en-US" sz="2800">
                <a:solidFill>
                  <a:schemeClr val="accent2"/>
                </a:solidFill>
              </a:rPr>
              <a:t>部分</a:t>
            </a:r>
            <a:r>
              <a:rPr lang="zh-CN" altLang="en-US" sz="2800"/>
              <a:t>而非全部数据。</a:t>
            </a:r>
          </a:p>
          <a:p>
            <a:pPr eaLnBrk="1" hangingPunct="1">
              <a:lnSpc>
                <a:spcPct val="150000"/>
              </a:lnSpc>
              <a:spcBef>
                <a:spcPct val="50000"/>
              </a:spcBef>
            </a:pPr>
            <a:r>
              <a:rPr lang="zh-CN" altLang="en-US" sz="2800"/>
              <a:t>问题：传送了不必要的数据：</a:t>
            </a:r>
          </a:p>
          <a:p>
            <a:pPr lvl="1" eaLnBrk="1" hangingPunct="1">
              <a:lnSpc>
                <a:spcPct val="150000"/>
              </a:lnSpc>
              <a:spcBef>
                <a:spcPct val="50000"/>
              </a:spcBef>
            </a:pPr>
            <a:r>
              <a:rPr lang="zh-CN" altLang="en-US"/>
              <a:t>不受限制的数据访问可能成就计算机犯罪。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10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1000"/>
                                        <p:tgtEl>
                                          <p:spTgt spid="25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1000"/>
                                        <p:tgtEl>
                                          <p:spTgt spid="256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10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6">
            <a:extLst>
              <a:ext uri="{FF2B5EF4-FFF2-40B4-BE49-F238E27FC236}">
                <a16:creationId xmlns:a16="http://schemas.microsoft.com/office/drawing/2014/main" id="{B5029749-5EB1-DD39-14CB-7F724DD33F8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59F6431-8802-4C74-8194-21DE89A5435C}" type="slidenum">
              <a:rPr lang="en-US" altLang="zh-CN" sz="1200">
                <a:solidFill>
                  <a:srgbClr val="000000"/>
                </a:solidFill>
                <a:latin typeface="Arial" panose="020B0604020202020204" pitchFamily="34" charset="0"/>
              </a:rPr>
              <a:pPr fontAlgn="base">
                <a:spcBef>
                  <a:spcPct val="0"/>
                </a:spcBef>
                <a:spcAft>
                  <a:spcPct val="0"/>
                </a:spcAft>
              </a:pPr>
              <a:t>50</a:t>
            </a:fld>
            <a:endParaRPr lang="en-US" altLang="zh-CN" sz="1200">
              <a:solidFill>
                <a:srgbClr val="000000"/>
              </a:solidFill>
              <a:latin typeface="Arial" panose="020B0604020202020204" pitchFamily="34" charset="0"/>
            </a:endParaRPr>
          </a:p>
        </p:txBody>
      </p:sp>
      <p:sp>
        <p:nvSpPr>
          <p:cNvPr id="130050" name="Rectangle 1026">
            <a:extLst>
              <a:ext uri="{FF2B5EF4-FFF2-40B4-BE49-F238E27FC236}">
                <a16:creationId xmlns:a16="http://schemas.microsoft.com/office/drawing/2014/main" id="{5A06618C-AD9A-EFBA-5712-4AB3124196FE}"/>
              </a:ext>
            </a:extLst>
          </p:cNvPr>
          <p:cNvSpPr>
            <a:spLocks noGrp="1" noChangeArrowheads="1"/>
          </p:cNvSpPr>
          <p:nvPr>
            <p:ph type="title" idx="4294967295"/>
          </p:nvPr>
        </p:nvSpPr>
        <p:spPr>
          <a:xfrm>
            <a:off x="1919288" y="260350"/>
            <a:ext cx="7772400" cy="647700"/>
          </a:xfrm>
        </p:spPr>
        <p:txBody>
          <a:bodyPr/>
          <a:lstStyle/>
          <a:p>
            <a:pPr eaLnBrk="1" hangingPunct="1"/>
            <a:r>
              <a:rPr lang="zh-CN" altLang="en-US"/>
              <a:t>数据耦合</a:t>
            </a:r>
          </a:p>
        </p:txBody>
      </p:sp>
      <p:sp>
        <p:nvSpPr>
          <p:cNvPr id="130051" name="Rectangle 1027">
            <a:extLst>
              <a:ext uri="{FF2B5EF4-FFF2-40B4-BE49-F238E27FC236}">
                <a16:creationId xmlns:a16="http://schemas.microsoft.com/office/drawing/2014/main" id="{8818C80D-1A85-939E-D429-51D022F5B7D0}"/>
              </a:ext>
            </a:extLst>
          </p:cNvPr>
          <p:cNvSpPr>
            <a:spLocks noGrp="1" noChangeArrowheads="1"/>
          </p:cNvSpPr>
          <p:nvPr>
            <p:ph idx="4294967295"/>
          </p:nvPr>
        </p:nvSpPr>
        <p:spPr>
          <a:xfrm>
            <a:off x="1992314" y="1630364"/>
            <a:ext cx="8207375" cy="4103687"/>
          </a:xfrm>
        </p:spPr>
        <p:txBody>
          <a:bodyPr/>
          <a:lstStyle/>
          <a:p>
            <a:pPr eaLnBrk="1" hangingPunct="1">
              <a:lnSpc>
                <a:spcPct val="150000"/>
              </a:lnSpc>
              <a:spcBef>
                <a:spcPct val="50000"/>
              </a:spcBef>
            </a:pPr>
            <a:r>
              <a:rPr lang="zh-CN" altLang="en-US" sz="2800">
                <a:latin typeface="宋体" panose="02010600030101010101" pitchFamily="2" charset="-122"/>
              </a:rPr>
              <a:t>如果一个模块访问另一个模块时，彼此之间是通过</a:t>
            </a:r>
            <a:r>
              <a:rPr lang="zh-CN" altLang="en-US" sz="2800">
                <a:solidFill>
                  <a:srgbClr val="FF0000"/>
                </a:solidFill>
                <a:latin typeface="宋体" panose="02010600030101010101" pitchFamily="2" charset="-122"/>
              </a:rPr>
              <a:t>简单</a:t>
            </a:r>
            <a:r>
              <a:rPr lang="zh-CN" altLang="en-US" sz="2800">
                <a:solidFill>
                  <a:srgbClr val="3333FF"/>
                </a:solidFill>
                <a:latin typeface="宋体" panose="02010600030101010101" pitchFamily="2" charset="-122"/>
              </a:rPr>
              <a:t>数据参数</a:t>
            </a:r>
            <a:r>
              <a:rPr lang="zh-CN" altLang="en-US" sz="2800">
                <a:solidFill>
                  <a:srgbClr val="CC3399"/>
                </a:solidFill>
                <a:latin typeface="宋体" panose="02010600030101010101" pitchFamily="2" charset="-122"/>
              </a:rPr>
              <a:t> </a:t>
            </a:r>
            <a:r>
              <a:rPr lang="en-US" altLang="zh-CN" sz="2800">
                <a:latin typeface="宋体" panose="02010600030101010101" pitchFamily="2" charset="-122"/>
              </a:rPr>
              <a:t>(</a:t>
            </a:r>
            <a:r>
              <a:rPr lang="zh-CN" altLang="en-US" sz="2800">
                <a:latin typeface="宋体" panose="02010600030101010101" pitchFamily="2" charset="-122"/>
              </a:rPr>
              <a:t>不是控制参数、公共数据结构或外部变量</a:t>
            </a:r>
            <a:r>
              <a:rPr lang="en-US" altLang="zh-CN" sz="2800">
                <a:latin typeface="宋体" panose="02010600030101010101" pitchFamily="2" charset="-122"/>
              </a:rPr>
              <a:t>)</a:t>
            </a:r>
            <a:r>
              <a:rPr lang="zh-CN" altLang="en-US" sz="2800">
                <a:latin typeface="宋体" panose="02010600030101010101" pitchFamily="2" charset="-122"/>
              </a:rPr>
              <a:t>来交换信息的，则称这种耦合为数据耦合。</a:t>
            </a:r>
            <a:r>
              <a:rPr lang="en-US" altLang="zh-CN" sz="2800">
                <a:latin typeface="宋体" panose="02010600030101010101" pitchFamily="2" charset="-122"/>
              </a:rPr>
              <a:t>(</a:t>
            </a:r>
            <a:r>
              <a:rPr lang="zh-CN" altLang="en-US" sz="2800">
                <a:latin typeface="宋体" panose="02010600030101010101" pitchFamily="2" charset="-122"/>
              </a:rPr>
              <a:t>推荐使用的方式</a:t>
            </a:r>
            <a:r>
              <a:rPr lang="en-US" altLang="zh-CN" sz="2800">
                <a:latin typeface="宋体" panose="02010600030101010101" pitchFamily="2"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6">
            <a:extLst>
              <a:ext uri="{FF2B5EF4-FFF2-40B4-BE49-F238E27FC236}">
                <a16:creationId xmlns:a16="http://schemas.microsoft.com/office/drawing/2014/main" id="{5FCDBAB0-4F45-C88B-D3F0-E4850B09423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2AEBD65-D099-4D61-911F-DA3AE173AAAD}" type="slidenum">
              <a:rPr lang="en-US" altLang="zh-CN" sz="1200">
                <a:solidFill>
                  <a:srgbClr val="000000"/>
                </a:solidFill>
                <a:latin typeface="Arial" panose="020B0604020202020204" pitchFamily="34" charset="0"/>
              </a:rPr>
              <a:pPr fontAlgn="base">
                <a:spcBef>
                  <a:spcPct val="0"/>
                </a:spcBef>
                <a:spcAft>
                  <a:spcPct val="0"/>
                </a:spcAft>
              </a:pPr>
              <a:t>51</a:t>
            </a:fld>
            <a:endParaRPr lang="en-US" altLang="zh-CN" sz="1200">
              <a:solidFill>
                <a:srgbClr val="000000"/>
              </a:solidFill>
              <a:latin typeface="Arial" panose="020B0604020202020204" pitchFamily="34" charset="0"/>
            </a:endParaRPr>
          </a:p>
        </p:txBody>
      </p:sp>
      <p:sp>
        <p:nvSpPr>
          <p:cNvPr id="132098" name="Rectangle 2">
            <a:extLst>
              <a:ext uri="{FF2B5EF4-FFF2-40B4-BE49-F238E27FC236}">
                <a16:creationId xmlns:a16="http://schemas.microsoft.com/office/drawing/2014/main" id="{D3BE1B5B-6939-EEE0-2965-85376F0C6389}"/>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其他耦合</a:t>
            </a:r>
          </a:p>
        </p:txBody>
      </p:sp>
      <p:sp>
        <p:nvSpPr>
          <p:cNvPr id="132099" name="Rectangle 3">
            <a:extLst>
              <a:ext uri="{FF2B5EF4-FFF2-40B4-BE49-F238E27FC236}">
                <a16:creationId xmlns:a16="http://schemas.microsoft.com/office/drawing/2014/main" id="{0BD7305C-A0AD-EEA1-14E7-44BE9E9E0847}"/>
              </a:ext>
            </a:extLst>
          </p:cNvPr>
          <p:cNvSpPr>
            <a:spLocks noGrp="1" noChangeArrowheads="1"/>
          </p:cNvSpPr>
          <p:nvPr>
            <p:ph idx="4294967295"/>
          </p:nvPr>
        </p:nvSpPr>
        <p:spPr>
          <a:xfrm>
            <a:off x="1919288" y="836613"/>
            <a:ext cx="8424862" cy="5568950"/>
          </a:xfrm>
        </p:spPr>
        <p:txBody>
          <a:bodyPr/>
          <a:lstStyle/>
          <a:p>
            <a:pPr eaLnBrk="1" hangingPunct="1">
              <a:lnSpc>
                <a:spcPct val="150000"/>
              </a:lnSpc>
            </a:pPr>
            <a:r>
              <a:rPr lang="zh-CN" altLang="en-US" sz="2000">
                <a:solidFill>
                  <a:srgbClr val="FF0000"/>
                </a:solidFill>
              </a:rPr>
              <a:t>例程调用耦合：</a:t>
            </a:r>
          </a:p>
          <a:p>
            <a:pPr lvl="1" eaLnBrk="1" hangingPunct="1">
              <a:lnSpc>
                <a:spcPct val="150000"/>
              </a:lnSpc>
            </a:pPr>
            <a:r>
              <a:rPr lang="zh-CN" altLang="en-US" sz="1800">
                <a:latin typeface="宋体" panose="02010600030101010101" pitchFamily="2" charset="-122"/>
              </a:rPr>
              <a:t>一个操作调用另一个操作。很常见，增加了系统的连通性。</a:t>
            </a:r>
          </a:p>
          <a:p>
            <a:pPr eaLnBrk="1" hangingPunct="1">
              <a:lnSpc>
                <a:spcPct val="150000"/>
              </a:lnSpc>
            </a:pPr>
            <a:r>
              <a:rPr lang="zh-CN" altLang="en-US" sz="2000">
                <a:solidFill>
                  <a:srgbClr val="FF0000"/>
                </a:solidFill>
              </a:rPr>
              <a:t>类型使用耦合：</a:t>
            </a:r>
          </a:p>
          <a:p>
            <a:pPr lvl="1" eaLnBrk="1" hangingPunct="1">
              <a:lnSpc>
                <a:spcPct val="150000"/>
              </a:lnSpc>
            </a:pPr>
            <a:r>
              <a:rPr lang="zh-CN" altLang="en-US" sz="1800">
                <a:latin typeface="宋体" panose="02010600030101010101" pitchFamily="2" charset="-122"/>
              </a:rPr>
              <a:t>构件</a:t>
            </a:r>
            <a:r>
              <a:rPr lang="en-US" altLang="zh-CN" sz="1800">
                <a:latin typeface="宋体" panose="02010600030101010101" pitchFamily="2" charset="-122"/>
              </a:rPr>
              <a:t>A</a:t>
            </a:r>
            <a:r>
              <a:rPr lang="zh-CN" altLang="en-US" sz="1800">
                <a:latin typeface="宋体" panose="02010600030101010101" pitchFamily="2" charset="-122"/>
              </a:rPr>
              <a:t>中使用了在构件</a:t>
            </a:r>
            <a:r>
              <a:rPr lang="en-US" altLang="zh-CN" sz="1800">
                <a:latin typeface="宋体" panose="02010600030101010101" pitchFamily="2" charset="-122"/>
              </a:rPr>
              <a:t>B</a:t>
            </a:r>
            <a:r>
              <a:rPr lang="zh-CN" altLang="en-US" sz="1800">
                <a:latin typeface="宋体" panose="02010600030101010101" pitchFamily="2" charset="-122"/>
              </a:rPr>
              <a:t>中定义的一个数据类型。如果</a:t>
            </a:r>
            <a:r>
              <a:rPr lang="zh-CN" altLang="en-US" sz="1800">
                <a:solidFill>
                  <a:srgbClr val="FF0000"/>
                </a:solidFill>
                <a:latin typeface="宋体" panose="02010600030101010101" pitchFamily="2" charset="-122"/>
              </a:rPr>
              <a:t>类型定义发生了改变</a:t>
            </a:r>
            <a:r>
              <a:rPr lang="zh-CN" altLang="en-US" sz="1800">
                <a:latin typeface="宋体" panose="02010600030101010101" pitchFamily="2" charset="-122"/>
              </a:rPr>
              <a:t>，每个使用该定义的构件也必须随之改变。</a:t>
            </a:r>
          </a:p>
          <a:p>
            <a:pPr eaLnBrk="1" hangingPunct="1">
              <a:lnSpc>
                <a:spcPct val="150000"/>
              </a:lnSpc>
            </a:pPr>
            <a:r>
              <a:rPr lang="zh-CN" altLang="en-US" sz="2000">
                <a:solidFill>
                  <a:srgbClr val="FF0000"/>
                </a:solidFill>
              </a:rPr>
              <a:t>包含或者导入耦合：</a:t>
            </a:r>
          </a:p>
          <a:p>
            <a:pPr lvl="1" eaLnBrk="1" hangingPunct="1">
              <a:lnSpc>
                <a:spcPct val="150000"/>
              </a:lnSpc>
            </a:pPr>
            <a:r>
              <a:rPr lang="zh-CN" altLang="en-US" sz="1800">
                <a:latin typeface="宋体" panose="02010600030101010101" pitchFamily="2" charset="-122"/>
              </a:rPr>
              <a:t>构件</a:t>
            </a:r>
            <a:r>
              <a:rPr lang="en-US" altLang="zh-CN" sz="1800"/>
              <a:t>A</a:t>
            </a:r>
            <a:r>
              <a:rPr lang="zh-CN" altLang="en-US" sz="1800">
                <a:latin typeface="宋体" panose="02010600030101010101" pitchFamily="2" charset="-122"/>
              </a:rPr>
              <a:t>引入或包含一个构件</a:t>
            </a:r>
            <a:r>
              <a:rPr lang="en-US" altLang="zh-CN" sz="1800"/>
              <a:t>B</a:t>
            </a:r>
            <a:r>
              <a:rPr lang="zh-CN" altLang="en-US" sz="1800">
                <a:latin typeface="宋体" panose="02010600030101010101" pitchFamily="2" charset="-122"/>
              </a:rPr>
              <a:t>的包或者内容时</a:t>
            </a:r>
            <a:r>
              <a:rPr lang="zh-CN" altLang="en-US" sz="1800"/>
              <a:t>，例如：</a:t>
            </a:r>
            <a:r>
              <a:rPr lang="en-US" altLang="zh-CN" sz="1800"/>
              <a:t>include</a:t>
            </a:r>
            <a:r>
              <a:rPr lang="zh-CN" altLang="en-US" sz="1800"/>
              <a:t>。</a:t>
            </a:r>
          </a:p>
          <a:p>
            <a:pPr eaLnBrk="1" hangingPunct="1">
              <a:lnSpc>
                <a:spcPct val="150000"/>
              </a:lnSpc>
            </a:pPr>
            <a:r>
              <a:rPr lang="zh-CN" altLang="en-US" sz="2000">
                <a:solidFill>
                  <a:srgbClr val="FF0000"/>
                </a:solidFill>
              </a:rPr>
              <a:t>外部耦合：</a:t>
            </a:r>
          </a:p>
          <a:p>
            <a:pPr lvl="1" eaLnBrk="1" hangingPunct="1">
              <a:lnSpc>
                <a:spcPct val="150000"/>
              </a:lnSpc>
            </a:pPr>
            <a:r>
              <a:rPr lang="zh-CN" altLang="en-US" sz="1800"/>
              <a:t>当一个构件和</a:t>
            </a:r>
            <a:r>
              <a:rPr lang="zh-CN" altLang="en-US" sz="1800">
                <a:solidFill>
                  <a:srgbClr val="FF0000"/>
                </a:solidFill>
              </a:rPr>
              <a:t>基础设施构件</a:t>
            </a:r>
            <a:r>
              <a:rPr lang="en-US" altLang="zh-CN" sz="1800"/>
              <a:t>(</a:t>
            </a:r>
            <a:r>
              <a:rPr lang="zh-CN" altLang="en-US" sz="1800"/>
              <a:t>例如，操作系统功能、数据库容量、无线通信功能等</a:t>
            </a:r>
            <a:r>
              <a:rPr lang="en-US" altLang="zh-CN" sz="1800"/>
              <a:t>)</a:t>
            </a:r>
            <a:r>
              <a:rPr lang="zh-CN" altLang="en-US" sz="1800"/>
              <a:t>进行</a:t>
            </a:r>
            <a:r>
              <a:rPr lang="zh-CN" altLang="en-US" sz="1800">
                <a:solidFill>
                  <a:srgbClr val="FF0000"/>
                </a:solidFill>
              </a:rPr>
              <a:t>通信和协作</a:t>
            </a:r>
            <a:r>
              <a:rPr lang="zh-CN" altLang="en-US" sz="1800"/>
              <a:t>时发生的耦合。尽管这种类型的耦合是必要的，但是在一个系统中应该尽量将这种耦合</a:t>
            </a:r>
            <a:r>
              <a:rPr lang="zh-CN" altLang="en-US" sz="1800">
                <a:solidFill>
                  <a:srgbClr val="FF0000"/>
                </a:solidFill>
              </a:rPr>
              <a:t>限制在少量的构件或者类范围内</a:t>
            </a:r>
            <a:r>
              <a:rPr lang="zh-CN" altLang="en-US" sz="180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6">
            <a:extLst>
              <a:ext uri="{FF2B5EF4-FFF2-40B4-BE49-F238E27FC236}">
                <a16:creationId xmlns:a16="http://schemas.microsoft.com/office/drawing/2014/main" id="{25EF34BE-CA5F-209D-0465-3C2D5593C27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483A02F-BCBC-4708-BF73-8EBE074C0517}" type="slidenum">
              <a:rPr lang="en-US" altLang="zh-CN" sz="1200">
                <a:solidFill>
                  <a:srgbClr val="000000"/>
                </a:solidFill>
                <a:latin typeface="Arial" panose="020B0604020202020204" pitchFamily="34" charset="0"/>
              </a:rPr>
              <a:pPr fontAlgn="base">
                <a:spcBef>
                  <a:spcPct val="0"/>
                </a:spcBef>
                <a:spcAft>
                  <a:spcPct val="0"/>
                </a:spcAft>
              </a:pPr>
              <a:t>52</a:t>
            </a:fld>
            <a:endParaRPr lang="en-US" altLang="zh-CN" sz="1200">
              <a:solidFill>
                <a:srgbClr val="000000"/>
              </a:solidFill>
              <a:latin typeface="Arial" panose="020B0604020202020204" pitchFamily="34" charset="0"/>
            </a:endParaRPr>
          </a:p>
        </p:txBody>
      </p:sp>
      <p:sp>
        <p:nvSpPr>
          <p:cNvPr id="134146" name="Rectangle 2">
            <a:extLst>
              <a:ext uri="{FF2B5EF4-FFF2-40B4-BE49-F238E27FC236}">
                <a16:creationId xmlns:a16="http://schemas.microsoft.com/office/drawing/2014/main" id="{643E528C-5547-0502-F66D-F883E0DE6182}"/>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模块关联的评价指标</a:t>
            </a:r>
          </a:p>
        </p:txBody>
      </p:sp>
      <p:sp>
        <p:nvSpPr>
          <p:cNvPr id="46083" name="Rectangle 3">
            <a:extLst>
              <a:ext uri="{FF2B5EF4-FFF2-40B4-BE49-F238E27FC236}">
                <a16:creationId xmlns:a16="http://schemas.microsoft.com/office/drawing/2014/main" id="{6F0AF987-D1BA-0ADA-B753-E0582C456062}"/>
              </a:ext>
            </a:extLst>
          </p:cNvPr>
          <p:cNvSpPr>
            <a:spLocks noGrp="1" noChangeArrowheads="1"/>
          </p:cNvSpPr>
          <p:nvPr>
            <p:ph idx="4294967295"/>
          </p:nvPr>
        </p:nvSpPr>
        <p:spPr>
          <a:xfrm>
            <a:off x="1992314" y="981075"/>
            <a:ext cx="8207375" cy="5111750"/>
          </a:xfrm>
        </p:spPr>
        <p:txBody>
          <a:bodyPr/>
          <a:lstStyle/>
          <a:p>
            <a:pPr eaLnBrk="1" hangingPunct="1">
              <a:lnSpc>
                <a:spcPct val="150000"/>
              </a:lnSpc>
              <a:spcBef>
                <a:spcPct val="30000"/>
              </a:spcBef>
            </a:pPr>
            <a:r>
              <a:rPr lang="zh-CN" altLang="en-US">
                <a:solidFill>
                  <a:srgbClr val="FF0000"/>
                </a:solidFill>
              </a:rPr>
              <a:t>扇出</a:t>
            </a:r>
            <a:r>
              <a:rPr lang="zh-CN" altLang="en-US"/>
              <a:t>：一个模块直接控制的模块数目：</a:t>
            </a:r>
          </a:p>
          <a:p>
            <a:pPr lvl="1" eaLnBrk="1" hangingPunct="1">
              <a:lnSpc>
                <a:spcPct val="150000"/>
              </a:lnSpc>
              <a:spcBef>
                <a:spcPct val="30000"/>
              </a:spcBef>
            </a:pPr>
            <a:r>
              <a:rPr lang="zh-CN" altLang="en-US" sz="2200"/>
              <a:t>扇出过大意味着模块过分复杂，需要控制和协调过多的下级模块。</a:t>
            </a:r>
          </a:p>
          <a:p>
            <a:pPr lvl="1" eaLnBrk="1" hangingPunct="1">
              <a:lnSpc>
                <a:spcPct val="150000"/>
              </a:lnSpc>
              <a:spcBef>
                <a:spcPct val="30000"/>
              </a:spcBef>
            </a:pPr>
            <a:r>
              <a:rPr lang="zh-CN" altLang="en-US" sz="2200"/>
              <a:t>理想的平均扇出为</a:t>
            </a:r>
            <a:r>
              <a:rPr lang="en-US" altLang="zh-CN" sz="2200"/>
              <a:t>3-4</a:t>
            </a:r>
            <a:r>
              <a:rPr lang="zh-CN" altLang="en-US" sz="2200"/>
              <a:t>（上限为</a:t>
            </a:r>
            <a:r>
              <a:rPr lang="en-US" altLang="zh-CN" sz="2200"/>
              <a:t>5-9</a:t>
            </a:r>
            <a:r>
              <a:rPr lang="zh-CN" altLang="en-US" sz="2200"/>
              <a:t>）。</a:t>
            </a:r>
          </a:p>
          <a:p>
            <a:pPr eaLnBrk="1" hangingPunct="1">
              <a:lnSpc>
                <a:spcPct val="150000"/>
              </a:lnSpc>
              <a:spcBef>
                <a:spcPct val="30000"/>
              </a:spcBef>
            </a:pPr>
            <a:r>
              <a:rPr lang="zh-CN" altLang="en-US">
                <a:solidFill>
                  <a:srgbClr val="FF0000"/>
                </a:solidFill>
              </a:rPr>
              <a:t>扇入</a:t>
            </a:r>
            <a:r>
              <a:rPr lang="zh-CN" altLang="en-US"/>
              <a:t>：有多少个上级模块直接调用它。</a:t>
            </a:r>
          </a:p>
          <a:p>
            <a:pPr lvl="1" eaLnBrk="1" hangingPunct="1">
              <a:lnSpc>
                <a:spcPct val="150000"/>
              </a:lnSpc>
              <a:spcBef>
                <a:spcPct val="30000"/>
              </a:spcBef>
            </a:pPr>
            <a:r>
              <a:rPr lang="zh-CN" altLang="en-US" sz="2200"/>
              <a:t>扇入越大意味着共享该模块的数目越多。</a:t>
            </a:r>
          </a:p>
          <a:p>
            <a:pPr eaLnBrk="1" hangingPunct="1">
              <a:lnSpc>
                <a:spcPct val="150000"/>
              </a:lnSpc>
              <a:spcBef>
                <a:spcPct val="30000"/>
              </a:spcBef>
            </a:pPr>
            <a:r>
              <a:rPr lang="zh-CN" altLang="en-US"/>
              <a:t>设计得好的软件结构通常</a:t>
            </a:r>
            <a:r>
              <a:rPr lang="zh-CN" altLang="en-US">
                <a:solidFill>
                  <a:srgbClr val="FF0000"/>
                </a:solidFill>
              </a:rPr>
              <a:t>顶层扇出高，中层扇出少，底层高扇入。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6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10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460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10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460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460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460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6083">
                                            <p:txEl>
                                              <p:pRg st="5" end="5"/>
                                            </p:txEl>
                                          </p:spTgt>
                                        </p:tgtEl>
                                        <p:attrNameLst>
                                          <p:attrName>style.visibility</p:attrName>
                                        </p:attrNameLst>
                                      </p:cBhvr>
                                      <p:to>
                                        <p:strVal val="visible"/>
                                      </p:to>
                                    </p:set>
                                    <p:anim calcmode="lin" valueType="num">
                                      <p:cBhvr additive="base">
                                        <p:cTn id="37" dur="10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460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6">
            <a:extLst>
              <a:ext uri="{FF2B5EF4-FFF2-40B4-BE49-F238E27FC236}">
                <a16:creationId xmlns:a16="http://schemas.microsoft.com/office/drawing/2014/main" id="{BC9ECDBA-85D8-9EA2-76D1-7063F3B71C4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886E6EE-9687-4681-A48C-A73AB830B4D1}" type="slidenum">
              <a:rPr lang="en-US" altLang="zh-CN" sz="1200">
                <a:solidFill>
                  <a:srgbClr val="000000"/>
                </a:solidFill>
                <a:latin typeface="Arial" panose="020B0604020202020204" pitchFamily="34" charset="0"/>
              </a:rPr>
              <a:pPr fontAlgn="base">
                <a:spcBef>
                  <a:spcPct val="0"/>
                </a:spcBef>
                <a:spcAft>
                  <a:spcPct val="0"/>
                </a:spcAft>
              </a:pPr>
              <a:t>53</a:t>
            </a:fld>
            <a:endParaRPr lang="en-US" altLang="zh-CN" sz="1200">
              <a:solidFill>
                <a:srgbClr val="000000"/>
              </a:solidFill>
              <a:latin typeface="Arial" panose="020B0604020202020204" pitchFamily="34" charset="0"/>
            </a:endParaRPr>
          </a:p>
        </p:txBody>
      </p:sp>
      <p:sp>
        <p:nvSpPr>
          <p:cNvPr id="136194" name="Rectangle 2">
            <a:extLst>
              <a:ext uri="{FF2B5EF4-FFF2-40B4-BE49-F238E27FC236}">
                <a16:creationId xmlns:a16="http://schemas.microsoft.com/office/drawing/2014/main" id="{B82CF003-2FA9-A7BC-E6F0-0BE63B50CEE7}"/>
              </a:ext>
            </a:extLst>
          </p:cNvPr>
          <p:cNvSpPr>
            <a:spLocks noGrp="1" noChangeArrowheads="1"/>
          </p:cNvSpPr>
          <p:nvPr>
            <p:ph type="title"/>
          </p:nvPr>
        </p:nvSpPr>
        <p:spPr/>
        <p:txBody>
          <a:bodyPr/>
          <a:lstStyle/>
          <a:p>
            <a:r>
              <a:rPr lang="zh-CN" altLang="en-US"/>
              <a:t>本章内容</a:t>
            </a:r>
          </a:p>
        </p:txBody>
      </p:sp>
      <p:sp>
        <p:nvSpPr>
          <p:cNvPr id="136195" name="Rectangle 3">
            <a:extLst>
              <a:ext uri="{FF2B5EF4-FFF2-40B4-BE49-F238E27FC236}">
                <a16:creationId xmlns:a16="http://schemas.microsoft.com/office/drawing/2014/main" id="{D7DE307A-E3C7-7527-BB3A-96929F28E490}"/>
              </a:ext>
            </a:extLst>
          </p:cNvPr>
          <p:cNvSpPr>
            <a:spLocks noGrp="1" noChangeArrowheads="1"/>
          </p:cNvSpPr>
          <p:nvPr>
            <p:ph type="body" idx="1"/>
          </p:nvPr>
        </p:nvSpPr>
        <p:spPr>
          <a:xfrm>
            <a:off x="1981200" y="1052513"/>
            <a:ext cx="8229600" cy="4862512"/>
          </a:xfrm>
        </p:spPr>
        <p:txBody>
          <a:bodyPr/>
          <a:lstStyle/>
          <a:p>
            <a:pPr>
              <a:lnSpc>
                <a:spcPct val="200000"/>
              </a:lnSpc>
            </a:pPr>
            <a:r>
              <a:rPr lang="en-US" altLang="zh-CN"/>
              <a:t>13.1 </a:t>
            </a:r>
            <a:r>
              <a:rPr lang="zh-CN" altLang="en-US"/>
              <a:t>什么是构件</a:t>
            </a:r>
          </a:p>
          <a:p>
            <a:pPr>
              <a:lnSpc>
                <a:spcPct val="200000"/>
              </a:lnSpc>
            </a:pPr>
            <a:r>
              <a:rPr lang="en-US" altLang="zh-CN"/>
              <a:t>13.2 </a:t>
            </a:r>
            <a:r>
              <a:rPr lang="zh-CN" altLang="en-US"/>
              <a:t>设计基于类的构件</a:t>
            </a:r>
          </a:p>
          <a:p>
            <a:pPr>
              <a:lnSpc>
                <a:spcPct val="200000"/>
              </a:lnSpc>
            </a:pPr>
            <a:r>
              <a:rPr lang="en-US" altLang="zh-CN">
                <a:solidFill>
                  <a:srgbClr val="FF0000"/>
                </a:solidFill>
              </a:rPr>
              <a:t>13.3 </a:t>
            </a:r>
            <a:r>
              <a:rPr lang="zh-CN" altLang="en-US">
                <a:solidFill>
                  <a:srgbClr val="FF0000"/>
                </a:solidFill>
              </a:rPr>
              <a:t>实施构件级设计</a:t>
            </a:r>
          </a:p>
          <a:p>
            <a:pPr>
              <a:lnSpc>
                <a:spcPct val="200000"/>
              </a:lnSpc>
            </a:pPr>
            <a:r>
              <a:rPr lang="en-US" altLang="zh-CN"/>
              <a:t>13.4 WebApp</a:t>
            </a:r>
            <a:r>
              <a:rPr lang="zh-CN" altLang="en-US"/>
              <a:t>的构件级设计</a:t>
            </a:r>
          </a:p>
          <a:p>
            <a:pPr>
              <a:lnSpc>
                <a:spcPct val="200000"/>
              </a:lnSpc>
            </a:pPr>
            <a:r>
              <a:rPr lang="en-US" altLang="zh-CN"/>
              <a:t>13.5 </a:t>
            </a:r>
            <a:r>
              <a:rPr lang="zh-CN" altLang="en-US"/>
              <a:t>设计传统构件</a:t>
            </a:r>
          </a:p>
          <a:p>
            <a:pPr>
              <a:lnSpc>
                <a:spcPct val="200000"/>
              </a:lnSpc>
            </a:pPr>
            <a:r>
              <a:rPr lang="en-US" altLang="zh-CN"/>
              <a:t>13.6 </a:t>
            </a:r>
            <a:r>
              <a:rPr lang="zh-CN" altLang="en-US"/>
              <a:t>基于构件的开发</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6">
            <a:extLst>
              <a:ext uri="{FF2B5EF4-FFF2-40B4-BE49-F238E27FC236}">
                <a16:creationId xmlns:a16="http://schemas.microsoft.com/office/drawing/2014/main" id="{A69A4401-C732-1483-7EF7-0D3EB122CCC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0D241E0-1182-4E15-8592-37DEC1B2D0BB}" type="slidenum">
              <a:rPr lang="en-US" altLang="zh-CN" sz="1200">
                <a:solidFill>
                  <a:srgbClr val="000000"/>
                </a:solidFill>
                <a:latin typeface="Arial" panose="020B0604020202020204" pitchFamily="34" charset="0"/>
              </a:rPr>
              <a:pPr fontAlgn="base">
                <a:spcBef>
                  <a:spcPct val="0"/>
                </a:spcBef>
                <a:spcAft>
                  <a:spcPct val="0"/>
                </a:spcAft>
              </a:pPr>
              <a:t>54</a:t>
            </a:fld>
            <a:endParaRPr lang="en-US" altLang="zh-CN" sz="1200">
              <a:solidFill>
                <a:srgbClr val="000000"/>
              </a:solidFill>
              <a:latin typeface="Arial" panose="020B0604020202020204" pitchFamily="34" charset="0"/>
            </a:endParaRPr>
          </a:p>
        </p:txBody>
      </p:sp>
      <p:sp>
        <p:nvSpPr>
          <p:cNvPr id="137218" name="Rectangle 2">
            <a:extLst>
              <a:ext uri="{FF2B5EF4-FFF2-40B4-BE49-F238E27FC236}">
                <a16:creationId xmlns:a16="http://schemas.microsoft.com/office/drawing/2014/main" id="{BCEEEB8B-31AD-D52F-E8FF-E0705C1D1261}"/>
              </a:ext>
            </a:extLst>
          </p:cNvPr>
          <p:cNvSpPr>
            <a:spLocks noGrp="1" noChangeArrowheads="1"/>
          </p:cNvSpPr>
          <p:nvPr>
            <p:ph type="title"/>
          </p:nvPr>
        </p:nvSpPr>
        <p:spPr/>
        <p:txBody>
          <a:bodyPr/>
          <a:lstStyle/>
          <a:p>
            <a:r>
              <a:rPr lang="zh-CN" altLang="en-US"/>
              <a:t>实施构件级设计步骤</a:t>
            </a:r>
          </a:p>
        </p:txBody>
      </p:sp>
      <p:sp>
        <p:nvSpPr>
          <p:cNvPr id="305155" name="Rectangle 3">
            <a:extLst>
              <a:ext uri="{FF2B5EF4-FFF2-40B4-BE49-F238E27FC236}">
                <a16:creationId xmlns:a16="http://schemas.microsoft.com/office/drawing/2014/main" id="{A3A5BA67-71BE-B030-71BB-11A72CA47501}"/>
              </a:ext>
            </a:extLst>
          </p:cNvPr>
          <p:cNvSpPr>
            <a:spLocks noGrp="1" noChangeArrowheads="1"/>
          </p:cNvSpPr>
          <p:nvPr>
            <p:ph type="body" idx="1"/>
          </p:nvPr>
        </p:nvSpPr>
        <p:spPr/>
        <p:txBody>
          <a:bodyPr/>
          <a:lstStyle/>
          <a:p>
            <a:pPr eaLnBrk="1" hangingPunct="1">
              <a:lnSpc>
                <a:spcPct val="150000"/>
              </a:lnSpc>
            </a:pPr>
            <a:r>
              <a:rPr lang="zh-CN" altLang="en-US" sz="2800"/>
              <a:t>步骤</a:t>
            </a:r>
            <a:r>
              <a:rPr lang="en-US" altLang="zh-CN" sz="2800"/>
              <a:t>1</a:t>
            </a:r>
            <a:r>
              <a:rPr lang="zh-CN" altLang="en-US" sz="2800"/>
              <a:t>：</a:t>
            </a:r>
            <a:r>
              <a:rPr lang="zh-CN" altLang="en-US" sz="2800">
                <a:solidFill>
                  <a:srgbClr val="FF0000"/>
                </a:solidFill>
              </a:rPr>
              <a:t>标识出所有与问题域对应的设计类：</a:t>
            </a:r>
          </a:p>
          <a:p>
            <a:pPr lvl="1" eaLnBrk="1" hangingPunct="1">
              <a:lnSpc>
                <a:spcPct val="150000"/>
              </a:lnSpc>
            </a:pPr>
            <a:r>
              <a:rPr lang="zh-CN" altLang="en-US"/>
              <a:t>使用需求模型和架构模型，每个分析类和体系结构构件都要细化。</a:t>
            </a:r>
          </a:p>
          <a:p>
            <a:pPr eaLnBrk="1" hangingPunct="1">
              <a:lnSpc>
                <a:spcPct val="150000"/>
              </a:lnSpc>
            </a:pPr>
            <a:r>
              <a:rPr lang="zh-CN" altLang="en-US" sz="2800"/>
              <a:t>步骤</a:t>
            </a:r>
            <a:r>
              <a:rPr lang="en-US" altLang="zh-CN" sz="2800"/>
              <a:t>2</a:t>
            </a:r>
            <a:r>
              <a:rPr lang="zh-CN" altLang="en-US" sz="2800"/>
              <a:t>：</a:t>
            </a:r>
            <a:r>
              <a:rPr lang="zh-CN" altLang="en-US" sz="2800">
                <a:solidFill>
                  <a:srgbClr val="FF0000"/>
                </a:solidFill>
              </a:rPr>
              <a:t>确定所有与基础设施对应的设计类：</a:t>
            </a:r>
          </a:p>
          <a:p>
            <a:pPr lvl="1" eaLnBrk="1" hangingPunct="1">
              <a:lnSpc>
                <a:spcPct val="150000"/>
              </a:lnSpc>
            </a:pPr>
            <a:r>
              <a:rPr lang="zh-CN" altLang="en-US"/>
              <a:t>在分析模型中并没有描述这些类，并且在体系结构设计中也经常忽略这些类。这种类型的类和构件包括</a:t>
            </a:r>
            <a:r>
              <a:rPr lang="en-US" altLang="zh-CN">
                <a:solidFill>
                  <a:srgbClr val="FF0000"/>
                </a:solidFill>
              </a:rPr>
              <a:t>GUI </a:t>
            </a:r>
            <a:r>
              <a:rPr lang="en-US" altLang="zh-CN"/>
              <a:t>(</a:t>
            </a:r>
            <a:r>
              <a:rPr lang="zh-CN" altLang="en-US"/>
              <a:t>图形用户界面</a:t>
            </a:r>
            <a:r>
              <a:rPr lang="en-US" altLang="zh-CN"/>
              <a:t>)</a:t>
            </a:r>
            <a:r>
              <a:rPr lang="zh-CN" altLang="en-US"/>
              <a:t>构件、</a:t>
            </a:r>
            <a:r>
              <a:rPr lang="zh-CN" altLang="en-US">
                <a:solidFill>
                  <a:srgbClr val="FF0000"/>
                </a:solidFill>
              </a:rPr>
              <a:t>操作系统</a:t>
            </a:r>
            <a:r>
              <a:rPr lang="zh-CN" altLang="en-US"/>
              <a:t>构件以及</a:t>
            </a:r>
            <a:r>
              <a:rPr lang="zh-CN" altLang="en-US">
                <a:solidFill>
                  <a:srgbClr val="FF0000"/>
                </a:solidFill>
              </a:rPr>
              <a:t>对象</a:t>
            </a:r>
            <a:r>
              <a:rPr lang="zh-CN" altLang="en-US"/>
              <a:t>和</a:t>
            </a:r>
            <a:r>
              <a:rPr lang="zh-CN" altLang="en-US">
                <a:solidFill>
                  <a:srgbClr val="FF0000"/>
                </a:solidFill>
              </a:rPr>
              <a:t>数据管理</a:t>
            </a:r>
            <a:r>
              <a:rPr lang="zh-CN" altLang="en-US"/>
              <a:t>构件等。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blinds(horizontal)">
                                      <p:cBhvr>
                                        <p:cTn id="7" dur="1000"/>
                                        <p:tgtEl>
                                          <p:spTgt spid="305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blinds(horizontal)">
                                      <p:cBhvr>
                                        <p:cTn id="12" dur="1000"/>
                                        <p:tgtEl>
                                          <p:spTgt spid="305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blinds(horizontal)">
                                      <p:cBhvr>
                                        <p:cTn id="17" dur="1000"/>
                                        <p:tgtEl>
                                          <p:spTgt spid="305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blinds(horizontal)">
                                      <p:cBhvr>
                                        <p:cTn id="22" dur="1000"/>
                                        <p:tgtEl>
                                          <p:spTgt spid="3051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6">
            <a:extLst>
              <a:ext uri="{FF2B5EF4-FFF2-40B4-BE49-F238E27FC236}">
                <a16:creationId xmlns:a16="http://schemas.microsoft.com/office/drawing/2014/main" id="{0EF7BF7C-D68E-DD44-8009-98C911B895F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196FF7A-9291-472A-813B-03294E0DDC8C}" type="slidenum">
              <a:rPr lang="en-US" altLang="zh-CN" sz="1200">
                <a:solidFill>
                  <a:srgbClr val="000000"/>
                </a:solidFill>
                <a:latin typeface="Arial" panose="020B0604020202020204" pitchFamily="34" charset="0"/>
              </a:rPr>
              <a:pPr fontAlgn="base">
                <a:spcBef>
                  <a:spcPct val="0"/>
                </a:spcBef>
                <a:spcAft>
                  <a:spcPct val="0"/>
                </a:spcAft>
              </a:pPr>
              <a:t>55</a:t>
            </a:fld>
            <a:endParaRPr lang="en-US" altLang="zh-CN" sz="1200">
              <a:solidFill>
                <a:srgbClr val="000000"/>
              </a:solidFill>
              <a:latin typeface="Arial" panose="020B0604020202020204" pitchFamily="34" charset="0"/>
            </a:endParaRPr>
          </a:p>
        </p:txBody>
      </p:sp>
      <p:sp>
        <p:nvSpPr>
          <p:cNvPr id="138242" name="Rectangle 2">
            <a:extLst>
              <a:ext uri="{FF2B5EF4-FFF2-40B4-BE49-F238E27FC236}">
                <a16:creationId xmlns:a16="http://schemas.microsoft.com/office/drawing/2014/main" id="{D4877D14-157B-14E7-2D6A-363499C02AF1}"/>
              </a:ext>
            </a:extLst>
          </p:cNvPr>
          <p:cNvSpPr>
            <a:spLocks noGrp="1" noChangeArrowheads="1"/>
          </p:cNvSpPr>
          <p:nvPr>
            <p:ph type="title"/>
          </p:nvPr>
        </p:nvSpPr>
        <p:spPr/>
        <p:txBody>
          <a:bodyPr/>
          <a:lstStyle/>
          <a:p>
            <a:r>
              <a:rPr lang="zh-CN" altLang="en-US"/>
              <a:t>实施构件级设计步骤</a:t>
            </a:r>
          </a:p>
        </p:txBody>
      </p:sp>
      <p:sp>
        <p:nvSpPr>
          <p:cNvPr id="138243" name="Rectangle 3">
            <a:extLst>
              <a:ext uri="{FF2B5EF4-FFF2-40B4-BE49-F238E27FC236}">
                <a16:creationId xmlns:a16="http://schemas.microsoft.com/office/drawing/2014/main" id="{21A7559E-179C-D942-2A5F-0721B4801419}"/>
              </a:ext>
            </a:extLst>
          </p:cNvPr>
          <p:cNvSpPr>
            <a:spLocks noGrp="1" noChangeArrowheads="1"/>
          </p:cNvSpPr>
          <p:nvPr>
            <p:ph type="body" idx="1"/>
          </p:nvPr>
        </p:nvSpPr>
        <p:spPr>
          <a:xfrm>
            <a:off x="1981200" y="1087438"/>
            <a:ext cx="8229600" cy="5078412"/>
          </a:xfrm>
        </p:spPr>
        <p:txBody>
          <a:bodyPr/>
          <a:lstStyle/>
          <a:p>
            <a:pPr eaLnBrk="1" hangingPunct="1">
              <a:lnSpc>
                <a:spcPct val="150000"/>
              </a:lnSpc>
              <a:spcBef>
                <a:spcPct val="40000"/>
              </a:spcBef>
            </a:pPr>
            <a:r>
              <a:rPr lang="zh-CN" altLang="en-US" sz="2800"/>
              <a:t>步骤</a:t>
            </a:r>
            <a:r>
              <a:rPr lang="en-US" altLang="zh-CN" sz="2800"/>
              <a:t>3</a:t>
            </a:r>
            <a:r>
              <a:rPr lang="zh-CN" altLang="en-US" sz="2800"/>
              <a:t>：</a:t>
            </a:r>
            <a:r>
              <a:rPr lang="zh-CN" altLang="en-US" sz="2800">
                <a:solidFill>
                  <a:srgbClr val="FF0000"/>
                </a:solidFill>
              </a:rPr>
              <a:t>细化所有不能作为复用构件的设计类：</a:t>
            </a:r>
          </a:p>
          <a:p>
            <a:pPr lvl="1" eaLnBrk="1" hangingPunct="1">
              <a:lnSpc>
                <a:spcPct val="150000"/>
              </a:lnSpc>
              <a:spcBef>
                <a:spcPct val="40000"/>
              </a:spcBef>
            </a:pPr>
            <a:r>
              <a:rPr lang="en-US" altLang="zh-CN"/>
              <a:t>a) </a:t>
            </a:r>
            <a:r>
              <a:rPr lang="zh-CN" altLang="en-US"/>
              <a:t>在类或构件的协作时</a:t>
            </a:r>
            <a:r>
              <a:rPr lang="zh-CN" altLang="en-US">
                <a:solidFill>
                  <a:srgbClr val="FF0000"/>
                </a:solidFill>
              </a:rPr>
              <a:t>说明消息的细节；</a:t>
            </a:r>
          </a:p>
          <a:p>
            <a:pPr lvl="1" eaLnBrk="1" hangingPunct="1">
              <a:lnSpc>
                <a:spcPct val="150000"/>
              </a:lnSpc>
              <a:spcBef>
                <a:spcPct val="40000"/>
              </a:spcBef>
            </a:pPr>
            <a:r>
              <a:rPr lang="en-US" altLang="zh-CN"/>
              <a:t>b) </a:t>
            </a:r>
            <a:r>
              <a:rPr lang="zh-CN" altLang="en-US"/>
              <a:t>为每一个构件</a:t>
            </a:r>
            <a:r>
              <a:rPr lang="zh-CN" altLang="en-US">
                <a:solidFill>
                  <a:srgbClr val="FF0000"/>
                </a:solidFill>
              </a:rPr>
              <a:t>确定适当的接口；</a:t>
            </a:r>
          </a:p>
          <a:p>
            <a:pPr lvl="1" eaLnBrk="1" hangingPunct="1">
              <a:lnSpc>
                <a:spcPct val="150000"/>
              </a:lnSpc>
              <a:spcBef>
                <a:spcPct val="40000"/>
              </a:spcBef>
            </a:pPr>
            <a:r>
              <a:rPr lang="en-US" altLang="zh-CN"/>
              <a:t>c) </a:t>
            </a:r>
            <a:r>
              <a:rPr lang="zh-CN" altLang="en-US">
                <a:solidFill>
                  <a:srgbClr val="FF0000"/>
                </a:solidFill>
              </a:rPr>
              <a:t>细化属性</a:t>
            </a:r>
            <a:r>
              <a:rPr lang="zh-CN" altLang="en-US"/>
              <a:t>，定义相应的数据类型和数据结构；</a:t>
            </a:r>
          </a:p>
          <a:p>
            <a:pPr lvl="1" eaLnBrk="1" hangingPunct="1">
              <a:lnSpc>
                <a:spcPct val="150000"/>
              </a:lnSpc>
              <a:spcBef>
                <a:spcPct val="40000"/>
              </a:spcBef>
            </a:pPr>
            <a:r>
              <a:rPr lang="en-US" altLang="zh-CN"/>
              <a:t>d) </a:t>
            </a:r>
            <a:r>
              <a:rPr lang="zh-CN" altLang="en-US">
                <a:solidFill>
                  <a:srgbClr val="FF0000"/>
                </a:solidFill>
              </a:rPr>
              <a:t>详细描述每个操作中的处理流：</a:t>
            </a:r>
          </a:p>
          <a:p>
            <a:pPr lvl="2" eaLnBrk="1" hangingPunct="1">
              <a:lnSpc>
                <a:spcPct val="150000"/>
              </a:lnSpc>
              <a:spcBef>
                <a:spcPct val="40000"/>
              </a:spcBef>
            </a:pPr>
            <a:r>
              <a:rPr lang="zh-CN" altLang="en-US" sz="2400"/>
              <a:t>每个构件都需要应用逐步求精概念通过很多次迭代进行细化。</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6">
            <a:extLst>
              <a:ext uri="{FF2B5EF4-FFF2-40B4-BE49-F238E27FC236}">
                <a16:creationId xmlns:a16="http://schemas.microsoft.com/office/drawing/2014/main" id="{E139251C-2B65-E236-2DFD-0101F415E1C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6A90C20-F1FC-4E2A-922B-2102D4DA1108}" type="slidenum">
              <a:rPr lang="en-US" altLang="zh-CN" sz="1200">
                <a:solidFill>
                  <a:srgbClr val="000000"/>
                </a:solidFill>
                <a:latin typeface="Arial" panose="020B0604020202020204" pitchFamily="34" charset="0"/>
              </a:rPr>
              <a:pPr fontAlgn="base">
                <a:spcBef>
                  <a:spcPct val="0"/>
                </a:spcBef>
                <a:spcAft>
                  <a:spcPct val="0"/>
                </a:spcAft>
              </a:pPr>
              <a:t>56</a:t>
            </a:fld>
            <a:endParaRPr lang="en-US" altLang="zh-CN" sz="1200">
              <a:solidFill>
                <a:srgbClr val="000000"/>
              </a:solidFill>
              <a:latin typeface="Arial" panose="020B0604020202020204" pitchFamily="34" charset="0"/>
            </a:endParaRPr>
          </a:p>
        </p:txBody>
      </p:sp>
      <p:sp>
        <p:nvSpPr>
          <p:cNvPr id="139266" name="Rectangle 2">
            <a:extLst>
              <a:ext uri="{FF2B5EF4-FFF2-40B4-BE49-F238E27FC236}">
                <a16:creationId xmlns:a16="http://schemas.microsoft.com/office/drawing/2014/main" id="{56D3BF9C-981D-1370-E339-6ED267419C8B}"/>
              </a:ext>
            </a:extLst>
          </p:cNvPr>
          <p:cNvSpPr>
            <a:spLocks noGrp="1" noChangeArrowheads="1"/>
          </p:cNvSpPr>
          <p:nvPr>
            <p:ph type="title" idx="4294967295"/>
          </p:nvPr>
        </p:nvSpPr>
        <p:spPr>
          <a:xfrm>
            <a:off x="1919288" y="228600"/>
            <a:ext cx="7772400" cy="679450"/>
          </a:xfrm>
        </p:spPr>
        <p:txBody>
          <a:bodyPr/>
          <a:lstStyle/>
          <a:p>
            <a:pPr eaLnBrk="1" hangingPunct="1"/>
            <a:r>
              <a:rPr lang="zh-CN" altLang="en-US"/>
              <a:t>步骤</a:t>
            </a:r>
            <a:r>
              <a:rPr lang="en-US" altLang="zh-CN"/>
              <a:t>3a</a:t>
            </a:r>
            <a:r>
              <a:rPr lang="zh-CN" altLang="en-US"/>
              <a:t>：说明消息细节（案例）</a:t>
            </a:r>
          </a:p>
        </p:txBody>
      </p:sp>
      <p:pic>
        <p:nvPicPr>
          <p:cNvPr id="244739" name="Picture 4" descr="H:\软件工程\2009\图\chapter 10\绘图8.gif">
            <a:extLst>
              <a:ext uri="{FF2B5EF4-FFF2-40B4-BE49-F238E27FC236}">
                <a16:creationId xmlns:a16="http://schemas.microsoft.com/office/drawing/2014/main" id="{0658C870-54F1-A307-CCE2-74DE7716D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1196975"/>
            <a:ext cx="5761038"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0" name="Text Box 4">
            <a:extLst>
              <a:ext uri="{FF2B5EF4-FFF2-40B4-BE49-F238E27FC236}">
                <a16:creationId xmlns:a16="http://schemas.microsoft.com/office/drawing/2014/main" id="{07E21703-26ED-2F75-56F2-B5E46A03B0FB}"/>
              </a:ext>
            </a:extLst>
          </p:cNvPr>
          <p:cNvSpPr txBox="1">
            <a:spLocks noChangeArrowheads="1"/>
          </p:cNvSpPr>
          <p:nvPr/>
        </p:nvSpPr>
        <p:spPr bwMode="auto">
          <a:xfrm>
            <a:off x="4367213" y="3705225"/>
            <a:ext cx="3384550"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印刷系统的简单协作图</a:t>
            </a:r>
          </a:p>
        </p:txBody>
      </p:sp>
      <p:sp>
        <p:nvSpPr>
          <p:cNvPr id="244741" name="Text Box 5">
            <a:extLst>
              <a:ext uri="{FF2B5EF4-FFF2-40B4-BE49-F238E27FC236}">
                <a16:creationId xmlns:a16="http://schemas.microsoft.com/office/drawing/2014/main" id="{B0625EA7-0544-E88F-8FAC-FAF3D9BBD5C9}"/>
              </a:ext>
            </a:extLst>
          </p:cNvPr>
          <p:cNvSpPr txBox="1">
            <a:spLocks noChangeArrowheads="1"/>
          </p:cNvSpPr>
          <p:nvPr/>
        </p:nvSpPr>
        <p:spPr bwMode="auto">
          <a:xfrm>
            <a:off x="2063750" y="4681538"/>
            <a:ext cx="7272338"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三个对象：</a:t>
            </a:r>
            <a:r>
              <a:rPr lang="en-US" altLang="zh-CN" b="1">
                <a:solidFill>
                  <a:srgbClr val="000000"/>
                </a:solidFill>
              </a:rPr>
              <a:t>ProductionJob</a:t>
            </a:r>
            <a:r>
              <a:rPr lang="zh-CN" altLang="en-US" b="1">
                <a:solidFill>
                  <a:srgbClr val="000000"/>
                </a:solidFill>
              </a:rPr>
              <a:t>、</a:t>
            </a:r>
            <a:r>
              <a:rPr lang="en-US" altLang="zh-CN" b="1">
                <a:solidFill>
                  <a:srgbClr val="000000"/>
                </a:solidFill>
              </a:rPr>
              <a:t>WorkOrder</a:t>
            </a:r>
            <a:r>
              <a:rPr lang="zh-CN" altLang="en-US" b="1">
                <a:solidFill>
                  <a:srgbClr val="000000"/>
                </a:solidFill>
              </a:rPr>
              <a:t>与</a:t>
            </a:r>
            <a:r>
              <a:rPr lang="en-US" altLang="zh-CN" b="1">
                <a:solidFill>
                  <a:srgbClr val="000000"/>
                </a:solidFill>
              </a:rPr>
              <a:t>JobQueue</a:t>
            </a:r>
          </a:p>
        </p:txBody>
      </p:sp>
      <p:sp>
        <p:nvSpPr>
          <p:cNvPr id="244742" name="Text Box 6">
            <a:extLst>
              <a:ext uri="{FF2B5EF4-FFF2-40B4-BE49-F238E27FC236}">
                <a16:creationId xmlns:a16="http://schemas.microsoft.com/office/drawing/2014/main" id="{BB439622-7553-73DB-D949-427B1CD2B7E5}"/>
              </a:ext>
            </a:extLst>
          </p:cNvPr>
          <p:cNvSpPr txBox="1">
            <a:spLocks noChangeArrowheads="1"/>
          </p:cNvSpPr>
          <p:nvPr/>
        </p:nvSpPr>
        <p:spPr bwMode="auto">
          <a:xfrm>
            <a:off x="3935413" y="5400675"/>
            <a:ext cx="3960812"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箭头表示对象间传递的消息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4739"/>
                                        </p:tgtEl>
                                        <p:attrNameLst>
                                          <p:attrName>style.visibility</p:attrName>
                                        </p:attrNameLst>
                                      </p:cBhvr>
                                      <p:to>
                                        <p:strVal val="visible"/>
                                      </p:to>
                                    </p:set>
                                    <p:anim calcmode="lin" valueType="num">
                                      <p:cBhvr additive="base">
                                        <p:cTn id="7" dur="1000" fill="hold"/>
                                        <p:tgtEl>
                                          <p:spTgt spid="244739"/>
                                        </p:tgtEl>
                                        <p:attrNameLst>
                                          <p:attrName>ppt_x</p:attrName>
                                        </p:attrNameLst>
                                      </p:cBhvr>
                                      <p:tavLst>
                                        <p:tav tm="0">
                                          <p:val>
                                            <p:strVal val="#ppt_x"/>
                                          </p:val>
                                        </p:tav>
                                        <p:tav tm="100000">
                                          <p:val>
                                            <p:strVal val="#ppt_x"/>
                                          </p:val>
                                        </p:tav>
                                      </p:tavLst>
                                    </p:anim>
                                    <p:anim calcmode="lin" valueType="num">
                                      <p:cBhvr additive="base">
                                        <p:cTn id="8" dur="1000" fill="hold"/>
                                        <p:tgtEl>
                                          <p:spTgt spid="2447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4740"/>
                                        </p:tgtEl>
                                        <p:attrNameLst>
                                          <p:attrName>style.visibility</p:attrName>
                                        </p:attrNameLst>
                                      </p:cBhvr>
                                      <p:to>
                                        <p:strVal val="visible"/>
                                      </p:to>
                                    </p:set>
                                    <p:anim calcmode="lin" valueType="num">
                                      <p:cBhvr additive="base">
                                        <p:cTn id="11" dur="2000" fill="hold"/>
                                        <p:tgtEl>
                                          <p:spTgt spid="244740"/>
                                        </p:tgtEl>
                                        <p:attrNameLst>
                                          <p:attrName>ppt_x</p:attrName>
                                        </p:attrNameLst>
                                      </p:cBhvr>
                                      <p:tavLst>
                                        <p:tav tm="0">
                                          <p:val>
                                            <p:strVal val="#ppt_x"/>
                                          </p:val>
                                        </p:tav>
                                        <p:tav tm="100000">
                                          <p:val>
                                            <p:strVal val="#ppt_x"/>
                                          </p:val>
                                        </p:tav>
                                      </p:tavLst>
                                    </p:anim>
                                    <p:anim calcmode="lin" valueType="num">
                                      <p:cBhvr additive="base">
                                        <p:cTn id="12" dur="2000" fill="hold"/>
                                        <p:tgtEl>
                                          <p:spTgt spid="24474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4741"/>
                                        </p:tgtEl>
                                        <p:attrNameLst>
                                          <p:attrName>style.visibility</p:attrName>
                                        </p:attrNameLst>
                                      </p:cBhvr>
                                      <p:to>
                                        <p:strVal val="visible"/>
                                      </p:to>
                                    </p:set>
                                    <p:animEffect transition="in" filter="blinds(horizontal)">
                                      <p:cBhvr>
                                        <p:cTn id="17" dur="1000"/>
                                        <p:tgtEl>
                                          <p:spTgt spid="2447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44742"/>
                                        </p:tgtEl>
                                        <p:attrNameLst>
                                          <p:attrName>style.visibility</p:attrName>
                                        </p:attrNameLst>
                                      </p:cBhvr>
                                      <p:to>
                                        <p:strVal val="visible"/>
                                      </p:to>
                                    </p:set>
                                    <p:animEffect transition="in" filter="box(in)">
                                      <p:cBhvr>
                                        <p:cTn id="22" dur="1000"/>
                                        <p:tgtEl>
                                          <p:spTgt spid="244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0" grpId="0" animBg="1"/>
      <p:bldP spid="244741" grpId="0" animBg="1"/>
      <p:bldP spid="24474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6">
            <a:extLst>
              <a:ext uri="{FF2B5EF4-FFF2-40B4-BE49-F238E27FC236}">
                <a16:creationId xmlns:a16="http://schemas.microsoft.com/office/drawing/2014/main" id="{A46DC33D-B1E3-4D24-2509-9DEB81303EE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6ACCE76-6B19-4596-9A81-ED757EE53467}" type="slidenum">
              <a:rPr lang="en-US" altLang="zh-CN" sz="1200">
                <a:solidFill>
                  <a:srgbClr val="000000"/>
                </a:solidFill>
                <a:latin typeface="Arial" panose="020B0604020202020204" pitchFamily="34" charset="0"/>
              </a:rPr>
              <a:pPr fontAlgn="base">
                <a:spcBef>
                  <a:spcPct val="0"/>
                </a:spcBef>
                <a:spcAft>
                  <a:spcPct val="0"/>
                </a:spcAft>
              </a:pPr>
              <a:t>57</a:t>
            </a:fld>
            <a:endParaRPr lang="en-US" altLang="zh-CN" sz="1200">
              <a:solidFill>
                <a:srgbClr val="000000"/>
              </a:solidFill>
              <a:latin typeface="Arial" panose="020B0604020202020204" pitchFamily="34" charset="0"/>
            </a:endParaRPr>
          </a:p>
        </p:txBody>
      </p:sp>
      <p:sp>
        <p:nvSpPr>
          <p:cNvPr id="141314" name="Rectangle 2">
            <a:extLst>
              <a:ext uri="{FF2B5EF4-FFF2-40B4-BE49-F238E27FC236}">
                <a16:creationId xmlns:a16="http://schemas.microsoft.com/office/drawing/2014/main" id="{3BC91045-DBD9-3970-F3F4-DAA9E5141D11}"/>
              </a:ext>
            </a:extLst>
          </p:cNvPr>
          <p:cNvSpPr>
            <a:spLocks noGrp="1" noChangeArrowheads="1"/>
          </p:cNvSpPr>
          <p:nvPr>
            <p:ph type="title"/>
          </p:nvPr>
        </p:nvSpPr>
        <p:spPr/>
        <p:txBody>
          <a:bodyPr/>
          <a:lstStyle/>
          <a:p>
            <a:r>
              <a:rPr lang="zh-CN" altLang="en-US"/>
              <a:t>步骤</a:t>
            </a:r>
            <a:r>
              <a:rPr lang="en-US" altLang="zh-CN"/>
              <a:t>3b</a:t>
            </a:r>
            <a:r>
              <a:rPr lang="zh-CN" altLang="en-US"/>
              <a:t>：确定接口</a:t>
            </a:r>
          </a:p>
        </p:txBody>
      </p:sp>
      <p:sp>
        <p:nvSpPr>
          <p:cNvPr id="141315" name="Rectangle 3">
            <a:extLst>
              <a:ext uri="{FF2B5EF4-FFF2-40B4-BE49-F238E27FC236}">
                <a16:creationId xmlns:a16="http://schemas.microsoft.com/office/drawing/2014/main" id="{4334171E-1F9F-F9F7-487B-A56163D8093D}"/>
              </a:ext>
            </a:extLst>
          </p:cNvPr>
          <p:cNvSpPr>
            <a:spLocks noGrp="1" noChangeArrowheads="1"/>
          </p:cNvSpPr>
          <p:nvPr>
            <p:ph type="body" idx="1"/>
          </p:nvPr>
        </p:nvSpPr>
        <p:spPr>
          <a:xfrm>
            <a:off x="1981200" y="1412875"/>
            <a:ext cx="8229600" cy="4718050"/>
          </a:xfrm>
        </p:spPr>
        <p:txBody>
          <a:bodyPr/>
          <a:lstStyle/>
          <a:p>
            <a:pPr>
              <a:lnSpc>
                <a:spcPct val="150000"/>
              </a:lnSpc>
              <a:spcBef>
                <a:spcPct val="50000"/>
              </a:spcBef>
            </a:pPr>
            <a:r>
              <a:rPr lang="zh-CN" altLang="en-US" sz="3200"/>
              <a:t>接口：</a:t>
            </a:r>
          </a:p>
          <a:p>
            <a:pPr lvl="1">
              <a:lnSpc>
                <a:spcPct val="150000"/>
              </a:lnSpc>
              <a:spcBef>
                <a:spcPct val="50000"/>
              </a:spcBef>
            </a:pPr>
            <a:r>
              <a:rPr lang="zh-CN" altLang="en-US" sz="2800"/>
              <a:t>一组外部可见的</a:t>
            </a:r>
            <a:r>
              <a:rPr lang="en-US" altLang="zh-CN" sz="2800"/>
              <a:t>(</a:t>
            </a:r>
            <a:r>
              <a:rPr lang="zh-CN" altLang="en-US" sz="2800"/>
              <a:t>即公共的</a:t>
            </a:r>
            <a:r>
              <a:rPr lang="en-US" altLang="zh-CN" sz="2800"/>
              <a:t>)</a:t>
            </a:r>
            <a:r>
              <a:rPr lang="zh-CN" altLang="en-US" sz="2800">
                <a:solidFill>
                  <a:srgbClr val="FF0000"/>
                </a:solidFill>
              </a:rPr>
              <a:t>操作</a:t>
            </a:r>
            <a:r>
              <a:rPr lang="zh-CN" altLang="en-US" sz="2800"/>
              <a:t>，不包括内部结构，没有属性，没有关联。（只有操作，没有属性）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6">
            <a:extLst>
              <a:ext uri="{FF2B5EF4-FFF2-40B4-BE49-F238E27FC236}">
                <a16:creationId xmlns:a16="http://schemas.microsoft.com/office/drawing/2014/main" id="{E3E49EAB-1B1A-0F03-CFDF-8AFDDEAC870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1FC9675-B81F-4B65-82DC-EABE0CBBC5DF}" type="slidenum">
              <a:rPr lang="en-US" altLang="zh-CN" sz="1200">
                <a:solidFill>
                  <a:srgbClr val="000000"/>
                </a:solidFill>
                <a:latin typeface="Arial" panose="020B0604020202020204" pitchFamily="34" charset="0"/>
              </a:rPr>
              <a:pPr fontAlgn="base">
                <a:spcBef>
                  <a:spcPct val="0"/>
                </a:spcBef>
                <a:spcAft>
                  <a:spcPct val="0"/>
                </a:spcAft>
              </a:pPr>
              <a:t>58</a:t>
            </a:fld>
            <a:endParaRPr lang="en-US" altLang="zh-CN" sz="1200">
              <a:solidFill>
                <a:srgbClr val="000000"/>
              </a:solidFill>
              <a:latin typeface="Arial" panose="020B0604020202020204" pitchFamily="34" charset="0"/>
            </a:endParaRPr>
          </a:p>
        </p:txBody>
      </p:sp>
      <p:sp>
        <p:nvSpPr>
          <p:cNvPr id="142338" name="Rectangle 2">
            <a:extLst>
              <a:ext uri="{FF2B5EF4-FFF2-40B4-BE49-F238E27FC236}">
                <a16:creationId xmlns:a16="http://schemas.microsoft.com/office/drawing/2014/main" id="{760805EC-6072-E084-DB16-30ADF71FFC4F}"/>
              </a:ext>
            </a:extLst>
          </p:cNvPr>
          <p:cNvSpPr>
            <a:spLocks noGrp="1" noChangeArrowheads="1"/>
          </p:cNvSpPr>
          <p:nvPr>
            <p:ph type="title"/>
          </p:nvPr>
        </p:nvSpPr>
        <p:spPr/>
        <p:txBody>
          <a:bodyPr/>
          <a:lstStyle/>
          <a:p>
            <a:r>
              <a:rPr lang="zh-CN" altLang="en-US"/>
              <a:t>步骤</a:t>
            </a:r>
            <a:r>
              <a:rPr lang="en-US" altLang="zh-CN"/>
              <a:t>3b</a:t>
            </a:r>
            <a:r>
              <a:rPr lang="zh-CN" altLang="en-US"/>
              <a:t>：确定接口</a:t>
            </a:r>
          </a:p>
        </p:txBody>
      </p:sp>
      <p:sp>
        <p:nvSpPr>
          <p:cNvPr id="142339" name="Rectangle 3">
            <a:extLst>
              <a:ext uri="{FF2B5EF4-FFF2-40B4-BE49-F238E27FC236}">
                <a16:creationId xmlns:a16="http://schemas.microsoft.com/office/drawing/2014/main" id="{862751C2-CF67-5C7B-22D2-3B7A85DEE435}"/>
              </a:ext>
            </a:extLst>
          </p:cNvPr>
          <p:cNvSpPr>
            <a:spLocks noGrp="1" noChangeArrowheads="1"/>
          </p:cNvSpPr>
          <p:nvPr>
            <p:ph type="body" sz="half" idx="1"/>
          </p:nvPr>
        </p:nvSpPr>
        <p:spPr>
          <a:xfrm>
            <a:off x="1981200" y="1087438"/>
            <a:ext cx="7715250" cy="5078412"/>
          </a:xfrm>
        </p:spPr>
        <p:txBody>
          <a:bodyPr/>
          <a:lstStyle/>
          <a:p>
            <a:r>
              <a:rPr lang="zh-CN" altLang="en-US"/>
              <a:t>图</a:t>
            </a:r>
            <a:r>
              <a:rPr lang="en-US" altLang="zh-CN"/>
              <a:t>9-1</a:t>
            </a:r>
            <a:r>
              <a:rPr lang="zh-CN" altLang="en-US"/>
              <a:t>的</a:t>
            </a:r>
            <a:r>
              <a:rPr lang="en-US" altLang="zh-CN"/>
              <a:t>initiateJob</a:t>
            </a:r>
            <a:r>
              <a:rPr lang="zh-CN" altLang="en-US"/>
              <a:t>接口</a:t>
            </a:r>
          </a:p>
          <a:p>
            <a:endParaRPr lang="zh-CN" altLang="en-US"/>
          </a:p>
        </p:txBody>
      </p:sp>
      <p:graphicFrame>
        <p:nvGraphicFramePr>
          <p:cNvPr id="331792" name="Group 16">
            <a:extLst>
              <a:ext uri="{FF2B5EF4-FFF2-40B4-BE49-F238E27FC236}">
                <a16:creationId xmlns:a16="http://schemas.microsoft.com/office/drawing/2014/main" id="{FD5C6B36-F8F9-AD50-D7C1-F534EC6E475E}"/>
              </a:ext>
            </a:extLst>
          </p:cNvPr>
          <p:cNvGraphicFramePr>
            <a:graphicFrameLocks noGrp="1"/>
          </p:cNvGraphicFramePr>
          <p:nvPr>
            <p:ph sz="half" idx="2"/>
          </p:nvPr>
        </p:nvGraphicFramePr>
        <p:xfrm>
          <a:off x="3863975" y="2220913"/>
          <a:ext cx="2520950" cy="1649412"/>
        </p:xfrm>
        <a:graphic>
          <a:graphicData uri="http://schemas.openxmlformats.org/drawingml/2006/table">
            <a:tbl>
              <a:tblPr/>
              <a:tblGrid>
                <a:gridCol w="2520950">
                  <a:extLst>
                    <a:ext uri="{9D8B030D-6E8A-4147-A177-3AD203B41FA5}">
                      <a16:colId xmlns:a16="http://schemas.microsoft.com/office/drawing/2014/main" val="20000"/>
                    </a:ext>
                  </a:extLst>
                </a:gridCol>
              </a:tblGrid>
              <a:tr h="628650">
                <a:tc>
                  <a:txBody>
                    <a:bodyPr/>
                    <a:lstStyle>
                      <a:lvl1pPr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344488" eaLnBrk="0" hangingPunct="0">
                        <a:spcBef>
                          <a:spcPct val="20000"/>
                        </a:spcBef>
                        <a:buClr>
                          <a:schemeClr val="accent2"/>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671513"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023938" eaLnBrk="0" hangingPunct="0">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1341438" eaLnBrk="0" hangingPunct="0">
                        <a:spcBef>
                          <a:spcPct val="20000"/>
                        </a:spcBef>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17986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2558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27130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1702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&lt;&lt;interface&gt;&gt;</a:t>
                      </a:r>
                    </a:p>
                    <a:p>
                      <a:pPr marL="0" marR="0" lvl="0" indent="0" algn="ctr"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initiateJob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0762">
                <a:tc>
                  <a:txBody>
                    <a:bodyPr/>
                    <a:lstStyle>
                      <a:lvl1pPr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344488" eaLnBrk="0" hangingPunct="0">
                        <a:spcBef>
                          <a:spcPct val="20000"/>
                        </a:spcBef>
                        <a:buClr>
                          <a:schemeClr val="accent2"/>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671513"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023938" eaLnBrk="0" hangingPunct="0">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1341438" eaLnBrk="0" hangingPunct="0">
                        <a:spcBef>
                          <a:spcPct val="20000"/>
                        </a:spcBef>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17986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2558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27130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1702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buildWorkOrder()</a:t>
                      </a:r>
                    </a:p>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checkPriority()</a:t>
                      </a:r>
                    </a:p>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passJobtoProduction()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2348" name="Text Box 17">
            <a:extLst>
              <a:ext uri="{FF2B5EF4-FFF2-40B4-BE49-F238E27FC236}">
                <a16:creationId xmlns:a16="http://schemas.microsoft.com/office/drawing/2014/main" id="{294EA82F-816C-5010-E9AA-44F5B5BFF455}"/>
              </a:ext>
            </a:extLst>
          </p:cNvPr>
          <p:cNvSpPr txBox="1">
            <a:spLocks noChangeArrowheads="1"/>
          </p:cNvSpPr>
          <p:nvPr/>
        </p:nvSpPr>
        <p:spPr bwMode="auto">
          <a:xfrm>
            <a:off x="3575051" y="5257800"/>
            <a:ext cx="5184775"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多个功能，没有展示出足够的内聚性</a:t>
            </a:r>
          </a:p>
        </p:txBody>
      </p:sp>
      <p:sp>
        <p:nvSpPr>
          <p:cNvPr id="142349" name="Text Box 18">
            <a:extLst>
              <a:ext uri="{FF2B5EF4-FFF2-40B4-BE49-F238E27FC236}">
                <a16:creationId xmlns:a16="http://schemas.microsoft.com/office/drawing/2014/main" id="{75D19021-2BC0-E1FB-EB2F-1F8503F9E584}"/>
              </a:ext>
            </a:extLst>
          </p:cNvPr>
          <p:cNvSpPr txBox="1">
            <a:spLocks noChangeArrowheads="1"/>
          </p:cNvSpPr>
          <p:nvPr/>
        </p:nvSpPr>
        <p:spPr bwMode="auto">
          <a:xfrm>
            <a:off x="6816726" y="2005013"/>
            <a:ext cx="1871663"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建立工作单</a:t>
            </a:r>
          </a:p>
        </p:txBody>
      </p:sp>
      <p:sp>
        <p:nvSpPr>
          <p:cNvPr id="142350" name="Text Box 19">
            <a:extLst>
              <a:ext uri="{FF2B5EF4-FFF2-40B4-BE49-F238E27FC236}">
                <a16:creationId xmlns:a16="http://schemas.microsoft.com/office/drawing/2014/main" id="{06451B4F-0BBE-516C-8959-90AA21720027}"/>
              </a:ext>
            </a:extLst>
          </p:cNvPr>
          <p:cNvSpPr txBox="1">
            <a:spLocks noChangeArrowheads="1"/>
          </p:cNvSpPr>
          <p:nvPr/>
        </p:nvSpPr>
        <p:spPr bwMode="auto">
          <a:xfrm>
            <a:off x="6888163" y="2868613"/>
            <a:ext cx="2722562" cy="47625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检查任务的优先级</a:t>
            </a:r>
          </a:p>
        </p:txBody>
      </p:sp>
      <p:sp>
        <p:nvSpPr>
          <p:cNvPr id="142351" name="Text Box 20">
            <a:extLst>
              <a:ext uri="{FF2B5EF4-FFF2-40B4-BE49-F238E27FC236}">
                <a16:creationId xmlns:a16="http://schemas.microsoft.com/office/drawing/2014/main" id="{4C49D8A3-C263-ABCC-D6F7-0C40A4204BB9}"/>
              </a:ext>
            </a:extLst>
          </p:cNvPr>
          <p:cNvSpPr txBox="1">
            <a:spLocks noChangeArrowheads="1"/>
          </p:cNvSpPr>
          <p:nvPr/>
        </p:nvSpPr>
        <p:spPr bwMode="auto">
          <a:xfrm>
            <a:off x="6888164" y="3660775"/>
            <a:ext cx="3146425" cy="476250"/>
          </a:xfrm>
          <a:prstGeom prst="rect">
            <a:avLst/>
          </a:prstGeom>
          <a:noFill/>
          <a:ln w="19050"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将任务传递给生产线</a:t>
            </a:r>
          </a:p>
        </p:txBody>
      </p:sp>
      <p:sp>
        <p:nvSpPr>
          <p:cNvPr id="142352" name="Line 21">
            <a:extLst>
              <a:ext uri="{FF2B5EF4-FFF2-40B4-BE49-F238E27FC236}">
                <a16:creationId xmlns:a16="http://schemas.microsoft.com/office/drawing/2014/main" id="{9138CED3-88CC-51AA-160B-1E6AE4DE5834}"/>
              </a:ext>
            </a:extLst>
          </p:cNvPr>
          <p:cNvSpPr>
            <a:spLocks noChangeShapeType="1"/>
          </p:cNvSpPr>
          <p:nvPr/>
        </p:nvSpPr>
        <p:spPr bwMode="auto">
          <a:xfrm flipV="1">
            <a:off x="5664201" y="2220913"/>
            <a:ext cx="1152525" cy="863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42353" name="Line 22">
            <a:extLst>
              <a:ext uri="{FF2B5EF4-FFF2-40B4-BE49-F238E27FC236}">
                <a16:creationId xmlns:a16="http://schemas.microsoft.com/office/drawing/2014/main" id="{C409FFC4-81A8-2C2C-2133-D803BA4E37C8}"/>
              </a:ext>
            </a:extLst>
          </p:cNvPr>
          <p:cNvSpPr>
            <a:spLocks noChangeShapeType="1"/>
          </p:cNvSpPr>
          <p:nvPr/>
        </p:nvSpPr>
        <p:spPr bwMode="auto">
          <a:xfrm flipV="1">
            <a:off x="5375275" y="3084513"/>
            <a:ext cx="1512888"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42354" name="Line 23">
            <a:extLst>
              <a:ext uri="{FF2B5EF4-FFF2-40B4-BE49-F238E27FC236}">
                <a16:creationId xmlns:a16="http://schemas.microsoft.com/office/drawing/2014/main" id="{11B580A4-F96D-E7F2-21FC-37B62505E804}"/>
              </a:ext>
            </a:extLst>
          </p:cNvPr>
          <p:cNvSpPr>
            <a:spLocks noChangeShapeType="1"/>
          </p:cNvSpPr>
          <p:nvPr/>
        </p:nvSpPr>
        <p:spPr bwMode="auto">
          <a:xfrm>
            <a:off x="6167439" y="3660775"/>
            <a:ext cx="720725"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6">
            <a:extLst>
              <a:ext uri="{FF2B5EF4-FFF2-40B4-BE49-F238E27FC236}">
                <a16:creationId xmlns:a16="http://schemas.microsoft.com/office/drawing/2014/main" id="{EC0EEAD7-B030-8C52-D005-E8D1751C13F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E9BBC2C-7C33-4843-A779-77E0BD9EE109}" type="slidenum">
              <a:rPr lang="en-US" altLang="zh-CN" sz="1200">
                <a:solidFill>
                  <a:srgbClr val="000000"/>
                </a:solidFill>
                <a:latin typeface="Arial" panose="020B0604020202020204" pitchFamily="34" charset="0"/>
              </a:rPr>
              <a:pPr fontAlgn="base">
                <a:spcBef>
                  <a:spcPct val="0"/>
                </a:spcBef>
                <a:spcAft>
                  <a:spcPct val="0"/>
                </a:spcAft>
              </a:pPr>
              <a:t>59</a:t>
            </a:fld>
            <a:endParaRPr lang="en-US" altLang="zh-CN" sz="1200">
              <a:solidFill>
                <a:srgbClr val="000000"/>
              </a:solidFill>
              <a:latin typeface="Arial" panose="020B0604020202020204" pitchFamily="34" charset="0"/>
            </a:endParaRPr>
          </a:p>
        </p:txBody>
      </p:sp>
      <p:sp>
        <p:nvSpPr>
          <p:cNvPr id="143362" name="Rectangle 2">
            <a:extLst>
              <a:ext uri="{FF2B5EF4-FFF2-40B4-BE49-F238E27FC236}">
                <a16:creationId xmlns:a16="http://schemas.microsoft.com/office/drawing/2014/main" id="{57CFCF9F-0E28-A532-2827-8D7408543D75}"/>
              </a:ext>
            </a:extLst>
          </p:cNvPr>
          <p:cNvSpPr>
            <a:spLocks noGrp="1" noChangeArrowheads="1"/>
          </p:cNvSpPr>
          <p:nvPr>
            <p:ph type="title" idx="4294967295"/>
          </p:nvPr>
        </p:nvSpPr>
        <p:spPr>
          <a:xfrm>
            <a:off x="1919288" y="260351"/>
            <a:ext cx="7772400" cy="576263"/>
          </a:xfrm>
        </p:spPr>
        <p:txBody>
          <a:bodyPr/>
          <a:lstStyle/>
          <a:p>
            <a:pPr eaLnBrk="1" hangingPunct="1"/>
            <a:r>
              <a:rPr lang="zh-CN" altLang="en-US"/>
              <a:t>步骤</a:t>
            </a:r>
            <a:r>
              <a:rPr lang="en-US" altLang="zh-CN"/>
              <a:t>3b</a:t>
            </a:r>
            <a:r>
              <a:rPr lang="zh-CN" altLang="en-US"/>
              <a:t>：确定接口（案例）</a:t>
            </a:r>
          </a:p>
        </p:txBody>
      </p:sp>
      <p:pic>
        <p:nvPicPr>
          <p:cNvPr id="246787" name="Picture 4" descr="H:\软件工程\2009\图\chapter 10\绘图9.gif">
            <a:extLst>
              <a:ext uri="{FF2B5EF4-FFF2-40B4-BE49-F238E27FC236}">
                <a16:creationId xmlns:a16="http://schemas.microsoft.com/office/drawing/2014/main" id="{C90A5C77-B5B1-CD83-5E67-B68344A02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2046289"/>
            <a:ext cx="6696075"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88" name="Text Box 4">
            <a:extLst>
              <a:ext uri="{FF2B5EF4-FFF2-40B4-BE49-F238E27FC236}">
                <a16:creationId xmlns:a16="http://schemas.microsoft.com/office/drawing/2014/main" id="{ACAAF5B2-D3D7-7D07-E2A8-B5E95F7F5E5D}"/>
              </a:ext>
            </a:extLst>
          </p:cNvPr>
          <p:cNvSpPr txBox="1">
            <a:spLocks noChangeArrowheads="1"/>
          </p:cNvSpPr>
          <p:nvPr/>
        </p:nvSpPr>
        <p:spPr bwMode="auto">
          <a:xfrm>
            <a:off x="5951538" y="5229225"/>
            <a:ext cx="4392612" cy="8509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从而实现接口内聚，集中在一个功能上。</a:t>
            </a:r>
          </a:p>
        </p:txBody>
      </p:sp>
      <p:graphicFrame>
        <p:nvGraphicFramePr>
          <p:cNvPr id="246799" name="Group 15">
            <a:extLst>
              <a:ext uri="{FF2B5EF4-FFF2-40B4-BE49-F238E27FC236}">
                <a16:creationId xmlns:a16="http://schemas.microsoft.com/office/drawing/2014/main" id="{19EFF4BD-4AF8-AED7-DFA7-55963055B846}"/>
              </a:ext>
            </a:extLst>
          </p:cNvPr>
          <p:cNvGraphicFramePr>
            <a:graphicFrameLocks noGrp="1"/>
          </p:cNvGraphicFramePr>
          <p:nvPr/>
        </p:nvGraphicFramePr>
        <p:xfrm>
          <a:off x="7896225" y="3652838"/>
          <a:ext cx="2520950" cy="1058862"/>
        </p:xfrm>
        <a:graphic>
          <a:graphicData uri="http://schemas.openxmlformats.org/drawingml/2006/table">
            <a:tbl>
              <a:tblPr/>
              <a:tblGrid>
                <a:gridCol w="2520950">
                  <a:extLst>
                    <a:ext uri="{9D8B030D-6E8A-4147-A177-3AD203B41FA5}">
                      <a16:colId xmlns:a16="http://schemas.microsoft.com/office/drawing/2014/main" val="20000"/>
                    </a:ext>
                  </a:extLst>
                </a:gridCol>
              </a:tblGrid>
              <a:tr h="628340">
                <a:tc>
                  <a:txBody>
                    <a:bodyPr/>
                    <a:lstStyle>
                      <a:lvl1pPr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344488" eaLnBrk="0" hangingPunct="0">
                        <a:spcBef>
                          <a:spcPct val="20000"/>
                        </a:spcBef>
                        <a:buClr>
                          <a:schemeClr val="accent2"/>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671513"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023938" eaLnBrk="0" hangingPunct="0">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1341438" eaLnBrk="0" hangingPunct="0">
                        <a:spcBef>
                          <a:spcPct val="20000"/>
                        </a:spcBef>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17986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2558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27130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1702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&lt;&lt;interface&gt;&gt;</a:t>
                      </a:r>
                    </a:p>
                    <a:p>
                      <a:pPr marL="0" marR="0" lvl="0" indent="0" algn="ctr"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initiateJob</a:t>
                      </a:r>
                    </a:p>
                  </a:txBody>
                  <a:tcPr marT="45753" marB="4575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0522">
                <a:tc>
                  <a:txBody>
                    <a:bodyPr/>
                    <a:lstStyle>
                      <a:lvl1pPr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marL="344488" eaLnBrk="0" hangingPunct="0">
                        <a:spcBef>
                          <a:spcPct val="20000"/>
                        </a:spcBef>
                        <a:buClr>
                          <a:schemeClr val="accent2"/>
                        </a:buClr>
                        <a:buSzPct val="6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671513" eaLnBrk="0" hangingPunct="0">
                        <a:spcBef>
                          <a:spcPct val="20000"/>
                        </a:spcBef>
                        <a:buClr>
                          <a:schemeClr val="accent1"/>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023938" eaLnBrk="0" hangingPunct="0">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1341438" eaLnBrk="0" hangingPunct="0">
                        <a:spcBef>
                          <a:spcPct val="20000"/>
                        </a:spcBef>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17986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2558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27130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170238" eaLnBrk="0" fontAlgn="base" hangingPunct="0">
                        <a:spcBef>
                          <a:spcPct val="20000"/>
                        </a:spcBef>
                        <a:spcAft>
                          <a:spcPct val="0"/>
                        </a:spcAft>
                        <a:buClr>
                          <a:schemeClr val="accent1"/>
                        </a:buClr>
                        <a:buSzPct val="75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passJobtoProduction()</a:t>
                      </a:r>
                    </a:p>
                  </a:txBody>
                  <a:tcPr marT="45753" marB="4575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46800" name="Text Box 16">
            <a:extLst>
              <a:ext uri="{FF2B5EF4-FFF2-40B4-BE49-F238E27FC236}">
                <a16:creationId xmlns:a16="http://schemas.microsoft.com/office/drawing/2014/main" id="{73682944-ED26-C970-6164-BC009D6FB87F}"/>
              </a:ext>
            </a:extLst>
          </p:cNvPr>
          <p:cNvSpPr txBox="1">
            <a:spLocks noChangeArrowheads="1"/>
          </p:cNvSpPr>
          <p:nvPr/>
        </p:nvSpPr>
        <p:spPr bwMode="auto">
          <a:xfrm>
            <a:off x="1774825" y="3702051"/>
            <a:ext cx="2590800" cy="798513"/>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sz="1800" b="1">
                <a:solidFill>
                  <a:srgbClr val="000000"/>
                </a:solidFill>
              </a:rPr>
              <a:t>定义新类</a:t>
            </a:r>
          </a:p>
          <a:p>
            <a:pPr fontAlgn="base">
              <a:spcBef>
                <a:spcPct val="50000"/>
              </a:spcBef>
              <a:spcAft>
                <a:spcPct val="0"/>
              </a:spcAft>
            </a:pPr>
            <a:r>
              <a:rPr lang="zh-CN" altLang="en-US" sz="1800" b="1">
                <a:solidFill>
                  <a:srgbClr val="FF0000"/>
                </a:solidFill>
              </a:rPr>
              <a:t>操作成为新类的一部分</a:t>
            </a:r>
          </a:p>
        </p:txBody>
      </p:sp>
      <p:sp>
        <p:nvSpPr>
          <p:cNvPr id="246801" name="Line 17">
            <a:extLst>
              <a:ext uri="{FF2B5EF4-FFF2-40B4-BE49-F238E27FC236}">
                <a16:creationId xmlns:a16="http://schemas.microsoft.com/office/drawing/2014/main" id="{306C5A68-06B2-8279-BB59-02F25FE29BFD}"/>
              </a:ext>
            </a:extLst>
          </p:cNvPr>
          <p:cNvSpPr>
            <a:spLocks noChangeShapeType="1"/>
          </p:cNvSpPr>
          <p:nvPr/>
        </p:nvSpPr>
        <p:spPr bwMode="auto">
          <a:xfrm flipV="1">
            <a:off x="2495551" y="2776538"/>
            <a:ext cx="936625" cy="9255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6802" name="Line 18">
            <a:extLst>
              <a:ext uri="{FF2B5EF4-FFF2-40B4-BE49-F238E27FC236}">
                <a16:creationId xmlns:a16="http://schemas.microsoft.com/office/drawing/2014/main" id="{34148A1E-3A08-67C5-1676-AE5D83CD5EEB}"/>
              </a:ext>
            </a:extLst>
          </p:cNvPr>
          <p:cNvSpPr>
            <a:spLocks noChangeShapeType="1"/>
          </p:cNvSpPr>
          <p:nvPr/>
        </p:nvSpPr>
        <p:spPr bwMode="auto">
          <a:xfrm>
            <a:off x="2711450" y="4494213"/>
            <a:ext cx="647700" cy="94615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6803" name="Line 19">
            <a:extLst>
              <a:ext uri="{FF2B5EF4-FFF2-40B4-BE49-F238E27FC236}">
                <a16:creationId xmlns:a16="http://schemas.microsoft.com/office/drawing/2014/main" id="{42408591-052E-CF4C-4326-DAAA6F0709D2}"/>
              </a:ext>
            </a:extLst>
          </p:cNvPr>
          <p:cNvSpPr>
            <a:spLocks noChangeShapeType="1"/>
          </p:cNvSpPr>
          <p:nvPr/>
        </p:nvSpPr>
        <p:spPr bwMode="auto">
          <a:xfrm flipV="1">
            <a:off x="8472488" y="4711700"/>
            <a:ext cx="360362" cy="4460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43377" name="Text Box 20">
            <a:extLst>
              <a:ext uri="{FF2B5EF4-FFF2-40B4-BE49-F238E27FC236}">
                <a16:creationId xmlns:a16="http://schemas.microsoft.com/office/drawing/2014/main" id="{4E03CF6F-C5DA-E731-3A0E-934A33439A9D}"/>
              </a:ext>
            </a:extLst>
          </p:cNvPr>
          <p:cNvSpPr txBox="1">
            <a:spLocks noChangeArrowheads="1"/>
          </p:cNvSpPr>
          <p:nvPr/>
        </p:nvSpPr>
        <p:spPr bwMode="auto">
          <a:xfrm>
            <a:off x="1992314" y="908051"/>
            <a:ext cx="8135937"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30000"/>
              </a:lnSpc>
              <a:spcBef>
                <a:spcPct val="50000"/>
              </a:spcBef>
              <a:spcAft>
                <a:spcPct val="0"/>
              </a:spcAft>
            </a:pPr>
            <a:r>
              <a:rPr lang="zh-CN" altLang="en-US" sz="2200" b="1">
                <a:solidFill>
                  <a:srgbClr val="000000"/>
                </a:solidFill>
              </a:rPr>
              <a:t>为</a:t>
            </a:r>
            <a:r>
              <a:rPr lang="en-US" altLang="zh-CN" sz="2200" b="1">
                <a:solidFill>
                  <a:srgbClr val="000000"/>
                </a:solidFill>
              </a:rPr>
              <a:t>PrintJob</a:t>
            </a:r>
            <a:r>
              <a:rPr lang="zh-CN" altLang="en-US" sz="2200" b="1">
                <a:solidFill>
                  <a:srgbClr val="000000"/>
                </a:solidFill>
              </a:rPr>
              <a:t>重构接口和类定义</a:t>
            </a:r>
            <a:r>
              <a:rPr lang="en-US" altLang="zh-CN" sz="2200" b="1">
                <a:solidFill>
                  <a:srgbClr val="000000"/>
                </a:solidFill>
              </a:rPr>
              <a:t>—</a:t>
            </a:r>
            <a:r>
              <a:rPr lang="zh-CN" altLang="en-US" sz="2200" b="1">
                <a:solidFill>
                  <a:srgbClr val="000000"/>
                </a:solidFill>
              </a:rPr>
              <a:t>把</a:t>
            </a:r>
            <a:r>
              <a:rPr lang="en-US" altLang="zh-CN" sz="2200" b="1">
                <a:solidFill>
                  <a:srgbClr val="000000"/>
                </a:solidFill>
              </a:rPr>
              <a:t> </a:t>
            </a:r>
            <a:r>
              <a:rPr lang="zh-CN" altLang="en-US" sz="2200" b="1">
                <a:solidFill>
                  <a:srgbClr val="000000"/>
                </a:solidFill>
              </a:rPr>
              <a:t>建立工作单</a:t>
            </a:r>
            <a:r>
              <a:rPr kumimoji="0" lang="en-US" altLang="zh-CN" sz="2200" b="1">
                <a:solidFill>
                  <a:srgbClr val="000000"/>
                </a:solidFill>
              </a:rPr>
              <a:t>buildWorkOrder()</a:t>
            </a:r>
            <a:r>
              <a:rPr kumimoji="0" lang="zh-CN" altLang="en-US" sz="2200" b="1">
                <a:solidFill>
                  <a:srgbClr val="000000"/>
                </a:solidFill>
              </a:rPr>
              <a:t>和检查任务优先级</a:t>
            </a:r>
            <a:r>
              <a:rPr kumimoji="0" lang="en-US" altLang="zh-CN" sz="2200" b="1">
                <a:solidFill>
                  <a:srgbClr val="000000"/>
                </a:solidFill>
              </a:rPr>
              <a:t>checkPriority()</a:t>
            </a:r>
            <a:r>
              <a:rPr kumimoji="0" lang="zh-CN" altLang="en-US" sz="2200" b="1">
                <a:solidFill>
                  <a:srgbClr val="000000"/>
                </a:solidFill>
              </a:rPr>
              <a:t>放到新类中。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6787"/>
                                        </p:tgtEl>
                                        <p:attrNameLst>
                                          <p:attrName>style.visibility</p:attrName>
                                        </p:attrNameLst>
                                      </p:cBhvr>
                                      <p:to>
                                        <p:strVal val="visible"/>
                                      </p:to>
                                    </p:set>
                                    <p:anim calcmode="lin" valueType="num">
                                      <p:cBhvr additive="base">
                                        <p:cTn id="7" dur="2000" fill="hold"/>
                                        <p:tgtEl>
                                          <p:spTgt spid="246787"/>
                                        </p:tgtEl>
                                        <p:attrNameLst>
                                          <p:attrName>ppt_x</p:attrName>
                                        </p:attrNameLst>
                                      </p:cBhvr>
                                      <p:tavLst>
                                        <p:tav tm="0">
                                          <p:val>
                                            <p:strVal val="#ppt_x"/>
                                          </p:val>
                                        </p:tav>
                                        <p:tav tm="100000">
                                          <p:val>
                                            <p:strVal val="#ppt_x"/>
                                          </p:val>
                                        </p:tav>
                                      </p:tavLst>
                                    </p:anim>
                                    <p:anim calcmode="lin" valueType="num">
                                      <p:cBhvr additive="base">
                                        <p:cTn id="8" dur="2000" fill="hold"/>
                                        <p:tgtEl>
                                          <p:spTgt spid="24678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6800"/>
                                        </p:tgtEl>
                                        <p:attrNameLst>
                                          <p:attrName>style.visibility</p:attrName>
                                        </p:attrNameLst>
                                      </p:cBhvr>
                                      <p:to>
                                        <p:strVal val="visible"/>
                                      </p:to>
                                    </p:set>
                                    <p:anim calcmode="lin" valueType="num">
                                      <p:cBhvr additive="base">
                                        <p:cTn id="11" dur="1000" fill="hold"/>
                                        <p:tgtEl>
                                          <p:spTgt spid="246800"/>
                                        </p:tgtEl>
                                        <p:attrNameLst>
                                          <p:attrName>ppt_x</p:attrName>
                                        </p:attrNameLst>
                                      </p:cBhvr>
                                      <p:tavLst>
                                        <p:tav tm="0">
                                          <p:val>
                                            <p:strVal val="#ppt_x"/>
                                          </p:val>
                                        </p:tav>
                                        <p:tav tm="100000">
                                          <p:val>
                                            <p:strVal val="#ppt_x"/>
                                          </p:val>
                                        </p:tav>
                                      </p:tavLst>
                                    </p:anim>
                                    <p:anim calcmode="lin" valueType="num">
                                      <p:cBhvr additive="base">
                                        <p:cTn id="12" dur="1000" fill="hold"/>
                                        <p:tgtEl>
                                          <p:spTgt spid="24680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6801"/>
                                        </p:tgtEl>
                                        <p:attrNameLst>
                                          <p:attrName>style.visibility</p:attrName>
                                        </p:attrNameLst>
                                      </p:cBhvr>
                                      <p:to>
                                        <p:strVal val="visible"/>
                                      </p:to>
                                    </p:set>
                                    <p:anim calcmode="lin" valueType="num">
                                      <p:cBhvr additive="base">
                                        <p:cTn id="15" dur="1000" fill="hold"/>
                                        <p:tgtEl>
                                          <p:spTgt spid="246801"/>
                                        </p:tgtEl>
                                        <p:attrNameLst>
                                          <p:attrName>ppt_x</p:attrName>
                                        </p:attrNameLst>
                                      </p:cBhvr>
                                      <p:tavLst>
                                        <p:tav tm="0">
                                          <p:val>
                                            <p:strVal val="#ppt_x"/>
                                          </p:val>
                                        </p:tav>
                                        <p:tav tm="100000">
                                          <p:val>
                                            <p:strVal val="#ppt_x"/>
                                          </p:val>
                                        </p:tav>
                                      </p:tavLst>
                                    </p:anim>
                                    <p:anim calcmode="lin" valueType="num">
                                      <p:cBhvr additive="base">
                                        <p:cTn id="16" dur="1000" fill="hold"/>
                                        <p:tgtEl>
                                          <p:spTgt spid="24680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6802"/>
                                        </p:tgtEl>
                                        <p:attrNameLst>
                                          <p:attrName>style.visibility</p:attrName>
                                        </p:attrNameLst>
                                      </p:cBhvr>
                                      <p:to>
                                        <p:strVal val="visible"/>
                                      </p:to>
                                    </p:set>
                                    <p:anim calcmode="lin" valueType="num">
                                      <p:cBhvr additive="base">
                                        <p:cTn id="19" dur="1000" fill="hold"/>
                                        <p:tgtEl>
                                          <p:spTgt spid="246802"/>
                                        </p:tgtEl>
                                        <p:attrNameLst>
                                          <p:attrName>ppt_x</p:attrName>
                                        </p:attrNameLst>
                                      </p:cBhvr>
                                      <p:tavLst>
                                        <p:tav tm="0">
                                          <p:val>
                                            <p:strVal val="#ppt_x"/>
                                          </p:val>
                                        </p:tav>
                                        <p:tav tm="100000">
                                          <p:val>
                                            <p:strVal val="#ppt_x"/>
                                          </p:val>
                                        </p:tav>
                                      </p:tavLst>
                                    </p:anim>
                                    <p:anim calcmode="lin" valueType="num">
                                      <p:cBhvr additive="base">
                                        <p:cTn id="20" dur="1000" fill="hold"/>
                                        <p:tgtEl>
                                          <p:spTgt spid="24680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46799"/>
                                        </p:tgtEl>
                                        <p:attrNameLst>
                                          <p:attrName>style.visibility</p:attrName>
                                        </p:attrNameLst>
                                      </p:cBhvr>
                                      <p:to>
                                        <p:strVal val="visible"/>
                                      </p:to>
                                    </p:set>
                                    <p:animEffect transition="in" filter="blinds(horizontal)">
                                      <p:cBhvr>
                                        <p:cTn id="25" dur="1000"/>
                                        <p:tgtEl>
                                          <p:spTgt spid="246799"/>
                                        </p:tgtEl>
                                      </p:cBhvr>
                                    </p:animEffect>
                                  </p:childTnLst>
                                </p:cTn>
                              </p:par>
                              <p:par>
                                <p:cTn id="26" presetID="8" presetClass="entr" presetSubtype="16" fill="hold" grpId="0" nodeType="withEffect">
                                  <p:stCondLst>
                                    <p:cond delay="0"/>
                                  </p:stCondLst>
                                  <p:childTnLst>
                                    <p:set>
                                      <p:cBhvr>
                                        <p:cTn id="27" dur="1" fill="hold">
                                          <p:stCondLst>
                                            <p:cond delay="0"/>
                                          </p:stCondLst>
                                        </p:cTn>
                                        <p:tgtEl>
                                          <p:spTgt spid="246788"/>
                                        </p:tgtEl>
                                        <p:attrNameLst>
                                          <p:attrName>style.visibility</p:attrName>
                                        </p:attrNameLst>
                                      </p:cBhvr>
                                      <p:to>
                                        <p:strVal val="visible"/>
                                      </p:to>
                                    </p:set>
                                    <p:animEffect transition="in" filter="diamond(in)">
                                      <p:cBhvr>
                                        <p:cTn id="28" dur="1000"/>
                                        <p:tgtEl>
                                          <p:spTgt spid="246788"/>
                                        </p:tgtEl>
                                      </p:cBhvr>
                                    </p:animEffect>
                                  </p:childTnLst>
                                </p:cTn>
                              </p:par>
                              <p:par>
                                <p:cTn id="29" presetID="8" presetClass="entr" presetSubtype="16" fill="hold" nodeType="withEffect">
                                  <p:stCondLst>
                                    <p:cond delay="0"/>
                                  </p:stCondLst>
                                  <p:childTnLst>
                                    <p:set>
                                      <p:cBhvr>
                                        <p:cTn id="30" dur="1" fill="hold">
                                          <p:stCondLst>
                                            <p:cond delay="0"/>
                                          </p:stCondLst>
                                        </p:cTn>
                                        <p:tgtEl>
                                          <p:spTgt spid="246803"/>
                                        </p:tgtEl>
                                        <p:attrNameLst>
                                          <p:attrName>style.visibility</p:attrName>
                                        </p:attrNameLst>
                                      </p:cBhvr>
                                      <p:to>
                                        <p:strVal val="visible"/>
                                      </p:to>
                                    </p:set>
                                    <p:animEffect transition="in" filter="diamond(in)">
                                      <p:cBhvr>
                                        <p:cTn id="31" dur="1000"/>
                                        <p:tgtEl>
                                          <p:spTgt spid="246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animBg="1"/>
      <p:bldP spid="24680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6">
            <a:extLst>
              <a:ext uri="{FF2B5EF4-FFF2-40B4-BE49-F238E27FC236}">
                <a16:creationId xmlns:a16="http://schemas.microsoft.com/office/drawing/2014/main" id="{BE549E22-60E9-D6CF-C479-E91D6A38D6D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F8AD073-F320-46A7-B685-BD57CECE277E}" type="slidenum">
              <a:rPr lang="en-US" altLang="zh-CN" sz="1200">
                <a:solidFill>
                  <a:srgbClr val="000000"/>
                </a:solidFill>
                <a:latin typeface="Arial" panose="020B0604020202020204" pitchFamily="34" charset="0"/>
              </a:rPr>
              <a:pPr fontAlgn="base">
                <a:spcBef>
                  <a:spcPct val="0"/>
                </a:spcBef>
                <a:spcAft>
                  <a:spcPct val="0"/>
                </a:spcAft>
              </a:pPr>
              <a:t>60</a:t>
            </a:fld>
            <a:endParaRPr lang="en-US" altLang="zh-CN" sz="1200">
              <a:solidFill>
                <a:srgbClr val="000000"/>
              </a:solidFill>
              <a:latin typeface="Arial" panose="020B0604020202020204" pitchFamily="34" charset="0"/>
            </a:endParaRPr>
          </a:p>
        </p:txBody>
      </p:sp>
      <p:sp>
        <p:nvSpPr>
          <p:cNvPr id="145410" name="Rectangle 2">
            <a:extLst>
              <a:ext uri="{FF2B5EF4-FFF2-40B4-BE49-F238E27FC236}">
                <a16:creationId xmlns:a16="http://schemas.microsoft.com/office/drawing/2014/main" id="{E77772A1-7FDC-96E6-93CD-9BF13508B2F8}"/>
              </a:ext>
            </a:extLst>
          </p:cNvPr>
          <p:cNvSpPr>
            <a:spLocks noGrp="1" noChangeArrowheads="1"/>
          </p:cNvSpPr>
          <p:nvPr>
            <p:ph type="title" idx="4294967295"/>
          </p:nvPr>
        </p:nvSpPr>
        <p:spPr>
          <a:xfrm>
            <a:off x="1919288" y="188914"/>
            <a:ext cx="7772400" cy="719137"/>
          </a:xfrm>
        </p:spPr>
        <p:txBody>
          <a:bodyPr/>
          <a:lstStyle/>
          <a:p>
            <a:pPr eaLnBrk="1" hangingPunct="1"/>
            <a:r>
              <a:rPr lang="zh-CN" altLang="en-US"/>
              <a:t>步骤</a:t>
            </a:r>
            <a:r>
              <a:rPr lang="en-US" altLang="zh-CN"/>
              <a:t>3c</a:t>
            </a:r>
            <a:r>
              <a:rPr lang="zh-CN" altLang="en-US"/>
              <a:t>：细化属性（案例）</a:t>
            </a:r>
          </a:p>
        </p:txBody>
      </p:sp>
      <p:pic>
        <p:nvPicPr>
          <p:cNvPr id="145411" name="Picture 5" descr="H:\软件工程\2009\图\chapter 10\绘图10.gif">
            <a:extLst>
              <a:ext uri="{FF2B5EF4-FFF2-40B4-BE49-F238E27FC236}">
                <a16:creationId xmlns:a16="http://schemas.microsoft.com/office/drawing/2014/main" id="{7A6B7A48-AFF5-90BA-45A2-DA557B3BC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3251" y="1198563"/>
            <a:ext cx="2709863" cy="338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 Box 7">
            <a:extLst>
              <a:ext uri="{FF2B5EF4-FFF2-40B4-BE49-F238E27FC236}">
                <a16:creationId xmlns:a16="http://schemas.microsoft.com/office/drawing/2014/main" id="{D8D76CF4-C07E-D352-7A50-E377F4ADBD0A}"/>
              </a:ext>
            </a:extLst>
          </p:cNvPr>
          <p:cNvSpPr txBox="1">
            <a:spLocks noChangeArrowheads="1"/>
          </p:cNvSpPr>
          <p:nvPr/>
        </p:nvSpPr>
        <p:spPr bwMode="auto">
          <a:xfrm>
            <a:off x="5880100" y="2205038"/>
            <a:ext cx="4173538" cy="1033462"/>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numberOfSides: integer=</a:t>
            </a:r>
          </a:p>
          <a:p>
            <a:pPr fontAlgn="base">
              <a:spcBef>
                <a:spcPct val="50000"/>
              </a:spcBef>
              <a:spcAft>
                <a:spcPct val="0"/>
              </a:spcAft>
              <a:buClrTx/>
              <a:buSzTx/>
              <a:buNone/>
            </a:pPr>
            <a:r>
              <a:rPr kumimoji="1" lang="en-US" altLang="zh-CN">
                <a:solidFill>
                  <a:srgbClr val="000000"/>
                </a:solidFill>
                <a:latin typeface="Times New Roman" panose="02020603050405020304" pitchFamily="18" charset="0"/>
              </a:rPr>
              <a:t>1 {1,2</a:t>
            </a:r>
            <a:r>
              <a:rPr kumimoji="1" lang="zh-CN" altLang="en-US">
                <a:solidFill>
                  <a:srgbClr val="000000"/>
                </a:solidFill>
                <a:latin typeface="Times New Roman" panose="02020603050405020304" pitchFamily="18" charset="0"/>
              </a:rPr>
              <a:t>之一</a:t>
            </a:r>
            <a:r>
              <a:rPr kumimoji="1" lang="en-US" altLang="zh-CN">
                <a:solidFill>
                  <a:srgbClr val="000000"/>
                </a:solidFill>
                <a:latin typeface="Times New Roman" panose="02020603050405020304" pitchFamily="18" charset="0"/>
              </a:rPr>
              <a:t>}</a:t>
            </a:r>
          </a:p>
        </p:txBody>
      </p:sp>
      <p:sp>
        <p:nvSpPr>
          <p:cNvPr id="248838" name="Text Box 6">
            <a:extLst>
              <a:ext uri="{FF2B5EF4-FFF2-40B4-BE49-F238E27FC236}">
                <a16:creationId xmlns:a16="http://schemas.microsoft.com/office/drawing/2014/main" id="{5AB02CC6-2F4E-7AB6-9E47-316E61E8E252}"/>
              </a:ext>
            </a:extLst>
          </p:cNvPr>
          <p:cNvSpPr txBox="1">
            <a:spLocks noChangeArrowheads="1"/>
          </p:cNvSpPr>
          <p:nvPr/>
        </p:nvSpPr>
        <p:spPr bwMode="auto">
          <a:xfrm>
            <a:off x="5807076" y="1125538"/>
            <a:ext cx="1800225"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属性名</a:t>
            </a:r>
          </a:p>
        </p:txBody>
      </p:sp>
      <p:sp>
        <p:nvSpPr>
          <p:cNvPr id="248839" name="Text Box 7">
            <a:extLst>
              <a:ext uri="{FF2B5EF4-FFF2-40B4-BE49-F238E27FC236}">
                <a16:creationId xmlns:a16="http://schemas.microsoft.com/office/drawing/2014/main" id="{BC239EEA-5738-1DE4-CB25-C6F13C43C305}"/>
              </a:ext>
            </a:extLst>
          </p:cNvPr>
          <p:cNvSpPr txBox="1">
            <a:spLocks noChangeArrowheads="1"/>
          </p:cNvSpPr>
          <p:nvPr/>
        </p:nvSpPr>
        <p:spPr bwMode="auto">
          <a:xfrm>
            <a:off x="8328026" y="1341438"/>
            <a:ext cx="1439863"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数据类型</a:t>
            </a:r>
          </a:p>
        </p:txBody>
      </p:sp>
      <p:sp>
        <p:nvSpPr>
          <p:cNvPr id="248840" name="Text Box 8">
            <a:extLst>
              <a:ext uri="{FF2B5EF4-FFF2-40B4-BE49-F238E27FC236}">
                <a16:creationId xmlns:a16="http://schemas.microsoft.com/office/drawing/2014/main" id="{D8BD0B5B-A63B-DBC2-F1F3-AE08B919B902}"/>
              </a:ext>
            </a:extLst>
          </p:cNvPr>
          <p:cNvSpPr txBox="1">
            <a:spLocks noChangeArrowheads="1"/>
          </p:cNvSpPr>
          <p:nvPr/>
        </p:nvSpPr>
        <p:spPr bwMode="auto">
          <a:xfrm>
            <a:off x="5375276" y="3789363"/>
            <a:ext cx="936625"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取值</a:t>
            </a:r>
          </a:p>
        </p:txBody>
      </p:sp>
      <p:sp>
        <p:nvSpPr>
          <p:cNvPr id="248841" name="Text Box 9">
            <a:extLst>
              <a:ext uri="{FF2B5EF4-FFF2-40B4-BE49-F238E27FC236}">
                <a16:creationId xmlns:a16="http://schemas.microsoft.com/office/drawing/2014/main" id="{3E581D7D-88A8-EEAE-504D-EF2647AFC12B}"/>
              </a:ext>
            </a:extLst>
          </p:cNvPr>
          <p:cNvSpPr txBox="1">
            <a:spLocks noChangeArrowheads="1"/>
          </p:cNvSpPr>
          <p:nvPr/>
        </p:nvSpPr>
        <p:spPr bwMode="auto">
          <a:xfrm>
            <a:off x="7031038" y="4078288"/>
            <a:ext cx="2881312" cy="47625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pPr>
            <a:r>
              <a:rPr lang="zh-CN" altLang="en-US" b="1">
                <a:solidFill>
                  <a:srgbClr val="000000"/>
                </a:solidFill>
              </a:rPr>
              <a:t>属性的特性或特征</a:t>
            </a:r>
          </a:p>
        </p:txBody>
      </p:sp>
      <p:sp>
        <p:nvSpPr>
          <p:cNvPr id="248842" name="Line 10">
            <a:extLst>
              <a:ext uri="{FF2B5EF4-FFF2-40B4-BE49-F238E27FC236}">
                <a16:creationId xmlns:a16="http://schemas.microsoft.com/office/drawing/2014/main" id="{6B6E330B-BC7D-3769-17C9-37B1A8F30DEB}"/>
              </a:ext>
            </a:extLst>
          </p:cNvPr>
          <p:cNvSpPr>
            <a:spLocks noChangeShapeType="1"/>
          </p:cNvSpPr>
          <p:nvPr/>
        </p:nvSpPr>
        <p:spPr bwMode="auto">
          <a:xfrm flipV="1">
            <a:off x="6527801" y="1557338"/>
            <a:ext cx="144463" cy="79216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8843" name="Line 11">
            <a:extLst>
              <a:ext uri="{FF2B5EF4-FFF2-40B4-BE49-F238E27FC236}">
                <a16:creationId xmlns:a16="http://schemas.microsoft.com/office/drawing/2014/main" id="{5CFE877A-E865-5872-ABD0-7299DC9A4172}"/>
              </a:ext>
            </a:extLst>
          </p:cNvPr>
          <p:cNvSpPr>
            <a:spLocks noChangeShapeType="1"/>
          </p:cNvSpPr>
          <p:nvPr/>
        </p:nvSpPr>
        <p:spPr bwMode="auto">
          <a:xfrm flipV="1">
            <a:off x="8688388" y="1844676"/>
            <a:ext cx="215900" cy="5048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8844" name="Line 12">
            <a:extLst>
              <a:ext uri="{FF2B5EF4-FFF2-40B4-BE49-F238E27FC236}">
                <a16:creationId xmlns:a16="http://schemas.microsoft.com/office/drawing/2014/main" id="{1751984D-55A5-5841-48C4-66C194A6D1BC}"/>
              </a:ext>
            </a:extLst>
          </p:cNvPr>
          <p:cNvSpPr>
            <a:spLocks noChangeShapeType="1"/>
          </p:cNvSpPr>
          <p:nvPr/>
        </p:nvSpPr>
        <p:spPr bwMode="auto">
          <a:xfrm flipH="1">
            <a:off x="5807075" y="3141663"/>
            <a:ext cx="215900" cy="6477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8845" name="Line 13">
            <a:extLst>
              <a:ext uri="{FF2B5EF4-FFF2-40B4-BE49-F238E27FC236}">
                <a16:creationId xmlns:a16="http://schemas.microsoft.com/office/drawing/2014/main" id="{6787AC7E-7F98-293E-C9CC-B8F926A4C967}"/>
              </a:ext>
            </a:extLst>
          </p:cNvPr>
          <p:cNvSpPr>
            <a:spLocks noChangeShapeType="1"/>
          </p:cNvSpPr>
          <p:nvPr/>
        </p:nvSpPr>
        <p:spPr bwMode="auto">
          <a:xfrm>
            <a:off x="6888163" y="3141664"/>
            <a:ext cx="1439862" cy="9366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8846" name="Line 14">
            <a:extLst>
              <a:ext uri="{FF2B5EF4-FFF2-40B4-BE49-F238E27FC236}">
                <a16:creationId xmlns:a16="http://schemas.microsoft.com/office/drawing/2014/main" id="{617F603B-6A99-54B4-0720-470FFCC48BF5}"/>
              </a:ext>
            </a:extLst>
          </p:cNvPr>
          <p:cNvSpPr>
            <a:spLocks noChangeShapeType="1"/>
          </p:cNvSpPr>
          <p:nvPr/>
        </p:nvSpPr>
        <p:spPr bwMode="auto">
          <a:xfrm>
            <a:off x="4008438" y="2349500"/>
            <a:ext cx="1871662" cy="2159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48847" name="Text Box 15">
            <a:extLst>
              <a:ext uri="{FF2B5EF4-FFF2-40B4-BE49-F238E27FC236}">
                <a16:creationId xmlns:a16="http://schemas.microsoft.com/office/drawing/2014/main" id="{6E3BF963-134E-18AE-63DF-A666275965A4}"/>
              </a:ext>
            </a:extLst>
          </p:cNvPr>
          <p:cNvSpPr txBox="1">
            <a:spLocks noChangeArrowheads="1"/>
          </p:cNvSpPr>
          <p:nvPr/>
        </p:nvSpPr>
        <p:spPr bwMode="auto">
          <a:xfrm>
            <a:off x="2495550" y="4941888"/>
            <a:ext cx="7272338" cy="849528"/>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30000"/>
              </a:lnSpc>
              <a:spcBef>
                <a:spcPct val="50000"/>
              </a:spcBef>
              <a:spcAft>
                <a:spcPct val="0"/>
              </a:spcAft>
            </a:pPr>
            <a:r>
              <a:rPr lang="zh-CN" altLang="en-US" sz="2000" b="1">
                <a:solidFill>
                  <a:srgbClr val="000000"/>
                </a:solidFill>
              </a:rPr>
              <a:t>如果某一</a:t>
            </a:r>
            <a:r>
              <a:rPr lang="zh-CN" altLang="en-US" sz="2000" b="1">
                <a:solidFill>
                  <a:srgbClr val="FF0000"/>
                </a:solidFill>
              </a:rPr>
              <a:t>属性</a:t>
            </a:r>
            <a:r>
              <a:rPr lang="zh-CN" altLang="en-US" sz="2000" b="1">
                <a:solidFill>
                  <a:srgbClr val="000000"/>
                </a:solidFill>
              </a:rPr>
              <a:t>在多个设计类中</a:t>
            </a:r>
            <a:r>
              <a:rPr lang="zh-CN" altLang="en-US" sz="2000" b="1">
                <a:solidFill>
                  <a:srgbClr val="FF0000"/>
                </a:solidFill>
              </a:rPr>
              <a:t>重复出现</a:t>
            </a:r>
            <a:r>
              <a:rPr lang="zh-CN" altLang="en-US" sz="2000" b="1">
                <a:solidFill>
                  <a:srgbClr val="000000"/>
                </a:solidFill>
              </a:rPr>
              <a:t>，并且其自身</a:t>
            </a:r>
            <a:r>
              <a:rPr lang="zh-CN" altLang="en-US" sz="2000" b="1">
                <a:solidFill>
                  <a:srgbClr val="FF0000"/>
                </a:solidFill>
              </a:rPr>
              <a:t>具有比较复杂的结构</a:t>
            </a:r>
            <a:r>
              <a:rPr lang="zh-CN" altLang="en-US" sz="2000" b="1">
                <a:solidFill>
                  <a:srgbClr val="000000"/>
                </a:solidFill>
              </a:rPr>
              <a:t>，那么最好为这个属性</a:t>
            </a:r>
            <a:r>
              <a:rPr lang="zh-CN" altLang="en-US" sz="2000" b="1">
                <a:solidFill>
                  <a:srgbClr val="FF0000"/>
                </a:solidFill>
              </a:rPr>
              <a:t>创建一个单独的类</a:t>
            </a:r>
            <a:r>
              <a:rPr lang="zh-CN" altLang="en-US" sz="2000" b="1">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57351"/>
                                        </p:tgtEl>
                                        <p:attrNameLst>
                                          <p:attrName>style.visibility</p:attrName>
                                        </p:attrNameLst>
                                      </p:cBhvr>
                                      <p:to>
                                        <p:strVal val="visible"/>
                                      </p:to>
                                    </p:set>
                                    <p:anim calcmode="lin" valueType="num">
                                      <p:cBhvr additive="base">
                                        <p:cTn id="7" dur="1000" fill="hold"/>
                                        <p:tgtEl>
                                          <p:spTgt spid="57351"/>
                                        </p:tgtEl>
                                        <p:attrNameLst>
                                          <p:attrName>ppt_x</p:attrName>
                                        </p:attrNameLst>
                                      </p:cBhvr>
                                      <p:tavLst>
                                        <p:tav tm="0">
                                          <p:val>
                                            <p:strVal val="#ppt_x"/>
                                          </p:val>
                                        </p:tav>
                                        <p:tav tm="100000">
                                          <p:val>
                                            <p:strVal val="#ppt_x"/>
                                          </p:val>
                                        </p:tav>
                                      </p:tavLst>
                                    </p:anim>
                                    <p:anim calcmode="lin" valueType="num">
                                      <p:cBhvr additive="base">
                                        <p:cTn id="8" dur="1000" fill="hold"/>
                                        <p:tgtEl>
                                          <p:spTgt spid="573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8846"/>
                                        </p:tgtEl>
                                        <p:attrNameLst>
                                          <p:attrName>style.visibility</p:attrName>
                                        </p:attrNameLst>
                                      </p:cBhvr>
                                      <p:to>
                                        <p:strVal val="visible"/>
                                      </p:to>
                                    </p:set>
                                    <p:anim calcmode="lin" valueType="num">
                                      <p:cBhvr additive="base">
                                        <p:cTn id="11" dur="1000" fill="hold"/>
                                        <p:tgtEl>
                                          <p:spTgt spid="248846"/>
                                        </p:tgtEl>
                                        <p:attrNameLst>
                                          <p:attrName>ppt_x</p:attrName>
                                        </p:attrNameLst>
                                      </p:cBhvr>
                                      <p:tavLst>
                                        <p:tav tm="0">
                                          <p:val>
                                            <p:strVal val="#ppt_x"/>
                                          </p:val>
                                        </p:tav>
                                        <p:tav tm="100000">
                                          <p:val>
                                            <p:strVal val="#ppt_x"/>
                                          </p:val>
                                        </p:tav>
                                      </p:tavLst>
                                    </p:anim>
                                    <p:anim calcmode="lin" valueType="num">
                                      <p:cBhvr additive="base">
                                        <p:cTn id="12" dur="1000" fill="hold"/>
                                        <p:tgtEl>
                                          <p:spTgt spid="248846"/>
                                        </p:tgtEl>
                                        <p:attrNameLst>
                                          <p:attrName>ppt_y</p:attrName>
                                        </p:attrNameLst>
                                      </p:cBhvr>
                                      <p:tavLst>
                                        <p:tav tm="0">
                                          <p:val>
                                            <p:strVal val="1+#ppt_h/2"/>
                                          </p:val>
                                        </p:tav>
                                        <p:tav tm="100000">
                                          <p:val>
                                            <p:strVal val="#ppt_y"/>
                                          </p:val>
                                        </p:tav>
                                      </p:tavLst>
                                    </p:anim>
                                  </p:childTnLst>
                                </p:cTn>
                              </p:par>
                              <p:par>
                                <p:cTn id="13" presetID="3" presetClass="entr" presetSubtype="10" fill="hold" grpId="0" nodeType="withEffect">
                                  <p:stCondLst>
                                    <p:cond delay="0"/>
                                  </p:stCondLst>
                                  <p:childTnLst>
                                    <p:set>
                                      <p:cBhvr>
                                        <p:cTn id="14" dur="1" fill="hold">
                                          <p:stCondLst>
                                            <p:cond delay="0"/>
                                          </p:stCondLst>
                                        </p:cTn>
                                        <p:tgtEl>
                                          <p:spTgt spid="248838"/>
                                        </p:tgtEl>
                                        <p:attrNameLst>
                                          <p:attrName>style.visibility</p:attrName>
                                        </p:attrNameLst>
                                      </p:cBhvr>
                                      <p:to>
                                        <p:strVal val="visible"/>
                                      </p:to>
                                    </p:set>
                                    <p:animEffect transition="in" filter="blinds(horizontal)">
                                      <p:cBhvr>
                                        <p:cTn id="15" dur="1000"/>
                                        <p:tgtEl>
                                          <p:spTgt spid="248838"/>
                                        </p:tgtEl>
                                      </p:cBhvr>
                                    </p:animEffect>
                                  </p:childTnLst>
                                </p:cTn>
                              </p:par>
                              <p:par>
                                <p:cTn id="16" presetID="3" presetClass="entr" presetSubtype="10" fill="hold" nodeType="withEffect">
                                  <p:stCondLst>
                                    <p:cond delay="0"/>
                                  </p:stCondLst>
                                  <p:childTnLst>
                                    <p:set>
                                      <p:cBhvr>
                                        <p:cTn id="17" dur="1" fill="hold">
                                          <p:stCondLst>
                                            <p:cond delay="0"/>
                                          </p:stCondLst>
                                        </p:cTn>
                                        <p:tgtEl>
                                          <p:spTgt spid="248842"/>
                                        </p:tgtEl>
                                        <p:attrNameLst>
                                          <p:attrName>style.visibility</p:attrName>
                                        </p:attrNameLst>
                                      </p:cBhvr>
                                      <p:to>
                                        <p:strVal val="visible"/>
                                      </p:to>
                                    </p:set>
                                    <p:animEffect transition="in" filter="blinds(horizontal)">
                                      <p:cBhvr>
                                        <p:cTn id="18" dur="1000"/>
                                        <p:tgtEl>
                                          <p:spTgt spid="248842"/>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48839"/>
                                        </p:tgtEl>
                                        <p:attrNameLst>
                                          <p:attrName>style.visibility</p:attrName>
                                        </p:attrNameLst>
                                      </p:cBhvr>
                                      <p:to>
                                        <p:strVal val="visible"/>
                                      </p:to>
                                    </p:set>
                                    <p:animEffect transition="in" filter="box(in)">
                                      <p:cBhvr>
                                        <p:cTn id="21" dur="1000"/>
                                        <p:tgtEl>
                                          <p:spTgt spid="248839"/>
                                        </p:tgtEl>
                                      </p:cBhvr>
                                    </p:animEffect>
                                  </p:childTnLst>
                                </p:cTn>
                              </p:par>
                              <p:par>
                                <p:cTn id="22" presetID="4" presetClass="entr" presetSubtype="16" fill="hold" nodeType="withEffect">
                                  <p:stCondLst>
                                    <p:cond delay="0"/>
                                  </p:stCondLst>
                                  <p:childTnLst>
                                    <p:set>
                                      <p:cBhvr>
                                        <p:cTn id="23" dur="1" fill="hold">
                                          <p:stCondLst>
                                            <p:cond delay="0"/>
                                          </p:stCondLst>
                                        </p:cTn>
                                        <p:tgtEl>
                                          <p:spTgt spid="248843"/>
                                        </p:tgtEl>
                                        <p:attrNameLst>
                                          <p:attrName>style.visibility</p:attrName>
                                        </p:attrNameLst>
                                      </p:cBhvr>
                                      <p:to>
                                        <p:strVal val="visible"/>
                                      </p:to>
                                    </p:set>
                                    <p:animEffect transition="in" filter="box(in)">
                                      <p:cBhvr>
                                        <p:cTn id="24" dur="1000"/>
                                        <p:tgtEl>
                                          <p:spTgt spid="248843"/>
                                        </p:tgtEl>
                                      </p:cBhvr>
                                    </p:animEffect>
                                  </p:childTnLst>
                                </p:cTn>
                              </p:par>
                              <p:par>
                                <p:cTn id="25" presetID="8" presetClass="entr" presetSubtype="16" fill="hold" grpId="0" nodeType="withEffect">
                                  <p:stCondLst>
                                    <p:cond delay="0"/>
                                  </p:stCondLst>
                                  <p:childTnLst>
                                    <p:set>
                                      <p:cBhvr>
                                        <p:cTn id="26" dur="1" fill="hold">
                                          <p:stCondLst>
                                            <p:cond delay="0"/>
                                          </p:stCondLst>
                                        </p:cTn>
                                        <p:tgtEl>
                                          <p:spTgt spid="248840"/>
                                        </p:tgtEl>
                                        <p:attrNameLst>
                                          <p:attrName>style.visibility</p:attrName>
                                        </p:attrNameLst>
                                      </p:cBhvr>
                                      <p:to>
                                        <p:strVal val="visible"/>
                                      </p:to>
                                    </p:set>
                                    <p:animEffect transition="in" filter="diamond(in)">
                                      <p:cBhvr>
                                        <p:cTn id="27" dur="1000"/>
                                        <p:tgtEl>
                                          <p:spTgt spid="248840"/>
                                        </p:tgtEl>
                                      </p:cBhvr>
                                    </p:animEffect>
                                  </p:childTnLst>
                                </p:cTn>
                              </p:par>
                              <p:par>
                                <p:cTn id="28" presetID="8" presetClass="entr" presetSubtype="16" fill="hold" nodeType="withEffect">
                                  <p:stCondLst>
                                    <p:cond delay="0"/>
                                  </p:stCondLst>
                                  <p:childTnLst>
                                    <p:set>
                                      <p:cBhvr>
                                        <p:cTn id="29" dur="1" fill="hold">
                                          <p:stCondLst>
                                            <p:cond delay="0"/>
                                          </p:stCondLst>
                                        </p:cTn>
                                        <p:tgtEl>
                                          <p:spTgt spid="248844"/>
                                        </p:tgtEl>
                                        <p:attrNameLst>
                                          <p:attrName>style.visibility</p:attrName>
                                        </p:attrNameLst>
                                      </p:cBhvr>
                                      <p:to>
                                        <p:strVal val="visible"/>
                                      </p:to>
                                    </p:set>
                                    <p:animEffect transition="in" filter="diamond(in)">
                                      <p:cBhvr>
                                        <p:cTn id="30" dur="1000"/>
                                        <p:tgtEl>
                                          <p:spTgt spid="24884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248841"/>
                                        </p:tgtEl>
                                        <p:attrNameLst>
                                          <p:attrName>style.visibility</p:attrName>
                                        </p:attrNameLst>
                                      </p:cBhvr>
                                      <p:to>
                                        <p:strVal val="visible"/>
                                      </p:to>
                                    </p:set>
                                    <p:animEffect transition="in" filter="checkerboard(across)">
                                      <p:cBhvr>
                                        <p:cTn id="33" dur="1000"/>
                                        <p:tgtEl>
                                          <p:spTgt spid="248841"/>
                                        </p:tgtEl>
                                      </p:cBhvr>
                                    </p:animEffect>
                                  </p:childTnLst>
                                </p:cTn>
                              </p:par>
                              <p:par>
                                <p:cTn id="34" presetID="5" presetClass="entr" presetSubtype="10" fill="hold" nodeType="withEffect">
                                  <p:stCondLst>
                                    <p:cond delay="0"/>
                                  </p:stCondLst>
                                  <p:childTnLst>
                                    <p:set>
                                      <p:cBhvr>
                                        <p:cTn id="35" dur="1" fill="hold">
                                          <p:stCondLst>
                                            <p:cond delay="0"/>
                                          </p:stCondLst>
                                        </p:cTn>
                                        <p:tgtEl>
                                          <p:spTgt spid="248845"/>
                                        </p:tgtEl>
                                        <p:attrNameLst>
                                          <p:attrName>style.visibility</p:attrName>
                                        </p:attrNameLst>
                                      </p:cBhvr>
                                      <p:to>
                                        <p:strVal val="visible"/>
                                      </p:to>
                                    </p:set>
                                    <p:animEffect transition="in" filter="checkerboard(across)">
                                      <p:cBhvr>
                                        <p:cTn id="36" dur="1000"/>
                                        <p:tgtEl>
                                          <p:spTgt spid="24884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248847"/>
                                        </p:tgtEl>
                                        <p:attrNameLst>
                                          <p:attrName>style.visibility</p:attrName>
                                        </p:attrNameLst>
                                      </p:cBhvr>
                                      <p:to>
                                        <p:strVal val="visible"/>
                                      </p:to>
                                    </p:set>
                                    <p:animEffect transition="in" filter="checkerboard(across)">
                                      <p:cBhvr>
                                        <p:cTn id="41" dur="1000"/>
                                        <p:tgtEl>
                                          <p:spTgt spid="248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animBg="1"/>
      <p:bldP spid="248838" grpId="0" animBg="1"/>
      <p:bldP spid="248839" grpId="0" animBg="1"/>
      <p:bldP spid="248840" grpId="0" animBg="1"/>
      <p:bldP spid="248841" grpId="0" animBg="1"/>
      <p:bldP spid="24884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6">
            <a:extLst>
              <a:ext uri="{FF2B5EF4-FFF2-40B4-BE49-F238E27FC236}">
                <a16:creationId xmlns:a16="http://schemas.microsoft.com/office/drawing/2014/main" id="{7F666F4A-FE76-F22E-BDD2-727DF3DDAC4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9D3CADF-C7A6-4128-A74A-93D150750852}" type="slidenum">
              <a:rPr lang="en-US" altLang="zh-CN" sz="1200">
                <a:solidFill>
                  <a:srgbClr val="000000"/>
                </a:solidFill>
                <a:latin typeface="Arial" panose="020B0604020202020204" pitchFamily="34" charset="0"/>
              </a:rPr>
              <a:pPr fontAlgn="base">
                <a:spcBef>
                  <a:spcPct val="0"/>
                </a:spcBef>
                <a:spcAft>
                  <a:spcPct val="0"/>
                </a:spcAft>
              </a:pPr>
              <a:t>61</a:t>
            </a:fld>
            <a:endParaRPr lang="en-US" altLang="zh-CN" sz="1200">
              <a:solidFill>
                <a:srgbClr val="000000"/>
              </a:solidFill>
              <a:latin typeface="Arial" panose="020B0604020202020204" pitchFamily="34" charset="0"/>
            </a:endParaRPr>
          </a:p>
        </p:txBody>
      </p:sp>
      <p:sp>
        <p:nvSpPr>
          <p:cNvPr id="147458" name="Rectangle 2">
            <a:extLst>
              <a:ext uri="{FF2B5EF4-FFF2-40B4-BE49-F238E27FC236}">
                <a16:creationId xmlns:a16="http://schemas.microsoft.com/office/drawing/2014/main" id="{5D2E29C3-35EE-F27E-1B88-DCD014783CFF}"/>
              </a:ext>
            </a:extLst>
          </p:cNvPr>
          <p:cNvSpPr>
            <a:spLocks noGrp="1" noChangeArrowheads="1"/>
          </p:cNvSpPr>
          <p:nvPr>
            <p:ph type="title" idx="4294967295"/>
          </p:nvPr>
        </p:nvSpPr>
        <p:spPr>
          <a:xfrm>
            <a:off x="1919288" y="260351"/>
            <a:ext cx="7772400" cy="720725"/>
          </a:xfrm>
        </p:spPr>
        <p:txBody>
          <a:bodyPr/>
          <a:lstStyle/>
          <a:p>
            <a:pPr eaLnBrk="1" hangingPunct="1"/>
            <a:r>
              <a:rPr lang="zh-CN" altLang="en-US"/>
              <a:t>步骤</a:t>
            </a:r>
            <a:r>
              <a:rPr lang="en-US" altLang="zh-CN"/>
              <a:t>3d</a:t>
            </a:r>
            <a:r>
              <a:rPr lang="zh-CN" altLang="en-US"/>
              <a:t>：详细描述操作中处理流</a:t>
            </a:r>
          </a:p>
        </p:txBody>
      </p:sp>
      <p:sp>
        <p:nvSpPr>
          <p:cNvPr id="58371" name="Rectangle 3">
            <a:extLst>
              <a:ext uri="{FF2B5EF4-FFF2-40B4-BE49-F238E27FC236}">
                <a16:creationId xmlns:a16="http://schemas.microsoft.com/office/drawing/2014/main" id="{9D6E60A6-D881-DA8D-CC36-09EF9377D79F}"/>
              </a:ext>
            </a:extLst>
          </p:cNvPr>
          <p:cNvSpPr>
            <a:spLocks noGrp="1" noChangeArrowheads="1"/>
          </p:cNvSpPr>
          <p:nvPr>
            <p:ph idx="4294967295"/>
          </p:nvPr>
        </p:nvSpPr>
        <p:spPr>
          <a:xfrm>
            <a:off x="1990726" y="1125538"/>
            <a:ext cx="8208963" cy="5040312"/>
          </a:xfrm>
        </p:spPr>
        <p:txBody>
          <a:bodyPr/>
          <a:lstStyle/>
          <a:p>
            <a:pPr eaLnBrk="1" hangingPunct="1">
              <a:lnSpc>
                <a:spcPct val="150000"/>
              </a:lnSpc>
              <a:spcBef>
                <a:spcPct val="50000"/>
              </a:spcBef>
            </a:pPr>
            <a:r>
              <a:rPr lang="zh-CN" altLang="en-US" sz="2200"/>
              <a:t>每个软件构件都需要应用</a:t>
            </a:r>
            <a:r>
              <a:rPr lang="zh-CN" altLang="en-US" sz="2200">
                <a:solidFill>
                  <a:srgbClr val="FF0000"/>
                </a:solidFill>
              </a:rPr>
              <a:t>逐步求精</a:t>
            </a:r>
            <a:r>
              <a:rPr lang="zh-CN" altLang="en-US" sz="2200"/>
              <a:t>方法，通过很多次迭代进行细化：</a:t>
            </a:r>
          </a:p>
          <a:p>
            <a:pPr lvl="1" eaLnBrk="1" hangingPunct="1">
              <a:lnSpc>
                <a:spcPct val="150000"/>
              </a:lnSpc>
              <a:spcBef>
                <a:spcPct val="50000"/>
              </a:spcBef>
            </a:pPr>
            <a:r>
              <a:rPr lang="zh-CN" altLang="en-US" sz="2000"/>
              <a:t>第一轮迭代中，</a:t>
            </a:r>
            <a:r>
              <a:rPr lang="zh-CN" altLang="en-US" sz="2000">
                <a:solidFill>
                  <a:srgbClr val="FF0000"/>
                </a:solidFill>
              </a:rPr>
              <a:t>将每个操作都定义为设计类的一部分</a:t>
            </a:r>
            <a:r>
              <a:rPr lang="zh-CN" altLang="en-US" sz="2000"/>
              <a:t>。</a:t>
            </a:r>
          </a:p>
          <a:p>
            <a:pPr lvl="1" eaLnBrk="1" hangingPunct="1">
              <a:lnSpc>
                <a:spcPct val="150000"/>
              </a:lnSpc>
              <a:spcBef>
                <a:spcPct val="50000"/>
              </a:spcBef>
            </a:pPr>
            <a:r>
              <a:rPr lang="zh-CN" altLang="en-US" sz="2000"/>
              <a:t>下一轮迭代，完成对操作名的详细扩展：</a:t>
            </a:r>
          </a:p>
          <a:p>
            <a:pPr marL="1143000" lvl="2" indent="-228600" eaLnBrk="1" hangingPunct="1">
              <a:lnSpc>
                <a:spcPct val="150000"/>
              </a:lnSpc>
              <a:spcBef>
                <a:spcPct val="50000"/>
              </a:spcBef>
            </a:pPr>
            <a:r>
              <a:rPr lang="en-US" altLang="zh-CN" sz="1800"/>
              <a:t>computePaperCost ()</a:t>
            </a:r>
          </a:p>
          <a:p>
            <a:pPr marL="1143000" lvl="2" indent="-228600" eaLnBrk="1" hangingPunct="1">
              <a:lnSpc>
                <a:spcPct val="150000"/>
              </a:lnSpc>
              <a:spcBef>
                <a:spcPct val="50000"/>
              </a:spcBef>
            </a:pPr>
            <a:r>
              <a:rPr lang="en-US" altLang="zh-CN" sz="1800"/>
              <a:t>computePaperCost (weight, size, color): numeric</a:t>
            </a:r>
          </a:p>
          <a:p>
            <a:pPr eaLnBrk="1" hangingPunct="1">
              <a:lnSpc>
                <a:spcPct val="150000"/>
              </a:lnSpc>
              <a:spcBef>
                <a:spcPct val="50000"/>
              </a:spcBef>
            </a:pPr>
            <a:r>
              <a:rPr lang="zh-CN" altLang="en-US" sz="2200"/>
              <a:t>对于比较</a:t>
            </a:r>
            <a:r>
              <a:rPr lang="zh-CN" altLang="en-US" sz="2200">
                <a:solidFill>
                  <a:srgbClr val="FF0000"/>
                </a:solidFill>
              </a:rPr>
              <a:t>复杂的处理 </a:t>
            </a:r>
            <a:r>
              <a:rPr lang="en-US" altLang="zh-CN" sz="2200"/>
              <a:t>(</a:t>
            </a:r>
            <a:r>
              <a:rPr lang="zh-CN" altLang="en-US" sz="2200"/>
              <a:t>算法比较复杂或难于理解</a:t>
            </a:r>
            <a:r>
              <a:rPr lang="en-US" altLang="zh-CN" sz="2200"/>
              <a:t>)</a:t>
            </a:r>
            <a:r>
              <a:rPr lang="zh-CN" altLang="en-US" sz="2200"/>
              <a:t>，需要进行</a:t>
            </a:r>
            <a:r>
              <a:rPr lang="zh-CN" altLang="en-US" sz="2200">
                <a:solidFill>
                  <a:srgbClr val="FF0000"/>
                </a:solidFill>
              </a:rPr>
              <a:t>设计细化 </a:t>
            </a:r>
            <a:r>
              <a:rPr lang="en-US" altLang="zh-CN" sz="2200"/>
              <a:t>(</a:t>
            </a:r>
            <a:r>
              <a:rPr lang="zh-CN" altLang="en-US" sz="2200"/>
              <a:t>给出活动图或伪码</a:t>
            </a:r>
            <a:r>
              <a:rPr lang="en-US" altLang="zh-CN" sz="2200"/>
              <a:t>)</a:t>
            </a:r>
            <a:r>
              <a:rPr lang="zh-CN" altLang="en-US"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Effect transition="in" filter="blinds(horizontal)">
                                      <p:cBhvr>
                                        <p:cTn id="7" dur="1000"/>
                                        <p:tgtEl>
                                          <p:spTgt spid="583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8371">
                                            <p:txEl>
                                              <p:pRg st="2" end="2"/>
                                            </p:txEl>
                                          </p:spTgt>
                                        </p:tgtEl>
                                        <p:attrNameLst>
                                          <p:attrName>style.visibility</p:attrName>
                                        </p:attrNameLst>
                                      </p:cBhvr>
                                      <p:to>
                                        <p:strVal val="visible"/>
                                      </p:to>
                                    </p:set>
                                    <p:animEffect transition="in" filter="blinds(horizontal)">
                                      <p:cBhvr>
                                        <p:cTn id="12" dur="1000"/>
                                        <p:tgtEl>
                                          <p:spTgt spid="583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8371">
                                            <p:txEl>
                                              <p:pRg st="3" end="3"/>
                                            </p:txEl>
                                          </p:spTgt>
                                        </p:tgtEl>
                                        <p:attrNameLst>
                                          <p:attrName>style.visibility</p:attrName>
                                        </p:attrNameLst>
                                      </p:cBhvr>
                                      <p:to>
                                        <p:strVal val="visible"/>
                                      </p:to>
                                    </p:set>
                                    <p:animEffect transition="in" filter="blinds(horizontal)">
                                      <p:cBhvr>
                                        <p:cTn id="17" dur="1000"/>
                                        <p:tgtEl>
                                          <p:spTgt spid="583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8371">
                                            <p:txEl>
                                              <p:pRg st="4" end="4"/>
                                            </p:txEl>
                                          </p:spTgt>
                                        </p:tgtEl>
                                        <p:attrNameLst>
                                          <p:attrName>style.visibility</p:attrName>
                                        </p:attrNameLst>
                                      </p:cBhvr>
                                      <p:to>
                                        <p:strVal val="visible"/>
                                      </p:to>
                                    </p:set>
                                    <p:animEffect transition="in" filter="blinds(horizontal)">
                                      <p:cBhvr>
                                        <p:cTn id="22" dur="1000"/>
                                        <p:tgtEl>
                                          <p:spTgt spid="583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8371">
                                            <p:txEl>
                                              <p:pRg st="5" end="5"/>
                                            </p:txEl>
                                          </p:spTgt>
                                        </p:tgtEl>
                                        <p:attrNameLst>
                                          <p:attrName>style.visibility</p:attrName>
                                        </p:attrNameLst>
                                      </p:cBhvr>
                                      <p:to>
                                        <p:strVal val="visible"/>
                                      </p:to>
                                    </p:set>
                                    <p:animEffect transition="in" filter="blinds(horizontal)">
                                      <p:cBhvr>
                                        <p:cTn id="27" dur="1000"/>
                                        <p:tgtEl>
                                          <p:spTgt spid="583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6">
            <a:extLst>
              <a:ext uri="{FF2B5EF4-FFF2-40B4-BE49-F238E27FC236}">
                <a16:creationId xmlns:a16="http://schemas.microsoft.com/office/drawing/2014/main" id="{E83EB05A-F378-8835-6B47-6666D9182EB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EB52456-17DD-4795-8371-609684E44ECE}" type="slidenum">
              <a:rPr lang="en-US" altLang="zh-CN" sz="1200">
                <a:solidFill>
                  <a:srgbClr val="000000"/>
                </a:solidFill>
                <a:latin typeface="Arial" panose="020B0604020202020204" pitchFamily="34" charset="0"/>
              </a:rPr>
              <a:pPr fontAlgn="base">
                <a:spcBef>
                  <a:spcPct val="0"/>
                </a:spcBef>
                <a:spcAft>
                  <a:spcPct val="0"/>
                </a:spcAft>
              </a:pPr>
              <a:t>62</a:t>
            </a:fld>
            <a:endParaRPr lang="en-US" altLang="zh-CN" sz="1200">
              <a:solidFill>
                <a:srgbClr val="000000"/>
              </a:solidFill>
              <a:latin typeface="Arial" panose="020B0604020202020204" pitchFamily="34" charset="0"/>
            </a:endParaRPr>
          </a:p>
        </p:txBody>
      </p:sp>
      <p:pic>
        <p:nvPicPr>
          <p:cNvPr id="149506" name="Picture 4">
            <a:extLst>
              <a:ext uri="{FF2B5EF4-FFF2-40B4-BE49-F238E27FC236}">
                <a16:creationId xmlns:a16="http://schemas.microsoft.com/office/drawing/2014/main" id="{37C923E2-DAB5-EFC1-6F85-01BC79054818}"/>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359151" y="73025"/>
            <a:ext cx="5165725" cy="66690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6">
            <a:extLst>
              <a:ext uri="{FF2B5EF4-FFF2-40B4-BE49-F238E27FC236}">
                <a16:creationId xmlns:a16="http://schemas.microsoft.com/office/drawing/2014/main" id="{0B8EC97E-C92C-9B14-EE69-B765810271F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2F70E71-7323-494E-B589-DBEFBB2A0F15}" type="slidenum">
              <a:rPr lang="en-US" altLang="zh-CN" sz="1200">
                <a:solidFill>
                  <a:srgbClr val="000000"/>
                </a:solidFill>
                <a:latin typeface="Arial" panose="020B0604020202020204" pitchFamily="34" charset="0"/>
              </a:rPr>
              <a:pPr fontAlgn="base">
                <a:spcBef>
                  <a:spcPct val="0"/>
                </a:spcBef>
                <a:spcAft>
                  <a:spcPct val="0"/>
                </a:spcAft>
              </a:pPr>
              <a:t>63</a:t>
            </a:fld>
            <a:endParaRPr lang="en-US" altLang="zh-CN" sz="1200">
              <a:solidFill>
                <a:srgbClr val="000000"/>
              </a:solidFill>
              <a:latin typeface="Arial" panose="020B0604020202020204" pitchFamily="34" charset="0"/>
            </a:endParaRPr>
          </a:p>
        </p:txBody>
      </p:sp>
      <p:sp>
        <p:nvSpPr>
          <p:cNvPr id="150530" name="Rectangle 2">
            <a:extLst>
              <a:ext uri="{FF2B5EF4-FFF2-40B4-BE49-F238E27FC236}">
                <a16:creationId xmlns:a16="http://schemas.microsoft.com/office/drawing/2014/main" id="{E9EDC364-233C-584B-FA71-80FBB899B617}"/>
              </a:ext>
            </a:extLst>
          </p:cNvPr>
          <p:cNvSpPr>
            <a:spLocks noGrp="1" noChangeArrowheads="1"/>
          </p:cNvSpPr>
          <p:nvPr>
            <p:ph type="title"/>
          </p:nvPr>
        </p:nvSpPr>
        <p:spPr/>
        <p:txBody>
          <a:bodyPr/>
          <a:lstStyle/>
          <a:p>
            <a:r>
              <a:rPr lang="zh-CN" altLang="en-US"/>
              <a:t>实施构件级设计步骤</a:t>
            </a:r>
          </a:p>
        </p:txBody>
      </p:sp>
      <p:sp>
        <p:nvSpPr>
          <p:cNvPr id="329731" name="Rectangle 3">
            <a:extLst>
              <a:ext uri="{FF2B5EF4-FFF2-40B4-BE49-F238E27FC236}">
                <a16:creationId xmlns:a16="http://schemas.microsoft.com/office/drawing/2014/main" id="{DECA5E4B-93B0-665B-BCE7-C5E077C7F069}"/>
              </a:ext>
            </a:extLst>
          </p:cNvPr>
          <p:cNvSpPr>
            <a:spLocks noGrp="1" noChangeArrowheads="1"/>
          </p:cNvSpPr>
          <p:nvPr>
            <p:ph type="body" idx="1"/>
          </p:nvPr>
        </p:nvSpPr>
        <p:spPr>
          <a:xfrm>
            <a:off x="1981200" y="1231900"/>
            <a:ext cx="8229600" cy="4933950"/>
          </a:xfrm>
        </p:spPr>
        <p:txBody>
          <a:bodyPr/>
          <a:lstStyle/>
          <a:p>
            <a:pPr eaLnBrk="1" hangingPunct="1">
              <a:lnSpc>
                <a:spcPct val="150000"/>
              </a:lnSpc>
              <a:spcBef>
                <a:spcPct val="50000"/>
              </a:spcBef>
            </a:pPr>
            <a:r>
              <a:rPr lang="zh-CN" altLang="en-US"/>
              <a:t>步骤</a:t>
            </a:r>
            <a:r>
              <a:rPr lang="en-US" altLang="zh-CN"/>
              <a:t>4</a:t>
            </a:r>
            <a:r>
              <a:rPr lang="zh-CN" altLang="en-US"/>
              <a:t>：说明</a:t>
            </a:r>
            <a:r>
              <a:rPr lang="zh-CN" altLang="en-US">
                <a:solidFill>
                  <a:schemeClr val="accent2"/>
                </a:solidFill>
              </a:rPr>
              <a:t>持久数据源</a:t>
            </a:r>
            <a:r>
              <a:rPr lang="en-US" altLang="zh-CN">
                <a:solidFill>
                  <a:schemeClr val="accent2"/>
                </a:solidFill>
              </a:rPr>
              <a:t>(</a:t>
            </a:r>
            <a:r>
              <a:rPr lang="zh-CN" altLang="en-US">
                <a:solidFill>
                  <a:schemeClr val="accent2"/>
                </a:solidFill>
              </a:rPr>
              <a:t>数据库和文件</a:t>
            </a:r>
            <a:r>
              <a:rPr lang="en-US" altLang="zh-CN">
                <a:solidFill>
                  <a:schemeClr val="accent2"/>
                </a:solidFill>
              </a:rPr>
              <a:t>)</a:t>
            </a:r>
            <a:r>
              <a:rPr lang="zh-CN" altLang="en-US"/>
              <a:t>并确定管理数据源所需要的类：</a:t>
            </a:r>
          </a:p>
          <a:p>
            <a:pPr lvl="1" eaLnBrk="1" hangingPunct="1">
              <a:lnSpc>
                <a:spcPct val="150000"/>
              </a:lnSpc>
              <a:spcBef>
                <a:spcPct val="50000"/>
              </a:spcBef>
            </a:pPr>
            <a:r>
              <a:rPr lang="zh-CN" altLang="en-US" sz="2200"/>
              <a:t>数据库和文件通常都凌驾于单独的构件设计描述之上，随着设计细化过程的深入，需要提供持久</a:t>
            </a:r>
            <a:r>
              <a:rPr lang="zh-CN" altLang="en-US" sz="2200">
                <a:solidFill>
                  <a:srgbClr val="FF0000"/>
                </a:solidFill>
              </a:rPr>
              <a:t>数据源的结构</a:t>
            </a:r>
            <a:r>
              <a:rPr lang="zh-CN" altLang="en-US" sz="2200"/>
              <a:t>和</a:t>
            </a:r>
            <a:r>
              <a:rPr lang="zh-CN" altLang="en-US" sz="2200">
                <a:solidFill>
                  <a:srgbClr val="FF0000"/>
                </a:solidFill>
              </a:rPr>
              <a:t>组织的额外细节。</a:t>
            </a:r>
          </a:p>
          <a:p>
            <a:pPr eaLnBrk="1" hangingPunct="1">
              <a:lnSpc>
                <a:spcPct val="150000"/>
              </a:lnSpc>
              <a:spcBef>
                <a:spcPct val="50000"/>
              </a:spcBef>
            </a:pPr>
            <a:r>
              <a:rPr lang="zh-CN" altLang="en-US"/>
              <a:t>步骤</a:t>
            </a:r>
            <a:r>
              <a:rPr lang="en-US" altLang="zh-CN"/>
              <a:t>5</a:t>
            </a:r>
            <a:r>
              <a:rPr lang="zh-CN" altLang="en-US"/>
              <a:t>：</a:t>
            </a:r>
            <a:r>
              <a:rPr lang="zh-CN" altLang="en-US">
                <a:solidFill>
                  <a:srgbClr val="FF0000"/>
                </a:solidFill>
              </a:rPr>
              <a:t>开发并且细化类或构件的行为表示 </a:t>
            </a:r>
            <a:r>
              <a:rPr lang="en-US" altLang="zh-CN">
                <a:solidFill>
                  <a:srgbClr val="FF0000"/>
                </a:solidFill>
              </a:rPr>
              <a:t>(</a:t>
            </a:r>
            <a:r>
              <a:rPr lang="zh-CN" altLang="en-US">
                <a:solidFill>
                  <a:srgbClr val="FF0000"/>
                </a:solidFill>
              </a:rPr>
              <a:t>可用状态图</a:t>
            </a:r>
            <a:r>
              <a:rPr lang="en-US" altLang="zh-CN">
                <a:solidFill>
                  <a:srgbClr val="FF0000"/>
                </a:solidFill>
              </a:rPr>
              <a:t>)</a:t>
            </a:r>
            <a:r>
              <a:rPr lang="zh-CN" altLang="en-US"/>
              <a:t>：</a:t>
            </a:r>
          </a:p>
          <a:p>
            <a:pPr lvl="1" eaLnBrk="1" hangingPunct="1">
              <a:lnSpc>
                <a:spcPct val="150000"/>
              </a:lnSpc>
              <a:spcBef>
                <a:spcPct val="50000"/>
              </a:spcBef>
            </a:pPr>
            <a:r>
              <a:rPr lang="zh-CN" altLang="en-US" sz="2200">
                <a:solidFill>
                  <a:srgbClr val="FF0000"/>
                </a:solidFill>
              </a:rPr>
              <a:t>描述影响对象的事件</a:t>
            </a:r>
            <a:r>
              <a:rPr lang="zh-CN" altLang="en-US" sz="2200"/>
              <a:t>，以及随着时间流逝和对象所处的</a:t>
            </a:r>
            <a:r>
              <a:rPr lang="zh-CN" altLang="en-US" sz="2200">
                <a:solidFill>
                  <a:srgbClr val="FF0000"/>
                </a:solidFill>
              </a:rPr>
              <a:t>状态</a:t>
            </a:r>
            <a:r>
              <a:rPr lang="zh-CN" altLang="en-US"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9731">
                                            <p:txEl>
                                              <p:pRg st="1" end="1"/>
                                            </p:txEl>
                                          </p:spTgt>
                                        </p:tgtEl>
                                        <p:attrNameLst>
                                          <p:attrName>style.visibility</p:attrName>
                                        </p:attrNameLst>
                                      </p:cBhvr>
                                      <p:to>
                                        <p:strVal val="visible"/>
                                      </p:to>
                                    </p:set>
                                    <p:animEffect transition="in" filter="blinds(horizontal)">
                                      <p:cBhvr>
                                        <p:cTn id="7" dur="1000"/>
                                        <p:tgtEl>
                                          <p:spTgt spid="3297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9731">
                                            <p:txEl>
                                              <p:pRg st="2" end="2"/>
                                            </p:txEl>
                                          </p:spTgt>
                                        </p:tgtEl>
                                        <p:attrNameLst>
                                          <p:attrName>style.visibility</p:attrName>
                                        </p:attrNameLst>
                                      </p:cBhvr>
                                      <p:to>
                                        <p:strVal val="visible"/>
                                      </p:to>
                                    </p:set>
                                    <p:animEffect transition="in" filter="blinds(horizontal)">
                                      <p:cBhvr>
                                        <p:cTn id="12" dur="1000"/>
                                        <p:tgtEl>
                                          <p:spTgt spid="3297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9731">
                                            <p:txEl>
                                              <p:pRg st="3" end="3"/>
                                            </p:txEl>
                                          </p:spTgt>
                                        </p:tgtEl>
                                        <p:attrNameLst>
                                          <p:attrName>style.visibility</p:attrName>
                                        </p:attrNameLst>
                                      </p:cBhvr>
                                      <p:to>
                                        <p:strVal val="visible"/>
                                      </p:to>
                                    </p:set>
                                    <p:animEffect transition="in" filter="blinds(horizontal)">
                                      <p:cBhvr>
                                        <p:cTn id="17" dur="1000"/>
                                        <p:tgtEl>
                                          <p:spTgt spid="3297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6">
            <a:extLst>
              <a:ext uri="{FF2B5EF4-FFF2-40B4-BE49-F238E27FC236}">
                <a16:creationId xmlns:a16="http://schemas.microsoft.com/office/drawing/2014/main" id="{E269641D-02F5-16C7-D195-D65BAD641A8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F23BA9D-AF01-4D0C-8C58-1BDDCF973F74}" type="slidenum">
              <a:rPr lang="en-US" altLang="zh-CN" sz="1200">
                <a:solidFill>
                  <a:srgbClr val="000000"/>
                </a:solidFill>
                <a:latin typeface="Arial" panose="020B0604020202020204" pitchFamily="34" charset="0"/>
              </a:rPr>
              <a:pPr fontAlgn="base">
                <a:spcBef>
                  <a:spcPct val="0"/>
                </a:spcBef>
                <a:spcAft>
                  <a:spcPct val="0"/>
                </a:spcAft>
              </a:pPr>
              <a:t>64</a:t>
            </a:fld>
            <a:endParaRPr lang="en-US" altLang="zh-CN" sz="1200">
              <a:solidFill>
                <a:srgbClr val="000000"/>
              </a:solidFill>
              <a:latin typeface="Arial" panose="020B0604020202020204" pitchFamily="34" charset="0"/>
            </a:endParaRPr>
          </a:p>
        </p:txBody>
      </p:sp>
      <p:sp>
        <p:nvSpPr>
          <p:cNvPr id="151554" name="Rectangle 2">
            <a:extLst>
              <a:ext uri="{FF2B5EF4-FFF2-40B4-BE49-F238E27FC236}">
                <a16:creationId xmlns:a16="http://schemas.microsoft.com/office/drawing/2014/main" id="{2357DDC4-B851-2B2B-5F3A-554E0620B9B5}"/>
              </a:ext>
            </a:extLst>
          </p:cNvPr>
          <p:cNvSpPr>
            <a:spLocks noGrp="1" noChangeArrowheads="1"/>
          </p:cNvSpPr>
          <p:nvPr>
            <p:ph type="title"/>
          </p:nvPr>
        </p:nvSpPr>
        <p:spPr/>
        <p:txBody>
          <a:bodyPr/>
          <a:lstStyle/>
          <a:p>
            <a:r>
              <a:rPr lang="zh-CN" altLang="en-US"/>
              <a:t>实施构件级设计步骤</a:t>
            </a:r>
          </a:p>
        </p:txBody>
      </p:sp>
      <p:sp>
        <p:nvSpPr>
          <p:cNvPr id="307203" name="Rectangle 3">
            <a:extLst>
              <a:ext uri="{FF2B5EF4-FFF2-40B4-BE49-F238E27FC236}">
                <a16:creationId xmlns:a16="http://schemas.microsoft.com/office/drawing/2014/main" id="{8C1FD952-B506-F204-A596-DD6CE533876A}"/>
              </a:ext>
            </a:extLst>
          </p:cNvPr>
          <p:cNvSpPr>
            <a:spLocks noGrp="1" noChangeArrowheads="1"/>
          </p:cNvSpPr>
          <p:nvPr>
            <p:ph type="body" idx="1"/>
          </p:nvPr>
        </p:nvSpPr>
        <p:spPr>
          <a:xfrm>
            <a:off x="1992313" y="1052514"/>
            <a:ext cx="8229600" cy="5184775"/>
          </a:xfrm>
        </p:spPr>
        <p:txBody>
          <a:bodyPr/>
          <a:lstStyle/>
          <a:p>
            <a:pPr>
              <a:lnSpc>
                <a:spcPct val="150000"/>
              </a:lnSpc>
              <a:spcBef>
                <a:spcPct val="50000"/>
              </a:spcBef>
            </a:pPr>
            <a:r>
              <a:rPr lang="zh-CN" altLang="en-US" sz="2800"/>
              <a:t>步骤</a:t>
            </a:r>
            <a:r>
              <a:rPr lang="en-US" altLang="zh-CN" sz="2800"/>
              <a:t>6</a:t>
            </a:r>
            <a:r>
              <a:rPr lang="zh-CN" altLang="en-US" sz="2800"/>
              <a:t>：细化</a:t>
            </a:r>
            <a:r>
              <a:rPr lang="zh-CN" altLang="en-US" sz="2800">
                <a:solidFill>
                  <a:schemeClr val="accent2"/>
                </a:solidFill>
              </a:rPr>
              <a:t>部署图</a:t>
            </a:r>
            <a:r>
              <a:rPr lang="zh-CN" altLang="en-US" sz="2800"/>
              <a:t>以提供额外的实现细节：</a:t>
            </a:r>
          </a:p>
          <a:p>
            <a:pPr lvl="1">
              <a:lnSpc>
                <a:spcPct val="150000"/>
              </a:lnSpc>
              <a:spcBef>
                <a:spcPct val="50000"/>
              </a:spcBef>
            </a:pPr>
            <a:r>
              <a:rPr lang="zh-CN" altLang="en-US"/>
              <a:t>包括指定的硬件、操作系统环境、构件包的位置。</a:t>
            </a:r>
          </a:p>
          <a:p>
            <a:pPr>
              <a:lnSpc>
                <a:spcPct val="150000"/>
              </a:lnSpc>
              <a:spcBef>
                <a:spcPct val="50000"/>
              </a:spcBef>
            </a:pPr>
            <a:r>
              <a:rPr lang="zh-CN" altLang="en-US" sz="2800"/>
              <a:t>步骤</a:t>
            </a:r>
            <a:r>
              <a:rPr lang="en-US" altLang="zh-CN" sz="2800"/>
              <a:t>7</a:t>
            </a:r>
            <a:r>
              <a:rPr lang="zh-CN" altLang="en-US" sz="2800"/>
              <a:t>：考虑每一个构件级设计表示，并且</a:t>
            </a:r>
            <a:r>
              <a:rPr lang="zh-CN" altLang="en-US" sz="2800">
                <a:solidFill>
                  <a:srgbClr val="FF0000"/>
                </a:solidFill>
              </a:rPr>
              <a:t>时刻考虑其他可选方案</a:t>
            </a:r>
            <a:r>
              <a:rPr lang="zh-CN" altLang="en-US" sz="2800"/>
              <a:t>：</a:t>
            </a:r>
          </a:p>
          <a:p>
            <a:pPr lvl="1">
              <a:lnSpc>
                <a:spcPct val="150000"/>
              </a:lnSpc>
              <a:spcBef>
                <a:spcPct val="50000"/>
              </a:spcBef>
            </a:pPr>
            <a:r>
              <a:rPr lang="zh-CN" altLang="en-US"/>
              <a:t>设计是一个</a:t>
            </a:r>
            <a:r>
              <a:rPr lang="zh-CN" altLang="en-US">
                <a:solidFill>
                  <a:srgbClr val="FF0000"/>
                </a:solidFill>
              </a:rPr>
              <a:t>迭代过程</a:t>
            </a:r>
            <a:r>
              <a:rPr lang="zh-CN" altLang="en-US"/>
              <a:t>。创建的第一个构件级模型总没有迭代</a:t>
            </a:r>
            <a:r>
              <a:rPr lang="en-US" altLang="zh-CN"/>
              <a:t>N</a:t>
            </a:r>
            <a:r>
              <a:rPr lang="zh-CN" altLang="en-US"/>
              <a:t>次之后得到的模型那么全面、一致或精确。在进行设计工作时，</a:t>
            </a:r>
            <a:r>
              <a:rPr lang="zh-CN" altLang="en-US">
                <a:solidFill>
                  <a:srgbClr val="FF0000"/>
                </a:solidFill>
              </a:rPr>
              <a:t>重构</a:t>
            </a:r>
            <a:r>
              <a:rPr lang="zh-CN" altLang="en-US"/>
              <a:t>是十分必要的。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203">
                                            <p:txEl>
                                              <p:pRg st="1" end="1"/>
                                            </p:txEl>
                                          </p:spTgt>
                                        </p:tgtEl>
                                        <p:attrNameLst>
                                          <p:attrName>style.visibility</p:attrName>
                                        </p:attrNameLst>
                                      </p:cBhvr>
                                      <p:to>
                                        <p:strVal val="visible"/>
                                      </p:to>
                                    </p:set>
                                    <p:animEffect transition="in" filter="box(in)">
                                      <p:cBhvr>
                                        <p:cTn id="7" dur="1000"/>
                                        <p:tgtEl>
                                          <p:spTgt spid="3072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07203">
                                            <p:txEl>
                                              <p:pRg st="2" end="2"/>
                                            </p:txEl>
                                          </p:spTgt>
                                        </p:tgtEl>
                                        <p:attrNameLst>
                                          <p:attrName>style.visibility</p:attrName>
                                        </p:attrNameLst>
                                      </p:cBhvr>
                                      <p:to>
                                        <p:strVal val="visible"/>
                                      </p:to>
                                    </p:set>
                                    <p:animEffect transition="in" filter="box(in)">
                                      <p:cBhvr>
                                        <p:cTn id="12" dur="1000"/>
                                        <p:tgtEl>
                                          <p:spTgt spid="3072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07203">
                                            <p:txEl>
                                              <p:pRg st="3" end="3"/>
                                            </p:txEl>
                                          </p:spTgt>
                                        </p:tgtEl>
                                        <p:attrNameLst>
                                          <p:attrName>style.visibility</p:attrName>
                                        </p:attrNameLst>
                                      </p:cBhvr>
                                      <p:to>
                                        <p:strVal val="visible"/>
                                      </p:to>
                                    </p:set>
                                    <p:animEffect transition="in" filter="box(in)">
                                      <p:cBhvr>
                                        <p:cTn id="17" dur="1000"/>
                                        <p:tgtEl>
                                          <p:spTgt spid="3072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6">
            <a:extLst>
              <a:ext uri="{FF2B5EF4-FFF2-40B4-BE49-F238E27FC236}">
                <a16:creationId xmlns:a16="http://schemas.microsoft.com/office/drawing/2014/main" id="{54EDADBA-CCD4-99E5-B4C6-43B8A3BB064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1FF3D60-0816-4D76-B934-D5EA2B056894}" type="slidenum">
              <a:rPr lang="en-US" altLang="zh-CN" sz="1200">
                <a:solidFill>
                  <a:srgbClr val="000000"/>
                </a:solidFill>
                <a:latin typeface="Arial" panose="020B0604020202020204" pitchFamily="34" charset="0"/>
              </a:rPr>
              <a:pPr fontAlgn="base">
                <a:spcBef>
                  <a:spcPct val="0"/>
                </a:spcBef>
                <a:spcAft>
                  <a:spcPct val="0"/>
                </a:spcAft>
              </a:pPr>
              <a:t>65</a:t>
            </a:fld>
            <a:endParaRPr lang="en-US" altLang="zh-CN" sz="1200">
              <a:solidFill>
                <a:srgbClr val="000000"/>
              </a:solidFill>
              <a:latin typeface="Arial" panose="020B0604020202020204" pitchFamily="34" charset="0"/>
            </a:endParaRPr>
          </a:p>
        </p:txBody>
      </p:sp>
      <p:sp>
        <p:nvSpPr>
          <p:cNvPr id="152578" name="Rectangle 2">
            <a:extLst>
              <a:ext uri="{FF2B5EF4-FFF2-40B4-BE49-F238E27FC236}">
                <a16:creationId xmlns:a16="http://schemas.microsoft.com/office/drawing/2014/main" id="{463A4330-7057-900D-2A9D-34770E640FCB}"/>
              </a:ext>
            </a:extLst>
          </p:cNvPr>
          <p:cNvSpPr>
            <a:spLocks noGrp="1" noChangeArrowheads="1"/>
          </p:cNvSpPr>
          <p:nvPr>
            <p:ph type="title"/>
          </p:nvPr>
        </p:nvSpPr>
        <p:spPr/>
        <p:txBody>
          <a:bodyPr/>
          <a:lstStyle/>
          <a:p>
            <a:r>
              <a:rPr lang="zh-CN" altLang="en-US"/>
              <a:t>本章内容</a:t>
            </a:r>
          </a:p>
        </p:txBody>
      </p:sp>
      <p:sp>
        <p:nvSpPr>
          <p:cNvPr id="152579" name="Rectangle 3">
            <a:extLst>
              <a:ext uri="{FF2B5EF4-FFF2-40B4-BE49-F238E27FC236}">
                <a16:creationId xmlns:a16="http://schemas.microsoft.com/office/drawing/2014/main" id="{56FC878D-7FC3-1F1B-E67A-41F0D1CE1FA3}"/>
              </a:ext>
            </a:extLst>
          </p:cNvPr>
          <p:cNvSpPr>
            <a:spLocks noGrp="1" noChangeArrowheads="1"/>
          </p:cNvSpPr>
          <p:nvPr>
            <p:ph type="body" idx="1"/>
          </p:nvPr>
        </p:nvSpPr>
        <p:spPr>
          <a:xfrm>
            <a:off x="1981200" y="1052513"/>
            <a:ext cx="8229600" cy="4862512"/>
          </a:xfrm>
        </p:spPr>
        <p:txBody>
          <a:bodyPr/>
          <a:lstStyle/>
          <a:p>
            <a:pPr>
              <a:lnSpc>
                <a:spcPct val="200000"/>
              </a:lnSpc>
            </a:pPr>
            <a:r>
              <a:rPr lang="en-US" altLang="zh-CN"/>
              <a:t>13.1 </a:t>
            </a:r>
            <a:r>
              <a:rPr lang="zh-CN" altLang="en-US"/>
              <a:t>什么是构件</a:t>
            </a:r>
          </a:p>
          <a:p>
            <a:pPr>
              <a:lnSpc>
                <a:spcPct val="200000"/>
              </a:lnSpc>
            </a:pPr>
            <a:r>
              <a:rPr lang="en-US" altLang="zh-CN"/>
              <a:t>13.2 </a:t>
            </a:r>
            <a:r>
              <a:rPr lang="zh-CN" altLang="en-US"/>
              <a:t>设计基于类的构件</a:t>
            </a:r>
          </a:p>
          <a:p>
            <a:pPr>
              <a:lnSpc>
                <a:spcPct val="200000"/>
              </a:lnSpc>
            </a:pPr>
            <a:r>
              <a:rPr lang="en-US" altLang="zh-CN"/>
              <a:t>13.3 </a:t>
            </a:r>
            <a:r>
              <a:rPr lang="zh-CN" altLang="en-US"/>
              <a:t>实施构件级设计</a:t>
            </a:r>
          </a:p>
          <a:p>
            <a:pPr>
              <a:lnSpc>
                <a:spcPct val="200000"/>
              </a:lnSpc>
            </a:pPr>
            <a:r>
              <a:rPr lang="en-US" altLang="zh-CN">
                <a:solidFill>
                  <a:srgbClr val="FF0000"/>
                </a:solidFill>
              </a:rPr>
              <a:t>13.4 WebApp</a:t>
            </a:r>
            <a:r>
              <a:rPr lang="zh-CN" altLang="en-US">
                <a:solidFill>
                  <a:srgbClr val="FF0000"/>
                </a:solidFill>
              </a:rPr>
              <a:t>的构件级设计</a:t>
            </a:r>
          </a:p>
          <a:p>
            <a:pPr>
              <a:lnSpc>
                <a:spcPct val="200000"/>
              </a:lnSpc>
            </a:pPr>
            <a:r>
              <a:rPr lang="en-US" altLang="zh-CN"/>
              <a:t>13.5 </a:t>
            </a:r>
            <a:r>
              <a:rPr lang="zh-CN" altLang="en-US"/>
              <a:t>设计传统构件</a:t>
            </a:r>
          </a:p>
          <a:p>
            <a:pPr>
              <a:lnSpc>
                <a:spcPct val="200000"/>
              </a:lnSpc>
            </a:pPr>
            <a:r>
              <a:rPr lang="en-US" altLang="zh-CN"/>
              <a:t>13.6 </a:t>
            </a:r>
            <a:r>
              <a:rPr lang="zh-CN" altLang="en-US"/>
              <a:t>基于构件的开发</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6">
            <a:extLst>
              <a:ext uri="{FF2B5EF4-FFF2-40B4-BE49-F238E27FC236}">
                <a16:creationId xmlns:a16="http://schemas.microsoft.com/office/drawing/2014/main" id="{F35AD99F-ECA4-42B7-4686-6C2048B3D7B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B8DF6AE-3ABD-4F16-B73C-82E9CC3043AD}" type="slidenum">
              <a:rPr lang="en-US" altLang="zh-CN" sz="1200">
                <a:solidFill>
                  <a:srgbClr val="000000"/>
                </a:solidFill>
                <a:latin typeface="Arial" panose="020B0604020202020204" pitchFamily="34" charset="0"/>
              </a:rPr>
              <a:pPr fontAlgn="base">
                <a:spcBef>
                  <a:spcPct val="0"/>
                </a:spcBef>
                <a:spcAft>
                  <a:spcPct val="0"/>
                </a:spcAft>
              </a:pPr>
              <a:t>66</a:t>
            </a:fld>
            <a:endParaRPr lang="en-US" altLang="zh-CN" sz="1200">
              <a:solidFill>
                <a:srgbClr val="000000"/>
              </a:solidFill>
              <a:latin typeface="Arial" panose="020B0604020202020204" pitchFamily="34" charset="0"/>
            </a:endParaRPr>
          </a:p>
        </p:txBody>
      </p:sp>
      <p:sp>
        <p:nvSpPr>
          <p:cNvPr id="153602" name="Rectangle 2">
            <a:extLst>
              <a:ext uri="{FF2B5EF4-FFF2-40B4-BE49-F238E27FC236}">
                <a16:creationId xmlns:a16="http://schemas.microsoft.com/office/drawing/2014/main" id="{9479F916-7B98-F00B-FBE6-CE7D4276F380}"/>
              </a:ext>
            </a:extLst>
          </p:cNvPr>
          <p:cNvSpPr>
            <a:spLocks noGrp="1" noChangeArrowheads="1"/>
          </p:cNvSpPr>
          <p:nvPr>
            <p:ph type="title"/>
          </p:nvPr>
        </p:nvSpPr>
        <p:spPr/>
        <p:txBody>
          <a:bodyPr/>
          <a:lstStyle/>
          <a:p>
            <a:r>
              <a:rPr lang="en-US" altLang="zh-CN"/>
              <a:t>WebApp</a:t>
            </a:r>
            <a:r>
              <a:rPr lang="zh-CN" altLang="en-US"/>
              <a:t>的构件级设计</a:t>
            </a:r>
          </a:p>
        </p:txBody>
      </p:sp>
      <p:sp>
        <p:nvSpPr>
          <p:cNvPr id="153603" name="Rectangle 3">
            <a:extLst>
              <a:ext uri="{FF2B5EF4-FFF2-40B4-BE49-F238E27FC236}">
                <a16:creationId xmlns:a16="http://schemas.microsoft.com/office/drawing/2014/main" id="{BE060399-9503-AAE8-25EE-5B11B3C9B3E2}"/>
              </a:ext>
            </a:extLst>
          </p:cNvPr>
          <p:cNvSpPr>
            <a:spLocks noGrp="1" noChangeArrowheads="1"/>
          </p:cNvSpPr>
          <p:nvPr>
            <p:ph type="body" idx="1"/>
          </p:nvPr>
        </p:nvSpPr>
        <p:spPr>
          <a:xfrm>
            <a:off x="1981200" y="1412875"/>
            <a:ext cx="8229600" cy="4718050"/>
          </a:xfrm>
        </p:spPr>
        <p:txBody>
          <a:bodyPr/>
          <a:lstStyle/>
          <a:p>
            <a:pPr>
              <a:lnSpc>
                <a:spcPct val="150000"/>
              </a:lnSpc>
              <a:spcBef>
                <a:spcPct val="50000"/>
              </a:spcBef>
            </a:pPr>
            <a:r>
              <a:rPr lang="en-US" altLang="zh-CN" sz="2800"/>
              <a:t>WebApp</a:t>
            </a:r>
            <a:r>
              <a:rPr lang="zh-CN" altLang="en-US" sz="2800"/>
              <a:t>构件是：</a:t>
            </a:r>
          </a:p>
          <a:p>
            <a:pPr lvl="1">
              <a:lnSpc>
                <a:spcPct val="150000"/>
              </a:lnSpc>
              <a:spcBef>
                <a:spcPct val="50000"/>
              </a:spcBef>
            </a:pPr>
            <a:r>
              <a:rPr lang="zh-CN" altLang="en-US"/>
              <a:t>（</a:t>
            </a:r>
            <a:r>
              <a:rPr lang="en-US" altLang="zh-CN"/>
              <a:t>1</a:t>
            </a:r>
            <a:r>
              <a:rPr lang="zh-CN" altLang="en-US"/>
              <a:t>）为最终用户处理</a:t>
            </a:r>
            <a:r>
              <a:rPr lang="zh-CN" altLang="en-US">
                <a:solidFill>
                  <a:srgbClr val="FF0000"/>
                </a:solidFill>
              </a:rPr>
              <a:t>内容</a:t>
            </a:r>
            <a:r>
              <a:rPr lang="zh-CN" altLang="en-US"/>
              <a:t>，或提供计算或数据处理；</a:t>
            </a:r>
          </a:p>
          <a:p>
            <a:pPr lvl="1">
              <a:lnSpc>
                <a:spcPct val="150000"/>
              </a:lnSpc>
              <a:spcBef>
                <a:spcPct val="50000"/>
              </a:spcBef>
            </a:pPr>
            <a:r>
              <a:rPr lang="zh-CN" altLang="en-US"/>
              <a:t>（</a:t>
            </a:r>
            <a:r>
              <a:rPr lang="en-US" altLang="zh-CN"/>
              <a:t>2</a:t>
            </a:r>
            <a:r>
              <a:rPr lang="zh-CN" altLang="en-US"/>
              <a:t>）提供最终用户所需的</a:t>
            </a:r>
            <a:r>
              <a:rPr lang="zh-CN" altLang="en-US">
                <a:solidFill>
                  <a:srgbClr val="FF0000"/>
                </a:solidFill>
              </a:rPr>
              <a:t>功能</a:t>
            </a:r>
            <a:r>
              <a:rPr lang="zh-CN" altLang="en-US"/>
              <a:t>。</a:t>
            </a:r>
          </a:p>
          <a:p>
            <a:pPr>
              <a:lnSpc>
                <a:spcPct val="150000"/>
              </a:lnSpc>
              <a:spcBef>
                <a:spcPct val="50000"/>
              </a:spcBef>
            </a:pPr>
            <a:r>
              <a:rPr lang="zh-CN" altLang="en-US" sz="2800"/>
              <a:t>因此</a:t>
            </a:r>
            <a:r>
              <a:rPr lang="en-US" altLang="zh-CN" sz="2800"/>
              <a:t>WebApp</a:t>
            </a:r>
            <a:r>
              <a:rPr lang="zh-CN" altLang="en-US" sz="2800"/>
              <a:t>构件级设计通常包括</a:t>
            </a:r>
            <a:r>
              <a:rPr lang="zh-CN" altLang="en-US" sz="2800">
                <a:solidFill>
                  <a:srgbClr val="FF0000"/>
                </a:solidFill>
              </a:rPr>
              <a:t>内容设计元素</a:t>
            </a:r>
            <a:r>
              <a:rPr lang="zh-CN" altLang="en-US" sz="2800"/>
              <a:t>和</a:t>
            </a:r>
            <a:r>
              <a:rPr lang="zh-CN" altLang="en-US" sz="2800">
                <a:solidFill>
                  <a:srgbClr val="FF0000"/>
                </a:solidFill>
              </a:rPr>
              <a:t>功能设计元素</a:t>
            </a:r>
            <a:r>
              <a:rPr lang="zh-CN" altLang="en-US" sz="280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6">
            <a:extLst>
              <a:ext uri="{FF2B5EF4-FFF2-40B4-BE49-F238E27FC236}">
                <a16:creationId xmlns:a16="http://schemas.microsoft.com/office/drawing/2014/main" id="{495A4B7D-0751-C6A3-75E2-5A182FF211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E6D12BE-74B8-4C2F-B2FF-1B2C31D67B66}" type="slidenum">
              <a:rPr lang="en-US" altLang="zh-CN" sz="1200">
                <a:solidFill>
                  <a:srgbClr val="000000"/>
                </a:solidFill>
                <a:latin typeface="Arial" panose="020B0604020202020204" pitchFamily="34" charset="0"/>
              </a:rPr>
              <a:pPr fontAlgn="base">
                <a:spcBef>
                  <a:spcPct val="0"/>
                </a:spcBef>
                <a:spcAft>
                  <a:spcPct val="0"/>
                </a:spcAft>
              </a:pPr>
              <a:t>67</a:t>
            </a:fld>
            <a:endParaRPr lang="en-US" altLang="zh-CN" sz="1200">
              <a:solidFill>
                <a:srgbClr val="000000"/>
              </a:solidFill>
              <a:latin typeface="Arial" panose="020B0604020202020204" pitchFamily="34" charset="0"/>
            </a:endParaRPr>
          </a:p>
        </p:txBody>
      </p:sp>
      <p:sp>
        <p:nvSpPr>
          <p:cNvPr id="154626" name="Rectangle 2">
            <a:extLst>
              <a:ext uri="{FF2B5EF4-FFF2-40B4-BE49-F238E27FC236}">
                <a16:creationId xmlns:a16="http://schemas.microsoft.com/office/drawing/2014/main" id="{C89EE1A5-5475-8C42-F96A-FDCE65403053}"/>
              </a:ext>
            </a:extLst>
          </p:cNvPr>
          <p:cNvSpPr>
            <a:spLocks noGrp="1" noChangeArrowheads="1"/>
          </p:cNvSpPr>
          <p:nvPr>
            <p:ph type="title"/>
          </p:nvPr>
        </p:nvSpPr>
        <p:spPr/>
        <p:txBody>
          <a:bodyPr/>
          <a:lstStyle/>
          <a:p>
            <a:r>
              <a:rPr lang="zh-CN" altLang="en-US"/>
              <a:t>本章内容</a:t>
            </a:r>
          </a:p>
        </p:txBody>
      </p:sp>
      <p:sp>
        <p:nvSpPr>
          <p:cNvPr id="154627" name="Rectangle 3">
            <a:extLst>
              <a:ext uri="{FF2B5EF4-FFF2-40B4-BE49-F238E27FC236}">
                <a16:creationId xmlns:a16="http://schemas.microsoft.com/office/drawing/2014/main" id="{F4EC5FF1-E1D7-3DCC-20B9-6A308A130BC0}"/>
              </a:ext>
            </a:extLst>
          </p:cNvPr>
          <p:cNvSpPr>
            <a:spLocks noGrp="1" noChangeArrowheads="1"/>
          </p:cNvSpPr>
          <p:nvPr>
            <p:ph type="body" idx="1"/>
          </p:nvPr>
        </p:nvSpPr>
        <p:spPr>
          <a:xfrm>
            <a:off x="1981200" y="1052513"/>
            <a:ext cx="8229600" cy="4862512"/>
          </a:xfrm>
        </p:spPr>
        <p:txBody>
          <a:bodyPr/>
          <a:lstStyle/>
          <a:p>
            <a:pPr>
              <a:lnSpc>
                <a:spcPct val="200000"/>
              </a:lnSpc>
            </a:pPr>
            <a:r>
              <a:rPr lang="en-US" altLang="zh-CN"/>
              <a:t>13.1 </a:t>
            </a:r>
            <a:r>
              <a:rPr lang="zh-CN" altLang="en-US"/>
              <a:t>什么是构件</a:t>
            </a:r>
          </a:p>
          <a:p>
            <a:pPr>
              <a:lnSpc>
                <a:spcPct val="200000"/>
              </a:lnSpc>
            </a:pPr>
            <a:r>
              <a:rPr lang="en-US" altLang="zh-CN"/>
              <a:t>13.2 </a:t>
            </a:r>
            <a:r>
              <a:rPr lang="zh-CN" altLang="en-US"/>
              <a:t>设计基于类的构件</a:t>
            </a:r>
          </a:p>
          <a:p>
            <a:pPr>
              <a:lnSpc>
                <a:spcPct val="200000"/>
              </a:lnSpc>
            </a:pPr>
            <a:r>
              <a:rPr lang="en-US" altLang="zh-CN"/>
              <a:t>13.3 </a:t>
            </a:r>
            <a:r>
              <a:rPr lang="zh-CN" altLang="en-US"/>
              <a:t>实施构件级设计</a:t>
            </a:r>
          </a:p>
          <a:p>
            <a:pPr>
              <a:lnSpc>
                <a:spcPct val="200000"/>
              </a:lnSpc>
            </a:pPr>
            <a:r>
              <a:rPr lang="en-US" altLang="zh-CN"/>
              <a:t>13.4 WebApp</a:t>
            </a:r>
            <a:r>
              <a:rPr lang="zh-CN" altLang="en-US"/>
              <a:t>的构件级设计</a:t>
            </a:r>
          </a:p>
          <a:p>
            <a:pPr>
              <a:lnSpc>
                <a:spcPct val="200000"/>
              </a:lnSpc>
            </a:pPr>
            <a:r>
              <a:rPr lang="en-US" altLang="zh-CN">
                <a:solidFill>
                  <a:srgbClr val="FF0000"/>
                </a:solidFill>
              </a:rPr>
              <a:t>13.5 </a:t>
            </a:r>
            <a:r>
              <a:rPr lang="zh-CN" altLang="en-US">
                <a:solidFill>
                  <a:srgbClr val="FF0000"/>
                </a:solidFill>
              </a:rPr>
              <a:t>设计传统构件</a:t>
            </a:r>
          </a:p>
          <a:p>
            <a:pPr>
              <a:lnSpc>
                <a:spcPct val="200000"/>
              </a:lnSpc>
            </a:pPr>
            <a:r>
              <a:rPr lang="en-US" altLang="zh-CN"/>
              <a:t>13.6 </a:t>
            </a:r>
            <a:r>
              <a:rPr lang="zh-CN" altLang="en-US"/>
              <a:t>基于构件的开发</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6">
            <a:extLst>
              <a:ext uri="{FF2B5EF4-FFF2-40B4-BE49-F238E27FC236}">
                <a16:creationId xmlns:a16="http://schemas.microsoft.com/office/drawing/2014/main" id="{A32DD6C5-2CD2-AF8A-1084-C2EB5B3E76F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94B55FF-3E82-43F6-AC81-D3A2FE6129AC}" type="slidenum">
              <a:rPr lang="en-US" altLang="zh-CN" sz="1200">
                <a:solidFill>
                  <a:srgbClr val="000000"/>
                </a:solidFill>
                <a:latin typeface="Arial" panose="020B0604020202020204" pitchFamily="34" charset="0"/>
              </a:rPr>
              <a:pPr fontAlgn="base">
                <a:spcBef>
                  <a:spcPct val="0"/>
                </a:spcBef>
                <a:spcAft>
                  <a:spcPct val="0"/>
                </a:spcAft>
              </a:pPr>
              <a:t>68</a:t>
            </a:fld>
            <a:endParaRPr lang="en-US" altLang="zh-CN" sz="1200">
              <a:solidFill>
                <a:srgbClr val="000000"/>
              </a:solidFill>
              <a:latin typeface="Arial" panose="020B0604020202020204" pitchFamily="34" charset="0"/>
            </a:endParaRPr>
          </a:p>
        </p:txBody>
      </p:sp>
      <p:sp>
        <p:nvSpPr>
          <p:cNvPr id="155650" name="Rectangle 2">
            <a:extLst>
              <a:ext uri="{FF2B5EF4-FFF2-40B4-BE49-F238E27FC236}">
                <a16:creationId xmlns:a16="http://schemas.microsoft.com/office/drawing/2014/main" id="{91056AE5-7995-F71B-D19D-C2FB762A52F8}"/>
              </a:ext>
            </a:extLst>
          </p:cNvPr>
          <p:cNvSpPr>
            <a:spLocks noGrp="1" noChangeArrowheads="1"/>
          </p:cNvSpPr>
          <p:nvPr>
            <p:ph type="title"/>
          </p:nvPr>
        </p:nvSpPr>
        <p:spPr/>
        <p:txBody>
          <a:bodyPr/>
          <a:lstStyle/>
          <a:p>
            <a:r>
              <a:rPr lang="zh-CN" altLang="en-US"/>
              <a:t>设计传统构件</a:t>
            </a:r>
          </a:p>
        </p:txBody>
      </p:sp>
      <p:sp>
        <p:nvSpPr>
          <p:cNvPr id="309251" name="Rectangle 3">
            <a:extLst>
              <a:ext uri="{FF2B5EF4-FFF2-40B4-BE49-F238E27FC236}">
                <a16:creationId xmlns:a16="http://schemas.microsoft.com/office/drawing/2014/main" id="{B2B0C466-246F-3C4E-809D-484D7AC928DC}"/>
              </a:ext>
            </a:extLst>
          </p:cNvPr>
          <p:cNvSpPr>
            <a:spLocks noGrp="1" noChangeArrowheads="1"/>
          </p:cNvSpPr>
          <p:nvPr>
            <p:ph type="body" idx="1"/>
          </p:nvPr>
        </p:nvSpPr>
        <p:spPr>
          <a:xfrm>
            <a:off x="1981200" y="981076"/>
            <a:ext cx="8229600" cy="5040313"/>
          </a:xfrm>
        </p:spPr>
        <p:txBody>
          <a:bodyPr/>
          <a:lstStyle/>
          <a:p>
            <a:pPr>
              <a:lnSpc>
                <a:spcPct val="150000"/>
              </a:lnSpc>
              <a:spcBef>
                <a:spcPct val="50000"/>
              </a:spcBef>
            </a:pPr>
            <a:r>
              <a:rPr lang="zh-CN" altLang="en-US"/>
              <a:t>复杂性度量表明，结构化的构造</a:t>
            </a:r>
            <a:r>
              <a:rPr lang="zh-CN" altLang="en-US">
                <a:solidFill>
                  <a:srgbClr val="FF0000"/>
                </a:solidFill>
              </a:rPr>
              <a:t>降低了程序复杂性</a:t>
            </a:r>
            <a:r>
              <a:rPr lang="zh-CN" altLang="en-US"/>
              <a:t>，从而增加了可读性、可测试性和可维护性。</a:t>
            </a:r>
          </a:p>
          <a:p>
            <a:pPr>
              <a:lnSpc>
                <a:spcPct val="150000"/>
              </a:lnSpc>
              <a:spcBef>
                <a:spcPct val="50000"/>
              </a:spcBef>
            </a:pPr>
            <a:r>
              <a:rPr lang="zh-CN" altLang="en-US"/>
              <a:t>使用</a:t>
            </a:r>
            <a:r>
              <a:rPr lang="zh-CN" altLang="en-US">
                <a:solidFill>
                  <a:srgbClr val="FF0000"/>
                </a:solidFill>
              </a:rPr>
              <a:t>有限数量的逻辑结构</a:t>
            </a:r>
            <a:r>
              <a:rPr lang="zh-CN" altLang="en-US"/>
              <a:t>也符合心理学家所谓的人类“</a:t>
            </a:r>
            <a:r>
              <a:rPr lang="zh-CN" altLang="en-US">
                <a:solidFill>
                  <a:srgbClr val="FF0000"/>
                </a:solidFill>
              </a:rPr>
              <a:t>成块</a:t>
            </a:r>
            <a:r>
              <a:rPr lang="zh-CN" altLang="en-US"/>
              <a:t>”的理解过程：</a:t>
            </a:r>
          </a:p>
          <a:p>
            <a:pPr lvl="1">
              <a:lnSpc>
                <a:spcPct val="150000"/>
              </a:lnSpc>
              <a:spcBef>
                <a:spcPct val="50000"/>
              </a:spcBef>
            </a:pPr>
            <a:r>
              <a:rPr lang="zh-CN" altLang="en-US" sz="2000"/>
              <a:t>要理解这一过程，可以考虑阅读的方式。读者不是阅读单个字母，而是辨认由单词或短语构成的</a:t>
            </a:r>
            <a:r>
              <a:rPr lang="zh-CN" altLang="en-US" sz="2000">
                <a:solidFill>
                  <a:srgbClr val="FF0000"/>
                </a:solidFill>
              </a:rPr>
              <a:t>模式</a:t>
            </a:r>
            <a:r>
              <a:rPr lang="zh-CN" altLang="en-US" sz="2000"/>
              <a:t>或是</a:t>
            </a:r>
            <a:r>
              <a:rPr lang="zh-CN" altLang="en-US" sz="2000">
                <a:solidFill>
                  <a:srgbClr val="FF0000"/>
                </a:solidFill>
              </a:rPr>
              <a:t>字母块</a:t>
            </a:r>
            <a:r>
              <a:rPr lang="zh-CN" altLang="en-US" sz="2000"/>
              <a:t>。</a:t>
            </a:r>
          </a:p>
          <a:p>
            <a:pPr>
              <a:lnSpc>
                <a:spcPct val="150000"/>
              </a:lnSpc>
              <a:spcBef>
                <a:spcPct val="50000"/>
              </a:spcBef>
            </a:pPr>
            <a:r>
              <a:rPr lang="zh-CN" altLang="en-US">
                <a:solidFill>
                  <a:srgbClr val="FF0000"/>
                </a:solidFill>
              </a:rPr>
              <a:t>结构化的构造</a:t>
            </a:r>
            <a:r>
              <a:rPr lang="zh-CN" altLang="en-US"/>
              <a:t>就是一些</a:t>
            </a:r>
            <a:r>
              <a:rPr lang="zh-CN" altLang="en-US">
                <a:solidFill>
                  <a:srgbClr val="FF0000"/>
                </a:solidFill>
              </a:rPr>
              <a:t>逻辑块</a:t>
            </a:r>
            <a:r>
              <a:rPr lang="zh-CN" altLang="en-US"/>
              <a:t>，读者可以用它来</a:t>
            </a:r>
            <a:r>
              <a:rPr lang="zh-CN" altLang="en-US">
                <a:solidFill>
                  <a:srgbClr val="FF0000"/>
                </a:solidFill>
              </a:rPr>
              <a:t>辨认</a:t>
            </a:r>
            <a:r>
              <a:rPr lang="zh-CN" altLang="en-US"/>
              <a:t>模块的</a:t>
            </a:r>
            <a:r>
              <a:rPr lang="zh-CN" altLang="en-US">
                <a:solidFill>
                  <a:srgbClr val="FF0000"/>
                </a:solidFill>
              </a:rPr>
              <a:t>过程元素</a:t>
            </a:r>
            <a:r>
              <a:rPr lang="zh-CN" altLang="en-US"/>
              <a:t>，而</a:t>
            </a:r>
            <a:r>
              <a:rPr lang="zh-CN" altLang="en-US">
                <a:solidFill>
                  <a:srgbClr val="FF0000"/>
                </a:solidFill>
              </a:rPr>
              <a:t>不必逐行阅读</a:t>
            </a:r>
            <a:r>
              <a:rPr lang="zh-CN" altLang="en-US"/>
              <a:t>设计或是代码。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animEffect transition="in" filter="diamond(in)">
                                      <p:cBhvr>
                                        <p:cTn id="7" dur="1000"/>
                                        <p:tgtEl>
                                          <p:spTgt spid="309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09251">
                                            <p:txEl>
                                              <p:pRg st="1" end="1"/>
                                            </p:txEl>
                                          </p:spTgt>
                                        </p:tgtEl>
                                        <p:attrNameLst>
                                          <p:attrName>style.visibility</p:attrName>
                                        </p:attrNameLst>
                                      </p:cBhvr>
                                      <p:to>
                                        <p:strVal val="visible"/>
                                      </p:to>
                                    </p:set>
                                    <p:animEffect transition="in" filter="diamond(in)">
                                      <p:cBhvr>
                                        <p:cTn id="12" dur="1000"/>
                                        <p:tgtEl>
                                          <p:spTgt spid="3092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09251">
                                            <p:txEl>
                                              <p:pRg st="2" end="2"/>
                                            </p:txEl>
                                          </p:spTgt>
                                        </p:tgtEl>
                                        <p:attrNameLst>
                                          <p:attrName>style.visibility</p:attrName>
                                        </p:attrNameLst>
                                      </p:cBhvr>
                                      <p:to>
                                        <p:strVal val="visible"/>
                                      </p:to>
                                    </p:set>
                                    <p:animEffect transition="in" filter="diamond(in)">
                                      <p:cBhvr>
                                        <p:cTn id="17" dur="1000"/>
                                        <p:tgtEl>
                                          <p:spTgt spid="3092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09251">
                                            <p:txEl>
                                              <p:pRg st="3" end="3"/>
                                            </p:txEl>
                                          </p:spTgt>
                                        </p:tgtEl>
                                        <p:attrNameLst>
                                          <p:attrName>style.visibility</p:attrName>
                                        </p:attrNameLst>
                                      </p:cBhvr>
                                      <p:to>
                                        <p:strVal val="visible"/>
                                      </p:to>
                                    </p:set>
                                    <p:animEffect transition="in" filter="diamond(in)">
                                      <p:cBhvr>
                                        <p:cTn id="22" dur="1000"/>
                                        <p:tgtEl>
                                          <p:spTgt spid="309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6">
            <a:extLst>
              <a:ext uri="{FF2B5EF4-FFF2-40B4-BE49-F238E27FC236}">
                <a16:creationId xmlns:a16="http://schemas.microsoft.com/office/drawing/2014/main" id="{90F82FFC-3019-A6FF-5259-63805931216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FE0CA27-83A5-4E7F-ADA6-A518826B90CF}" type="slidenum">
              <a:rPr lang="en-US" altLang="zh-CN" sz="1200">
                <a:solidFill>
                  <a:srgbClr val="000000"/>
                </a:solidFill>
                <a:latin typeface="Arial" panose="020B0604020202020204" pitchFamily="34" charset="0"/>
              </a:rPr>
              <a:pPr fontAlgn="base">
                <a:spcBef>
                  <a:spcPct val="0"/>
                </a:spcBef>
                <a:spcAft>
                  <a:spcPct val="0"/>
                </a:spcAft>
              </a:pPr>
              <a:t>69</a:t>
            </a:fld>
            <a:endParaRPr lang="en-US" altLang="zh-CN" sz="1200">
              <a:solidFill>
                <a:srgbClr val="000000"/>
              </a:solidFill>
              <a:latin typeface="Arial" panose="020B0604020202020204" pitchFamily="34" charset="0"/>
            </a:endParaRPr>
          </a:p>
        </p:txBody>
      </p:sp>
      <p:sp>
        <p:nvSpPr>
          <p:cNvPr id="156674" name="Rectangle 2">
            <a:extLst>
              <a:ext uri="{FF2B5EF4-FFF2-40B4-BE49-F238E27FC236}">
                <a16:creationId xmlns:a16="http://schemas.microsoft.com/office/drawing/2014/main" id="{892E6D84-2055-6051-F7F0-1F34EF218093}"/>
              </a:ext>
            </a:extLst>
          </p:cNvPr>
          <p:cNvSpPr>
            <a:spLocks noGrp="1" noChangeArrowheads="1"/>
          </p:cNvSpPr>
          <p:nvPr>
            <p:ph type="title"/>
          </p:nvPr>
        </p:nvSpPr>
        <p:spPr/>
        <p:txBody>
          <a:bodyPr/>
          <a:lstStyle/>
          <a:p>
            <a:r>
              <a:rPr lang="zh-CN" altLang="en-US"/>
              <a:t>图形化设计表示</a:t>
            </a:r>
          </a:p>
        </p:txBody>
      </p:sp>
      <p:pic>
        <p:nvPicPr>
          <p:cNvPr id="156675" name="Picture 3">
            <a:extLst>
              <a:ext uri="{FF2B5EF4-FFF2-40B4-BE49-F238E27FC236}">
                <a16:creationId xmlns:a16="http://schemas.microsoft.com/office/drawing/2014/main" id="{86901A16-5F3B-151A-4023-2B9A7B54850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6">
            <a:extLst>
              <a:ext uri="{FF2B5EF4-FFF2-40B4-BE49-F238E27FC236}">
                <a16:creationId xmlns:a16="http://schemas.microsoft.com/office/drawing/2014/main" id="{243AC60A-7A61-337B-BE26-072DE8C4856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C77D71F-3182-437E-B04D-8724FCA18758}" type="slidenum">
              <a:rPr lang="en-US" altLang="zh-CN" sz="1200">
                <a:solidFill>
                  <a:srgbClr val="000000"/>
                </a:solidFill>
                <a:latin typeface="Arial" panose="020B0604020202020204" pitchFamily="34" charset="0"/>
              </a:rPr>
              <a:pPr fontAlgn="base">
                <a:spcBef>
                  <a:spcPct val="0"/>
                </a:spcBef>
                <a:spcAft>
                  <a:spcPct val="0"/>
                </a:spcAft>
              </a:pPr>
              <a:t>70</a:t>
            </a:fld>
            <a:endParaRPr lang="en-US" altLang="zh-CN" sz="1200">
              <a:solidFill>
                <a:srgbClr val="000000"/>
              </a:solidFill>
              <a:latin typeface="Arial" panose="020B0604020202020204" pitchFamily="34" charset="0"/>
            </a:endParaRPr>
          </a:p>
        </p:txBody>
      </p:sp>
      <p:sp>
        <p:nvSpPr>
          <p:cNvPr id="157698" name="Rectangle 2">
            <a:extLst>
              <a:ext uri="{FF2B5EF4-FFF2-40B4-BE49-F238E27FC236}">
                <a16:creationId xmlns:a16="http://schemas.microsoft.com/office/drawing/2014/main" id="{07FE666E-7B23-3B87-51D0-3173FE30DB72}"/>
              </a:ext>
            </a:extLst>
          </p:cNvPr>
          <p:cNvSpPr>
            <a:spLocks noGrp="1" noChangeArrowheads="1"/>
          </p:cNvSpPr>
          <p:nvPr>
            <p:ph type="title"/>
          </p:nvPr>
        </p:nvSpPr>
        <p:spPr/>
        <p:txBody>
          <a:bodyPr/>
          <a:lstStyle/>
          <a:p>
            <a:r>
              <a:rPr lang="zh-CN" altLang="en-US"/>
              <a:t>表格式设计表示</a:t>
            </a:r>
          </a:p>
        </p:txBody>
      </p:sp>
      <p:sp>
        <p:nvSpPr>
          <p:cNvPr id="334851" name="Rectangle 3">
            <a:extLst>
              <a:ext uri="{FF2B5EF4-FFF2-40B4-BE49-F238E27FC236}">
                <a16:creationId xmlns:a16="http://schemas.microsoft.com/office/drawing/2014/main" id="{EF75B3F8-45A5-7EA9-E976-2C24C1A6E76C}"/>
              </a:ext>
            </a:extLst>
          </p:cNvPr>
          <p:cNvSpPr>
            <a:spLocks noGrp="1" noChangeArrowheads="1"/>
          </p:cNvSpPr>
          <p:nvPr>
            <p:ph type="body" idx="1"/>
          </p:nvPr>
        </p:nvSpPr>
        <p:spPr>
          <a:xfrm>
            <a:off x="1981200" y="1341438"/>
            <a:ext cx="8229600" cy="4430712"/>
          </a:xfrm>
        </p:spPr>
        <p:txBody>
          <a:bodyPr/>
          <a:lstStyle/>
          <a:p>
            <a:pPr>
              <a:lnSpc>
                <a:spcPct val="150000"/>
              </a:lnSpc>
              <a:spcBef>
                <a:spcPct val="50000"/>
              </a:spcBef>
            </a:pPr>
            <a:r>
              <a:rPr lang="zh-CN" altLang="en-US" sz="2600"/>
              <a:t>在许多软件应用系统中，需要</a:t>
            </a:r>
            <a:r>
              <a:rPr lang="zh-CN" altLang="en-US" sz="2600">
                <a:solidFill>
                  <a:srgbClr val="FF0000"/>
                </a:solidFill>
              </a:rPr>
              <a:t>对模块计算复杂的条件组合</a:t>
            </a:r>
            <a:r>
              <a:rPr lang="zh-CN" altLang="en-US" sz="2600"/>
              <a:t>，并根据这些条件选择合适的动作。</a:t>
            </a:r>
          </a:p>
          <a:p>
            <a:pPr>
              <a:lnSpc>
                <a:spcPct val="150000"/>
              </a:lnSpc>
              <a:spcBef>
                <a:spcPct val="50000"/>
              </a:spcBef>
            </a:pPr>
            <a:r>
              <a:rPr lang="zh-CN" altLang="en-US" sz="2600">
                <a:solidFill>
                  <a:srgbClr val="FF0000"/>
                </a:solidFill>
              </a:rPr>
              <a:t>决策表</a:t>
            </a:r>
            <a:r>
              <a:rPr lang="zh-CN" altLang="en-US" sz="2600"/>
              <a:t>提供了一种表示方法，可以将</a:t>
            </a:r>
            <a:r>
              <a:rPr lang="en-US" altLang="zh-CN" sz="2600"/>
              <a:t>(</a:t>
            </a:r>
            <a:r>
              <a:rPr lang="zh-CN" altLang="en-US" sz="2600"/>
              <a:t>处理叙述或用例中描述的</a:t>
            </a:r>
            <a:r>
              <a:rPr lang="en-US" altLang="zh-CN" sz="2600"/>
              <a:t>)</a:t>
            </a:r>
            <a:r>
              <a:rPr lang="zh-CN" altLang="en-US" sz="2600">
                <a:solidFill>
                  <a:srgbClr val="FF0000"/>
                </a:solidFill>
              </a:rPr>
              <a:t>动作和条件翻译成表格</a:t>
            </a:r>
            <a:r>
              <a:rPr lang="zh-CN" altLang="en-US" sz="2600"/>
              <a:t>，其优点是：</a:t>
            </a:r>
          </a:p>
          <a:p>
            <a:pPr lvl="1">
              <a:lnSpc>
                <a:spcPct val="150000"/>
              </a:lnSpc>
              <a:spcBef>
                <a:spcPct val="50000"/>
              </a:spcBef>
            </a:pPr>
            <a:r>
              <a:rPr lang="zh-CN" altLang="en-US"/>
              <a:t>该表格</a:t>
            </a:r>
            <a:r>
              <a:rPr lang="zh-CN" altLang="en-US">
                <a:solidFill>
                  <a:srgbClr val="FF0000"/>
                </a:solidFill>
              </a:rPr>
              <a:t>容易被理解；</a:t>
            </a:r>
            <a:endParaRPr lang="zh-CN" altLang="en-US"/>
          </a:p>
          <a:p>
            <a:pPr lvl="1">
              <a:lnSpc>
                <a:spcPct val="150000"/>
              </a:lnSpc>
              <a:spcBef>
                <a:spcPct val="50000"/>
              </a:spcBef>
            </a:pPr>
            <a:r>
              <a:rPr lang="zh-CN" altLang="en-US"/>
              <a:t>并且能够作为表驱动算法的</a:t>
            </a:r>
            <a:r>
              <a:rPr lang="zh-CN" altLang="en-US">
                <a:solidFill>
                  <a:srgbClr val="FF0000"/>
                </a:solidFill>
              </a:rPr>
              <a:t>机器可识别的输入</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4851">
                                            <p:txEl>
                                              <p:pRg st="1" end="1"/>
                                            </p:txEl>
                                          </p:spTgt>
                                        </p:tgtEl>
                                        <p:attrNameLst>
                                          <p:attrName>style.visibility</p:attrName>
                                        </p:attrNameLst>
                                      </p:cBhvr>
                                      <p:to>
                                        <p:strVal val="visible"/>
                                      </p:to>
                                    </p:set>
                                    <p:animEffect transition="in" filter="box(in)">
                                      <p:cBhvr>
                                        <p:cTn id="7" dur="1000"/>
                                        <p:tgtEl>
                                          <p:spTgt spid="3348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4851">
                                            <p:txEl>
                                              <p:pRg st="2" end="2"/>
                                            </p:txEl>
                                          </p:spTgt>
                                        </p:tgtEl>
                                        <p:attrNameLst>
                                          <p:attrName>style.visibility</p:attrName>
                                        </p:attrNameLst>
                                      </p:cBhvr>
                                      <p:to>
                                        <p:strVal val="visible"/>
                                      </p:to>
                                    </p:set>
                                    <p:animEffect transition="in" filter="box(in)">
                                      <p:cBhvr>
                                        <p:cTn id="12" dur="1000"/>
                                        <p:tgtEl>
                                          <p:spTgt spid="3348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34851">
                                            <p:txEl>
                                              <p:pRg st="3" end="3"/>
                                            </p:txEl>
                                          </p:spTgt>
                                        </p:tgtEl>
                                        <p:attrNameLst>
                                          <p:attrName>style.visibility</p:attrName>
                                        </p:attrNameLst>
                                      </p:cBhvr>
                                      <p:to>
                                        <p:strVal val="visible"/>
                                      </p:to>
                                    </p:set>
                                    <p:animEffect transition="in" filter="box(in)">
                                      <p:cBhvr>
                                        <p:cTn id="17" dur="1000"/>
                                        <p:tgtEl>
                                          <p:spTgt spid="3348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6">
            <a:extLst>
              <a:ext uri="{FF2B5EF4-FFF2-40B4-BE49-F238E27FC236}">
                <a16:creationId xmlns:a16="http://schemas.microsoft.com/office/drawing/2014/main" id="{75DA43E9-F21A-9539-A0EB-73EF479D0DF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A1C7954-55D5-4140-913A-E8446B7CD661}" type="slidenum">
              <a:rPr lang="en-US" altLang="zh-CN" sz="1200">
                <a:solidFill>
                  <a:srgbClr val="000000"/>
                </a:solidFill>
                <a:latin typeface="Arial" panose="020B0604020202020204" pitchFamily="34" charset="0"/>
              </a:rPr>
              <a:pPr fontAlgn="base">
                <a:spcBef>
                  <a:spcPct val="0"/>
                </a:spcBef>
                <a:spcAft>
                  <a:spcPct val="0"/>
                </a:spcAft>
              </a:pPr>
              <a:t>71</a:t>
            </a:fld>
            <a:endParaRPr lang="en-US" altLang="zh-CN" sz="1200">
              <a:solidFill>
                <a:srgbClr val="000000"/>
              </a:solidFill>
              <a:latin typeface="Arial" panose="020B0604020202020204" pitchFamily="34" charset="0"/>
            </a:endParaRPr>
          </a:p>
        </p:txBody>
      </p:sp>
      <p:sp>
        <p:nvSpPr>
          <p:cNvPr id="158722" name="Rectangle 2">
            <a:extLst>
              <a:ext uri="{FF2B5EF4-FFF2-40B4-BE49-F238E27FC236}">
                <a16:creationId xmlns:a16="http://schemas.microsoft.com/office/drawing/2014/main" id="{A7B49A2F-EB3C-E8FA-0A2F-81CC545FB441}"/>
              </a:ext>
            </a:extLst>
          </p:cNvPr>
          <p:cNvSpPr>
            <a:spLocks noGrp="1" noChangeArrowheads="1"/>
          </p:cNvSpPr>
          <p:nvPr>
            <p:ph type="title"/>
          </p:nvPr>
        </p:nvSpPr>
        <p:spPr/>
        <p:txBody>
          <a:bodyPr/>
          <a:lstStyle/>
          <a:p>
            <a:r>
              <a:rPr lang="zh-CN" altLang="en-US"/>
              <a:t>决策表的表格式设计表示</a:t>
            </a:r>
          </a:p>
        </p:txBody>
      </p:sp>
      <p:pic>
        <p:nvPicPr>
          <p:cNvPr id="311300" name="Picture 4">
            <a:extLst>
              <a:ext uri="{FF2B5EF4-FFF2-40B4-BE49-F238E27FC236}">
                <a16:creationId xmlns:a16="http://schemas.microsoft.com/office/drawing/2014/main" id="{EF4AF38B-91C8-F792-7BD1-D310D0A4FD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3850" y="1341439"/>
            <a:ext cx="3886200" cy="451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1301" name="Text Box 5">
            <a:extLst>
              <a:ext uri="{FF2B5EF4-FFF2-40B4-BE49-F238E27FC236}">
                <a16:creationId xmlns:a16="http://schemas.microsoft.com/office/drawing/2014/main" id="{EC45E94F-683B-35DE-9FA8-575951C44EAA}"/>
              </a:ext>
            </a:extLst>
          </p:cNvPr>
          <p:cNvSpPr txBox="1">
            <a:spLocks noChangeArrowheads="1"/>
          </p:cNvSpPr>
          <p:nvPr/>
        </p:nvSpPr>
        <p:spPr bwMode="auto">
          <a:xfrm>
            <a:off x="1812926" y="1196975"/>
            <a:ext cx="4714875" cy="4421188"/>
          </a:xfrm>
          <a:prstGeom prst="rect">
            <a:avLst/>
          </a:prstGeom>
          <a:noFill/>
          <a:ln w="190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lnSpc>
                <a:spcPct val="135000"/>
              </a:lnSpc>
              <a:spcBef>
                <a:spcPct val="50000"/>
              </a:spcBef>
              <a:spcAft>
                <a:spcPct val="0"/>
              </a:spcAft>
            </a:pPr>
            <a:r>
              <a:rPr lang="zh-CN" altLang="en-US" sz="2000" b="1">
                <a:solidFill>
                  <a:srgbClr val="000000"/>
                </a:solidFill>
              </a:rPr>
              <a:t>开发决策表的步骤：</a:t>
            </a:r>
          </a:p>
          <a:p>
            <a:pPr fontAlgn="base">
              <a:lnSpc>
                <a:spcPct val="135000"/>
              </a:lnSpc>
              <a:spcBef>
                <a:spcPct val="50000"/>
              </a:spcBef>
              <a:spcAft>
                <a:spcPct val="0"/>
              </a:spcAft>
            </a:pPr>
            <a:r>
              <a:rPr lang="en-US" altLang="zh-CN" sz="2000" b="1">
                <a:solidFill>
                  <a:srgbClr val="000000"/>
                </a:solidFill>
              </a:rPr>
              <a:t>1.</a:t>
            </a:r>
            <a:r>
              <a:rPr lang="zh-CN" altLang="en-US" sz="2000" b="1">
                <a:solidFill>
                  <a:srgbClr val="000000"/>
                </a:solidFill>
              </a:rPr>
              <a:t>列出特定过程</a:t>
            </a:r>
            <a:r>
              <a:rPr lang="en-US" altLang="zh-CN" sz="2000" b="1">
                <a:solidFill>
                  <a:srgbClr val="000000"/>
                </a:solidFill>
              </a:rPr>
              <a:t>(</a:t>
            </a:r>
            <a:r>
              <a:rPr lang="zh-CN" altLang="en-US" sz="2000" b="1">
                <a:solidFill>
                  <a:srgbClr val="000000"/>
                </a:solidFill>
              </a:rPr>
              <a:t>或构件</a:t>
            </a:r>
            <a:r>
              <a:rPr lang="en-US" altLang="zh-CN" sz="2000" b="1">
                <a:solidFill>
                  <a:srgbClr val="000000"/>
                </a:solidFill>
              </a:rPr>
              <a:t>)</a:t>
            </a:r>
            <a:r>
              <a:rPr lang="zh-CN" altLang="en-US" sz="2000" b="1">
                <a:solidFill>
                  <a:srgbClr val="000000"/>
                </a:solidFill>
              </a:rPr>
              <a:t>相关的所有</a:t>
            </a:r>
            <a:r>
              <a:rPr lang="zh-CN" altLang="en-US" sz="2000" b="1">
                <a:solidFill>
                  <a:srgbClr val="FF0000"/>
                </a:solidFill>
              </a:rPr>
              <a:t>动作</a:t>
            </a:r>
            <a:r>
              <a:rPr lang="zh-CN" altLang="en-US" sz="2000" b="1">
                <a:solidFill>
                  <a:srgbClr val="000000"/>
                </a:solidFill>
              </a:rPr>
              <a:t>。</a:t>
            </a:r>
          </a:p>
          <a:p>
            <a:pPr fontAlgn="base">
              <a:lnSpc>
                <a:spcPct val="135000"/>
              </a:lnSpc>
              <a:spcBef>
                <a:spcPct val="50000"/>
              </a:spcBef>
              <a:spcAft>
                <a:spcPct val="0"/>
              </a:spcAft>
            </a:pPr>
            <a:r>
              <a:rPr lang="en-US" altLang="zh-CN" sz="2000" b="1">
                <a:solidFill>
                  <a:srgbClr val="000000"/>
                </a:solidFill>
              </a:rPr>
              <a:t>2.</a:t>
            </a:r>
            <a:r>
              <a:rPr lang="zh-CN" altLang="en-US" sz="2000" b="1">
                <a:solidFill>
                  <a:srgbClr val="000000"/>
                </a:solidFill>
              </a:rPr>
              <a:t>列出执行该过程时的所有</a:t>
            </a:r>
            <a:r>
              <a:rPr lang="zh-CN" altLang="en-US" sz="2000" b="1">
                <a:solidFill>
                  <a:srgbClr val="FF0000"/>
                </a:solidFill>
              </a:rPr>
              <a:t>条件</a:t>
            </a:r>
            <a:r>
              <a:rPr lang="en-US" altLang="zh-CN" sz="2000" b="1">
                <a:solidFill>
                  <a:srgbClr val="000000"/>
                </a:solidFill>
              </a:rPr>
              <a:t>(</a:t>
            </a:r>
            <a:r>
              <a:rPr lang="zh-CN" altLang="en-US" sz="2000" b="1">
                <a:solidFill>
                  <a:srgbClr val="000000"/>
                </a:solidFill>
              </a:rPr>
              <a:t>或所做的决策</a:t>
            </a:r>
            <a:r>
              <a:rPr lang="en-US" altLang="zh-CN" sz="2000" b="1">
                <a:solidFill>
                  <a:srgbClr val="000000"/>
                </a:solidFill>
              </a:rPr>
              <a:t>)</a:t>
            </a:r>
            <a:r>
              <a:rPr lang="zh-CN" altLang="en-US" sz="2000" b="1">
                <a:solidFill>
                  <a:srgbClr val="000000"/>
                </a:solidFill>
              </a:rPr>
              <a:t>。</a:t>
            </a:r>
          </a:p>
          <a:p>
            <a:pPr fontAlgn="base">
              <a:lnSpc>
                <a:spcPct val="135000"/>
              </a:lnSpc>
              <a:spcBef>
                <a:spcPct val="50000"/>
              </a:spcBef>
              <a:spcAft>
                <a:spcPct val="0"/>
              </a:spcAft>
            </a:pPr>
            <a:r>
              <a:rPr lang="en-US" altLang="zh-CN" sz="2000" b="1">
                <a:solidFill>
                  <a:srgbClr val="000000"/>
                </a:solidFill>
              </a:rPr>
              <a:t>3.</a:t>
            </a:r>
            <a:r>
              <a:rPr lang="zh-CN" altLang="en-US" sz="2000" b="1">
                <a:solidFill>
                  <a:srgbClr val="000000"/>
                </a:solidFill>
              </a:rPr>
              <a:t>将特定的条件组合与特定的动作相关联，</a:t>
            </a:r>
            <a:r>
              <a:rPr lang="zh-CN" altLang="en-US" sz="2000" b="1">
                <a:solidFill>
                  <a:srgbClr val="FF0000"/>
                </a:solidFill>
              </a:rPr>
              <a:t>消除不可能的条件组合</a:t>
            </a:r>
            <a:r>
              <a:rPr lang="zh-CN" altLang="en-US" sz="2000" b="1">
                <a:solidFill>
                  <a:srgbClr val="000000"/>
                </a:solidFill>
              </a:rPr>
              <a:t>；或者找出所有可能的条件排列。</a:t>
            </a:r>
          </a:p>
          <a:p>
            <a:pPr fontAlgn="base">
              <a:lnSpc>
                <a:spcPct val="135000"/>
              </a:lnSpc>
              <a:spcBef>
                <a:spcPct val="50000"/>
              </a:spcBef>
              <a:spcAft>
                <a:spcPct val="0"/>
              </a:spcAft>
            </a:pPr>
            <a:r>
              <a:rPr lang="en-US" altLang="zh-CN" sz="2000" b="1">
                <a:solidFill>
                  <a:srgbClr val="000000"/>
                </a:solidFill>
              </a:rPr>
              <a:t>4.</a:t>
            </a:r>
            <a:r>
              <a:rPr lang="zh-CN" altLang="en-US" sz="2000" b="1">
                <a:solidFill>
                  <a:srgbClr val="FF0000"/>
                </a:solidFill>
              </a:rPr>
              <a:t>定义规则</a:t>
            </a:r>
            <a:r>
              <a:rPr lang="zh-CN" altLang="en-US" sz="2000" b="1">
                <a:solidFill>
                  <a:srgbClr val="000000"/>
                </a:solidFill>
              </a:rPr>
              <a:t>，指出一组条件应对应哪个或哪些动作。</a:t>
            </a:r>
            <a:endParaRPr lang="en-US" altLang="zh-CN" sz="2000" b="1">
              <a:solidFill>
                <a:srgbClr val="000000"/>
              </a:solidFill>
            </a:endParaRPr>
          </a:p>
        </p:txBody>
      </p:sp>
      <p:sp>
        <p:nvSpPr>
          <p:cNvPr id="311302" name="Rectangle 6">
            <a:extLst>
              <a:ext uri="{FF2B5EF4-FFF2-40B4-BE49-F238E27FC236}">
                <a16:creationId xmlns:a16="http://schemas.microsoft.com/office/drawing/2014/main" id="{C1263EC3-E40B-7AE0-419B-8DAFB6315037}"/>
              </a:ext>
            </a:extLst>
          </p:cNvPr>
          <p:cNvSpPr>
            <a:spLocks noChangeArrowheads="1"/>
          </p:cNvSpPr>
          <p:nvPr/>
        </p:nvSpPr>
        <p:spPr bwMode="auto">
          <a:xfrm>
            <a:off x="6743700" y="1628776"/>
            <a:ext cx="647700" cy="360363"/>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311303" name="Rectangle 7">
            <a:extLst>
              <a:ext uri="{FF2B5EF4-FFF2-40B4-BE49-F238E27FC236}">
                <a16:creationId xmlns:a16="http://schemas.microsoft.com/office/drawing/2014/main" id="{9B6174AC-C20D-62BB-CC74-D5C84F64CD24}"/>
              </a:ext>
            </a:extLst>
          </p:cNvPr>
          <p:cNvSpPr>
            <a:spLocks noChangeArrowheads="1"/>
          </p:cNvSpPr>
          <p:nvPr/>
        </p:nvSpPr>
        <p:spPr bwMode="auto">
          <a:xfrm>
            <a:off x="6743700" y="3284538"/>
            <a:ext cx="647700" cy="360362"/>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311304" name="Rectangle 8">
            <a:extLst>
              <a:ext uri="{FF2B5EF4-FFF2-40B4-BE49-F238E27FC236}">
                <a16:creationId xmlns:a16="http://schemas.microsoft.com/office/drawing/2014/main" id="{C6F08208-1AEB-1E36-5220-788B8F4F6364}"/>
              </a:ext>
            </a:extLst>
          </p:cNvPr>
          <p:cNvSpPr>
            <a:spLocks noChangeArrowheads="1"/>
          </p:cNvSpPr>
          <p:nvPr/>
        </p:nvSpPr>
        <p:spPr bwMode="auto">
          <a:xfrm>
            <a:off x="9191625" y="1341438"/>
            <a:ext cx="647700" cy="360362"/>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1300"/>
                                        </p:tgtEl>
                                        <p:attrNameLst>
                                          <p:attrName>style.visibility</p:attrName>
                                        </p:attrNameLst>
                                      </p:cBhvr>
                                      <p:to>
                                        <p:strVal val="visible"/>
                                      </p:to>
                                    </p:set>
                                    <p:animEffect transition="in" filter="blinds(horizontal)">
                                      <p:cBhvr>
                                        <p:cTn id="7" dur="2000"/>
                                        <p:tgtEl>
                                          <p:spTgt spid="311300"/>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11302"/>
                                        </p:tgtEl>
                                        <p:attrNameLst>
                                          <p:attrName>style.visibility</p:attrName>
                                        </p:attrNameLst>
                                      </p:cBhvr>
                                      <p:to>
                                        <p:strVal val="visible"/>
                                      </p:to>
                                    </p:set>
                                    <p:anim calcmode="lin" valueType="num">
                                      <p:cBhvr additive="base">
                                        <p:cTn id="10" dur="2000" fill="hold"/>
                                        <p:tgtEl>
                                          <p:spTgt spid="311302"/>
                                        </p:tgtEl>
                                        <p:attrNameLst>
                                          <p:attrName>ppt_x</p:attrName>
                                        </p:attrNameLst>
                                      </p:cBhvr>
                                      <p:tavLst>
                                        <p:tav tm="0">
                                          <p:val>
                                            <p:strVal val="#ppt_x"/>
                                          </p:val>
                                        </p:tav>
                                        <p:tav tm="100000">
                                          <p:val>
                                            <p:strVal val="#ppt_x"/>
                                          </p:val>
                                        </p:tav>
                                      </p:tavLst>
                                    </p:anim>
                                    <p:anim calcmode="lin" valueType="num">
                                      <p:cBhvr additive="base">
                                        <p:cTn id="11" dur="2000" fill="hold"/>
                                        <p:tgtEl>
                                          <p:spTgt spid="311302"/>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311303"/>
                                        </p:tgtEl>
                                        <p:attrNameLst>
                                          <p:attrName>style.visibility</p:attrName>
                                        </p:attrNameLst>
                                      </p:cBhvr>
                                      <p:to>
                                        <p:strVal val="visible"/>
                                      </p:to>
                                    </p:set>
                                    <p:anim calcmode="lin" valueType="num">
                                      <p:cBhvr additive="base">
                                        <p:cTn id="14" dur="2000" fill="hold"/>
                                        <p:tgtEl>
                                          <p:spTgt spid="311303"/>
                                        </p:tgtEl>
                                        <p:attrNameLst>
                                          <p:attrName>ppt_x</p:attrName>
                                        </p:attrNameLst>
                                      </p:cBhvr>
                                      <p:tavLst>
                                        <p:tav tm="0">
                                          <p:val>
                                            <p:strVal val="#ppt_x"/>
                                          </p:val>
                                        </p:tav>
                                        <p:tav tm="100000">
                                          <p:val>
                                            <p:strVal val="#ppt_x"/>
                                          </p:val>
                                        </p:tav>
                                      </p:tavLst>
                                    </p:anim>
                                    <p:anim calcmode="lin" valueType="num">
                                      <p:cBhvr additive="base">
                                        <p:cTn id="15" dur="2000" fill="hold"/>
                                        <p:tgtEl>
                                          <p:spTgt spid="31130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311304"/>
                                        </p:tgtEl>
                                        <p:attrNameLst>
                                          <p:attrName>style.visibility</p:attrName>
                                        </p:attrNameLst>
                                      </p:cBhvr>
                                      <p:to>
                                        <p:strVal val="visible"/>
                                      </p:to>
                                    </p:set>
                                    <p:anim calcmode="lin" valueType="num">
                                      <p:cBhvr additive="base">
                                        <p:cTn id="18" dur="2000" fill="hold"/>
                                        <p:tgtEl>
                                          <p:spTgt spid="311304"/>
                                        </p:tgtEl>
                                        <p:attrNameLst>
                                          <p:attrName>ppt_x</p:attrName>
                                        </p:attrNameLst>
                                      </p:cBhvr>
                                      <p:tavLst>
                                        <p:tav tm="0">
                                          <p:val>
                                            <p:strVal val="#ppt_x"/>
                                          </p:val>
                                        </p:tav>
                                        <p:tav tm="100000">
                                          <p:val>
                                            <p:strVal val="#ppt_x"/>
                                          </p:val>
                                        </p:tav>
                                      </p:tavLst>
                                    </p:anim>
                                    <p:anim calcmode="lin" valueType="num">
                                      <p:cBhvr additive="base">
                                        <p:cTn id="19" dur="2000" fill="hold"/>
                                        <p:tgtEl>
                                          <p:spTgt spid="311304"/>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311301"/>
                                        </p:tgtEl>
                                        <p:attrNameLst>
                                          <p:attrName>style.visibility</p:attrName>
                                        </p:attrNameLst>
                                      </p:cBhvr>
                                      <p:to>
                                        <p:strVal val="visible"/>
                                      </p:to>
                                    </p:set>
                                    <p:animEffect transition="in" filter="diamond(in)">
                                      <p:cBhvr>
                                        <p:cTn id="24" dur="1000"/>
                                        <p:tgtEl>
                                          <p:spTgt spid="311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1" grpId="0" animBg="1"/>
      <p:bldP spid="311302" grpId="0" animBg="1"/>
      <p:bldP spid="311303" grpId="0" animBg="1"/>
      <p:bldP spid="31130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6">
            <a:extLst>
              <a:ext uri="{FF2B5EF4-FFF2-40B4-BE49-F238E27FC236}">
                <a16:creationId xmlns:a16="http://schemas.microsoft.com/office/drawing/2014/main" id="{503C14C2-91D6-56FD-F46F-8F634796D0F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2FD7EFB-96D7-436B-B433-6587B14D54A0}" type="slidenum">
              <a:rPr lang="en-US" altLang="zh-CN" sz="1200">
                <a:solidFill>
                  <a:srgbClr val="000000"/>
                </a:solidFill>
                <a:latin typeface="Arial" panose="020B0604020202020204" pitchFamily="34" charset="0"/>
              </a:rPr>
              <a:pPr fontAlgn="base">
                <a:spcBef>
                  <a:spcPct val="0"/>
                </a:spcBef>
                <a:spcAft>
                  <a:spcPct val="0"/>
                </a:spcAft>
              </a:pPr>
              <a:t>72</a:t>
            </a:fld>
            <a:endParaRPr lang="en-US" altLang="zh-CN" sz="1200">
              <a:solidFill>
                <a:srgbClr val="000000"/>
              </a:solidFill>
              <a:latin typeface="Arial" panose="020B0604020202020204" pitchFamily="34" charset="0"/>
            </a:endParaRPr>
          </a:p>
        </p:txBody>
      </p:sp>
      <p:sp>
        <p:nvSpPr>
          <p:cNvPr id="159746" name="Rectangle 2">
            <a:extLst>
              <a:ext uri="{FF2B5EF4-FFF2-40B4-BE49-F238E27FC236}">
                <a16:creationId xmlns:a16="http://schemas.microsoft.com/office/drawing/2014/main" id="{4A484ED5-7B3B-7C9B-B3DD-D35832A6DADD}"/>
              </a:ext>
            </a:extLst>
          </p:cNvPr>
          <p:cNvSpPr>
            <a:spLocks noGrp="1" noChangeArrowheads="1"/>
          </p:cNvSpPr>
          <p:nvPr>
            <p:ph type="title"/>
          </p:nvPr>
        </p:nvSpPr>
        <p:spPr/>
        <p:txBody>
          <a:bodyPr/>
          <a:lstStyle/>
          <a:p>
            <a:r>
              <a:rPr lang="zh-CN" altLang="en-US"/>
              <a:t>本章内容</a:t>
            </a:r>
          </a:p>
        </p:txBody>
      </p:sp>
      <p:sp>
        <p:nvSpPr>
          <p:cNvPr id="159747" name="Rectangle 3">
            <a:extLst>
              <a:ext uri="{FF2B5EF4-FFF2-40B4-BE49-F238E27FC236}">
                <a16:creationId xmlns:a16="http://schemas.microsoft.com/office/drawing/2014/main" id="{B80AFE7E-D93F-57D6-E4AB-FFEF2510EEFD}"/>
              </a:ext>
            </a:extLst>
          </p:cNvPr>
          <p:cNvSpPr>
            <a:spLocks noGrp="1" noChangeArrowheads="1"/>
          </p:cNvSpPr>
          <p:nvPr>
            <p:ph type="body" idx="1"/>
          </p:nvPr>
        </p:nvSpPr>
        <p:spPr>
          <a:xfrm>
            <a:off x="1981200" y="1052513"/>
            <a:ext cx="8229600" cy="4862512"/>
          </a:xfrm>
        </p:spPr>
        <p:txBody>
          <a:bodyPr/>
          <a:lstStyle/>
          <a:p>
            <a:pPr>
              <a:lnSpc>
                <a:spcPct val="200000"/>
              </a:lnSpc>
            </a:pPr>
            <a:r>
              <a:rPr lang="en-US" altLang="zh-CN"/>
              <a:t>13.1 </a:t>
            </a:r>
            <a:r>
              <a:rPr lang="zh-CN" altLang="en-US"/>
              <a:t>什么是构件</a:t>
            </a:r>
          </a:p>
          <a:p>
            <a:pPr>
              <a:lnSpc>
                <a:spcPct val="200000"/>
              </a:lnSpc>
            </a:pPr>
            <a:r>
              <a:rPr lang="en-US" altLang="zh-CN"/>
              <a:t>13.2 </a:t>
            </a:r>
            <a:r>
              <a:rPr lang="zh-CN" altLang="en-US"/>
              <a:t>设计基于类的构件</a:t>
            </a:r>
          </a:p>
          <a:p>
            <a:pPr>
              <a:lnSpc>
                <a:spcPct val="200000"/>
              </a:lnSpc>
            </a:pPr>
            <a:r>
              <a:rPr lang="en-US" altLang="zh-CN"/>
              <a:t>13.3 </a:t>
            </a:r>
            <a:r>
              <a:rPr lang="zh-CN" altLang="en-US"/>
              <a:t>实施构件级设计</a:t>
            </a:r>
          </a:p>
          <a:p>
            <a:pPr>
              <a:lnSpc>
                <a:spcPct val="200000"/>
              </a:lnSpc>
            </a:pPr>
            <a:r>
              <a:rPr lang="en-US" altLang="zh-CN"/>
              <a:t>13.4 WebApp</a:t>
            </a:r>
            <a:r>
              <a:rPr lang="zh-CN" altLang="en-US"/>
              <a:t>的构件级设计</a:t>
            </a:r>
          </a:p>
          <a:p>
            <a:pPr>
              <a:lnSpc>
                <a:spcPct val="200000"/>
              </a:lnSpc>
            </a:pPr>
            <a:r>
              <a:rPr lang="en-US" altLang="zh-CN"/>
              <a:t>13.5 </a:t>
            </a:r>
            <a:r>
              <a:rPr lang="zh-CN" altLang="en-US"/>
              <a:t>设计传统构件</a:t>
            </a:r>
          </a:p>
          <a:p>
            <a:pPr>
              <a:lnSpc>
                <a:spcPct val="200000"/>
              </a:lnSpc>
            </a:pPr>
            <a:r>
              <a:rPr lang="en-US" altLang="zh-CN">
                <a:solidFill>
                  <a:srgbClr val="FF0000"/>
                </a:solidFill>
              </a:rPr>
              <a:t>13.6 </a:t>
            </a:r>
            <a:r>
              <a:rPr lang="zh-CN" altLang="en-US">
                <a:solidFill>
                  <a:srgbClr val="FF0000"/>
                </a:solidFill>
              </a:rPr>
              <a:t>基于构件的开发</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6">
            <a:extLst>
              <a:ext uri="{FF2B5EF4-FFF2-40B4-BE49-F238E27FC236}">
                <a16:creationId xmlns:a16="http://schemas.microsoft.com/office/drawing/2014/main" id="{5ACAB1B8-B9F5-6A27-57FA-AF6ED736777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D5EDEAF-B0FD-4ED3-BD09-9754F00C384B}" type="slidenum">
              <a:rPr lang="en-US" altLang="zh-CN" sz="1200">
                <a:solidFill>
                  <a:srgbClr val="000000"/>
                </a:solidFill>
                <a:latin typeface="Arial" panose="020B0604020202020204" pitchFamily="34" charset="0"/>
              </a:rPr>
              <a:pPr fontAlgn="base">
                <a:spcBef>
                  <a:spcPct val="0"/>
                </a:spcBef>
                <a:spcAft>
                  <a:spcPct val="0"/>
                </a:spcAft>
              </a:pPr>
              <a:t>73</a:t>
            </a:fld>
            <a:endParaRPr lang="en-US" altLang="zh-CN" sz="1200">
              <a:solidFill>
                <a:srgbClr val="000000"/>
              </a:solidFill>
              <a:latin typeface="Arial" panose="020B0604020202020204" pitchFamily="34" charset="0"/>
            </a:endParaRPr>
          </a:p>
        </p:txBody>
      </p:sp>
      <p:sp>
        <p:nvSpPr>
          <p:cNvPr id="160770" name="Rectangle 2">
            <a:extLst>
              <a:ext uri="{FF2B5EF4-FFF2-40B4-BE49-F238E27FC236}">
                <a16:creationId xmlns:a16="http://schemas.microsoft.com/office/drawing/2014/main" id="{40175F54-EE34-A4CE-5CEF-D09AB240BBCD}"/>
              </a:ext>
            </a:extLst>
          </p:cNvPr>
          <p:cNvSpPr>
            <a:spLocks noGrp="1" noChangeArrowheads="1"/>
          </p:cNvSpPr>
          <p:nvPr>
            <p:ph type="title"/>
          </p:nvPr>
        </p:nvSpPr>
        <p:spPr/>
        <p:txBody>
          <a:bodyPr/>
          <a:lstStyle/>
          <a:p>
            <a:r>
              <a:rPr lang="zh-CN" altLang="en-US"/>
              <a:t>基于构件的开发</a:t>
            </a:r>
          </a:p>
        </p:txBody>
      </p:sp>
      <p:sp>
        <p:nvSpPr>
          <p:cNvPr id="313347" name="Rectangle 3">
            <a:extLst>
              <a:ext uri="{FF2B5EF4-FFF2-40B4-BE49-F238E27FC236}">
                <a16:creationId xmlns:a16="http://schemas.microsoft.com/office/drawing/2014/main" id="{C3C94BE6-8BFD-7D2E-77B9-113641B83638}"/>
              </a:ext>
            </a:extLst>
          </p:cNvPr>
          <p:cNvSpPr>
            <a:spLocks noGrp="1" noChangeArrowheads="1"/>
          </p:cNvSpPr>
          <p:nvPr>
            <p:ph type="body" idx="1"/>
          </p:nvPr>
        </p:nvSpPr>
        <p:spPr>
          <a:xfrm>
            <a:off x="1981200" y="1230313"/>
            <a:ext cx="8229600" cy="4646612"/>
          </a:xfrm>
        </p:spPr>
        <p:txBody>
          <a:bodyPr/>
          <a:lstStyle/>
          <a:p>
            <a:pPr>
              <a:lnSpc>
                <a:spcPct val="150000"/>
              </a:lnSpc>
              <a:spcBef>
                <a:spcPct val="50000"/>
              </a:spcBef>
            </a:pPr>
            <a:r>
              <a:rPr lang="zh-CN" altLang="en-US" sz="2800">
                <a:solidFill>
                  <a:srgbClr val="FF0000"/>
                </a:solidFill>
              </a:rPr>
              <a:t>基于构件的软件工程 </a:t>
            </a:r>
            <a:r>
              <a:rPr lang="en-US" altLang="zh-CN" sz="2800"/>
              <a:t>(Component-Based Software Engineering</a:t>
            </a:r>
            <a:r>
              <a:rPr lang="zh-CN" altLang="en-US" sz="2800"/>
              <a:t>，</a:t>
            </a:r>
            <a:r>
              <a:rPr lang="en-US" altLang="zh-CN" sz="2800"/>
              <a:t>CBSE)</a:t>
            </a:r>
            <a:r>
              <a:rPr lang="zh-CN" altLang="en-US" sz="2800"/>
              <a:t>是一种强调使用</a:t>
            </a:r>
            <a:r>
              <a:rPr lang="zh-CN" altLang="en-US" sz="2800">
                <a:solidFill>
                  <a:srgbClr val="FF0000"/>
                </a:solidFill>
              </a:rPr>
              <a:t>可复用的软件构件</a:t>
            </a:r>
            <a:r>
              <a:rPr lang="zh-CN" altLang="en-US" sz="2800"/>
              <a:t>来设计与构造计算机系统的过程：</a:t>
            </a:r>
          </a:p>
          <a:p>
            <a:pPr lvl="1">
              <a:lnSpc>
                <a:spcPct val="150000"/>
              </a:lnSpc>
              <a:spcBef>
                <a:spcPct val="50000"/>
              </a:spcBef>
            </a:pPr>
            <a:r>
              <a:rPr lang="zh-CN" altLang="en-US"/>
              <a:t>把重点从</a:t>
            </a:r>
            <a:r>
              <a:rPr lang="zh-CN" altLang="en-US">
                <a:solidFill>
                  <a:srgbClr val="FF0000"/>
                </a:solidFill>
              </a:rPr>
              <a:t>编码</a:t>
            </a:r>
            <a:r>
              <a:rPr lang="zh-CN" altLang="en-US"/>
              <a:t>转移到</a:t>
            </a:r>
            <a:r>
              <a:rPr lang="zh-CN" altLang="en-US">
                <a:solidFill>
                  <a:srgbClr val="FF0000"/>
                </a:solidFill>
              </a:rPr>
              <a:t>组装</a:t>
            </a:r>
            <a:r>
              <a:rPr lang="zh-CN" altLang="en-US"/>
              <a:t>软件系统；</a:t>
            </a:r>
          </a:p>
          <a:p>
            <a:pPr lvl="1">
              <a:lnSpc>
                <a:spcPct val="150000"/>
              </a:lnSpc>
              <a:spcBef>
                <a:spcPct val="50000"/>
              </a:spcBef>
            </a:pPr>
            <a:r>
              <a:rPr lang="zh-CN" altLang="en-US">
                <a:solidFill>
                  <a:srgbClr val="FF0000"/>
                </a:solidFill>
              </a:rPr>
              <a:t>考虑的焦点是“集成”</a:t>
            </a:r>
            <a:r>
              <a:rPr lang="zh-CN" altLang="en-US"/>
              <a:t>，而不再是“</a:t>
            </a:r>
            <a:r>
              <a:rPr lang="zh-CN" altLang="en-US">
                <a:solidFill>
                  <a:srgbClr val="FF0000"/>
                </a:solidFill>
              </a:rPr>
              <a:t>实现</a:t>
            </a:r>
            <a:r>
              <a:rPr lang="zh-CN" altLang="en-US"/>
              <a:t>”。</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13347">
                                            <p:txEl>
                                              <p:pRg st="1" end="1"/>
                                            </p:txEl>
                                          </p:spTgt>
                                        </p:tgtEl>
                                        <p:attrNameLst>
                                          <p:attrName>style.visibility</p:attrName>
                                        </p:attrNameLst>
                                      </p:cBhvr>
                                      <p:to>
                                        <p:strVal val="visible"/>
                                      </p:to>
                                    </p:set>
                                    <p:animEffect transition="in" filter="diamond(in)">
                                      <p:cBhvr>
                                        <p:cTn id="7" dur="1000"/>
                                        <p:tgtEl>
                                          <p:spTgt spid="3133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13347">
                                            <p:txEl>
                                              <p:pRg st="2" end="2"/>
                                            </p:txEl>
                                          </p:spTgt>
                                        </p:tgtEl>
                                        <p:attrNameLst>
                                          <p:attrName>style.visibility</p:attrName>
                                        </p:attrNameLst>
                                      </p:cBhvr>
                                      <p:to>
                                        <p:strVal val="visible"/>
                                      </p:to>
                                    </p:set>
                                    <p:animEffect transition="in" filter="diamond(in)">
                                      <p:cBhvr>
                                        <p:cTn id="12" dur="1000"/>
                                        <p:tgtEl>
                                          <p:spTgt spid="3133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6">
            <a:extLst>
              <a:ext uri="{FF2B5EF4-FFF2-40B4-BE49-F238E27FC236}">
                <a16:creationId xmlns:a16="http://schemas.microsoft.com/office/drawing/2014/main" id="{DB542764-21A2-8B1C-8BE0-3DBADBD8132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480954A-CAC2-4A2A-A66F-B18E4EA1768C}" type="slidenum">
              <a:rPr lang="en-US" altLang="zh-CN" sz="1200">
                <a:solidFill>
                  <a:srgbClr val="000000"/>
                </a:solidFill>
                <a:latin typeface="Arial" panose="020B0604020202020204" pitchFamily="34" charset="0"/>
              </a:rPr>
              <a:pPr fontAlgn="base">
                <a:spcBef>
                  <a:spcPct val="0"/>
                </a:spcBef>
                <a:spcAft>
                  <a:spcPct val="0"/>
                </a:spcAft>
              </a:pPr>
              <a:t>74</a:t>
            </a:fld>
            <a:endParaRPr lang="en-US" altLang="zh-CN" sz="1200">
              <a:solidFill>
                <a:srgbClr val="000000"/>
              </a:solidFill>
              <a:latin typeface="Arial" panose="020B0604020202020204" pitchFamily="34" charset="0"/>
            </a:endParaRPr>
          </a:p>
        </p:txBody>
      </p:sp>
      <p:sp>
        <p:nvSpPr>
          <p:cNvPr id="161794" name="Rectangle 2">
            <a:extLst>
              <a:ext uri="{FF2B5EF4-FFF2-40B4-BE49-F238E27FC236}">
                <a16:creationId xmlns:a16="http://schemas.microsoft.com/office/drawing/2014/main" id="{8BD26A47-0A39-6E83-4416-4BADBC19CF48}"/>
              </a:ext>
            </a:extLst>
          </p:cNvPr>
          <p:cNvSpPr>
            <a:spLocks noGrp="1" noChangeArrowheads="1"/>
          </p:cNvSpPr>
          <p:nvPr>
            <p:ph type="title"/>
          </p:nvPr>
        </p:nvSpPr>
        <p:spPr/>
        <p:txBody>
          <a:bodyPr/>
          <a:lstStyle/>
          <a:p>
            <a:r>
              <a:rPr lang="zh-CN" altLang="en-US"/>
              <a:t>基于构件的开发</a:t>
            </a:r>
          </a:p>
        </p:txBody>
      </p:sp>
      <p:sp>
        <p:nvSpPr>
          <p:cNvPr id="336899" name="Rectangle 3">
            <a:extLst>
              <a:ext uri="{FF2B5EF4-FFF2-40B4-BE49-F238E27FC236}">
                <a16:creationId xmlns:a16="http://schemas.microsoft.com/office/drawing/2014/main" id="{9164F1A7-55AF-BCD5-3E9D-0F6D85EBDE94}"/>
              </a:ext>
            </a:extLst>
          </p:cNvPr>
          <p:cNvSpPr>
            <a:spLocks noGrp="1" noChangeArrowheads="1"/>
          </p:cNvSpPr>
          <p:nvPr>
            <p:ph type="body" idx="1"/>
          </p:nvPr>
        </p:nvSpPr>
        <p:spPr>
          <a:xfrm>
            <a:off x="1981200" y="908051"/>
            <a:ext cx="8229600" cy="5078413"/>
          </a:xfrm>
        </p:spPr>
        <p:txBody>
          <a:bodyPr/>
          <a:lstStyle/>
          <a:p>
            <a:pPr>
              <a:lnSpc>
                <a:spcPct val="130000"/>
              </a:lnSpc>
            </a:pPr>
            <a:r>
              <a:rPr lang="zh-CN" altLang="en-US" sz="2200"/>
              <a:t>回答以下问题：</a:t>
            </a:r>
          </a:p>
          <a:p>
            <a:pPr lvl="1">
              <a:lnSpc>
                <a:spcPct val="130000"/>
              </a:lnSpc>
            </a:pPr>
            <a:r>
              <a:rPr lang="zh-CN" altLang="en-US" sz="2000"/>
              <a:t>仅仅将多组可复用的软件构件</a:t>
            </a:r>
            <a:r>
              <a:rPr lang="zh-CN" altLang="en-US" sz="2000">
                <a:solidFill>
                  <a:srgbClr val="FF0000"/>
                </a:solidFill>
              </a:rPr>
              <a:t>组合起来</a:t>
            </a:r>
            <a:r>
              <a:rPr lang="zh-CN" altLang="en-US" sz="2000"/>
              <a:t>，就能够构造出复杂的系统吗？</a:t>
            </a:r>
          </a:p>
          <a:p>
            <a:pPr lvl="1">
              <a:lnSpc>
                <a:spcPct val="130000"/>
              </a:lnSpc>
            </a:pPr>
            <a:r>
              <a:rPr lang="zh-CN" altLang="en-US" sz="2000"/>
              <a:t>这种工作能够以一种</a:t>
            </a:r>
            <a:r>
              <a:rPr lang="zh-CN" altLang="en-US" sz="2000">
                <a:solidFill>
                  <a:srgbClr val="FF0000"/>
                </a:solidFill>
              </a:rPr>
              <a:t>高效和节省成本</a:t>
            </a:r>
            <a:r>
              <a:rPr lang="zh-CN" altLang="en-US" sz="2000"/>
              <a:t>的方式完成吗？</a:t>
            </a:r>
          </a:p>
          <a:p>
            <a:pPr lvl="1">
              <a:lnSpc>
                <a:spcPct val="130000"/>
              </a:lnSpc>
            </a:pPr>
            <a:r>
              <a:rPr lang="zh-CN" altLang="en-US" sz="2000"/>
              <a:t>能否建立恰当的</a:t>
            </a:r>
            <a:r>
              <a:rPr lang="zh-CN" altLang="en-US" sz="2000">
                <a:solidFill>
                  <a:srgbClr val="FF0000"/>
                </a:solidFill>
              </a:rPr>
              <a:t>激励机制鼓励</a:t>
            </a:r>
            <a:r>
              <a:rPr lang="zh-CN" altLang="en-US" sz="2000"/>
              <a:t>软件工程师</a:t>
            </a:r>
            <a:r>
              <a:rPr lang="zh-CN" altLang="en-US" sz="2000">
                <a:solidFill>
                  <a:srgbClr val="FF0000"/>
                </a:solidFill>
              </a:rPr>
              <a:t>复用</a:t>
            </a:r>
            <a:r>
              <a:rPr lang="zh-CN" altLang="en-US" sz="2000"/>
              <a:t>而不是重复开发？</a:t>
            </a:r>
          </a:p>
          <a:p>
            <a:pPr lvl="1">
              <a:lnSpc>
                <a:spcPct val="130000"/>
              </a:lnSpc>
            </a:pPr>
            <a:r>
              <a:rPr lang="zh-CN" altLang="en-US" sz="2000">
                <a:solidFill>
                  <a:srgbClr val="FF0000"/>
                </a:solidFill>
              </a:rPr>
              <a:t>管理团队</a:t>
            </a:r>
            <a:r>
              <a:rPr lang="zh-CN" altLang="en-US" sz="2000"/>
              <a:t>是否也愿意为在构造可复用的软件构件过程中产生的</a:t>
            </a:r>
            <a:r>
              <a:rPr lang="zh-CN" altLang="en-US" sz="2000">
                <a:solidFill>
                  <a:srgbClr val="FF0000"/>
                </a:solidFill>
              </a:rPr>
              <a:t>额外开销买单</a:t>
            </a:r>
            <a:r>
              <a:rPr lang="zh-CN" altLang="en-US" sz="2000"/>
              <a:t>？</a:t>
            </a:r>
          </a:p>
          <a:p>
            <a:pPr lvl="1">
              <a:lnSpc>
                <a:spcPct val="130000"/>
              </a:lnSpc>
            </a:pPr>
            <a:r>
              <a:rPr lang="zh-CN" altLang="en-US" sz="2000"/>
              <a:t>能否以使用者</a:t>
            </a:r>
            <a:r>
              <a:rPr lang="zh-CN" altLang="en-US" sz="2000">
                <a:solidFill>
                  <a:srgbClr val="FF0000"/>
                </a:solidFill>
              </a:rPr>
              <a:t>易于访问的方式</a:t>
            </a:r>
            <a:r>
              <a:rPr lang="zh-CN" altLang="en-US" sz="2000"/>
              <a:t>构造复用所必需的构件库？</a:t>
            </a:r>
          </a:p>
          <a:p>
            <a:pPr lvl="1">
              <a:lnSpc>
                <a:spcPct val="130000"/>
              </a:lnSpc>
            </a:pPr>
            <a:r>
              <a:rPr lang="zh-CN" altLang="en-US" sz="2000"/>
              <a:t>那些具备复用性的构件可以被大家很</a:t>
            </a:r>
            <a:r>
              <a:rPr lang="zh-CN" altLang="en-US" sz="2000">
                <a:solidFill>
                  <a:srgbClr val="FF0000"/>
                </a:solidFill>
              </a:rPr>
              <a:t>容易地找到</a:t>
            </a:r>
            <a:r>
              <a:rPr lang="zh-CN" altLang="en-US" sz="2000"/>
              <a:t>并使用吗？</a:t>
            </a:r>
          </a:p>
          <a:p>
            <a:pPr>
              <a:lnSpc>
                <a:spcPct val="130000"/>
              </a:lnSpc>
            </a:pPr>
            <a:r>
              <a:rPr lang="zh-CN" altLang="en-US" sz="2200"/>
              <a:t>答案：</a:t>
            </a:r>
          </a:p>
          <a:p>
            <a:pPr lvl="1">
              <a:lnSpc>
                <a:spcPct val="130000"/>
              </a:lnSpc>
            </a:pPr>
            <a:r>
              <a:rPr lang="zh-CN" altLang="en-US" sz="2000"/>
              <a:t>全部可以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336899">
                                            <p:txEl>
                                              <p:pRg st="1" end="1"/>
                                            </p:txEl>
                                          </p:spTgt>
                                        </p:tgtEl>
                                        <p:attrNameLst>
                                          <p:attrName>style.visibility</p:attrName>
                                        </p:attrNameLst>
                                      </p:cBhvr>
                                      <p:to>
                                        <p:strVal val="visible"/>
                                      </p:to>
                                    </p:set>
                                    <p:animEffect transition="in" filter="barn(inHorizontal)">
                                      <p:cBhvr>
                                        <p:cTn id="7" dur="1000"/>
                                        <p:tgtEl>
                                          <p:spTgt spid="3368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336899">
                                            <p:txEl>
                                              <p:pRg st="2" end="2"/>
                                            </p:txEl>
                                          </p:spTgt>
                                        </p:tgtEl>
                                        <p:attrNameLst>
                                          <p:attrName>style.visibility</p:attrName>
                                        </p:attrNameLst>
                                      </p:cBhvr>
                                      <p:to>
                                        <p:strVal val="visible"/>
                                      </p:to>
                                    </p:set>
                                    <p:animEffect transition="in" filter="barn(inHorizontal)">
                                      <p:cBhvr>
                                        <p:cTn id="12" dur="1000"/>
                                        <p:tgtEl>
                                          <p:spTgt spid="3368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336899">
                                            <p:txEl>
                                              <p:pRg st="3" end="3"/>
                                            </p:txEl>
                                          </p:spTgt>
                                        </p:tgtEl>
                                        <p:attrNameLst>
                                          <p:attrName>style.visibility</p:attrName>
                                        </p:attrNameLst>
                                      </p:cBhvr>
                                      <p:to>
                                        <p:strVal val="visible"/>
                                      </p:to>
                                    </p:set>
                                    <p:animEffect transition="in" filter="barn(inHorizontal)">
                                      <p:cBhvr>
                                        <p:cTn id="17" dur="1000"/>
                                        <p:tgtEl>
                                          <p:spTgt spid="33689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336899">
                                            <p:txEl>
                                              <p:pRg st="4" end="4"/>
                                            </p:txEl>
                                          </p:spTgt>
                                        </p:tgtEl>
                                        <p:attrNameLst>
                                          <p:attrName>style.visibility</p:attrName>
                                        </p:attrNameLst>
                                      </p:cBhvr>
                                      <p:to>
                                        <p:strVal val="visible"/>
                                      </p:to>
                                    </p:set>
                                    <p:animEffect transition="in" filter="barn(inHorizontal)">
                                      <p:cBhvr>
                                        <p:cTn id="22" dur="1000"/>
                                        <p:tgtEl>
                                          <p:spTgt spid="33689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336899">
                                            <p:txEl>
                                              <p:pRg st="5" end="5"/>
                                            </p:txEl>
                                          </p:spTgt>
                                        </p:tgtEl>
                                        <p:attrNameLst>
                                          <p:attrName>style.visibility</p:attrName>
                                        </p:attrNameLst>
                                      </p:cBhvr>
                                      <p:to>
                                        <p:strVal val="visible"/>
                                      </p:to>
                                    </p:set>
                                    <p:animEffect transition="in" filter="barn(inHorizontal)">
                                      <p:cBhvr>
                                        <p:cTn id="27" dur="1000"/>
                                        <p:tgtEl>
                                          <p:spTgt spid="33689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336899">
                                            <p:txEl>
                                              <p:pRg st="6" end="6"/>
                                            </p:txEl>
                                          </p:spTgt>
                                        </p:tgtEl>
                                        <p:attrNameLst>
                                          <p:attrName>style.visibility</p:attrName>
                                        </p:attrNameLst>
                                      </p:cBhvr>
                                      <p:to>
                                        <p:strVal val="visible"/>
                                      </p:to>
                                    </p:set>
                                    <p:animEffect transition="in" filter="barn(inHorizontal)">
                                      <p:cBhvr>
                                        <p:cTn id="32" dur="1000"/>
                                        <p:tgtEl>
                                          <p:spTgt spid="33689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6" fill="hold" nodeType="clickEffect">
                                  <p:stCondLst>
                                    <p:cond delay="0"/>
                                  </p:stCondLst>
                                  <p:childTnLst>
                                    <p:set>
                                      <p:cBhvr>
                                        <p:cTn id="36" dur="1" fill="hold">
                                          <p:stCondLst>
                                            <p:cond delay="0"/>
                                          </p:stCondLst>
                                        </p:cTn>
                                        <p:tgtEl>
                                          <p:spTgt spid="336899">
                                            <p:txEl>
                                              <p:pRg st="7" end="7"/>
                                            </p:txEl>
                                          </p:spTgt>
                                        </p:tgtEl>
                                        <p:attrNameLst>
                                          <p:attrName>style.visibility</p:attrName>
                                        </p:attrNameLst>
                                      </p:cBhvr>
                                      <p:to>
                                        <p:strVal val="visible"/>
                                      </p:to>
                                    </p:set>
                                    <p:animEffect transition="in" filter="barn(inHorizontal)">
                                      <p:cBhvr>
                                        <p:cTn id="37" dur="1000"/>
                                        <p:tgtEl>
                                          <p:spTgt spid="336899">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6" fill="hold" nodeType="clickEffect">
                                  <p:stCondLst>
                                    <p:cond delay="0"/>
                                  </p:stCondLst>
                                  <p:childTnLst>
                                    <p:set>
                                      <p:cBhvr>
                                        <p:cTn id="41" dur="1" fill="hold">
                                          <p:stCondLst>
                                            <p:cond delay="0"/>
                                          </p:stCondLst>
                                        </p:cTn>
                                        <p:tgtEl>
                                          <p:spTgt spid="336899">
                                            <p:txEl>
                                              <p:pRg st="8" end="8"/>
                                            </p:txEl>
                                          </p:spTgt>
                                        </p:tgtEl>
                                        <p:attrNameLst>
                                          <p:attrName>style.visibility</p:attrName>
                                        </p:attrNameLst>
                                      </p:cBhvr>
                                      <p:to>
                                        <p:strVal val="visible"/>
                                      </p:to>
                                    </p:set>
                                    <p:animEffect transition="in" filter="barn(inHorizontal)">
                                      <p:cBhvr>
                                        <p:cTn id="42" dur="1000"/>
                                        <p:tgtEl>
                                          <p:spTgt spid="3368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6">
            <a:extLst>
              <a:ext uri="{FF2B5EF4-FFF2-40B4-BE49-F238E27FC236}">
                <a16:creationId xmlns:a16="http://schemas.microsoft.com/office/drawing/2014/main" id="{A2E7C57B-0C15-ED3B-99DF-B5735CD4173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14636CB-30A6-45B4-A816-0A0DC9BC2F98}" type="slidenum">
              <a:rPr lang="en-US" altLang="zh-CN" sz="1200">
                <a:solidFill>
                  <a:srgbClr val="000000"/>
                </a:solidFill>
                <a:latin typeface="Arial" panose="020B0604020202020204" pitchFamily="34" charset="0"/>
              </a:rPr>
              <a:pPr fontAlgn="base">
                <a:spcBef>
                  <a:spcPct val="0"/>
                </a:spcBef>
                <a:spcAft>
                  <a:spcPct val="0"/>
                </a:spcAft>
              </a:pPr>
              <a:t>75</a:t>
            </a:fld>
            <a:endParaRPr lang="en-US" altLang="zh-CN" sz="1200">
              <a:solidFill>
                <a:srgbClr val="000000"/>
              </a:solidFill>
              <a:latin typeface="Arial" panose="020B0604020202020204" pitchFamily="34" charset="0"/>
            </a:endParaRPr>
          </a:p>
        </p:txBody>
      </p:sp>
      <p:sp>
        <p:nvSpPr>
          <p:cNvPr id="162818" name="Rectangle 2">
            <a:extLst>
              <a:ext uri="{FF2B5EF4-FFF2-40B4-BE49-F238E27FC236}">
                <a16:creationId xmlns:a16="http://schemas.microsoft.com/office/drawing/2014/main" id="{793544D0-D92D-6054-66DE-87B6F68A33F6}"/>
              </a:ext>
            </a:extLst>
          </p:cNvPr>
          <p:cNvSpPr>
            <a:spLocks noGrp="1" noChangeArrowheads="1"/>
          </p:cNvSpPr>
          <p:nvPr>
            <p:ph type="title"/>
          </p:nvPr>
        </p:nvSpPr>
        <p:spPr/>
        <p:txBody>
          <a:bodyPr/>
          <a:lstStyle/>
          <a:p>
            <a:r>
              <a:rPr lang="zh-CN" altLang="en-US"/>
              <a:t>领域工程</a:t>
            </a:r>
          </a:p>
        </p:txBody>
      </p:sp>
      <p:sp>
        <p:nvSpPr>
          <p:cNvPr id="162819" name="Rectangle 3">
            <a:extLst>
              <a:ext uri="{FF2B5EF4-FFF2-40B4-BE49-F238E27FC236}">
                <a16:creationId xmlns:a16="http://schemas.microsoft.com/office/drawing/2014/main" id="{78E5B04F-A3EE-BE72-05CA-CD69594E7AB3}"/>
              </a:ext>
            </a:extLst>
          </p:cNvPr>
          <p:cNvSpPr>
            <a:spLocks noGrp="1" noChangeArrowheads="1"/>
          </p:cNvSpPr>
          <p:nvPr>
            <p:ph type="body" idx="1"/>
          </p:nvPr>
        </p:nvSpPr>
        <p:spPr>
          <a:xfrm>
            <a:off x="1981200" y="908051"/>
            <a:ext cx="8229600" cy="5400675"/>
          </a:xfrm>
        </p:spPr>
        <p:txBody>
          <a:bodyPr/>
          <a:lstStyle/>
          <a:p>
            <a:pPr>
              <a:lnSpc>
                <a:spcPct val="145000"/>
              </a:lnSpc>
            </a:pPr>
            <a:r>
              <a:rPr lang="zh-CN" altLang="en-US" sz="2200">
                <a:solidFill>
                  <a:srgbClr val="FF0000"/>
                </a:solidFill>
              </a:rPr>
              <a:t>领域工程</a:t>
            </a:r>
            <a:r>
              <a:rPr lang="zh-CN" altLang="en-US" sz="2200"/>
              <a:t>的</a:t>
            </a:r>
            <a:r>
              <a:rPr lang="zh-CN" altLang="en-US" sz="2200">
                <a:solidFill>
                  <a:srgbClr val="FF0000"/>
                </a:solidFill>
              </a:rPr>
              <a:t>目的</a:t>
            </a:r>
            <a:r>
              <a:rPr lang="zh-CN" altLang="en-US" sz="2200"/>
              <a:t>是识别、构造、分类和传播一组软件构件，这些构件在某一</a:t>
            </a:r>
            <a:r>
              <a:rPr lang="zh-CN" altLang="en-US" sz="2200">
                <a:solidFill>
                  <a:srgbClr val="FF0000"/>
                </a:solidFill>
              </a:rPr>
              <a:t>特定的应用领域</a:t>
            </a:r>
            <a:r>
              <a:rPr lang="zh-CN" altLang="en-US" sz="2200"/>
              <a:t>中可以适用于现有的和未来的软件。</a:t>
            </a:r>
            <a:r>
              <a:rPr lang="zh-CN" altLang="en-US" sz="2200">
                <a:solidFill>
                  <a:srgbClr val="FF0000"/>
                </a:solidFill>
              </a:rPr>
              <a:t>总体目标是为软件工程师建立一种机制来分享这些构件</a:t>
            </a:r>
            <a:r>
              <a:rPr lang="zh-CN" altLang="en-US" sz="2200"/>
              <a:t>。领域工程包括</a:t>
            </a:r>
            <a:r>
              <a:rPr lang="en-US" altLang="zh-CN" sz="2200"/>
              <a:t>3</a:t>
            </a:r>
            <a:r>
              <a:rPr lang="zh-CN" altLang="en-US" sz="2200"/>
              <a:t>种主要活动：</a:t>
            </a:r>
            <a:r>
              <a:rPr lang="zh-CN" altLang="en-US" sz="2200">
                <a:solidFill>
                  <a:srgbClr val="FF0000"/>
                </a:solidFill>
              </a:rPr>
              <a:t>分析</a:t>
            </a:r>
            <a:r>
              <a:rPr lang="zh-CN" altLang="en-US" sz="2200"/>
              <a:t>、</a:t>
            </a:r>
            <a:r>
              <a:rPr lang="zh-CN" altLang="en-US" sz="2200">
                <a:solidFill>
                  <a:srgbClr val="FF0000"/>
                </a:solidFill>
              </a:rPr>
              <a:t>构造</a:t>
            </a:r>
            <a:r>
              <a:rPr lang="zh-CN" altLang="en-US" sz="2200"/>
              <a:t>和</a:t>
            </a:r>
            <a:r>
              <a:rPr lang="zh-CN" altLang="en-US" sz="2200">
                <a:solidFill>
                  <a:srgbClr val="FF0000"/>
                </a:solidFill>
              </a:rPr>
              <a:t>传播</a:t>
            </a:r>
            <a:r>
              <a:rPr lang="zh-CN" altLang="en-US" sz="2200"/>
              <a:t>。</a:t>
            </a:r>
          </a:p>
          <a:p>
            <a:pPr>
              <a:lnSpc>
                <a:spcPct val="145000"/>
              </a:lnSpc>
            </a:pPr>
            <a:r>
              <a:rPr lang="zh-CN" altLang="en-US" sz="2200"/>
              <a:t>领域分析过程的步骤：</a:t>
            </a:r>
          </a:p>
          <a:p>
            <a:pPr lvl="1">
              <a:lnSpc>
                <a:spcPct val="145000"/>
              </a:lnSpc>
            </a:pPr>
            <a:r>
              <a:rPr lang="en-US" altLang="zh-CN" sz="2000"/>
              <a:t>1. </a:t>
            </a:r>
            <a:r>
              <a:rPr lang="zh-CN" altLang="en-US" sz="2000"/>
              <a:t>定义待研究的领域。</a:t>
            </a:r>
          </a:p>
          <a:p>
            <a:pPr lvl="1">
              <a:lnSpc>
                <a:spcPct val="145000"/>
              </a:lnSpc>
            </a:pPr>
            <a:r>
              <a:rPr lang="en-US" altLang="zh-CN" sz="2000"/>
              <a:t>2. </a:t>
            </a:r>
            <a:r>
              <a:rPr lang="zh-CN" altLang="en-US" sz="2000"/>
              <a:t>把从领域中提取的项进行分类。</a:t>
            </a:r>
          </a:p>
          <a:p>
            <a:pPr lvl="1">
              <a:lnSpc>
                <a:spcPct val="145000"/>
              </a:lnSpc>
            </a:pPr>
            <a:r>
              <a:rPr lang="en-US" altLang="zh-CN" sz="2000"/>
              <a:t>3. </a:t>
            </a:r>
            <a:r>
              <a:rPr lang="zh-CN" altLang="en-US" sz="2000"/>
              <a:t>收集领域中有代表性的应用系统样本。</a:t>
            </a:r>
          </a:p>
          <a:p>
            <a:pPr lvl="1">
              <a:lnSpc>
                <a:spcPct val="145000"/>
              </a:lnSpc>
            </a:pPr>
            <a:r>
              <a:rPr lang="en-US" altLang="zh-CN" sz="2000"/>
              <a:t>4. </a:t>
            </a:r>
            <a:r>
              <a:rPr lang="zh-CN" altLang="en-US" sz="2000"/>
              <a:t>分析样本中的每个应用系统，并且定义分析类。</a:t>
            </a:r>
            <a:endParaRPr lang="en-US" altLang="zh-CN" sz="2000"/>
          </a:p>
          <a:p>
            <a:pPr lvl="1">
              <a:lnSpc>
                <a:spcPct val="145000"/>
              </a:lnSpc>
            </a:pPr>
            <a:r>
              <a:rPr lang="en-US" altLang="zh-CN" sz="2000"/>
              <a:t>5. </a:t>
            </a:r>
            <a:r>
              <a:rPr lang="zh-CN" altLang="en-US" sz="2000"/>
              <a:t>为这些类开发需求模型。</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6">
            <a:extLst>
              <a:ext uri="{FF2B5EF4-FFF2-40B4-BE49-F238E27FC236}">
                <a16:creationId xmlns:a16="http://schemas.microsoft.com/office/drawing/2014/main" id="{FDCB2FCA-8E01-2596-75F1-00EBA2BD5E3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4AA2F0D-62DA-4C16-BA1C-FF922AE95F07}" type="slidenum">
              <a:rPr lang="en-US" altLang="zh-CN" sz="1200">
                <a:solidFill>
                  <a:srgbClr val="000000"/>
                </a:solidFill>
                <a:latin typeface="Arial" panose="020B0604020202020204" pitchFamily="34" charset="0"/>
              </a:rPr>
              <a:pPr fontAlgn="base">
                <a:spcBef>
                  <a:spcPct val="0"/>
                </a:spcBef>
                <a:spcAft>
                  <a:spcPct val="0"/>
                </a:spcAft>
              </a:pPr>
              <a:t>76</a:t>
            </a:fld>
            <a:endParaRPr lang="en-US" altLang="zh-CN" sz="1200">
              <a:solidFill>
                <a:srgbClr val="000000"/>
              </a:solidFill>
              <a:latin typeface="Arial" panose="020B0604020202020204" pitchFamily="34" charset="0"/>
            </a:endParaRPr>
          </a:p>
        </p:txBody>
      </p:sp>
      <p:sp>
        <p:nvSpPr>
          <p:cNvPr id="163842" name="Rectangle 2">
            <a:extLst>
              <a:ext uri="{FF2B5EF4-FFF2-40B4-BE49-F238E27FC236}">
                <a16:creationId xmlns:a16="http://schemas.microsoft.com/office/drawing/2014/main" id="{B611883E-D9CE-F670-EC45-A539BD39C1DC}"/>
              </a:ext>
            </a:extLst>
          </p:cNvPr>
          <p:cNvSpPr>
            <a:spLocks noGrp="1" noChangeArrowheads="1"/>
          </p:cNvSpPr>
          <p:nvPr>
            <p:ph type="title"/>
          </p:nvPr>
        </p:nvSpPr>
        <p:spPr/>
        <p:txBody>
          <a:bodyPr/>
          <a:lstStyle/>
          <a:p>
            <a:r>
              <a:rPr lang="zh-CN" altLang="en-US"/>
              <a:t>构件合格性检验</a:t>
            </a:r>
          </a:p>
        </p:txBody>
      </p:sp>
      <p:sp>
        <p:nvSpPr>
          <p:cNvPr id="163843" name="Rectangle 3">
            <a:extLst>
              <a:ext uri="{FF2B5EF4-FFF2-40B4-BE49-F238E27FC236}">
                <a16:creationId xmlns:a16="http://schemas.microsoft.com/office/drawing/2014/main" id="{1D7F6989-5D5B-AEE5-0AB6-971A3C5DE68A}"/>
              </a:ext>
            </a:extLst>
          </p:cNvPr>
          <p:cNvSpPr>
            <a:spLocks noGrp="1" noChangeArrowheads="1"/>
          </p:cNvSpPr>
          <p:nvPr>
            <p:ph type="body" idx="1"/>
          </p:nvPr>
        </p:nvSpPr>
        <p:spPr>
          <a:xfrm>
            <a:off x="1774826" y="908051"/>
            <a:ext cx="8435975" cy="5078413"/>
          </a:xfrm>
        </p:spPr>
        <p:txBody>
          <a:bodyPr/>
          <a:lstStyle/>
          <a:p>
            <a:pPr>
              <a:lnSpc>
                <a:spcPct val="140000"/>
              </a:lnSpc>
            </a:pPr>
            <a:r>
              <a:rPr lang="zh-CN" altLang="en-US" sz="2000">
                <a:solidFill>
                  <a:srgbClr val="FF0000"/>
                </a:solidFill>
              </a:rPr>
              <a:t>构件合格性检验</a:t>
            </a:r>
            <a:r>
              <a:rPr lang="zh-CN" altLang="en-US" sz="2000"/>
              <a:t>将保证某候选构件</a:t>
            </a:r>
            <a:r>
              <a:rPr lang="zh-CN" altLang="en-US" sz="2000">
                <a:solidFill>
                  <a:srgbClr val="FF0000"/>
                </a:solidFill>
              </a:rPr>
              <a:t>执行</a:t>
            </a:r>
            <a:r>
              <a:rPr lang="zh-CN" altLang="en-US" sz="2000"/>
              <a:t>需要的功能，能完全</a:t>
            </a:r>
            <a:r>
              <a:rPr lang="zh-CN" altLang="en-US" sz="2000">
                <a:solidFill>
                  <a:srgbClr val="FF0000"/>
                </a:solidFill>
              </a:rPr>
              <a:t>适合</a:t>
            </a:r>
            <a:r>
              <a:rPr lang="zh-CN" altLang="en-US" sz="2000"/>
              <a:t>系统的体系结构，并具有该应用系统所需的</a:t>
            </a:r>
            <a:r>
              <a:rPr lang="zh-CN" altLang="en-US" sz="2000">
                <a:solidFill>
                  <a:srgbClr val="FF0000"/>
                </a:solidFill>
              </a:rPr>
              <a:t>质量特性 </a:t>
            </a:r>
            <a:r>
              <a:rPr lang="en-US" altLang="zh-CN" sz="2000"/>
              <a:t>(</a:t>
            </a:r>
            <a:r>
              <a:rPr lang="zh-CN" altLang="en-US" sz="2000"/>
              <a:t>例如，性能、可靠性、可用性</a:t>
            </a:r>
            <a:r>
              <a:rPr lang="en-US" altLang="zh-CN" sz="2000"/>
              <a:t>)</a:t>
            </a:r>
            <a:r>
              <a:rPr lang="zh-CN" altLang="en-US" sz="2000"/>
              <a:t>。</a:t>
            </a:r>
          </a:p>
          <a:p>
            <a:pPr>
              <a:lnSpc>
                <a:spcPct val="140000"/>
              </a:lnSpc>
            </a:pPr>
            <a:r>
              <a:rPr lang="zh-CN" altLang="en-US" sz="2000"/>
              <a:t>构件合格性检验的重要因素：</a:t>
            </a:r>
          </a:p>
          <a:p>
            <a:pPr lvl="1">
              <a:lnSpc>
                <a:spcPct val="140000"/>
              </a:lnSpc>
            </a:pPr>
            <a:r>
              <a:rPr lang="zh-CN" altLang="en-US" sz="1800"/>
              <a:t>应用系统的</a:t>
            </a:r>
            <a:r>
              <a:rPr lang="zh-CN" altLang="en-US" sz="1800">
                <a:solidFill>
                  <a:srgbClr val="FF0000"/>
                </a:solidFill>
              </a:rPr>
              <a:t>编程接口</a:t>
            </a:r>
            <a:r>
              <a:rPr lang="en-US" altLang="zh-CN" sz="1800"/>
              <a:t>(Application Programming Interface, API)</a:t>
            </a:r>
            <a:r>
              <a:rPr lang="zh-CN" altLang="en-US" sz="1800"/>
              <a:t>；</a:t>
            </a:r>
          </a:p>
          <a:p>
            <a:pPr lvl="1">
              <a:lnSpc>
                <a:spcPct val="140000"/>
              </a:lnSpc>
            </a:pPr>
            <a:r>
              <a:rPr lang="zh-CN" altLang="en-US" sz="1800"/>
              <a:t>构件所需的</a:t>
            </a:r>
            <a:r>
              <a:rPr lang="zh-CN" altLang="en-US" sz="1800">
                <a:solidFill>
                  <a:srgbClr val="FF0000"/>
                </a:solidFill>
              </a:rPr>
              <a:t>开发工具与集成工具；</a:t>
            </a:r>
          </a:p>
          <a:p>
            <a:pPr lvl="1">
              <a:lnSpc>
                <a:spcPct val="140000"/>
              </a:lnSpc>
            </a:pPr>
            <a:r>
              <a:rPr lang="zh-CN" altLang="en-US" sz="1800">
                <a:solidFill>
                  <a:srgbClr val="FF0000"/>
                </a:solidFill>
              </a:rPr>
              <a:t>运行时需求</a:t>
            </a:r>
            <a:r>
              <a:rPr lang="zh-CN" altLang="en-US" sz="1800"/>
              <a:t>，包括资源使用</a:t>
            </a:r>
            <a:r>
              <a:rPr lang="en-US" altLang="zh-CN" sz="1800"/>
              <a:t>(</a:t>
            </a:r>
            <a:r>
              <a:rPr lang="zh-CN" altLang="en-US" sz="1800"/>
              <a:t>如内存或外存储器</a:t>
            </a:r>
            <a:r>
              <a:rPr lang="en-US" altLang="zh-CN" sz="1800"/>
              <a:t>)</a:t>
            </a:r>
            <a:r>
              <a:rPr lang="zh-CN" altLang="en-US" sz="1800"/>
              <a:t>、时间、速度以及网络协议</a:t>
            </a:r>
          </a:p>
          <a:p>
            <a:pPr lvl="1">
              <a:lnSpc>
                <a:spcPct val="140000"/>
              </a:lnSpc>
            </a:pPr>
            <a:r>
              <a:rPr lang="zh-CN" altLang="en-US" sz="1800">
                <a:solidFill>
                  <a:srgbClr val="FF0000"/>
                </a:solidFill>
              </a:rPr>
              <a:t>服务需求</a:t>
            </a:r>
            <a:r>
              <a:rPr lang="zh-CN" altLang="en-US" sz="1800"/>
              <a:t>，包括操作系统接口和来自其他构件的支持；</a:t>
            </a:r>
          </a:p>
          <a:p>
            <a:pPr lvl="1">
              <a:lnSpc>
                <a:spcPct val="140000"/>
              </a:lnSpc>
            </a:pPr>
            <a:r>
              <a:rPr lang="zh-CN" altLang="en-US" sz="1800">
                <a:solidFill>
                  <a:srgbClr val="FF0000"/>
                </a:solidFill>
              </a:rPr>
              <a:t>安全特征</a:t>
            </a:r>
            <a:r>
              <a:rPr lang="zh-CN" altLang="en-US" sz="1800"/>
              <a:t>，包括访问控制和身份验证协议；</a:t>
            </a:r>
          </a:p>
          <a:p>
            <a:pPr lvl="1">
              <a:lnSpc>
                <a:spcPct val="140000"/>
              </a:lnSpc>
            </a:pPr>
            <a:r>
              <a:rPr lang="zh-CN" altLang="en-US" sz="1800">
                <a:solidFill>
                  <a:srgbClr val="FF0000"/>
                </a:solidFill>
              </a:rPr>
              <a:t>嵌入式设计假定</a:t>
            </a:r>
            <a:r>
              <a:rPr lang="zh-CN" altLang="en-US" sz="1800"/>
              <a:t>，包括特定的数值或非数值算法的使用；</a:t>
            </a:r>
          </a:p>
          <a:p>
            <a:pPr lvl="1">
              <a:lnSpc>
                <a:spcPct val="140000"/>
              </a:lnSpc>
            </a:pPr>
            <a:r>
              <a:rPr lang="zh-CN" altLang="en-US" sz="1800">
                <a:solidFill>
                  <a:srgbClr val="FF0000"/>
                </a:solidFill>
              </a:rPr>
              <a:t>异常处理。</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6">
            <a:extLst>
              <a:ext uri="{FF2B5EF4-FFF2-40B4-BE49-F238E27FC236}">
                <a16:creationId xmlns:a16="http://schemas.microsoft.com/office/drawing/2014/main" id="{BF6B82AC-8B9B-2A8C-2B51-15B96150D8C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8F32938-9657-4CA6-A24F-3AF1113CDD8E}" type="slidenum">
              <a:rPr lang="en-US" altLang="zh-CN" sz="1200">
                <a:solidFill>
                  <a:srgbClr val="000000"/>
                </a:solidFill>
                <a:latin typeface="Arial" panose="020B0604020202020204" pitchFamily="34" charset="0"/>
              </a:rPr>
              <a:pPr fontAlgn="base">
                <a:spcBef>
                  <a:spcPct val="0"/>
                </a:spcBef>
                <a:spcAft>
                  <a:spcPct val="0"/>
                </a:spcAft>
              </a:pPr>
              <a:t>77</a:t>
            </a:fld>
            <a:endParaRPr lang="en-US" altLang="zh-CN" sz="1200">
              <a:solidFill>
                <a:srgbClr val="000000"/>
              </a:solidFill>
              <a:latin typeface="Arial" panose="020B0604020202020204" pitchFamily="34" charset="0"/>
            </a:endParaRPr>
          </a:p>
        </p:txBody>
      </p:sp>
      <p:sp>
        <p:nvSpPr>
          <p:cNvPr id="164866" name="Rectangle 2">
            <a:extLst>
              <a:ext uri="{FF2B5EF4-FFF2-40B4-BE49-F238E27FC236}">
                <a16:creationId xmlns:a16="http://schemas.microsoft.com/office/drawing/2014/main" id="{385F0368-91AC-5F63-9DF0-47DEF3F72A81}"/>
              </a:ext>
            </a:extLst>
          </p:cNvPr>
          <p:cNvSpPr>
            <a:spLocks noGrp="1" noChangeArrowheads="1"/>
          </p:cNvSpPr>
          <p:nvPr>
            <p:ph type="title"/>
          </p:nvPr>
        </p:nvSpPr>
        <p:spPr/>
        <p:txBody>
          <a:bodyPr/>
          <a:lstStyle/>
          <a:p>
            <a:r>
              <a:rPr lang="zh-CN" altLang="en-US"/>
              <a:t>构件适应性修改</a:t>
            </a:r>
          </a:p>
        </p:txBody>
      </p:sp>
      <p:sp>
        <p:nvSpPr>
          <p:cNvPr id="316419" name="Rectangle 3">
            <a:extLst>
              <a:ext uri="{FF2B5EF4-FFF2-40B4-BE49-F238E27FC236}">
                <a16:creationId xmlns:a16="http://schemas.microsoft.com/office/drawing/2014/main" id="{90738A8A-5988-47F9-59FA-775362FF79AD}"/>
              </a:ext>
            </a:extLst>
          </p:cNvPr>
          <p:cNvSpPr>
            <a:spLocks noGrp="1" noChangeArrowheads="1"/>
          </p:cNvSpPr>
          <p:nvPr>
            <p:ph type="body" idx="1"/>
          </p:nvPr>
        </p:nvSpPr>
        <p:spPr>
          <a:xfrm>
            <a:off x="1981200" y="1196976"/>
            <a:ext cx="8229600" cy="5078413"/>
          </a:xfrm>
        </p:spPr>
        <p:txBody>
          <a:bodyPr/>
          <a:lstStyle/>
          <a:p>
            <a:pPr>
              <a:lnSpc>
                <a:spcPct val="150000"/>
              </a:lnSpc>
              <a:spcBef>
                <a:spcPct val="35000"/>
              </a:spcBef>
            </a:pPr>
            <a:r>
              <a:rPr lang="zh-CN" altLang="en-US" sz="2200"/>
              <a:t>实际上，</a:t>
            </a:r>
            <a:r>
              <a:rPr lang="zh-CN" altLang="en-US" sz="2200">
                <a:solidFill>
                  <a:srgbClr val="FF0000"/>
                </a:solidFill>
              </a:rPr>
              <a:t>即使</a:t>
            </a:r>
            <a:r>
              <a:rPr lang="zh-CN" altLang="en-US" sz="2200"/>
              <a:t>已经对某个构件在应用系统体系结构内部的使用进行了</a:t>
            </a:r>
            <a:r>
              <a:rPr lang="zh-CN" altLang="en-US" sz="2200">
                <a:solidFill>
                  <a:srgbClr val="FF0000"/>
                </a:solidFill>
              </a:rPr>
              <a:t>合格性检验</a:t>
            </a:r>
            <a:r>
              <a:rPr lang="zh-CN" altLang="en-US" sz="2200"/>
              <a:t>，也可能在一个或多个地方发生</a:t>
            </a:r>
            <a:r>
              <a:rPr lang="zh-CN" altLang="en-US" sz="2200">
                <a:solidFill>
                  <a:srgbClr val="FF0000"/>
                </a:solidFill>
              </a:rPr>
              <a:t>冲突</a:t>
            </a:r>
            <a:r>
              <a:rPr lang="zh-CN" altLang="en-US" sz="2200"/>
              <a:t>。</a:t>
            </a:r>
          </a:p>
          <a:p>
            <a:pPr>
              <a:lnSpc>
                <a:spcPct val="150000"/>
              </a:lnSpc>
              <a:spcBef>
                <a:spcPct val="35000"/>
              </a:spcBef>
            </a:pPr>
            <a:r>
              <a:rPr lang="zh-CN" altLang="en-US" sz="2200"/>
              <a:t>为了避免冲突，可使用构件包装的适应性修改技术：</a:t>
            </a:r>
          </a:p>
          <a:p>
            <a:pPr lvl="1">
              <a:lnSpc>
                <a:spcPct val="150000"/>
              </a:lnSpc>
              <a:spcBef>
                <a:spcPct val="35000"/>
              </a:spcBef>
            </a:pPr>
            <a:r>
              <a:rPr lang="zh-CN" altLang="en-US" sz="2000"/>
              <a:t>当软件团队对某一构件的</a:t>
            </a:r>
            <a:r>
              <a:rPr lang="zh-CN" altLang="en-US" sz="2000">
                <a:solidFill>
                  <a:srgbClr val="FF0000"/>
                </a:solidFill>
              </a:rPr>
              <a:t>内部设计和代码</a:t>
            </a:r>
            <a:r>
              <a:rPr lang="zh-CN" altLang="en-US" sz="2000"/>
              <a:t>具有完全的</a:t>
            </a:r>
            <a:r>
              <a:rPr lang="zh-CN" altLang="en-US" sz="2000">
                <a:solidFill>
                  <a:srgbClr val="FF0000"/>
                </a:solidFill>
              </a:rPr>
              <a:t>访问权</a:t>
            </a:r>
            <a:r>
              <a:rPr lang="zh-CN" altLang="en-US" sz="2000"/>
              <a:t>时，可应用</a:t>
            </a:r>
            <a:r>
              <a:rPr lang="zh-CN" altLang="en-US" sz="2000">
                <a:solidFill>
                  <a:srgbClr val="FF0000"/>
                </a:solidFill>
              </a:rPr>
              <a:t>白盒</a:t>
            </a:r>
            <a:r>
              <a:rPr lang="zh-CN" altLang="en-US" sz="2000"/>
              <a:t>包装技术，白盒包装检查构件的内部处理细节，并进行代码级的修改来消除任何冲突。</a:t>
            </a:r>
          </a:p>
          <a:p>
            <a:pPr lvl="1">
              <a:lnSpc>
                <a:spcPct val="150000"/>
              </a:lnSpc>
              <a:spcBef>
                <a:spcPct val="35000"/>
              </a:spcBef>
            </a:pPr>
            <a:r>
              <a:rPr lang="zh-CN" altLang="en-US" sz="2000"/>
              <a:t>当构件库提供了能够消除或掩盖冲突的</a:t>
            </a:r>
            <a:r>
              <a:rPr lang="zh-CN" altLang="en-US" sz="2000">
                <a:solidFill>
                  <a:srgbClr val="FF0000"/>
                </a:solidFill>
              </a:rPr>
              <a:t>构件扩展语言</a:t>
            </a:r>
            <a:r>
              <a:rPr lang="zh-CN" altLang="en-US" sz="2000"/>
              <a:t>或</a:t>
            </a:r>
            <a:r>
              <a:rPr lang="en-US" altLang="zh-CN" sz="2000">
                <a:solidFill>
                  <a:srgbClr val="FF0000"/>
                </a:solidFill>
              </a:rPr>
              <a:t>API</a:t>
            </a:r>
            <a:r>
              <a:rPr lang="zh-CN" altLang="en-US" sz="2000"/>
              <a:t>时，应用</a:t>
            </a:r>
            <a:r>
              <a:rPr lang="zh-CN" altLang="en-US" sz="2000">
                <a:solidFill>
                  <a:srgbClr val="FF0000"/>
                </a:solidFill>
              </a:rPr>
              <a:t>黑盒</a:t>
            </a:r>
            <a:r>
              <a:rPr lang="zh-CN" altLang="en-US" sz="2000"/>
              <a:t>包装技术。黑盒包装技术需要在构件接口中引入</a:t>
            </a:r>
            <a:r>
              <a:rPr lang="zh-CN" altLang="en-US" sz="2000">
                <a:solidFill>
                  <a:srgbClr val="FF0000"/>
                </a:solidFill>
              </a:rPr>
              <a:t>预处理</a:t>
            </a:r>
            <a:r>
              <a:rPr lang="zh-CN" altLang="en-US" sz="2000"/>
              <a:t>和</a:t>
            </a:r>
            <a:r>
              <a:rPr lang="zh-CN" altLang="en-US" sz="2000">
                <a:solidFill>
                  <a:srgbClr val="FF0000"/>
                </a:solidFill>
              </a:rPr>
              <a:t>后处理</a:t>
            </a:r>
            <a:r>
              <a:rPr lang="zh-CN" altLang="en-US" sz="2000"/>
              <a:t>来消除或掩盖冲突。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316419">
                                            <p:txEl>
                                              <p:pRg st="1" end="1"/>
                                            </p:txEl>
                                          </p:spTgt>
                                        </p:tgtEl>
                                        <p:attrNameLst>
                                          <p:attrName>style.visibility</p:attrName>
                                        </p:attrNameLst>
                                      </p:cBhvr>
                                      <p:to>
                                        <p:strVal val="visible"/>
                                      </p:to>
                                    </p:set>
                                    <p:animEffect transition="in" filter="barn(inHorizontal)">
                                      <p:cBhvr>
                                        <p:cTn id="7" dur="1000"/>
                                        <p:tgtEl>
                                          <p:spTgt spid="3164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316419">
                                            <p:txEl>
                                              <p:pRg st="2" end="2"/>
                                            </p:txEl>
                                          </p:spTgt>
                                        </p:tgtEl>
                                        <p:attrNameLst>
                                          <p:attrName>style.visibility</p:attrName>
                                        </p:attrNameLst>
                                      </p:cBhvr>
                                      <p:to>
                                        <p:strVal val="visible"/>
                                      </p:to>
                                    </p:set>
                                    <p:animEffect transition="in" filter="barn(inHorizontal)">
                                      <p:cBhvr>
                                        <p:cTn id="12" dur="1000"/>
                                        <p:tgtEl>
                                          <p:spTgt spid="3164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316419">
                                            <p:txEl>
                                              <p:pRg st="3" end="3"/>
                                            </p:txEl>
                                          </p:spTgt>
                                        </p:tgtEl>
                                        <p:attrNameLst>
                                          <p:attrName>style.visibility</p:attrName>
                                        </p:attrNameLst>
                                      </p:cBhvr>
                                      <p:to>
                                        <p:strVal val="visible"/>
                                      </p:to>
                                    </p:set>
                                    <p:animEffect transition="in" filter="barn(inHorizontal)">
                                      <p:cBhvr>
                                        <p:cTn id="17" dur="1000"/>
                                        <p:tgtEl>
                                          <p:spTgt spid="316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6">
            <a:extLst>
              <a:ext uri="{FF2B5EF4-FFF2-40B4-BE49-F238E27FC236}">
                <a16:creationId xmlns:a16="http://schemas.microsoft.com/office/drawing/2014/main" id="{145B0811-8362-DD3B-0E70-F3868AEF09E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D6614D9-1A5A-4177-BE85-FC138F658B85}" type="slidenum">
              <a:rPr lang="en-US" altLang="zh-CN" sz="1200">
                <a:solidFill>
                  <a:srgbClr val="000000"/>
                </a:solidFill>
                <a:latin typeface="Arial" panose="020B0604020202020204" pitchFamily="34" charset="0"/>
              </a:rPr>
              <a:pPr fontAlgn="base">
                <a:spcBef>
                  <a:spcPct val="0"/>
                </a:spcBef>
                <a:spcAft>
                  <a:spcPct val="0"/>
                </a:spcAft>
              </a:pPr>
              <a:t>78</a:t>
            </a:fld>
            <a:endParaRPr lang="en-US" altLang="zh-CN" sz="1200">
              <a:solidFill>
                <a:srgbClr val="000000"/>
              </a:solidFill>
              <a:latin typeface="Arial" panose="020B0604020202020204" pitchFamily="34" charset="0"/>
            </a:endParaRPr>
          </a:p>
        </p:txBody>
      </p:sp>
      <p:sp>
        <p:nvSpPr>
          <p:cNvPr id="165890" name="Rectangle 2">
            <a:extLst>
              <a:ext uri="{FF2B5EF4-FFF2-40B4-BE49-F238E27FC236}">
                <a16:creationId xmlns:a16="http://schemas.microsoft.com/office/drawing/2014/main" id="{E7D7006E-406B-912B-AC83-070A7AEC1AF8}"/>
              </a:ext>
            </a:extLst>
          </p:cNvPr>
          <p:cNvSpPr>
            <a:spLocks noGrp="1" noChangeArrowheads="1"/>
          </p:cNvSpPr>
          <p:nvPr>
            <p:ph type="title"/>
          </p:nvPr>
        </p:nvSpPr>
        <p:spPr/>
        <p:txBody>
          <a:bodyPr/>
          <a:lstStyle/>
          <a:p>
            <a:r>
              <a:rPr lang="zh-CN" altLang="en-US"/>
              <a:t>构件组合</a:t>
            </a:r>
          </a:p>
        </p:txBody>
      </p:sp>
      <p:sp>
        <p:nvSpPr>
          <p:cNvPr id="317443" name="Rectangle 3">
            <a:extLst>
              <a:ext uri="{FF2B5EF4-FFF2-40B4-BE49-F238E27FC236}">
                <a16:creationId xmlns:a16="http://schemas.microsoft.com/office/drawing/2014/main" id="{E6C4075A-9E18-FA05-6C8C-B6CE77914ADE}"/>
              </a:ext>
            </a:extLst>
          </p:cNvPr>
          <p:cNvSpPr>
            <a:spLocks noGrp="1" noChangeArrowheads="1"/>
          </p:cNvSpPr>
          <p:nvPr>
            <p:ph type="body" idx="1"/>
          </p:nvPr>
        </p:nvSpPr>
        <p:spPr>
          <a:xfrm>
            <a:off x="1981200" y="1125538"/>
            <a:ext cx="8229600" cy="4933950"/>
          </a:xfrm>
        </p:spPr>
        <p:txBody>
          <a:bodyPr/>
          <a:lstStyle/>
          <a:p>
            <a:pPr>
              <a:lnSpc>
                <a:spcPct val="150000"/>
              </a:lnSpc>
              <a:spcBef>
                <a:spcPct val="30000"/>
              </a:spcBef>
            </a:pPr>
            <a:r>
              <a:rPr lang="zh-CN" altLang="en-US" sz="2200">
                <a:solidFill>
                  <a:srgbClr val="FF0000"/>
                </a:solidFill>
              </a:rPr>
              <a:t>构件组合</a:t>
            </a:r>
            <a:r>
              <a:rPr lang="zh-CN" altLang="en-US" sz="2200"/>
              <a:t>任务将经过</a:t>
            </a:r>
            <a:r>
              <a:rPr lang="zh-CN" altLang="en-US" sz="2200">
                <a:solidFill>
                  <a:srgbClr val="FF0000"/>
                </a:solidFill>
              </a:rPr>
              <a:t>合格性检验</a:t>
            </a:r>
            <a:r>
              <a:rPr lang="zh-CN" altLang="en-US" sz="2200"/>
              <a:t>、</a:t>
            </a:r>
            <a:r>
              <a:rPr lang="zh-CN" altLang="en-US" sz="2200">
                <a:solidFill>
                  <a:srgbClr val="FF0000"/>
                </a:solidFill>
              </a:rPr>
              <a:t>适应性修改</a:t>
            </a:r>
            <a:r>
              <a:rPr lang="zh-CN" altLang="en-US" sz="2200"/>
              <a:t>以及</a:t>
            </a:r>
            <a:r>
              <a:rPr lang="zh-CN" altLang="en-US" sz="2200">
                <a:solidFill>
                  <a:srgbClr val="FF0000"/>
                </a:solidFill>
              </a:rPr>
              <a:t>开发</a:t>
            </a:r>
            <a:r>
              <a:rPr lang="zh-CN" altLang="en-US" sz="2200"/>
              <a:t>的构件</a:t>
            </a:r>
            <a:r>
              <a:rPr lang="zh-CN" altLang="en-US" sz="2200">
                <a:solidFill>
                  <a:srgbClr val="FF0000"/>
                </a:solidFill>
              </a:rPr>
              <a:t>组装</a:t>
            </a:r>
            <a:r>
              <a:rPr lang="zh-CN" altLang="en-US" sz="2200"/>
              <a:t>到应用系统的</a:t>
            </a:r>
            <a:r>
              <a:rPr lang="zh-CN" altLang="en-US" sz="2200">
                <a:solidFill>
                  <a:srgbClr val="FF0000"/>
                </a:solidFill>
              </a:rPr>
              <a:t>体系结构</a:t>
            </a:r>
            <a:r>
              <a:rPr lang="zh-CN" altLang="en-US" sz="2200"/>
              <a:t>中。为完成这项任务：</a:t>
            </a:r>
          </a:p>
          <a:p>
            <a:pPr lvl="1">
              <a:lnSpc>
                <a:spcPct val="150000"/>
              </a:lnSpc>
              <a:spcBef>
                <a:spcPct val="30000"/>
              </a:spcBef>
            </a:pPr>
            <a:r>
              <a:rPr lang="zh-CN" altLang="en-US" sz="2000"/>
              <a:t>必须建立一个</a:t>
            </a:r>
            <a:r>
              <a:rPr lang="zh-CN" altLang="en-US" sz="2000">
                <a:solidFill>
                  <a:srgbClr val="FF0000"/>
                </a:solidFill>
              </a:rPr>
              <a:t>基础设施</a:t>
            </a:r>
            <a:r>
              <a:rPr lang="zh-CN" altLang="en-US" sz="2000"/>
              <a:t>以将构件绑定到一个运行系统中。该基础设施</a:t>
            </a:r>
            <a:r>
              <a:rPr lang="en-US" altLang="zh-CN" sz="2000"/>
              <a:t>(</a:t>
            </a:r>
            <a:r>
              <a:rPr lang="zh-CN" altLang="en-US" sz="2000">
                <a:solidFill>
                  <a:srgbClr val="FF0000"/>
                </a:solidFill>
              </a:rPr>
              <a:t>通常是专门的构件库</a:t>
            </a:r>
            <a:r>
              <a:rPr lang="en-US" altLang="zh-CN" sz="2000"/>
              <a:t>)</a:t>
            </a:r>
            <a:r>
              <a:rPr lang="zh-CN" altLang="en-US" sz="2000"/>
              <a:t>提供了</a:t>
            </a:r>
            <a:r>
              <a:rPr lang="zh-CN" altLang="en-US" sz="2000">
                <a:solidFill>
                  <a:srgbClr val="FF0000"/>
                </a:solidFill>
              </a:rPr>
              <a:t>构件协作的模型</a:t>
            </a:r>
            <a:r>
              <a:rPr lang="zh-CN" altLang="en-US" sz="2000"/>
              <a:t>和使构件能够相互协作并完成共同任务的</a:t>
            </a:r>
            <a:r>
              <a:rPr lang="zh-CN" altLang="en-US" sz="2000">
                <a:solidFill>
                  <a:srgbClr val="FF0000"/>
                </a:solidFill>
              </a:rPr>
              <a:t>特定服务</a:t>
            </a:r>
            <a:r>
              <a:rPr lang="zh-CN" altLang="en-US" sz="2000"/>
              <a:t>。</a:t>
            </a:r>
          </a:p>
          <a:p>
            <a:pPr>
              <a:lnSpc>
                <a:spcPct val="150000"/>
              </a:lnSpc>
              <a:spcBef>
                <a:spcPct val="30000"/>
              </a:spcBef>
            </a:pPr>
            <a:r>
              <a:rPr lang="zh-CN" altLang="en-US" sz="2200"/>
              <a:t>主流公司和产业协会提出的</a:t>
            </a:r>
            <a:r>
              <a:rPr lang="zh-CN" altLang="en-US" sz="2200">
                <a:solidFill>
                  <a:srgbClr val="FF0000"/>
                </a:solidFill>
              </a:rPr>
              <a:t>软件构件标准</a:t>
            </a:r>
            <a:r>
              <a:rPr lang="zh-CN" altLang="en-US" sz="2200"/>
              <a:t>：</a:t>
            </a:r>
          </a:p>
          <a:p>
            <a:pPr lvl="1">
              <a:lnSpc>
                <a:spcPct val="150000"/>
              </a:lnSpc>
              <a:spcBef>
                <a:spcPct val="30000"/>
              </a:spcBef>
            </a:pPr>
            <a:r>
              <a:rPr lang="en-US" altLang="zh-CN" sz="2000"/>
              <a:t>OMG/CORBA</a:t>
            </a:r>
            <a:r>
              <a:rPr lang="zh-CN" altLang="en-US" sz="2000"/>
              <a:t>，由对象管理组织发布。</a:t>
            </a:r>
          </a:p>
          <a:p>
            <a:pPr lvl="1">
              <a:lnSpc>
                <a:spcPct val="150000"/>
              </a:lnSpc>
              <a:spcBef>
                <a:spcPct val="30000"/>
              </a:spcBef>
            </a:pPr>
            <a:r>
              <a:rPr lang="en-US" altLang="zh-CN" sz="2000"/>
              <a:t>Microsoft COM</a:t>
            </a:r>
            <a:r>
              <a:rPr lang="zh-CN" altLang="en-US" sz="2000"/>
              <a:t>和</a:t>
            </a:r>
            <a:r>
              <a:rPr lang="en-US" altLang="zh-CN" sz="2000"/>
              <a:t>.NET</a:t>
            </a:r>
            <a:endParaRPr lang="zh-CN" altLang="en-US" sz="2000"/>
          </a:p>
          <a:p>
            <a:pPr lvl="1">
              <a:lnSpc>
                <a:spcPct val="150000"/>
              </a:lnSpc>
              <a:spcBef>
                <a:spcPct val="30000"/>
              </a:spcBef>
            </a:pPr>
            <a:r>
              <a:rPr lang="en-US" altLang="zh-CN" sz="2000"/>
              <a:t>Sun JavaBean</a:t>
            </a:r>
            <a:r>
              <a:rPr lang="zh-CN" altLang="en-US" sz="2000"/>
              <a:t>构件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17443">
                                            <p:txEl>
                                              <p:pRg st="1" end="1"/>
                                            </p:txEl>
                                          </p:spTgt>
                                        </p:tgtEl>
                                        <p:attrNameLst>
                                          <p:attrName>style.visibility</p:attrName>
                                        </p:attrNameLst>
                                      </p:cBhvr>
                                      <p:to>
                                        <p:strVal val="visible"/>
                                      </p:to>
                                    </p:set>
                                    <p:animEffect transition="in" filter="diamond(in)">
                                      <p:cBhvr>
                                        <p:cTn id="7" dur="1000"/>
                                        <p:tgtEl>
                                          <p:spTgt spid="3174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17443">
                                            <p:txEl>
                                              <p:pRg st="2" end="2"/>
                                            </p:txEl>
                                          </p:spTgt>
                                        </p:tgtEl>
                                        <p:attrNameLst>
                                          <p:attrName>style.visibility</p:attrName>
                                        </p:attrNameLst>
                                      </p:cBhvr>
                                      <p:to>
                                        <p:strVal val="visible"/>
                                      </p:to>
                                    </p:set>
                                    <p:animEffect transition="in" filter="diamond(in)">
                                      <p:cBhvr>
                                        <p:cTn id="12" dur="1000"/>
                                        <p:tgtEl>
                                          <p:spTgt spid="3174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17443">
                                            <p:txEl>
                                              <p:pRg st="3" end="3"/>
                                            </p:txEl>
                                          </p:spTgt>
                                        </p:tgtEl>
                                        <p:attrNameLst>
                                          <p:attrName>style.visibility</p:attrName>
                                        </p:attrNameLst>
                                      </p:cBhvr>
                                      <p:to>
                                        <p:strVal val="visible"/>
                                      </p:to>
                                    </p:set>
                                    <p:animEffect transition="in" filter="diamond(in)">
                                      <p:cBhvr>
                                        <p:cTn id="17" dur="1000"/>
                                        <p:tgtEl>
                                          <p:spTgt spid="3174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17443">
                                            <p:txEl>
                                              <p:pRg st="4" end="4"/>
                                            </p:txEl>
                                          </p:spTgt>
                                        </p:tgtEl>
                                        <p:attrNameLst>
                                          <p:attrName>style.visibility</p:attrName>
                                        </p:attrNameLst>
                                      </p:cBhvr>
                                      <p:to>
                                        <p:strVal val="visible"/>
                                      </p:to>
                                    </p:set>
                                    <p:animEffect transition="in" filter="diamond(in)">
                                      <p:cBhvr>
                                        <p:cTn id="22" dur="1000"/>
                                        <p:tgtEl>
                                          <p:spTgt spid="31744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317443">
                                            <p:txEl>
                                              <p:pRg st="5" end="5"/>
                                            </p:txEl>
                                          </p:spTgt>
                                        </p:tgtEl>
                                        <p:attrNameLst>
                                          <p:attrName>style.visibility</p:attrName>
                                        </p:attrNameLst>
                                      </p:cBhvr>
                                      <p:to>
                                        <p:strVal val="visible"/>
                                      </p:to>
                                    </p:set>
                                    <p:animEffect transition="in" filter="diamond(in)">
                                      <p:cBhvr>
                                        <p:cTn id="27" dur="1000"/>
                                        <p:tgtEl>
                                          <p:spTgt spid="3174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6">
            <a:extLst>
              <a:ext uri="{FF2B5EF4-FFF2-40B4-BE49-F238E27FC236}">
                <a16:creationId xmlns:a16="http://schemas.microsoft.com/office/drawing/2014/main" id="{3BBD5957-E9E7-A95E-4EA1-0F3F74B6D9C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C1C0948-926C-4367-8E68-230C599FAF4D}" type="slidenum">
              <a:rPr lang="en-US" altLang="zh-CN" sz="1200">
                <a:solidFill>
                  <a:srgbClr val="000000"/>
                </a:solidFill>
                <a:latin typeface="Arial" panose="020B0604020202020204" pitchFamily="34" charset="0"/>
              </a:rPr>
              <a:pPr fontAlgn="base">
                <a:spcBef>
                  <a:spcPct val="0"/>
                </a:spcBef>
                <a:spcAft>
                  <a:spcPct val="0"/>
                </a:spcAft>
              </a:pPr>
              <a:t>79</a:t>
            </a:fld>
            <a:endParaRPr lang="en-US" altLang="zh-CN" sz="1200">
              <a:solidFill>
                <a:srgbClr val="000000"/>
              </a:solidFill>
              <a:latin typeface="Arial" panose="020B0604020202020204" pitchFamily="34" charset="0"/>
            </a:endParaRPr>
          </a:p>
        </p:txBody>
      </p:sp>
      <p:sp>
        <p:nvSpPr>
          <p:cNvPr id="166914" name="Rectangle 2">
            <a:extLst>
              <a:ext uri="{FF2B5EF4-FFF2-40B4-BE49-F238E27FC236}">
                <a16:creationId xmlns:a16="http://schemas.microsoft.com/office/drawing/2014/main" id="{4721C265-6848-CCD6-8C18-656FC4CCE91C}"/>
              </a:ext>
            </a:extLst>
          </p:cNvPr>
          <p:cNvSpPr>
            <a:spLocks noGrp="1" noChangeArrowheads="1"/>
          </p:cNvSpPr>
          <p:nvPr>
            <p:ph type="title"/>
          </p:nvPr>
        </p:nvSpPr>
        <p:spPr/>
        <p:txBody>
          <a:bodyPr/>
          <a:lstStyle/>
          <a:p>
            <a:r>
              <a:rPr lang="zh-CN" altLang="en-US"/>
              <a:t>复用的分析和设计</a:t>
            </a:r>
          </a:p>
        </p:txBody>
      </p:sp>
      <p:sp>
        <p:nvSpPr>
          <p:cNvPr id="318467" name="Rectangle 3">
            <a:extLst>
              <a:ext uri="{FF2B5EF4-FFF2-40B4-BE49-F238E27FC236}">
                <a16:creationId xmlns:a16="http://schemas.microsoft.com/office/drawing/2014/main" id="{5113B07A-9351-35E3-E4AF-802266BEECF4}"/>
              </a:ext>
            </a:extLst>
          </p:cNvPr>
          <p:cNvSpPr>
            <a:spLocks noGrp="1" noChangeArrowheads="1"/>
          </p:cNvSpPr>
          <p:nvPr>
            <p:ph type="body" idx="1"/>
          </p:nvPr>
        </p:nvSpPr>
        <p:spPr>
          <a:xfrm>
            <a:off x="1981200" y="908051"/>
            <a:ext cx="8229600" cy="5078413"/>
          </a:xfrm>
        </p:spPr>
        <p:txBody>
          <a:bodyPr/>
          <a:lstStyle/>
          <a:p>
            <a:pPr>
              <a:lnSpc>
                <a:spcPct val="150000"/>
              </a:lnSpc>
              <a:spcBef>
                <a:spcPct val="40000"/>
              </a:spcBef>
            </a:pPr>
            <a:r>
              <a:rPr lang="zh-CN" altLang="en-US" sz="2600"/>
              <a:t>构成</a:t>
            </a:r>
            <a:r>
              <a:rPr lang="zh-CN" altLang="en-US" sz="2600">
                <a:solidFill>
                  <a:srgbClr val="FF0000"/>
                </a:solidFill>
              </a:rPr>
              <a:t>可复用设计基础</a:t>
            </a:r>
            <a:r>
              <a:rPr lang="zh-CN" altLang="en-US" sz="2600"/>
              <a:t>的关键问题：</a:t>
            </a:r>
          </a:p>
          <a:p>
            <a:pPr lvl="1">
              <a:lnSpc>
                <a:spcPct val="150000"/>
              </a:lnSpc>
              <a:spcBef>
                <a:spcPct val="40000"/>
              </a:spcBef>
            </a:pPr>
            <a:r>
              <a:rPr lang="zh-CN" altLang="en-US">
                <a:solidFill>
                  <a:srgbClr val="FF0000"/>
                </a:solidFill>
              </a:rPr>
              <a:t>标准数据</a:t>
            </a:r>
            <a:r>
              <a:rPr lang="zh-CN" altLang="en-US"/>
              <a:t>。应该仔细研究应用领域，并</a:t>
            </a:r>
            <a:r>
              <a:rPr lang="zh-CN" altLang="en-US">
                <a:solidFill>
                  <a:srgbClr val="FF0000"/>
                </a:solidFill>
              </a:rPr>
              <a:t>定义标准的全局数据结构</a:t>
            </a:r>
            <a:r>
              <a:rPr lang="en-US" altLang="zh-CN"/>
              <a:t>(</a:t>
            </a:r>
            <a:r>
              <a:rPr lang="zh-CN" altLang="en-US"/>
              <a:t>例如，文件结构或完整的数据库</a:t>
            </a:r>
            <a:r>
              <a:rPr lang="en-US" altLang="zh-CN"/>
              <a:t>)</a:t>
            </a:r>
            <a:r>
              <a:rPr lang="zh-CN" altLang="en-US"/>
              <a:t>。然后，所有的设计构件会被赋予使用这些标准数据结构的特性。</a:t>
            </a:r>
          </a:p>
          <a:p>
            <a:pPr lvl="1">
              <a:lnSpc>
                <a:spcPct val="150000"/>
              </a:lnSpc>
              <a:spcBef>
                <a:spcPct val="40000"/>
              </a:spcBef>
            </a:pPr>
            <a:r>
              <a:rPr lang="zh-CN" altLang="en-US">
                <a:solidFill>
                  <a:srgbClr val="FF0000"/>
                </a:solidFill>
              </a:rPr>
              <a:t>标准接口协议</a:t>
            </a:r>
            <a:r>
              <a:rPr lang="zh-CN" altLang="en-US"/>
              <a:t>。应建立</a:t>
            </a:r>
            <a:r>
              <a:rPr lang="en-US" altLang="zh-CN"/>
              <a:t>3</a:t>
            </a:r>
            <a:r>
              <a:rPr lang="zh-CN" altLang="en-US"/>
              <a:t>层接口协议：模块内部接口的基本属性，外部技术接口设计和人机接口设计。</a:t>
            </a:r>
          </a:p>
          <a:p>
            <a:pPr lvl="1">
              <a:lnSpc>
                <a:spcPct val="150000"/>
              </a:lnSpc>
              <a:spcBef>
                <a:spcPct val="40000"/>
              </a:spcBef>
            </a:pPr>
            <a:r>
              <a:rPr lang="zh-CN" altLang="en-US">
                <a:solidFill>
                  <a:srgbClr val="FF0000"/>
                </a:solidFill>
              </a:rPr>
              <a:t>程序模板</a:t>
            </a:r>
            <a:r>
              <a:rPr lang="zh-CN" altLang="en-US"/>
              <a:t>。选取一种体系结构风格，可以作为新软件体系结构设计的模板。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8467">
                                            <p:txEl>
                                              <p:pRg st="1" end="1"/>
                                            </p:txEl>
                                          </p:spTgt>
                                        </p:tgtEl>
                                        <p:attrNameLst>
                                          <p:attrName>style.visibility</p:attrName>
                                        </p:attrNameLst>
                                      </p:cBhvr>
                                      <p:to>
                                        <p:strVal val="visible"/>
                                      </p:to>
                                    </p:set>
                                    <p:animEffect transition="in" filter="blinds(horizontal)">
                                      <p:cBhvr>
                                        <p:cTn id="7" dur="1000"/>
                                        <p:tgtEl>
                                          <p:spTgt spid="3184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8467">
                                            <p:txEl>
                                              <p:pRg st="2" end="2"/>
                                            </p:txEl>
                                          </p:spTgt>
                                        </p:tgtEl>
                                        <p:attrNameLst>
                                          <p:attrName>style.visibility</p:attrName>
                                        </p:attrNameLst>
                                      </p:cBhvr>
                                      <p:to>
                                        <p:strVal val="visible"/>
                                      </p:to>
                                    </p:set>
                                    <p:animEffect transition="in" filter="blinds(horizontal)">
                                      <p:cBhvr>
                                        <p:cTn id="12" dur="1000"/>
                                        <p:tgtEl>
                                          <p:spTgt spid="3184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8467">
                                            <p:txEl>
                                              <p:pRg st="3" end="3"/>
                                            </p:txEl>
                                          </p:spTgt>
                                        </p:tgtEl>
                                        <p:attrNameLst>
                                          <p:attrName>style.visibility</p:attrName>
                                        </p:attrNameLst>
                                      </p:cBhvr>
                                      <p:to>
                                        <p:strVal val="visible"/>
                                      </p:to>
                                    </p:set>
                                    <p:animEffect transition="in" filter="blinds(horizontal)">
                                      <p:cBhvr>
                                        <p:cTn id="17" dur="1000"/>
                                        <p:tgtEl>
                                          <p:spTgt spid="318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6591</Words>
  <Application>Microsoft Office PowerPoint</Application>
  <PresentationFormat>宽屏</PresentationFormat>
  <Paragraphs>634</Paragraphs>
  <Slides>79</Slides>
  <Notes>38</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79</vt:i4>
      </vt:variant>
    </vt:vector>
  </HeadingPairs>
  <TitlesOfParts>
    <vt:vector size="96" baseType="lpstr">
      <vt:lpstr>等线</vt:lpstr>
      <vt:lpstr>等线 Light</vt:lpstr>
      <vt:lpstr>方正舒体</vt:lpstr>
      <vt:lpstr>楷体_GB2312</vt:lpstr>
      <vt:lpstr>宋体</vt:lpstr>
      <vt:lpstr>Arial</vt:lpstr>
      <vt:lpstr>Calibri</vt:lpstr>
      <vt:lpstr>Comic Sans MS</vt:lpstr>
      <vt:lpstr>Garamond</vt:lpstr>
      <vt:lpstr>Helvetica</vt:lpstr>
      <vt:lpstr>Tahoma</vt:lpstr>
      <vt:lpstr>Times New Roman</vt:lpstr>
      <vt:lpstr>Wingdings</vt:lpstr>
      <vt:lpstr>Office 主题​​</vt:lpstr>
      <vt:lpstr>1_主题4</vt:lpstr>
      <vt:lpstr>2_主题4</vt:lpstr>
      <vt:lpstr>3_主题4</vt:lpstr>
      <vt:lpstr>设计概念——模块化</vt:lpstr>
      <vt:lpstr>模块化</vt:lpstr>
      <vt:lpstr>模块化</vt:lpstr>
      <vt:lpstr>通过模块化降低开发复杂度 </vt:lpstr>
      <vt:lpstr>模块化例：智能灌溉</vt:lpstr>
      <vt:lpstr>无限制地进行模块化分？</vt:lpstr>
      <vt:lpstr>模块化</vt:lpstr>
      <vt:lpstr>结论：适度的模块化</vt:lpstr>
      <vt:lpstr>模块化的优点</vt:lpstr>
      <vt:lpstr>本章内容</vt:lpstr>
      <vt:lpstr>体系结构</vt:lpstr>
      <vt:lpstr>软件体系结构</vt:lpstr>
      <vt:lpstr>软件体系结构</vt:lpstr>
      <vt:lpstr>软件体系结构</vt:lpstr>
      <vt:lpstr>体系结构描述</vt:lpstr>
      <vt:lpstr>体系结构决策描述模板</vt:lpstr>
      <vt:lpstr>体系结构决策描述模板(2)</vt:lpstr>
      <vt:lpstr>什么是构件</vt:lpstr>
      <vt:lpstr>构件级设计</vt:lpstr>
      <vt:lpstr>本章内容</vt:lpstr>
      <vt:lpstr>设计基于类的构件</vt:lpstr>
      <vt:lpstr>开闭原则</vt:lpstr>
      <vt:lpstr>PowerPoint 演示文稿</vt:lpstr>
      <vt:lpstr>PowerPoint 演示文稿</vt:lpstr>
      <vt:lpstr>PowerPoint 演示文稿</vt:lpstr>
      <vt:lpstr>Liskov替换原则</vt:lpstr>
      <vt:lpstr>Liskov原则</vt:lpstr>
      <vt:lpstr>Liskov替换原则——子类可以替换它们的基类</vt:lpstr>
      <vt:lpstr>PowerPoint 演示文稿</vt:lpstr>
      <vt:lpstr>PowerPoint 演示文稿</vt:lpstr>
      <vt:lpstr>依赖倒置原则</vt:lpstr>
      <vt:lpstr>PowerPoint 演示文稿</vt:lpstr>
      <vt:lpstr>PowerPoint 演示文稿</vt:lpstr>
      <vt:lpstr>依赖倒置原则</vt:lpstr>
      <vt:lpstr>接口分离原则 (Interface Segregation Principle, ISP)</vt:lpstr>
      <vt:lpstr>接口分离原则</vt:lpstr>
      <vt:lpstr>构件级设计指导方针</vt:lpstr>
      <vt:lpstr>构件级设计指导方针</vt:lpstr>
      <vt:lpstr>内聚性</vt:lpstr>
      <vt:lpstr>顺序内聚</vt:lpstr>
      <vt:lpstr>时间内聚</vt:lpstr>
      <vt:lpstr>逻辑内聚</vt:lpstr>
      <vt:lpstr>实用内聚</vt:lpstr>
      <vt:lpstr>请指出以下内聚度类型</vt:lpstr>
      <vt:lpstr>耦合性</vt:lpstr>
      <vt:lpstr>内容耦合 (耦合度最高，最不推荐)</vt:lpstr>
      <vt:lpstr>共用耦合</vt:lpstr>
      <vt:lpstr>控制耦合</vt:lpstr>
      <vt:lpstr>标记耦合（特征耦合）</vt:lpstr>
      <vt:lpstr>数据耦合</vt:lpstr>
      <vt:lpstr>其他耦合</vt:lpstr>
      <vt:lpstr>模块关联的评价指标</vt:lpstr>
      <vt:lpstr>本章内容</vt:lpstr>
      <vt:lpstr>实施构件级设计步骤</vt:lpstr>
      <vt:lpstr>实施构件级设计步骤</vt:lpstr>
      <vt:lpstr>步骤3a：说明消息细节（案例）</vt:lpstr>
      <vt:lpstr>步骤3b：确定接口</vt:lpstr>
      <vt:lpstr>步骤3b：确定接口</vt:lpstr>
      <vt:lpstr>步骤3b：确定接口（案例）</vt:lpstr>
      <vt:lpstr>步骤3c：细化属性（案例）</vt:lpstr>
      <vt:lpstr>步骤3d：详细描述操作中处理流</vt:lpstr>
      <vt:lpstr>PowerPoint 演示文稿</vt:lpstr>
      <vt:lpstr>实施构件级设计步骤</vt:lpstr>
      <vt:lpstr>实施构件级设计步骤</vt:lpstr>
      <vt:lpstr>本章内容</vt:lpstr>
      <vt:lpstr>WebApp的构件级设计</vt:lpstr>
      <vt:lpstr>本章内容</vt:lpstr>
      <vt:lpstr>设计传统构件</vt:lpstr>
      <vt:lpstr>图形化设计表示</vt:lpstr>
      <vt:lpstr>表格式设计表示</vt:lpstr>
      <vt:lpstr>决策表的表格式设计表示</vt:lpstr>
      <vt:lpstr>本章内容</vt:lpstr>
      <vt:lpstr>基于构件的开发</vt:lpstr>
      <vt:lpstr>基于构件的开发</vt:lpstr>
      <vt:lpstr>领域工程</vt:lpstr>
      <vt:lpstr>构件合格性检验</vt:lpstr>
      <vt:lpstr>构件适应性修改</vt:lpstr>
      <vt:lpstr>构件组合</vt:lpstr>
      <vt:lpstr>复用的分析和设计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Xintian Liang</dc:creator>
  <cp:lastModifiedBy>Xintian Liang</cp:lastModifiedBy>
  <cp:revision>1</cp:revision>
  <dcterms:created xsi:type="dcterms:W3CDTF">2024-12-18T08:27:10Z</dcterms:created>
  <dcterms:modified xsi:type="dcterms:W3CDTF">2024-12-18T08:34:43Z</dcterms:modified>
</cp:coreProperties>
</file>