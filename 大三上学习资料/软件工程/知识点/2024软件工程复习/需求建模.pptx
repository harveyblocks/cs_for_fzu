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41"/>
  </p:notesMasterIdLst>
  <p:sldIdLst>
    <p:sldId id="456" r:id="rId4"/>
    <p:sldId id="388" r:id="rId5"/>
    <p:sldId id="389" r:id="rId6"/>
    <p:sldId id="440" r:id="rId7"/>
    <p:sldId id="390" r:id="rId8"/>
    <p:sldId id="441" r:id="rId9"/>
    <p:sldId id="306" r:id="rId10"/>
    <p:sldId id="391" r:id="rId11"/>
    <p:sldId id="442" r:id="rId12"/>
    <p:sldId id="331" r:id="rId13"/>
    <p:sldId id="332" r:id="rId14"/>
    <p:sldId id="333" r:id="rId15"/>
    <p:sldId id="379" r:id="rId16"/>
    <p:sldId id="334" r:id="rId17"/>
    <p:sldId id="335" r:id="rId18"/>
    <p:sldId id="336" r:id="rId19"/>
    <p:sldId id="380" r:id="rId20"/>
    <p:sldId id="381" r:id="rId21"/>
    <p:sldId id="382" r:id="rId22"/>
    <p:sldId id="337" r:id="rId23"/>
    <p:sldId id="338" r:id="rId24"/>
    <p:sldId id="339" r:id="rId25"/>
    <p:sldId id="364" r:id="rId26"/>
    <p:sldId id="365" r:id="rId27"/>
    <p:sldId id="366" r:id="rId28"/>
    <p:sldId id="367" r:id="rId29"/>
    <p:sldId id="457" r:id="rId30"/>
    <p:sldId id="368" r:id="rId31"/>
    <p:sldId id="370" r:id="rId32"/>
    <p:sldId id="458" r:id="rId33"/>
    <p:sldId id="459" r:id="rId34"/>
    <p:sldId id="371" r:id="rId35"/>
    <p:sldId id="392" r:id="rId36"/>
    <p:sldId id="393" r:id="rId37"/>
    <p:sldId id="373" r:id="rId38"/>
    <p:sldId id="423" r:id="rId39"/>
    <p:sldId id="42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9D511-E06D-4AB3-A2AB-293322FFB368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B2E9B0D-7DAF-41C8-B00F-597668B933AA}">
      <dgm:prSet phldrT="[文本]"/>
      <dgm:spPr/>
      <dgm:t>
        <a:bodyPr/>
        <a:lstStyle/>
        <a:p>
          <a:r>
            <a:rPr lang="zh-CN" altLang="en-US" b="1" dirty="0"/>
            <a:t>软件需求</a:t>
          </a:r>
        </a:p>
      </dgm:t>
    </dgm:pt>
    <dgm:pt modelId="{4B5E036F-0788-4B60-B636-C36320DBF5AE}" type="parTrans" cxnId="{374DFB4B-B83A-4125-9983-31530D846911}">
      <dgm:prSet/>
      <dgm:spPr/>
      <dgm:t>
        <a:bodyPr/>
        <a:lstStyle/>
        <a:p>
          <a:endParaRPr lang="zh-CN" altLang="en-US"/>
        </a:p>
      </dgm:t>
    </dgm:pt>
    <dgm:pt modelId="{316DCEFA-53D4-48C1-B7B5-B6C08459579C}" type="sibTrans" cxnId="{374DFB4B-B83A-4125-9983-31530D846911}">
      <dgm:prSet/>
      <dgm:spPr/>
      <dgm:t>
        <a:bodyPr/>
        <a:lstStyle/>
        <a:p>
          <a:endParaRPr lang="zh-CN" altLang="en-US"/>
        </a:p>
      </dgm:t>
    </dgm:pt>
    <dgm:pt modelId="{3CE7C138-751C-46D3-9A4A-1D9197839AE8}">
      <dgm:prSet phldrT="[文本]">
        <dgm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b="1" dirty="0"/>
            <a:t>基于场景的模型</a:t>
          </a:r>
          <a:endParaRPr lang="en-US" altLang="zh-CN" b="1" dirty="0"/>
        </a:p>
        <a:p>
          <a:r>
            <a:rPr lang="zh-CN" altLang="en-US" b="1" dirty="0"/>
            <a:t>用例、用户故事</a:t>
          </a:r>
        </a:p>
      </dgm:t>
    </dgm:pt>
    <dgm:pt modelId="{1635F4F1-D172-43E4-AFFE-A86567E03CBF}" type="parTrans" cxnId="{D77097FE-CFEA-4323-9FC0-CE4E1378DBED}">
      <dgm:prSet/>
      <dgm:spPr/>
      <dgm:t>
        <a:bodyPr/>
        <a:lstStyle/>
        <a:p>
          <a:endParaRPr lang="zh-CN" altLang="en-US"/>
        </a:p>
      </dgm:t>
    </dgm:pt>
    <dgm:pt modelId="{B474F0B7-9810-4C4D-A8FD-47A8F0F03C44}" type="sibTrans" cxnId="{D77097FE-CFEA-4323-9FC0-CE4E1378DBED}">
      <dgm:prSet/>
      <dgm:spPr/>
      <dgm:t>
        <a:bodyPr/>
        <a:lstStyle/>
        <a:p>
          <a:endParaRPr lang="zh-CN" altLang="en-US"/>
        </a:p>
      </dgm:t>
    </dgm:pt>
    <dgm:pt modelId="{806CA9A0-B443-48B8-BB40-32BB697E7937}">
      <dgm:prSet phldrT="[文本]"/>
      <dgm:spPr>
        <a:ln>
          <a:solidFill>
            <a:schemeClr val="accent2">
              <a:lumMod val="40000"/>
              <a:lumOff val="60000"/>
            </a:schemeClr>
          </a:solidFill>
        </a:ln>
      </dgm:spPr>
      <dgm:t>
        <a:bodyPr/>
        <a:lstStyle/>
        <a:p>
          <a:r>
            <a:rPr lang="zh-CN" altLang="en-US" b="1" dirty="0"/>
            <a:t>类模型</a:t>
          </a:r>
          <a:endParaRPr lang="en-US" altLang="zh-CN" b="1" dirty="0"/>
        </a:p>
        <a:p>
          <a:r>
            <a:rPr lang="zh-CN" altLang="en-US" b="1" dirty="0"/>
            <a:t>类图、协作图</a:t>
          </a:r>
        </a:p>
      </dgm:t>
    </dgm:pt>
    <dgm:pt modelId="{9F204D8A-1742-4E4C-B37A-368D377755F6}" type="parTrans" cxnId="{EC8522D1-1F20-476A-955C-49A0DFD408BB}">
      <dgm:prSet/>
      <dgm:spPr/>
      <dgm:t>
        <a:bodyPr/>
        <a:lstStyle/>
        <a:p>
          <a:endParaRPr lang="zh-CN" altLang="en-US"/>
        </a:p>
      </dgm:t>
    </dgm:pt>
    <dgm:pt modelId="{A2762A84-85B0-4E46-9052-3F6B5EAD33A4}" type="sibTrans" cxnId="{EC8522D1-1F20-476A-955C-49A0DFD408BB}">
      <dgm:prSet/>
      <dgm:spPr/>
      <dgm:t>
        <a:bodyPr/>
        <a:lstStyle/>
        <a:p>
          <a:endParaRPr lang="zh-CN" altLang="en-US"/>
        </a:p>
      </dgm:t>
    </dgm:pt>
    <dgm:pt modelId="{91AA5237-57CE-4A0E-8E4D-9FEA3FAB34E3}">
      <dgm:prSet phldrT="[文本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b="1" dirty="0"/>
            <a:t>行为模型</a:t>
          </a:r>
          <a:endParaRPr lang="en-US" altLang="zh-CN" b="1" dirty="0"/>
        </a:p>
        <a:p>
          <a:r>
            <a:rPr lang="zh-CN" altLang="en-US" b="1" dirty="0"/>
            <a:t>状态图、顺序图</a:t>
          </a:r>
        </a:p>
      </dgm:t>
    </dgm:pt>
    <dgm:pt modelId="{44AA8AD5-16F2-44A2-ABCA-FADA692B330D}" type="parTrans" cxnId="{834FA3EC-682E-4DF7-A1D1-27F8B15DC451}">
      <dgm:prSet/>
      <dgm:spPr/>
      <dgm:t>
        <a:bodyPr/>
        <a:lstStyle/>
        <a:p>
          <a:endParaRPr lang="zh-CN" altLang="en-US"/>
        </a:p>
      </dgm:t>
    </dgm:pt>
    <dgm:pt modelId="{8F4C062F-7E4A-4D86-A71A-67625141EF8A}" type="sibTrans" cxnId="{834FA3EC-682E-4DF7-A1D1-27F8B15DC451}">
      <dgm:prSet/>
      <dgm:spPr/>
      <dgm:t>
        <a:bodyPr/>
        <a:lstStyle/>
        <a:p>
          <a:endParaRPr lang="zh-CN" altLang="en-US"/>
        </a:p>
      </dgm:t>
    </dgm:pt>
    <dgm:pt modelId="{805C21B0-6728-4FED-AC63-779757293FB9}">
      <dgm:prSet phldrT="[文本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b="1" dirty="0"/>
            <a:t>流模型</a:t>
          </a:r>
          <a:endParaRPr lang="en-US" altLang="zh-CN" b="1" dirty="0"/>
        </a:p>
        <a:p>
          <a:r>
            <a:rPr lang="zh-CN" altLang="en-US" b="1" dirty="0"/>
            <a:t>数据流图、数据模型</a:t>
          </a:r>
        </a:p>
      </dgm:t>
    </dgm:pt>
    <dgm:pt modelId="{F0E9CCD7-6732-4DBD-9EA2-9CD9BBC5AB04}" type="parTrans" cxnId="{0EF8F8AD-A9D2-40A9-8BF9-8FFA2F749688}">
      <dgm:prSet/>
      <dgm:spPr/>
      <dgm:t>
        <a:bodyPr/>
        <a:lstStyle/>
        <a:p>
          <a:endParaRPr lang="zh-CN" altLang="en-US"/>
        </a:p>
      </dgm:t>
    </dgm:pt>
    <dgm:pt modelId="{E64DDBE2-658B-433C-ACAB-D078E5029AC8}" type="sibTrans" cxnId="{0EF8F8AD-A9D2-40A9-8BF9-8FFA2F749688}">
      <dgm:prSet/>
      <dgm:spPr/>
      <dgm:t>
        <a:bodyPr/>
        <a:lstStyle/>
        <a:p>
          <a:endParaRPr lang="zh-CN" altLang="en-US"/>
        </a:p>
      </dgm:t>
    </dgm:pt>
    <dgm:pt modelId="{009D003E-6F57-4ED4-B2C1-7B1A45CAF03E}" type="pres">
      <dgm:prSet presAssocID="{E089D511-E06D-4AB3-A2AB-293322FFB368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98B8810-7403-4A48-9CBF-65CD5DA1AE55}" type="pres">
      <dgm:prSet presAssocID="{E089D511-E06D-4AB3-A2AB-293322FFB368}" presName="matrix" presStyleCnt="0"/>
      <dgm:spPr/>
    </dgm:pt>
    <dgm:pt modelId="{3E1DC590-E047-483E-A5FB-CA715A869508}" type="pres">
      <dgm:prSet presAssocID="{E089D511-E06D-4AB3-A2AB-293322FFB368}" presName="tile1" presStyleLbl="node1" presStyleIdx="0" presStyleCnt="4"/>
      <dgm:spPr/>
    </dgm:pt>
    <dgm:pt modelId="{CC908FED-0DE6-4AFC-A02A-FA7628941B24}" type="pres">
      <dgm:prSet presAssocID="{E089D511-E06D-4AB3-A2AB-293322FFB368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7110266-8A1C-4253-8892-BFDC24BDA96B}" type="pres">
      <dgm:prSet presAssocID="{E089D511-E06D-4AB3-A2AB-293322FFB368}" presName="tile2" presStyleLbl="node1" presStyleIdx="1" presStyleCnt="4" custLinFactNeighborX="31678" custLinFactNeighborY="-62861"/>
      <dgm:spPr/>
    </dgm:pt>
    <dgm:pt modelId="{6868A89F-7B77-45A4-8FA8-A05289C4CCA7}" type="pres">
      <dgm:prSet presAssocID="{E089D511-E06D-4AB3-A2AB-293322FFB368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24FB729-C6E4-459B-B60F-11304691DFC8}" type="pres">
      <dgm:prSet presAssocID="{E089D511-E06D-4AB3-A2AB-293322FFB368}" presName="tile3" presStyleLbl="node1" presStyleIdx="2" presStyleCnt="4"/>
      <dgm:spPr/>
    </dgm:pt>
    <dgm:pt modelId="{5268E05C-44CE-47F6-BE92-A7C22300A7DE}" type="pres">
      <dgm:prSet presAssocID="{E089D511-E06D-4AB3-A2AB-293322FFB368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C9680C2-4652-4E04-8178-D7DC9FB5D5A4}" type="pres">
      <dgm:prSet presAssocID="{E089D511-E06D-4AB3-A2AB-293322FFB368}" presName="tile4" presStyleLbl="node1" presStyleIdx="3" presStyleCnt="4"/>
      <dgm:spPr/>
    </dgm:pt>
    <dgm:pt modelId="{4B0D072E-0907-4855-B8AF-030A28F38E4B}" type="pres">
      <dgm:prSet presAssocID="{E089D511-E06D-4AB3-A2AB-293322FFB368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5BC617DE-3463-4001-B292-20C1C4166A13}" type="pres">
      <dgm:prSet presAssocID="{E089D511-E06D-4AB3-A2AB-293322FFB368}" presName="centerTile" presStyleLbl="fgShp" presStyleIdx="0" presStyleCnt="1" custScaleX="120773" custScaleY="97778">
        <dgm:presLayoutVars>
          <dgm:chMax val="0"/>
          <dgm:chPref val="0"/>
        </dgm:presLayoutVars>
      </dgm:prSet>
      <dgm:spPr/>
    </dgm:pt>
  </dgm:ptLst>
  <dgm:cxnLst>
    <dgm:cxn modelId="{E189F32B-3737-4D52-A693-B47389BDECB0}" type="presOf" srcId="{805C21B0-6728-4FED-AC63-779757293FB9}" destId="{4B0D072E-0907-4855-B8AF-030A28F38E4B}" srcOrd="1" destOrd="0" presId="urn:microsoft.com/office/officeart/2005/8/layout/matrix1"/>
    <dgm:cxn modelId="{368F6961-040C-4885-B165-A3B95BEE098A}" type="presOf" srcId="{91AA5237-57CE-4A0E-8E4D-9FEA3FAB34E3}" destId="{5268E05C-44CE-47F6-BE92-A7C22300A7DE}" srcOrd="1" destOrd="0" presId="urn:microsoft.com/office/officeart/2005/8/layout/matrix1"/>
    <dgm:cxn modelId="{69F7F847-9A20-491B-8426-77A7CF087B5F}" type="presOf" srcId="{7B2E9B0D-7DAF-41C8-B00F-597668B933AA}" destId="{5BC617DE-3463-4001-B292-20C1C4166A13}" srcOrd="0" destOrd="0" presId="urn:microsoft.com/office/officeart/2005/8/layout/matrix1"/>
    <dgm:cxn modelId="{374DFB4B-B83A-4125-9983-31530D846911}" srcId="{E089D511-E06D-4AB3-A2AB-293322FFB368}" destId="{7B2E9B0D-7DAF-41C8-B00F-597668B933AA}" srcOrd="0" destOrd="0" parTransId="{4B5E036F-0788-4B60-B636-C36320DBF5AE}" sibTransId="{316DCEFA-53D4-48C1-B7B5-B6C08459579C}"/>
    <dgm:cxn modelId="{081F1B83-5E69-498B-9E54-7BCB6ED48689}" type="presOf" srcId="{3CE7C138-751C-46D3-9A4A-1D9197839AE8}" destId="{3E1DC590-E047-483E-A5FB-CA715A869508}" srcOrd="0" destOrd="0" presId="urn:microsoft.com/office/officeart/2005/8/layout/matrix1"/>
    <dgm:cxn modelId="{0D6C8E89-6F13-47B8-AFF2-24635E6CA561}" type="presOf" srcId="{806CA9A0-B443-48B8-BB40-32BB697E7937}" destId="{B7110266-8A1C-4253-8892-BFDC24BDA96B}" srcOrd="0" destOrd="0" presId="urn:microsoft.com/office/officeart/2005/8/layout/matrix1"/>
    <dgm:cxn modelId="{34C72B8C-1BCD-44BE-B98A-27934BEA0F7F}" type="presOf" srcId="{806CA9A0-B443-48B8-BB40-32BB697E7937}" destId="{6868A89F-7B77-45A4-8FA8-A05289C4CCA7}" srcOrd="1" destOrd="0" presId="urn:microsoft.com/office/officeart/2005/8/layout/matrix1"/>
    <dgm:cxn modelId="{BA39AC8C-E39E-4F72-8513-BA0309C0D75F}" type="presOf" srcId="{805C21B0-6728-4FED-AC63-779757293FB9}" destId="{AC9680C2-4652-4E04-8178-D7DC9FB5D5A4}" srcOrd="0" destOrd="0" presId="urn:microsoft.com/office/officeart/2005/8/layout/matrix1"/>
    <dgm:cxn modelId="{ABB131AB-C79C-469F-ADD5-AE0D3CF9B25D}" type="presOf" srcId="{91AA5237-57CE-4A0E-8E4D-9FEA3FAB34E3}" destId="{424FB729-C6E4-459B-B60F-11304691DFC8}" srcOrd="0" destOrd="0" presId="urn:microsoft.com/office/officeart/2005/8/layout/matrix1"/>
    <dgm:cxn modelId="{0EF8F8AD-A9D2-40A9-8BF9-8FFA2F749688}" srcId="{7B2E9B0D-7DAF-41C8-B00F-597668B933AA}" destId="{805C21B0-6728-4FED-AC63-779757293FB9}" srcOrd="3" destOrd="0" parTransId="{F0E9CCD7-6732-4DBD-9EA2-9CD9BBC5AB04}" sibTransId="{E64DDBE2-658B-433C-ACAB-D078E5029AC8}"/>
    <dgm:cxn modelId="{EC8522D1-1F20-476A-955C-49A0DFD408BB}" srcId="{7B2E9B0D-7DAF-41C8-B00F-597668B933AA}" destId="{806CA9A0-B443-48B8-BB40-32BB697E7937}" srcOrd="1" destOrd="0" parTransId="{9F204D8A-1742-4E4C-B37A-368D377755F6}" sibTransId="{A2762A84-85B0-4E46-9052-3F6B5EAD33A4}"/>
    <dgm:cxn modelId="{4EFD27DC-08C8-4087-9721-492DF0AAA8D6}" type="presOf" srcId="{3CE7C138-751C-46D3-9A4A-1D9197839AE8}" destId="{CC908FED-0DE6-4AFC-A02A-FA7628941B24}" srcOrd="1" destOrd="0" presId="urn:microsoft.com/office/officeart/2005/8/layout/matrix1"/>
    <dgm:cxn modelId="{834FA3EC-682E-4DF7-A1D1-27F8B15DC451}" srcId="{7B2E9B0D-7DAF-41C8-B00F-597668B933AA}" destId="{91AA5237-57CE-4A0E-8E4D-9FEA3FAB34E3}" srcOrd="2" destOrd="0" parTransId="{44AA8AD5-16F2-44A2-ABCA-FADA692B330D}" sibTransId="{8F4C062F-7E4A-4D86-A71A-67625141EF8A}"/>
    <dgm:cxn modelId="{98D467F9-1431-4787-BB33-54E8C93BDD78}" type="presOf" srcId="{E089D511-E06D-4AB3-A2AB-293322FFB368}" destId="{009D003E-6F57-4ED4-B2C1-7B1A45CAF03E}" srcOrd="0" destOrd="0" presId="urn:microsoft.com/office/officeart/2005/8/layout/matrix1"/>
    <dgm:cxn modelId="{D77097FE-CFEA-4323-9FC0-CE4E1378DBED}" srcId="{7B2E9B0D-7DAF-41C8-B00F-597668B933AA}" destId="{3CE7C138-751C-46D3-9A4A-1D9197839AE8}" srcOrd="0" destOrd="0" parTransId="{1635F4F1-D172-43E4-AFFE-A86567E03CBF}" sibTransId="{B474F0B7-9810-4C4D-A8FD-47A8F0F03C44}"/>
    <dgm:cxn modelId="{C0FA734F-C917-4F30-98B6-663E9215CACC}" type="presParOf" srcId="{009D003E-6F57-4ED4-B2C1-7B1A45CAF03E}" destId="{898B8810-7403-4A48-9CBF-65CD5DA1AE55}" srcOrd="0" destOrd="0" presId="urn:microsoft.com/office/officeart/2005/8/layout/matrix1"/>
    <dgm:cxn modelId="{ACCFC236-D0B8-432C-9F6C-20241582524F}" type="presParOf" srcId="{898B8810-7403-4A48-9CBF-65CD5DA1AE55}" destId="{3E1DC590-E047-483E-A5FB-CA715A869508}" srcOrd="0" destOrd="0" presId="urn:microsoft.com/office/officeart/2005/8/layout/matrix1"/>
    <dgm:cxn modelId="{B00CD350-8B23-4804-B6D7-0DE0701F4D39}" type="presParOf" srcId="{898B8810-7403-4A48-9CBF-65CD5DA1AE55}" destId="{CC908FED-0DE6-4AFC-A02A-FA7628941B24}" srcOrd="1" destOrd="0" presId="urn:microsoft.com/office/officeart/2005/8/layout/matrix1"/>
    <dgm:cxn modelId="{3A38A153-F503-4694-A2C5-96255929058F}" type="presParOf" srcId="{898B8810-7403-4A48-9CBF-65CD5DA1AE55}" destId="{B7110266-8A1C-4253-8892-BFDC24BDA96B}" srcOrd="2" destOrd="0" presId="urn:microsoft.com/office/officeart/2005/8/layout/matrix1"/>
    <dgm:cxn modelId="{5E7B6A8F-98E3-495E-BDD9-40B1859AD9B1}" type="presParOf" srcId="{898B8810-7403-4A48-9CBF-65CD5DA1AE55}" destId="{6868A89F-7B77-45A4-8FA8-A05289C4CCA7}" srcOrd="3" destOrd="0" presId="urn:microsoft.com/office/officeart/2005/8/layout/matrix1"/>
    <dgm:cxn modelId="{16D4B589-D105-4292-9517-3AF74CADBCCF}" type="presParOf" srcId="{898B8810-7403-4A48-9CBF-65CD5DA1AE55}" destId="{424FB729-C6E4-459B-B60F-11304691DFC8}" srcOrd="4" destOrd="0" presId="urn:microsoft.com/office/officeart/2005/8/layout/matrix1"/>
    <dgm:cxn modelId="{5BC40AC6-F4A6-462A-9CDA-6C695380340C}" type="presParOf" srcId="{898B8810-7403-4A48-9CBF-65CD5DA1AE55}" destId="{5268E05C-44CE-47F6-BE92-A7C22300A7DE}" srcOrd="5" destOrd="0" presId="urn:microsoft.com/office/officeart/2005/8/layout/matrix1"/>
    <dgm:cxn modelId="{B43FB031-62D0-461E-BB21-E538B1EEF1E9}" type="presParOf" srcId="{898B8810-7403-4A48-9CBF-65CD5DA1AE55}" destId="{AC9680C2-4652-4E04-8178-D7DC9FB5D5A4}" srcOrd="6" destOrd="0" presId="urn:microsoft.com/office/officeart/2005/8/layout/matrix1"/>
    <dgm:cxn modelId="{BABB1F35-0642-4B21-A0AD-BED88901BF1A}" type="presParOf" srcId="{898B8810-7403-4A48-9CBF-65CD5DA1AE55}" destId="{4B0D072E-0907-4855-B8AF-030A28F38E4B}" srcOrd="7" destOrd="0" presId="urn:microsoft.com/office/officeart/2005/8/layout/matrix1"/>
    <dgm:cxn modelId="{5979787B-97AF-421B-ADE5-0C2E45D4DE45}" type="presParOf" srcId="{009D003E-6F57-4ED4-B2C1-7B1A45CAF03E}" destId="{5BC617DE-3463-4001-B292-20C1C4166A1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DC590-E047-483E-A5FB-CA715A869508}">
      <dsp:nvSpPr>
        <dsp:cNvPr id="0" name=""/>
        <dsp:cNvSpPr/>
      </dsp:nvSpPr>
      <dsp:spPr>
        <a:xfrm rot="16200000">
          <a:off x="432048" y="-432048"/>
          <a:ext cx="1548172" cy="2412268"/>
        </a:xfrm>
        <a:prstGeom prst="round1Rect">
          <a:avLst/>
        </a:prstGeom>
        <a:solidFill>
          <a:schemeClr val="dk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dk1"/>
        </a:fillRef>
        <a:effectRef idx="1">
          <a:schemeClr val="dk1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基于场景的模型</a:t>
          </a:r>
          <a:endParaRPr lang="en-US" altLang="zh-CN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用例、用户故事</a:t>
          </a:r>
        </a:p>
      </dsp:txBody>
      <dsp:txXfrm rot="5400000">
        <a:off x="0" y="0"/>
        <a:ext cx="2412268" cy="1161129"/>
      </dsp:txXfrm>
    </dsp:sp>
    <dsp:sp modelId="{B7110266-8A1C-4253-8892-BFDC24BDA96B}">
      <dsp:nvSpPr>
        <dsp:cNvPr id="0" name=""/>
        <dsp:cNvSpPr/>
      </dsp:nvSpPr>
      <dsp:spPr>
        <a:xfrm>
          <a:off x="2412268" y="0"/>
          <a:ext cx="2412268" cy="1548172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类模型</a:t>
          </a:r>
          <a:endParaRPr lang="en-US" altLang="zh-CN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类图、协作图</a:t>
          </a:r>
        </a:p>
      </dsp:txBody>
      <dsp:txXfrm>
        <a:off x="2412268" y="0"/>
        <a:ext cx="2412268" cy="1161129"/>
      </dsp:txXfrm>
    </dsp:sp>
    <dsp:sp modelId="{424FB729-C6E4-459B-B60F-11304691DFC8}">
      <dsp:nvSpPr>
        <dsp:cNvPr id="0" name=""/>
        <dsp:cNvSpPr/>
      </dsp:nvSpPr>
      <dsp:spPr>
        <a:xfrm rot="10800000">
          <a:off x="0" y="1548172"/>
          <a:ext cx="2412268" cy="1548172"/>
        </a:xfrm>
        <a:prstGeom prst="round1Rect">
          <a:avLst/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行为模型</a:t>
          </a:r>
          <a:endParaRPr lang="en-US" altLang="zh-CN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状态图、顺序图</a:t>
          </a:r>
        </a:p>
      </dsp:txBody>
      <dsp:txXfrm rot="10800000">
        <a:off x="0" y="1935214"/>
        <a:ext cx="2412268" cy="1161129"/>
      </dsp:txXfrm>
    </dsp:sp>
    <dsp:sp modelId="{AC9680C2-4652-4E04-8178-D7DC9FB5D5A4}">
      <dsp:nvSpPr>
        <dsp:cNvPr id="0" name=""/>
        <dsp:cNvSpPr/>
      </dsp:nvSpPr>
      <dsp:spPr>
        <a:xfrm rot="5400000">
          <a:off x="2844316" y="1116123"/>
          <a:ext cx="1548172" cy="2412268"/>
        </a:xfrm>
        <a:prstGeom prst="round1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流模型</a:t>
          </a:r>
          <a:endParaRPr lang="en-US" altLang="zh-CN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数据流图、数据模型</a:t>
          </a:r>
        </a:p>
      </dsp:txBody>
      <dsp:txXfrm rot="-5400000">
        <a:off x="2412268" y="1935214"/>
        <a:ext cx="2412268" cy="1161129"/>
      </dsp:txXfrm>
    </dsp:sp>
    <dsp:sp modelId="{5BC617DE-3463-4001-B292-20C1C4166A13}">
      <dsp:nvSpPr>
        <dsp:cNvPr id="0" name=""/>
        <dsp:cNvSpPr/>
      </dsp:nvSpPr>
      <dsp:spPr>
        <a:xfrm>
          <a:off x="1538257" y="1169729"/>
          <a:ext cx="1748021" cy="756885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软件需求</a:t>
          </a:r>
        </a:p>
      </dsp:txBody>
      <dsp:txXfrm>
        <a:off x="1575205" y="1206677"/>
        <a:ext cx="1674125" cy="682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076F0-B592-4CD5-87F1-B5BA3430E1E7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C774E-A6AE-457F-8F0D-EEFEF4E91E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80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F0A6F37-CD93-E6B7-711C-7B54A1C3AB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D0020E8-FD60-CDE8-A3DD-E528F910BB9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域分析是正在进行的软件工程活动，与任何一个软件项目无关。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2A4F85C-1DD8-6065-6C95-79CA345628E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4517E9E-F087-D4CA-6748-AF104482858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AD7C8DC-9605-4A14-B442-F06C75D222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B3ECD33-873B-89E5-9A6D-4528396961E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w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w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F0E70-D940-0176-B249-25FCE9C7E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AA1FDA-99A9-F1F2-0409-4E1B50BCC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DC15F3-33EA-BD22-A87C-21698B9E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48CA7-6364-13C5-CEDD-0AAC413A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A46588-8153-F133-DE64-4DC86A25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55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A363B-1D33-15C8-C1EB-0D933E71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53DC2A-DD39-825C-B857-58D2FB20D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CC7458-78C8-2CA8-ABA9-771668F8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B82E5-4DCB-52AD-6C68-899D7573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DFD4B-5FE6-26E0-E842-118DD2D9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10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29E3A-594C-9C6B-5C1F-21FD936F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9CED6D-FA81-2FC6-CFB7-5BD6B1393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A2F1AF-0406-2098-FE4B-BE414671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8CC200-8609-12E9-23BF-026C6D4C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D640F-07C8-675D-C63C-B2E9F6AC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96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884F7-7195-C263-D3E5-6BD2B236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00F702-455D-F609-48C0-D1FF8866A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6999CD-8375-654A-989F-BE3F7C83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205F8D-A084-8F65-A09B-D21651F9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4E62D-35C5-FC25-6F5F-57E86575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F6372A-B969-8750-A772-B4481F54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57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BC2EA-B8C0-CD4F-41E2-C286787C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1B728D-064E-2782-3553-12D5B3DBB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D67EBA-1F48-C0BE-8391-BC04AEAC6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2FFEC3-4D59-9600-B9B2-03B90C547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7DB737-34F6-C205-FF72-8987A19E9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01A084-4849-8A34-FB03-86B99821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F6F435-9005-BB91-EA22-B2CC206E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6CB59F-22D3-F64A-00B5-1120ABE95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72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6DE30-7EEE-11E2-B7FF-BE89A230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AE1274-4E1E-5AF8-742A-CBD7224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68E329-1145-90B0-463A-87B1D517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8DF367-859D-D97B-0013-14E4CFA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9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DDC632-F768-F790-CBE0-D169342C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F5ABB5-B30D-E4B3-DB7B-F9ED8708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F4BBF-580C-4EDF-F087-6600CF83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98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B6C11-A5A4-F9FB-DC2D-DB47B4C9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1C5BF-FCD3-7FFA-FEED-8B92BEB71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F22559-F276-2384-787F-53917B1FD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5DC2E7-AF98-E7B4-7FB1-6D55B071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592BCF-A3A5-C756-51A3-4EC6C8AA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F492FB-3C3E-4478-7746-977C96BE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25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886CA-97BB-40E4-9632-9EF89FB3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9DEF75-3E05-4DA1-013C-B3EC7FEEC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2B8315-0D00-A604-871B-40D7E64DB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32F8AC-406A-021E-79F9-89D8526C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C4EF9D-0F8B-9647-37F7-5DE00BF1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3E54BA-D092-CBD1-32E1-ECCE4F60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07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D403A-F643-5F24-4990-92FC3B74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55F22F-5C84-91A7-8B9D-4B321A1F9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1E648-E0A1-2321-7736-60891CF9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E36CCB-1056-C14B-085C-1B8774DD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90006D-BF10-C80E-C047-D183ED83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70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5531AF-F1A0-7D35-98BF-902E205A5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47CA38-F3E4-9C73-1076-5381A78E0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DAF49-9A59-048E-C601-6F25D397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8F030-B7E2-7E4A-DBF0-0461D01E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5E7E88-DC26-5D1A-8439-DD8D1523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399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B236C928-65E4-BF2D-EE0F-EBDC26F10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C05CF3CD-BD10-AD59-3529-1CBA83C7A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D3344590-D04E-84B7-3E76-96A40D06B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9031344A-7925-C158-B0C0-CBB0D99F1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ShockwaveFlash1">
            <a:extLst>
              <a:ext uri="{FF2B5EF4-FFF2-40B4-BE49-F238E27FC236}">
                <a16:creationId xmlns:a16="http://schemas.microsoft.com/office/drawing/2014/main" id="{896718EF-0B16-CF33-214A-62388642091E}"/>
              </a:ext>
            </a:extLst>
          </p:cNvPr>
          <p:cNvPicPr preferRelativeResize="0">
            <a:picLocks noChangeArrowheads="1" noChangeShapeType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934" y="6524625"/>
            <a:ext cx="124883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7C3F10F-A372-674B-941D-C97A5E8DE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ED6A8-3FF8-4BCB-A375-8512E6614A67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1736DDF-E4E6-FB18-12E6-8EA1C4BA86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3B043FD-AF1F-DF63-4D45-5B33137CE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908BDFC3-5D5A-4E17-B757-8D8CF4BC95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626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626AC1-1A8B-F6F3-8F16-158421718B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793D7-AD3C-4AEE-AA09-2506EA0F4F79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F19C63-4F12-2F46-14E3-7947E29ACA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BB7AC5-3C11-3A70-03B2-00FF2652B9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CA92F8-6DF8-4097-8F2E-88AA9236D9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06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B77F77-1BB4-8B9E-B9BB-881D31B2B1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9B561-D12A-4D65-8E31-D01912BA94EB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6BF74C-B1D1-A954-DB5D-F41C83F978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46454A-49B4-36C5-0660-7B237B5A74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309D22-36CE-4C71-8407-D4082F5A15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981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8E591-CC68-CB24-DD2F-E247250160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EAA7C-FF95-4D1A-ABDB-D15E77EF3DF9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B1B89-864C-7D8F-2514-C4A6BB3942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40466B-1E41-4EEE-06F4-883CC7F116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9680A8-A291-4C52-A207-69F75817A2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9500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2048A6-1146-BD15-B7AD-0D0CEC1228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0245F7-BED8-4CF2-8D82-ED90CA71F628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68BBA-FC71-BB5C-71F4-527F6896E5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91BC605-27CE-1E4D-0063-55F9D44488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8F6AF-E101-4EA7-B2FD-934BC296399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568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EB44BFA-3F1D-2E49-C253-485DFA93C8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78E58-B4CE-4298-B8AE-1CD7EA172246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C34186-2D8A-293D-80F7-1A6C59188F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FABB64-50F0-B471-5569-972BAD2E5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964CA-4E3A-4FF0-8B3E-538FAA803B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246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3B232FB-7AB9-788B-EA00-589CDF5EE5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9717D-C440-4893-A565-7A9294361B8D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BAAB00-F517-DCCE-1D30-730044787B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6C4CD1A-7123-2544-517F-409A4B299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594CCA-CEA1-45AB-96F8-510720A977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666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8D8E01-BF70-3382-7183-FF8CB6956F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8C36E3-2A13-4F05-871B-27F0FAA1B7D5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4D9E1E-6D3B-9689-0AE6-161A05E8F4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710F7-7C4B-BE4F-83A5-4F0BA7D99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171A4-7036-448F-9506-78A8CBF730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7879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B8CF2-7E97-203D-8121-D31C2067E6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B4019-E2A5-4456-B2BA-3E2E0412C22D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9CA0B-F778-EFBA-CB54-10A00110AD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6D4540-0755-E358-FAA0-866866D49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FCA4A5-8170-4910-BB66-1E389FEDB9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548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53FDC3-EB14-2F3F-05F3-B07E957941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77000-0206-4444-BCC4-67EFA7DC9784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5BF6F1-2616-DD17-8AF0-5C275B4AE1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996CCB-6175-04A5-3D80-D2530F3D1D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11E8F7-392F-4AAB-A9FD-CD6CBCEC7B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978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5D366B-1702-AF15-1D00-83BCADF6FD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87DDA-5961-4058-A70B-2CF8A4CF6200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59C6E2-000F-9B1B-2B8F-146DC2ECC1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854628-52F8-BF97-9AE1-E1C1A43420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139A06-A1AA-49BD-9322-76E2CEDE20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7384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D3A60C-34A2-5740-39E7-9EF4469E50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A98A5-93C0-4C20-B14C-CB2C10E507DF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65A121D-3082-D376-3CAF-6E85BD04F2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31E73C1-1D7F-24AC-C05B-ACC3003938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EBE98B-E955-4391-8167-A8B5CD7232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7457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558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55444-E7F0-DF62-3B0D-992CEE9337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6D45A-E441-40BC-B2BF-35C5B942A220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7918B-F337-42E8-310B-6DF5E74CC8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20BD1-2ED1-6D3C-3353-C790C232BA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2A135-7820-4938-BC9F-6466D8AE0A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78855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610B9873-89EE-DC6B-AD84-704A837F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F085FC9C-E4DA-9A8E-8E60-DA7CD0992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E2939C6A-8214-CE4E-3E9B-28E2BDED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DD7C911B-21B5-E3B4-D0ED-EE83533CD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ShockwaveFlash1">
            <a:extLst>
              <a:ext uri="{FF2B5EF4-FFF2-40B4-BE49-F238E27FC236}">
                <a16:creationId xmlns:a16="http://schemas.microsoft.com/office/drawing/2014/main" id="{783FD6CA-3321-1703-8CC4-073EB00531B5}"/>
              </a:ext>
            </a:extLst>
          </p:cNvPr>
          <p:cNvPicPr preferRelativeResize="0">
            <a:picLocks noChangeArrowheads="1" noChangeShapeType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934" y="6524625"/>
            <a:ext cx="124883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B6A02A0-CE69-40E6-EAEB-AC94114F3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50757-ADAF-4BD3-B3C5-B05173C104A2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260854E-C51A-B3CE-D4E2-564E2A6023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8397D2B-1DB2-70B9-C14F-5B12F2FFB7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D8115003-E823-4DA4-9CED-A80F25465B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0567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A49979-E361-5B0C-C542-E0BBBFDA3E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E99BD-3A35-4B06-B349-3CB67C3D1473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7A647E-432F-BBA8-A48F-59A449E7F6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A634EE-1242-1B79-4C3F-418DA43F1E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D47FC0-05B5-4348-94BC-BD1BE9BEED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79964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947779-694B-15BC-FB8F-28FB7F5326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C252A-EB9A-4AE2-8A24-8938EAFCD984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F31069-5347-9970-21EC-CDAEFDE0C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A153D8-5896-8344-87C2-68F60AC4C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8408FA-0F7D-4988-90FE-8EE324B5FE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445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5C151-CAF1-35FE-BB20-5E3D6F292C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E07B8-7FF8-471A-9DCC-C7C695CB6EA7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80378-F591-9BB2-C9A2-8CF14AA8A3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E6B50-050E-EAED-0FE0-5E5271D7E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A17A93-72C7-4122-90C6-AF8960CF65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969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89F0A1-FD1B-7E1C-AD98-6E399B92ED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94B580-9454-43B4-8419-DB4701EDEA92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FF3050E-C5E9-3F36-00F4-9CCFE938F1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5DAE8E2-DD0E-2DE9-9A12-102712A6E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5DD6B-980A-4ABD-B4A5-81BDBDC1A1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45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1D92B2-D8BA-3225-2637-ACCCD2051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A8C76-AD11-42C4-9123-8E71436FDC5B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8ED682-AC87-04F3-74E9-5E8923D61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13505B-A98C-C9F7-7B11-5828865E2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3B1883-2EFE-48D6-8DBC-3E22E02E7E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080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B43C84B-F1A9-EE58-1FFF-3CCF04A659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0C883-DEBD-44BF-B03C-D1FD51612EB4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C790457-79AB-1649-DFE6-D3A69EFF3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67DEE0-D08A-6DE7-650A-35CFFA5201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8DA477-2EA1-44CC-B244-13689EAE6F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003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5F745-980B-E0A2-71DB-22CB2561DF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7D7B3-102C-4293-981B-84EC6A773ACA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669BB-4B80-5CED-9534-FED7E18B3A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284ACD-C4E0-E704-0094-B7F2CBFE9F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608DA-3BCD-44E0-A438-F275228A4C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125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50711D-C597-4488-B80A-6238C1EA3C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A22B7-DF46-4879-84E4-E1B18A549568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1C9A0F-CC9F-47E7-9E8C-8238DD0F6C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DFDFD-025A-54CC-76CB-F84CD3B4A4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CE7CCF-3BF2-4283-B90F-8981CEF0CE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92478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4312DA-0B09-05FA-F650-B54088FC63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48139-D1B8-4CF9-A8B9-BFEC001BCCEC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9664CA-4049-9333-B847-34A22C7842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05270F-E545-A797-8B1D-7F780DE39A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EDD8DD-D0A7-4FF5-9038-E8547141D6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7398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003E61-DA5D-D9D9-5800-D150A743E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FF70C-A9BB-43BD-99C1-74CE13845960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CEC230-F7D9-D011-46B6-1885DA035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70F8DC-DE34-B423-1CCB-0DA33041E5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7BDADB-FA48-4568-94C0-5EF74A3AFA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76303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0203A3-F1B0-1382-2460-F48E9B1D97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778D6-176F-4FB1-969E-4B7C232B6E22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C3EFAB3-ED78-3A8C-A1B3-BE839CEB93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9A1F60-D523-288F-EFD1-FB8521A6C2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A0E7CD-0266-4D03-B57C-AC7C24A52E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3207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558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486774-DE0B-A8A1-DE7A-E63EA49DC3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5A776-C41E-4957-8BE0-CBAE33E4A825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D15F9-CA6D-FF0F-D001-2E6BD0DB0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76BB4-D75F-8515-C6D6-E3A819286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EF55C-5D63-4411-BA8D-2032562E44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043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81FF61-CA17-CDCF-55B7-BDF47697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4D0555-50B8-9397-E96F-53B00919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C572B-231D-E703-3D6E-B6A4CE62B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AC1B1-8EF0-4445-9C37-5328917D0A58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372DB-2F7E-6743-CDB7-D6E24B0D7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8562AB-FE5D-5684-9917-AFA9FF684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E6BEA-050F-4741-86C8-25DA4437D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888DF37-E5A0-2FC4-6E60-88A7D5B0F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A1496F8-A5A7-8067-0499-CC3BA2FDC7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52513"/>
            <a:ext cx="109728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7EF643AF-0E9D-8945-B73B-4EEAF379C1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45BCFC62-928A-4674-8E8B-69F1A090AA91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CFB67895-19E2-620C-95F8-2AFF800E37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6B28ADE-2F51-5F96-1439-1D9D7660DD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51917" y="623728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6D02EB9E-9D3D-4187-9F2C-8FB6D52B09D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5" name="Freeform 7">
            <a:extLst>
              <a:ext uri="{FF2B5EF4-FFF2-40B4-BE49-F238E27FC236}">
                <a16:creationId xmlns:a16="http://schemas.microsoft.com/office/drawing/2014/main" id="{9153901B-67EC-7238-79ED-44EF56BB7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2216B56D-A41B-CA66-8C8E-280456F1B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F785F39E-89A7-0968-77D3-E30D81F62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885A787-61F3-523E-6313-313033560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Text Box 11">
            <a:extLst>
              <a:ext uri="{FF2B5EF4-FFF2-40B4-BE49-F238E27FC236}">
                <a16:creationId xmlns:a16="http://schemas.microsoft.com/office/drawing/2014/main" id="{A5A20109-C8B9-5519-F094-DB7B25EA9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620714"/>
            <a:ext cx="388831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E2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软件工程</a:t>
            </a:r>
          </a:p>
        </p:txBody>
      </p:sp>
    </p:spTree>
    <p:extLst>
      <p:ext uri="{BB962C8B-B14F-4D97-AF65-F5344CB8AC3E}">
        <p14:creationId xmlns:p14="http://schemas.microsoft.com/office/powerpoint/2010/main" val="47804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  <a:cs typeface="宋体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409C6B-EC4B-6F44-F8C0-D04D324D1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5670615-7619-94B2-2E39-AAB556616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52513"/>
            <a:ext cx="109728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0A6D4FF5-457B-6121-3A81-7E73706DED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57696DB9-CF6F-4CDE-8BBF-823C6996F94B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52B7B50D-7781-5299-D37F-1ECAF6E3D6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76184" y="623728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60A3CD30-FA99-E457-51E0-F7D041DB17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90533" y="623728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7A9A4748-1D4A-4B0D-BEA0-C744A25B8C1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5" name="Freeform 7">
            <a:extLst>
              <a:ext uri="{FF2B5EF4-FFF2-40B4-BE49-F238E27FC236}">
                <a16:creationId xmlns:a16="http://schemas.microsoft.com/office/drawing/2014/main" id="{B46D6A31-B922-DE4D-D503-7B2BB3112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B006B643-3B7A-0540-4698-4B985E2E2F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FADF164B-5843-DC18-267E-D692EA075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0DFBA385-ED05-9A34-6705-2A8837E00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Text Box 11">
            <a:extLst>
              <a:ext uri="{FF2B5EF4-FFF2-40B4-BE49-F238E27FC236}">
                <a16:creationId xmlns:a16="http://schemas.microsoft.com/office/drawing/2014/main" id="{206B429F-A300-7C43-EB8F-98B3B99E8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620714"/>
            <a:ext cx="388831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E2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软件工程</a:t>
            </a:r>
          </a:p>
        </p:txBody>
      </p:sp>
    </p:spTree>
    <p:extLst>
      <p:ext uri="{BB962C8B-B14F-4D97-AF65-F5344CB8AC3E}">
        <p14:creationId xmlns:p14="http://schemas.microsoft.com/office/powerpoint/2010/main" val="333635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  <a:cs typeface="宋体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>
            <a:extLst>
              <a:ext uri="{FF2B5EF4-FFF2-40B4-BE49-F238E27FC236}">
                <a16:creationId xmlns:a16="http://schemas.microsoft.com/office/drawing/2014/main" id="{86AC6CAE-F720-23A5-0D9D-94F6A8A62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F89D18-2015-474A-806F-686E738E025B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B9DDE39-6FBF-DF6F-5250-E9C7FB157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A57E680-4D94-8A62-37E7-F3DDD2BAD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57339"/>
            <a:ext cx="8229600" cy="457358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3200">
                <a:solidFill>
                  <a:srgbClr val="FF0000"/>
                </a:solidFill>
              </a:rPr>
              <a:t>8.1 </a:t>
            </a:r>
            <a:r>
              <a:rPr lang="zh-CN" altLang="en-US" sz="3200">
                <a:solidFill>
                  <a:srgbClr val="FF0000"/>
                </a:solidFill>
              </a:rPr>
              <a:t>需求分析</a:t>
            </a:r>
          </a:p>
          <a:p>
            <a:pPr>
              <a:lnSpc>
                <a:spcPct val="200000"/>
              </a:lnSpc>
            </a:pPr>
            <a:r>
              <a:rPr lang="en-US" altLang="zh-CN" sz="3200"/>
              <a:t>8.2 </a:t>
            </a:r>
            <a:r>
              <a:rPr lang="zh-CN" altLang="en-US" sz="3200"/>
              <a:t>基于场景建模</a:t>
            </a:r>
          </a:p>
          <a:p>
            <a:pPr>
              <a:lnSpc>
                <a:spcPct val="200000"/>
              </a:lnSpc>
            </a:pPr>
            <a:r>
              <a:rPr lang="en-US" altLang="zh-CN" sz="3200"/>
              <a:t>8.3 </a:t>
            </a:r>
            <a:r>
              <a:rPr lang="zh-CN" altLang="en-US" sz="3200"/>
              <a:t>补充用例的</a:t>
            </a:r>
            <a:r>
              <a:rPr lang="en-US" altLang="zh-CN" sz="3200"/>
              <a:t>UML</a:t>
            </a:r>
            <a:r>
              <a:rPr lang="zh-CN" altLang="en-US" sz="3200"/>
              <a:t>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CE60D427-D325-0469-4B6D-285D0F8517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8134741-BAE9-422D-8548-3353433D7C50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8276D62-F901-CCDB-B66A-DE76E61E9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需求建模模型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378B626-E954-63AB-CA81-C4637D076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52513"/>
            <a:ext cx="8362950" cy="50784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500"/>
              <a:t>需求建模动作产生以下一种或多种模型类型：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场景模型</a:t>
            </a:r>
            <a:r>
              <a:rPr lang="zh-CN" altLang="en-US" sz="2200"/>
              <a:t>：出自各种系统“</a:t>
            </a:r>
            <a:r>
              <a:rPr lang="zh-CN" altLang="en-US" sz="2200">
                <a:solidFill>
                  <a:srgbClr val="FF0000"/>
                </a:solidFill>
              </a:rPr>
              <a:t>参与者</a:t>
            </a:r>
            <a:r>
              <a:rPr lang="zh-CN" altLang="en-US" sz="2200"/>
              <a:t>”</a:t>
            </a:r>
            <a:r>
              <a:rPr lang="zh-CN" altLang="en-US" sz="2200">
                <a:solidFill>
                  <a:srgbClr val="FF0000"/>
                </a:solidFill>
              </a:rPr>
              <a:t>观点</a:t>
            </a:r>
            <a:r>
              <a:rPr lang="zh-CN" altLang="en-US" sz="2200"/>
              <a:t>的需求。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数据模型</a:t>
            </a:r>
            <a:r>
              <a:rPr lang="zh-CN" altLang="en-US" sz="2200"/>
              <a:t>：描述问题</a:t>
            </a:r>
            <a:r>
              <a:rPr lang="zh-CN" altLang="en-US" sz="2200">
                <a:solidFill>
                  <a:srgbClr val="FF0000"/>
                </a:solidFill>
              </a:rPr>
              <a:t>信息域</a:t>
            </a:r>
            <a:r>
              <a:rPr lang="zh-CN" altLang="en-US" sz="2200"/>
              <a:t>的模型。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面向类的模型</a:t>
            </a:r>
            <a:r>
              <a:rPr lang="zh-CN" altLang="en-US" sz="2200"/>
              <a:t>：表示</a:t>
            </a:r>
            <a:r>
              <a:rPr lang="zh-CN" altLang="en-US" sz="2200">
                <a:solidFill>
                  <a:srgbClr val="FF0000"/>
                </a:solidFill>
              </a:rPr>
              <a:t>面向对象类</a:t>
            </a:r>
            <a:r>
              <a:rPr lang="en-US" altLang="zh-CN" sz="2200"/>
              <a:t>(</a:t>
            </a:r>
            <a:r>
              <a:rPr lang="zh-CN" altLang="en-US" sz="2200"/>
              <a:t>属性和操作</a:t>
            </a:r>
            <a:r>
              <a:rPr lang="en-US" altLang="zh-CN" sz="2200"/>
              <a:t>)</a:t>
            </a:r>
            <a:r>
              <a:rPr lang="zh-CN" altLang="en-US" sz="2200"/>
              <a:t>的模型，其方式为</a:t>
            </a:r>
            <a:r>
              <a:rPr lang="zh-CN" altLang="en-US" sz="2200">
                <a:solidFill>
                  <a:srgbClr val="FF0000"/>
                </a:solidFill>
              </a:rPr>
              <a:t>通过类的协作获得系统需求</a:t>
            </a:r>
            <a:r>
              <a:rPr lang="zh-CN" altLang="en-US" sz="2200"/>
              <a:t>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面向流程的模型</a:t>
            </a:r>
            <a:r>
              <a:rPr lang="zh-CN" altLang="en-US" sz="2200"/>
              <a:t>：表示系统的</a:t>
            </a:r>
            <a:r>
              <a:rPr lang="zh-CN" altLang="en-US" sz="2200">
                <a:solidFill>
                  <a:srgbClr val="FF0000"/>
                </a:solidFill>
              </a:rPr>
              <a:t>功能元素</a:t>
            </a:r>
            <a:r>
              <a:rPr lang="zh-CN" altLang="en-US" sz="2200"/>
              <a:t>并且描述当功能元素在系统中运行时怎样进行</a:t>
            </a:r>
            <a:r>
              <a:rPr lang="zh-CN" altLang="en-US" sz="2200">
                <a:solidFill>
                  <a:srgbClr val="FF0000"/>
                </a:solidFill>
              </a:rPr>
              <a:t>数据变换</a:t>
            </a:r>
            <a:r>
              <a:rPr lang="zh-CN" altLang="en-US" sz="2200"/>
              <a:t>的模型。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行为模型</a:t>
            </a:r>
            <a:r>
              <a:rPr lang="zh-CN" altLang="en-US" sz="2200"/>
              <a:t>：显示了软件如何对</a:t>
            </a:r>
            <a:r>
              <a:rPr lang="zh-CN" altLang="en-US" sz="2200">
                <a:solidFill>
                  <a:srgbClr val="FF0000"/>
                </a:solidFill>
              </a:rPr>
              <a:t>外部事件</a:t>
            </a:r>
            <a:r>
              <a:rPr lang="zh-CN" altLang="en-US" sz="2200"/>
              <a:t>或</a:t>
            </a:r>
            <a:r>
              <a:rPr lang="zh-CN" altLang="en-US" sz="2200">
                <a:solidFill>
                  <a:srgbClr val="FF0000"/>
                </a:solidFill>
              </a:rPr>
              <a:t>激励</a:t>
            </a:r>
            <a:r>
              <a:rPr lang="zh-CN" altLang="en-US" sz="2200"/>
              <a:t>做出相应。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7023F065-E1A8-DC1B-5F9D-D242FE14A3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5B37A8-228D-4281-9C68-4075719DE7F2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AA31186-6779-A9E0-4D3B-71FD16C35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总体目标和原理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392A557-B53A-B081-798F-14E744721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5000"/>
              </a:lnSpc>
            </a:pPr>
            <a:r>
              <a:rPr lang="zh-CN" altLang="en-US" sz="2600"/>
              <a:t>在整个需求建模过程中，软件工程师的主要</a:t>
            </a:r>
            <a:r>
              <a:rPr lang="zh-CN" altLang="en-US" sz="2600">
                <a:solidFill>
                  <a:srgbClr val="FF0000"/>
                </a:solidFill>
              </a:rPr>
              <a:t>关注点</a:t>
            </a:r>
            <a:r>
              <a:rPr lang="zh-CN" altLang="en-US" sz="2600"/>
              <a:t>集中在“</a:t>
            </a:r>
            <a:r>
              <a:rPr lang="zh-CN" altLang="en-US" sz="2600">
                <a:solidFill>
                  <a:srgbClr val="FF0000"/>
                </a:solidFill>
              </a:rPr>
              <a:t>做什么</a:t>
            </a:r>
            <a:r>
              <a:rPr lang="zh-CN" altLang="en-US" sz="2600"/>
              <a:t>”而不是“</a:t>
            </a:r>
            <a:r>
              <a:rPr lang="zh-CN" altLang="en-US" sz="2600">
                <a:solidFill>
                  <a:srgbClr val="FF0000"/>
                </a:solidFill>
              </a:rPr>
              <a:t>怎么做</a:t>
            </a:r>
            <a:r>
              <a:rPr lang="zh-CN" altLang="en-US" sz="2600"/>
              <a:t>”方面。包括：</a:t>
            </a:r>
          </a:p>
          <a:p>
            <a:pPr lvl="1">
              <a:lnSpc>
                <a:spcPct val="145000"/>
              </a:lnSpc>
            </a:pPr>
            <a:r>
              <a:rPr lang="zh-CN" altLang="en-US"/>
              <a:t>在特定环境下发生哪些用户</a:t>
            </a:r>
            <a:r>
              <a:rPr lang="zh-CN" altLang="en-US">
                <a:solidFill>
                  <a:srgbClr val="FF0000"/>
                </a:solidFill>
              </a:rPr>
              <a:t>交互</a:t>
            </a:r>
            <a:r>
              <a:rPr lang="zh-CN" altLang="en-US"/>
              <a:t>？</a:t>
            </a:r>
          </a:p>
          <a:p>
            <a:pPr lvl="1">
              <a:lnSpc>
                <a:spcPct val="145000"/>
              </a:lnSpc>
            </a:pPr>
            <a:r>
              <a:rPr lang="zh-CN" altLang="en-US"/>
              <a:t>系统处理什么</a:t>
            </a:r>
            <a:r>
              <a:rPr lang="zh-CN" altLang="en-US">
                <a:solidFill>
                  <a:srgbClr val="FF0000"/>
                </a:solidFill>
              </a:rPr>
              <a:t>对象</a:t>
            </a:r>
            <a:r>
              <a:rPr lang="zh-CN" altLang="en-US"/>
              <a:t>？</a:t>
            </a:r>
          </a:p>
          <a:p>
            <a:pPr lvl="1">
              <a:lnSpc>
                <a:spcPct val="145000"/>
              </a:lnSpc>
            </a:pPr>
            <a:r>
              <a:rPr lang="zh-CN" altLang="en-US"/>
              <a:t>系统必须执行什么</a:t>
            </a:r>
            <a:r>
              <a:rPr lang="zh-CN" altLang="en-US">
                <a:solidFill>
                  <a:srgbClr val="FF0000"/>
                </a:solidFill>
              </a:rPr>
              <a:t>功能</a:t>
            </a:r>
            <a:r>
              <a:rPr lang="zh-CN" altLang="en-US"/>
              <a:t>？</a:t>
            </a:r>
          </a:p>
          <a:p>
            <a:pPr lvl="1">
              <a:lnSpc>
                <a:spcPct val="145000"/>
              </a:lnSpc>
            </a:pPr>
            <a:r>
              <a:rPr lang="zh-CN" altLang="en-US"/>
              <a:t>系统展示什么</a:t>
            </a:r>
            <a:r>
              <a:rPr lang="zh-CN" altLang="en-US">
                <a:solidFill>
                  <a:srgbClr val="FF0000"/>
                </a:solidFill>
              </a:rPr>
              <a:t>行为</a:t>
            </a:r>
            <a:r>
              <a:rPr lang="zh-CN" altLang="en-US"/>
              <a:t>？</a:t>
            </a:r>
          </a:p>
          <a:p>
            <a:pPr lvl="1">
              <a:lnSpc>
                <a:spcPct val="145000"/>
              </a:lnSpc>
            </a:pPr>
            <a:r>
              <a:rPr lang="zh-CN" altLang="en-US"/>
              <a:t>定义什么</a:t>
            </a:r>
            <a:r>
              <a:rPr lang="zh-CN" altLang="en-US">
                <a:solidFill>
                  <a:srgbClr val="FF0000"/>
                </a:solidFill>
              </a:rPr>
              <a:t>接口</a:t>
            </a:r>
            <a:r>
              <a:rPr lang="zh-CN" altLang="en-US"/>
              <a:t>？</a:t>
            </a:r>
          </a:p>
          <a:p>
            <a:pPr lvl="1">
              <a:lnSpc>
                <a:spcPct val="145000"/>
              </a:lnSpc>
            </a:pPr>
            <a:r>
              <a:rPr lang="zh-CN" altLang="en-US"/>
              <a:t>有什么</a:t>
            </a:r>
            <a:r>
              <a:rPr lang="zh-CN" altLang="en-US">
                <a:solidFill>
                  <a:srgbClr val="FF0000"/>
                </a:solidFill>
              </a:rPr>
              <a:t>约束</a:t>
            </a:r>
            <a:r>
              <a:rPr lang="zh-CN" altLang="en-US"/>
              <a:t>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196CF839-2CCA-6F06-DEAD-E8A5A226AE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7EA5A4C-9EBE-431E-BDE2-8E8D064AD782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BBF58E2-0DAE-FA96-5855-6F5624029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总体目标和原理</a:t>
            </a: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8C7D7839-365A-BC34-EC81-D381F2ED8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需求模型的三个主要目标：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/>
              <a:t>(1) </a:t>
            </a:r>
            <a:r>
              <a:rPr lang="zh-CN" altLang="en-US" sz="2800"/>
              <a:t>描述</a:t>
            </a:r>
            <a:r>
              <a:rPr lang="zh-CN" altLang="en-US" sz="2800">
                <a:solidFill>
                  <a:srgbClr val="FF0000"/>
                </a:solidFill>
              </a:rPr>
              <a:t>客户需要</a:t>
            </a:r>
            <a:r>
              <a:rPr lang="zh-CN" altLang="en-US" sz="2800"/>
              <a:t>什么，分析正确性； </a:t>
            </a:r>
            <a:endParaRPr lang="en-US" altLang="zh-CN" sz="2800"/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/>
              <a:t>(2) </a:t>
            </a:r>
            <a:r>
              <a:rPr lang="zh-CN" altLang="en-US" sz="2800"/>
              <a:t>为软件设计</a:t>
            </a:r>
            <a:r>
              <a:rPr lang="zh-CN" altLang="en-US" sz="2800">
                <a:solidFill>
                  <a:srgbClr val="FF0000"/>
                </a:solidFill>
              </a:rPr>
              <a:t>奠定基础</a:t>
            </a:r>
            <a:r>
              <a:rPr lang="zh-CN" altLang="en-US" sz="2800"/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/>
              <a:t>(3) </a:t>
            </a:r>
            <a:r>
              <a:rPr lang="zh-CN" altLang="en-US" sz="2800"/>
              <a:t>定义在</a:t>
            </a:r>
            <a:r>
              <a:rPr lang="zh-CN" altLang="en-US" sz="2800">
                <a:solidFill>
                  <a:srgbClr val="FF0000"/>
                </a:solidFill>
              </a:rPr>
              <a:t>软件完成后</a:t>
            </a:r>
            <a:r>
              <a:rPr lang="zh-CN" altLang="en-US" sz="2800"/>
              <a:t>可以</a:t>
            </a:r>
            <a:r>
              <a:rPr lang="zh-CN" altLang="en-US" sz="2800">
                <a:solidFill>
                  <a:srgbClr val="FF0000"/>
                </a:solidFill>
              </a:rPr>
              <a:t>被确认</a:t>
            </a:r>
            <a:r>
              <a:rPr lang="zh-CN" altLang="en-US" sz="2800"/>
              <a:t>的一组</a:t>
            </a:r>
            <a:r>
              <a:rPr lang="zh-CN" altLang="en-US" sz="2800">
                <a:solidFill>
                  <a:srgbClr val="FF0000"/>
                </a:solidFill>
              </a:rPr>
              <a:t>需求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98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98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056FE0BF-9E3C-B17D-7420-ADC351420A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796BEE4-F951-4975-AAC9-AB6CBEF211CA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A7BFA83-D9FD-FF1A-CE9E-7BA2B6451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分析的经验原则</a:t>
            </a:r>
            <a:r>
              <a:rPr lang="en-US" altLang="zh-CN"/>
              <a:t>(1)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700FFE8E-320C-4F4A-E6BF-21DB92455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在</a:t>
            </a:r>
            <a:r>
              <a:rPr lang="zh-CN" altLang="en-US">
                <a:solidFill>
                  <a:srgbClr val="FF0000"/>
                </a:solidFill>
              </a:rPr>
              <a:t>创建分析模型</a:t>
            </a:r>
            <a:r>
              <a:rPr lang="zh-CN" altLang="en-US"/>
              <a:t>时应该遵循的</a:t>
            </a:r>
            <a:r>
              <a:rPr lang="zh-CN" altLang="en-US">
                <a:solidFill>
                  <a:srgbClr val="FF0000"/>
                </a:solidFill>
              </a:rPr>
              <a:t>经验原则</a:t>
            </a:r>
            <a:r>
              <a:rPr lang="zh-CN" altLang="en-US"/>
              <a:t>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模型应</a:t>
            </a:r>
            <a:r>
              <a:rPr lang="zh-CN" altLang="en-US" sz="2200">
                <a:solidFill>
                  <a:srgbClr val="FF0000"/>
                </a:solidFill>
              </a:rPr>
              <a:t>关注</a:t>
            </a:r>
            <a:r>
              <a:rPr lang="zh-CN" altLang="en-US" sz="2200"/>
              <a:t>在问题或业务域内</a:t>
            </a:r>
            <a:r>
              <a:rPr lang="zh-CN" altLang="en-US" sz="2200">
                <a:solidFill>
                  <a:srgbClr val="FF0000"/>
                </a:solidFill>
              </a:rPr>
              <a:t>可见的需求</a:t>
            </a:r>
            <a:r>
              <a:rPr lang="zh-CN" altLang="en-US" sz="2200"/>
              <a:t>，抽象的级别应该相对高一些。“</a:t>
            </a:r>
            <a:r>
              <a:rPr lang="zh-CN" altLang="en-US" sz="2200">
                <a:solidFill>
                  <a:srgbClr val="FF0000"/>
                </a:solidFill>
              </a:rPr>
              <a:t>不要陷入细节</a:t>
            </a:r>
            <a:r>
              <a:rPr lang="zh-CN" altLang="en-US" sz="2200"/>
              <a:t>”，即不要试图解释系统将如何工作。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需求模型的</a:t>
            </a:r>
            <a:r>
              <a:rPr lang="zh-CN" altLang="en-US" sz="2200">
                <a:solidFill>
                  <a:srgbClr val="FF0000"/>
                </a:solidFill>
              </a:rPr>
              <a:t>每个元素</a:t>
            </a:r>
            <a:r>
              <a:rPr lang="zh-CN" altLang="en-US" sz="2200"/>
              <a:t>都应能增加对软件需求的</a:t>
            </a:r>
            <a:r>
              <a:rPr lang="zh-CN" altLang="en-US" sz="2200">
                <a:solidFill>
                  <a:srgbClr val="FF0000"/>
                </a:solidFill>
              </a:rPr>
              <a:t>整体理解</a:t>
            </a:r>
            <a:r>
              <a:rPr lang="zh-CN" altLang="en-US" sz="2200"/>
              <a:t>，并提供对</a:t>
            </a:r>
            <a:r>
              <a:rPr lang="zh-CN" altLang="en-US" sz="2200">
                <a:solidFill>
                  <a:srgbClr val="FF0000"/>
                </a:solidFill>
              </a:rPr>
              <a:t>信息域</a:t>
            </a:r>
            <a:r>
              <a:rPr lang="zh-CN" altLang="en-US" sz="2200"/>
              <a:t>、</a:t>
            </a:r>
            <a:r>
              <a:rPr lang="zh-CN" altLang="en-US" sz="2200">
                <a:solidFill>
                  <a:srgbClr val="FF0000"/>
                </a:solidFill>
              </a:rPr>
              <a:t>功能</a:t>
            </a:r>
            <a:r>
              <a:rPr lang="zh-CN" altLang="en-US" sz="2200"/>
              <a:t>和</a:t>
            </a:r>
            <a:r>
              <a:rPr lang="zh-CN" altLang="en-US" sz="2200">
                <a:solidFill>
                  <a:srgbClr val="FF0000"/>
                </a:solidFill>
              </a:rPr>
              <a:t>系统行为</a:t>
            </a:r>
            <a:r>
              <a:rPr lang="zh-CN" altLang="en-US" sz="2200"/>
              <a:t>的深入理解。</a:t>
            </a:r>
            <a:r>
              <a:rPr lang="en-US" altLang="zh-CN" sz="2200"/>
              <a:t>(</a:t>
            </a:r>
            <a:r>
              <a:rPr lang="zh-CN" altLang="en-US" sz="2200"/>
              <a:t>存在即有用</a:t>
            </a:r>
            <a:r>
              <a:rPr lang="en-US" altLang="zh-CN" sz="2200"/>
              <a:t>)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基础结构</a:t>
            </a:r>
            <a:r>
              <a:rPr lang="zh-CN" altLang="en-US" sz="2200"/>
              <a:t>和其他</a:t>
            </a:r>
            <a:r>
              <a:rPr lang="zh-CN" altLang="en-US" sz="2200">
                <a:solidFill>
                  <a:srgbClr val="FF0000"/>
                </a:solidFill>
              </a:rPr>
              <a:t>非功能的模型</a:t>
            </a:r>
            <a:r>
              <a:rPr lang="zh-CN" altLang="en-US" sz="2200"/>
              <a:t>应</a:t>
            </a:r>
            <a:r>
              <a:rPr lang="zh-CN" altLang="en-US" sz="2200">
                <a:solidFill>
                  <a:srgbClr val="FF0000"/>
                </a:solidFill>
              </a:rPr>
              <a:t>推延</a:t>
            </a:r>
            <a:r>
              <a:rPr lang="zh-CN" altLang="en-US" sz="2200"/>
              <a:t>到设计阶段再考虑。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C1B8E752-2748-AADD-43DD-8B39ACE7D4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5B5A2BB-0F76-407B-A977-4BA25372DE6E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F4CC80B-F97F-3AD8-1C13-AF22B50D7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分析的经验原则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36715D9D-1E96-35CA-D6FC-4E2388416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9" y="1196975"/>
            <a:ext cx="8785225" cy="4933950"/>
          </a:xfrm>
        </p:spPr>
        <p:txBody>
          <a:bodyPr/>
          <a:lstStyle/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最小化</a:t>
            </a:r>
            <a:r>
              <a:rPr lang="zh-CN" altLang="en-US" sz="2200"/>
              <a:t>整个</a:t>
            </a:r>
            <a:r>
              <a:rPr lang="zh-CN" altLang="en-US" sz="2200">
                <a:solidFill>
                  <a:srgbClr val="FF0000"/>
                </a:solidFill>
              </a:rPr>
              <a:t>系统内的关联</a:t>
            </a:r>
            <a:r>
              <a:rPr lang="zh-CN" altLang="en-US" sz="2200"/>
              <a:t>。类和功能之间的联系非常重要，但是，如果“互联”的层次非常高，应该</a:t>
            </a:r>
            <a:r>
              <a:rPr lang="zh-CN" altLang="en-US" sz="2200">
                <a:solidFill>
                  <a:srgbClr val="FF0000"/>
                </a:solidFill>
              </a:rPr>
              <a:t>想办法减少互联</a:t>
            </a:r>
            <a:r>
              <a:rPr lang="zh-CN" altLang="en-US" sz="2200"/>
              <a:t>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确认</a:t>
            </a:r>
            <a:r>
              <a:rPr lang="zh-CN" altLang="en-US" sz="2200">
                <a:solidFill>
                  <a:srgbClr val="FF0000"/>
                </a:solidFill>
              </a:rPr>
              <a:t>需求模型</a:t>
            </a:r>
            <a:r>
              <a:rPr lang="zh-CN" altLang="en-US" sz="2200"/>
              <a:t>为</a:t>
            </a:r>
            <a:r>
              <a:rPr lang="zh-CN" altLang="en-US" sz="2200">
                <a:solidFill>
                  <a:srgbClr val="FF0000"/>
                </a:solidFill>
              </a:rPr>
              <a:t>所有利益相关者都带来价值</a:t>
            </a:r>
            <a:r>
              <a:rPr lang="zh-CN" altLang="en-US" sz="2200"/>
              <a:t>。对模型来说，每个客户都有自己的使用目的。</a:t>
            </a:r>
          </a:p>
          <a:p>
            <a:pPr lvl="2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例如利益相关的</a:t>
            </a:r>
            <a:r>
              <a:rPr lang="zh-CN" altLang="en-US" sz="2000">
                <a:solidFill>
                  <a:schemeClr val="accent2"/>
                </a:solidFill>
              </a:rPr>
              <a:t>业务人员</a:t>
            </a:r>
            <a:r>
              <a:rPr lang="zh-CN" altLang="en-US" sz="2000"/>
              <a:t>将使用模型确认需求，</a:t>
            </a:r>
            <a:r>
              <a:rPr lang="zh-CN" altLang="en-US" sz="2000">
                <a:solidFill>
                  <a:schemeClr val="accent2"/>
                </a:solidFill>
              </a:rPr>
              <a:t>设计人员</a:t>
            </a:r>
            <a:r>
              <a:rPr lang="zh-CN" altLang="en-US" sz="2000"/>
              <a:t>将使用模型作为设计的基础；</a:t>
            </a:r>
            <a:r>
              <a:rPr lang="zh-CN" altLang="en-US" sz="2000">
                <a:solidFill>
                  <a:schemeClr val="accent2"/>
                </a:solidFill>
              </a:rPr>
              <a:t>质量保证人员</a:t>
            </a:r>
            <a:r>
              <a:rPr lang="zh-CN" altLang="en-US" sz="2000"/>
              <a:t>将使用模型帮助规划验收测试。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尽可能</a:t>
            </a:r>
            <a:r>
              <a:rPr lang="zh-CN" altLang="en-US" sz="2200">
                <a:solidFill>
                  <a:srgbClr val="FF0000"/>
                </a:solidFill>
              </a:rPr>
              <a:t>保持模型简洁</a:t>
            </a:r>
            <a:r>
              <a:rPr lang="zh-CN" altLang="en-US" sz="2200"/>
              <a:t>。如果没有提供新的信息，不要添加附加图表；如果一个简单列表就够用，就不要使用复杂的表示方法。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1000"/>
                                        <p:tgtEl>
                                          <p:spTgt spid="39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0D403491-7B24-3450-E965-339B1D6CCE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B0BD5A-DFE4-4A53-A42B-2052FCFD51DC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1A44DA6-72FB-D89C-C4CA-2DA0AB19E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9875"/>
            <a:ext cx="7772400" cy="782638"/>
          </a:xfrm>
        </p:spPr>
        <p:txBody>
          <a:bodyPr/>
          <a:lstStyle/>
          <a:p>
            <a:pPr eaLnBrk="1" hangingPunct="1"/>
            <a:r>
              <a:rPr lang="zh-CN" altLang="en-US"/>
              <a:t>域分析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286E324-7AB7-43DE-88DF-E50B8E1325A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666876" y="1095376"/>
            <a:ext cx="8893175" cy="1211263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sz="2000">
                <a:solidFill>
                  <a:srgbClr val="FF0000"/>
                </a:solidFill>
              </a:rPr>
              <a:t>目标</a:t>
            </a:r>
            <a:r>
              <a:rPr lang="zh-CN" altLang="en-US" sz="2000"/>
              <a:t>：</a:t>
            </a:r>
            <a:r>
              <a:rPr lang="zh-CN" altLang="en-US" sz="2000">
                <a:solidFill>
                  <a:srgbClr val="FF0000"/>
                </a:solidFill>
              </a:rPr>
              <a:t>查找或创建</a:t>
            </a:r>
            <a:r>
              <a:rPr lang="zh-CN" altLang="en-US" sz="2000"/>
              <a:t>那些广泛应用的</a:t>
            </a:r>
            <a:r>
              <a:rPr lang="zh-CN" altLang="en-US" sz="2000">
                <a:solidFill>
                  <a:srgbClr val="FF0000"/>
                </a:solidFill>
              </a:rPr>
              <a:t>分析类</a:t>
            </a:r>
            <a:r>
              <a:rPr lang="zh-CN" altLang="en-US" sz="2000"/>
              <a:t>或</a:t>
            </a:r>
            <a:r>
              <a:rPr lang="zh-CN" altLang="en-US" sz="2000">
                <a:solidFill>
                  <a:srgbClr val="FF0000"/>
                </a:solidFill>
              </a:rPr>
              <a:t>分析模式</a:t>
            </a:r>
            <a:r>
              <a:rPr lang="zh-CN" altLang="en-US" sz="2000"/>
              <a:t>，使其能够</a:t>
            </a:r>
            <a:r>
              <a:rPr lang="zh-CN" altLang="en-US" sz="2000">
                <a:solidFill>
                  <a:srgbClr val="FF0000"/>
                </a:solidFill>
              </a:rPr>
              <a:t>复用</a:t>
            </a:r>
            <a:r>
              <a:rPr lang="zh-CN" altLang="en-US" sz="2000"/>
              <a:t>。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000">
                <a:solidFill>
                  <a:srgbClr val="FF0000"/>
                </a:solidFill>
              </a:rPr>
              <a:t>域分析师的角色</a:t>
            </a:r>
            <a:r>
              <a:rPr lang="zh-CN" altLang="en-US" sz="2000"/>
              <a:t>是发现和定义可</a:t>
            </a:r>
            <a:r>
              <a:rPr lang="zh-CN" altLang="en-US" sz="2000">
                <a:solidFill>
                  <a:srgbClr val="FF0000"/>
                </a:solidFill>
              </a:rPr>
              <a:t>复用</a:t>
            </a:r>
            <a:r>
              <a:rPr lang="zh-CN" altLang="en-US" sz="2000"/>
              <a:t>的分析模式、分析类和相关的信息。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36FB643D-6566-3C1C-AF0D-E641F5036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654301"/>
            <a:ext cx="99060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领</a:t>
            </a:r>
          </a:p>
          <a:p>
            <a:pPr algn="ctr" fontAlgn="base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域</a:t>
            </a:r>
          </a:p>
          <a:p>
            <a:pPr algn="ctr" fontAlgn="base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知</a:t>
            </a:r>
          </a:p>
          <a:p>
            <a:pPr algn="ctr" fontAlgn="base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识</a:t>
            </a:r>
          </a:p>
          <a:p>
            <a:pPr algn="ctr" fontAlgn="base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来</a:t>
            </a:r>
          </a:p>
          <a:p>
            <a:pPr algn="ctr" fontAlgn="base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源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6E46AD49-198D-40F9-02DF-1821E5A45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578100"/>
            <a:ext cx="1066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6" name="Oval 6">
            <a:extLst>
              <a:ext uri="{FF2B5EF4-FFF2-40B4-BE49-F238E27FC236}">
                <a16:creationId xmlns:a16="http://schemas.microsoft.com/office/drawing/2014/main" id="{E82EFAC4-DF7A-5844-A27E-90F44FEF9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730500"/>
            <a:ext cx="2286000" cy="228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EB0D740B-3BA7-E63B-2CD9-F22FE4F53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6449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域分析</a:t>
            </a:r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CD6AF99B-454C-2926-AEB4-45393C2D6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7305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F5BBB986-9BDE-DD1D-88EB-5E62D4DB9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23495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技术资料</a:t>
            </a:r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428B6AF9-54DC-B2DD-88E1-3DB50BCA6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2639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5" name="Text Box 11">
            <a:extLst>
              <a:ext uri="{FF2B5EF4-FFF2-40B4-BE49-F238E27FC236}">
                <a16:creationId xmlns:a16="http://schemas.microsoft.com/office/drawing/2014/main" id="{ABCFB859-3DC2-5F71-099D-8CFEC738D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28829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已有应用</a:t>
            </a:r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8AC6F80E-ED3D-F83C-A2A4-787D40041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8735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7" name="Text Box 13">
            <a:extLst>
              <a:ext uri="{FF2B5EF4-FFF2-40B4-BE49-F238E27FC236}">
                <a16:creationId xmlns:a16="http://schemas.microsoft.com/office/drawing/2014/main" id="{A37A3D28-0980-B608-CCD2-F0B30F7F3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3398838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客户调查</a:t>
            </a:r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24D3A133-7A17-9846-259B-A761CD6E4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4069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9" name="Text Box 15">
            <a:extLst>
              <a:ext uri="{FF2B5EF4-FFF2-40B4-BE49-F238E27FC236}">
                <a16:creationId xmlns:a16="http://schemas.microsoft.com/office/drawing/2014/main" id="{C18FAE7D-C806-2ADF-6AB4-56C249DF4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39497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专家建议</a:t>
            </a:r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94CD28FE-EF6C-69C2-D78D-40F5E5A46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9403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1" name="Text Box 17">
            <a:extLst>
              <a:ext uri="{FF2B5EF4-FFF2-40B4-BE49-F238E27FC236}">
                <a16:creationId xmlns:a16="http://schemas.microsoft.com/office/drawing/2014/main" id="{BE1F719E-CE2B-7687-E6BE-3AC86168F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44831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当前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未来需求</a:t>
            </a:r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5BD09E29-357F-7EB4-7D9C-90A482A80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2425700"/>
            <a:ext cx="1066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3" name="Text Box 19">
            <a:extLst>
              <a:ext uri="{FF2B5EF4-FFF2-40B4-BE49-F238E27FC236}">
                <a16:creationId xmlns:a16="http://schemas.microsoft.com/office/drawing/2014/main" id="{F5542979-DF5E-7F06-BF88-D9B141473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2882900"/>
            <a:ext cx="609600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域</a:t>
            </a:r>
          </a:p>
          <a:p>
            <a:pPr fontAlgn="base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分</a:t>
            </a:r>
          </a:p>
          <a:p>
            <a:pPr fontAlgn="base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析</a:t>
            </a:r>
          </a:p>
          <a:p>
            <a:pPr fontAlgn="base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模</a:t>
            </a:r>
          </a:p>
          <a:p>
            <a:pPr fontAlgn="base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型</a:t>
            </a:r>
          </a:p>
        </p:txBody>
      </p:sp>
      <p:sp>
        <p:nvSpPr>
          <p:cNvPr id="10260" name="Line 20">
            <a:extLst>
              <a:ext uri="{FF2B5EF4-FFF2-40B4-BE49-F238E27FC236}">
                <a16:creationId xmlns:a16="http://schemas.microsoft.com/office/drawing/2014/main" id="{3118F728-C3A0-AB64-B8B1-56F017C7E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8067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5" name="Text Box 21">
            <a:extLst>
              <a:ext uri="{FF2B5EF4-FFF2-40B4-BE49-F238E27FC236}">
                <a16:creationId xmlns:a16="http://schemas.microsoft.com/office/drawing/2014/main" id="{8933A7F6-D2AC-341A-D100-008AB3D1A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8" y="24257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类的分类</a:t>
            </a:r>
          </a:p>
        </p:txBody>
      </p:sp>
      <p:sp>
        <p:nvSpPr>
          <p:cNvPr id="10262" name="Line 22">
            <a:extLst>
              <a:ext uri="{FF2B5EF4-FFF2-40B4-BE49-F238E27FC236}">
                <a16:creationId xmlns:a16="http://schemas.microsoft.com/office/drawing/2014/main" id="{F5F05E42-F182-2414-1D5F-09C1781AE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33401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7" name="Text Box 23">
            <a:extLst>
              <a:ext uri="{FF2B5EF4-FFF2-40B4-BE49-F238E27FC236}">
                <a16:creationId xmlns:a16="http://schemas.microsoft.com/office/drawing/2014/main" id="{42091693-9FE5-423F-83BA-9D2A93685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8" y="28829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复用标准</a:t>
            </a:r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7664B23A-01D2-B599-71A0-3D29F5529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8735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9" name="Text Box 25">
            <a:extLst>
              <a:ext uri="{FF2B5EF4-FFF2-40B4-BE49-F238E27FC236}">
                <a16:creationId xmlns:a16="http://schemas.microsoft.com/office/drawing/2014/main" id="{34F7EE87-4440-0526-EFC4-DBD4CBF4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8" y="34163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功能模型</a:t>
            </a:r>
          </a:p>
        </p:txBody>
      </p:sp>
      <p:sp>
        <p:nvSpPr>
          <p:cNvPr id="10266" name="Line 26">
            <a:extLst>
              <a:ext uri="{FF2B5EF4-FFF2-40B4-BE49-F238E27FC236}">
                <a16:creationId xmlns:a16="http://schemas.microsoft.com/office/drawing/2014/main" id="{F0FE0AF3-BDB0-9E84-BCF0-4CF50B865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4069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71" name="Text Box 27">
            <a:extLst>
              <a:ext uri="{FF2B5EF4-FFF2-40B4-BE49-F238E27FC236}">
                <a16:creationId xmlns:a16="http://schemas.microsoft.com/office/drawing/2014/main" id="{951A2810-2195-E304-1BB8-8591E9440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8" y="3933825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域语言</a:t>
            </a:r>
          </a:p>
        </p:txBody>
      </p:sp>
      <p:sp>
        <p:nvSpPr>
          <p:cNvPr id="148509" name="Text Box 29">
            <a:extLst>
              <a:ext uri="{FF2B5EF4-FFF2-40B4-BE49-F238E27FC236}">
                <a16:creationId xmlns:a16="http://schemas.microsoft.com/office/drawing/2014/main" id="{5C7CF8DF-5EBB-A5BB-370F-A00EE53E7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5343525"/>
            <a:ext cx="3600450" cy="47625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图：域分析的输入和输出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10245" grpId="0" animBg="1"/>
      <p:bldP spid="10246" grpId="0" animBg="1"/>
      <p:bldP spid="6151" grpId="0"/>
      <p:bldP spid="6153" grpId="0"/>
      <p:bldP spid="6155" grpId="0"/>
      <p:bldP spid="6157" grpId="0"/>
      <p:bldP spid="6159" grpId="0"/>
      <p:bldP spid="6161" grpId="0"/>
      <p:bldP spid="10258" grpId="0" animBg="1"/>
      <p:bldP spid="6163" grpId="0"/>
      <p:bldP spid="6165" grpId="0"/>
      <p:bldP spid="6167" grpId="0"/>
      <p:bldP spid="6169" grpId="0"/>
      <p:bldP spid="6171" grpId="0"/>
      <p:bldP spid="14850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DE315825-B4A5-0CCF-2E9B-315125ABA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91A573-B34F-45C4-98DA-D69923586A31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49FD37F-6A6D-D889-4042-DA88E046B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需求模型的元素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D650FABD-B1E2-E7F8-4051-1C45FE831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200">
                <a:solidFill>
                  <a:srgbClr val="FF0000"/>
                </a:solidFill>
              </a:rPr>
              <a:t>组合方法与表示手段</a:t>
            </a:r>
            <a:r>
              <a:rPr lang="zh-CN" altLang="en-US" sz="2200"/>
              <a:t>才能够为利益相关者提供</a:t>
            </a:r>
            <a:r>
              <a:rPr lang="zh-CN" altLang="en-US" sz="2200">
                <a:solidFill>
                  <a:srgbClr val="FF0000"/>
                </a:solidFill>
              </a:rPr>
              <a:t>最好的软件需求</a:t>
            </a:r>
            <a:r>
              <a:rPr lang="zh-CN" altLang="en-US" sz="2200"/>
              <a:t>模型和</a:t>
            </a:r>
            <a:r>
              <a:rPr lang="zh-CN" altLang="en-US" sz="2200">
                <a:solidFill>
                  <a:srgbClr val="FF0000"/>
                </a:solidFill>
              </a:rPr>
              <a:t>过渡到软件设计</a:t>
            </a:r>
            <a:r>
              <a:rPr lang="zh-CN" altLang="en-US" sz="2200"/>
              <a:t>的</a:t>
            </a:r>
            <a:r>
              <a:rPr lang="zh-CN" altLang="en-US" sz="2200">
                <a:solidFill>
                  <a:srgbClr val="FF0000"/>
                </a:solidFill>
              </a:rPr>
              <a:t>最有效</a:t>
            </a:r>
            <a:r>
              <a:rPr lang="zh-CN" altLang="en-US" sz="2200"/>
              <a:t>方法。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D762264D-0DEC-D1B4-26F6-29378C98BF76}"/>
              </a:ext>
            </a:extLst>
          </p:cNvPr>
          <p:cNvGraphicFramePr/>
          <p:nvPr/>
        </p:nvGraphicFramePr>
        <p:xfrm>
          <a:off x="3503712" y="1700808"/>
          <a:ext cx="4824536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FAF3F165-A839-7885-57A6-E8C45B19C7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500525-1AF5-412A-B654-C58EF72DCF1D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FE4DF68-123D-05F5-1D5C-6AE413FF7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需求建模方法</a:t>
            </a:r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9D287A60-0F97-AC4A-B1BD-79900D7E3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5539"/>
            <a:ext cx="8229600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四类需求建模方法：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基于场景的元素：</a:t>
            </a:r>
            <a:r>
              <a:rPr lang="zh-CN" altLang="en-US" sz="2000"/>
              <a:t>表述</a:t>
            </a:r>
            <a:r>
              <a:rPr lang="zh-CN" altLang="en-US" sz="2000">
                <a:solidFill>
                  <a:srgbClr val="FF0000"/>
                </a:solidFill>
              </a:rPr>
              <a:t>用户</a:t>
            </a:r>
            <a:r>
              <a:rPr lang="zh-CN" altLang="en-US" sz="2000"/>
              <a:t>如何与系统和使用软件时出现的</a:t>
            </a:r>
            <a:r>
              <a:rPr lang="zh-CN" altLang="en-US" sz="2000">
                <a:solidFill>
                  <a:srgbClr val="FF0000"/>
                </a:solidFill>
              </a:rPr>
              <a:t>特定活动序列</a:t>
            </a:r>
            <a:r>
              <a:rPr lang="zh-CN" altLang="en-US" sz="2000"/>
              <a:t>进行</a:t>
            </a:r>
            <a:r>
              <a:rPr lang="zh-CN" altLang="en-US" sz="2000">
                <a:solidFill>
                  <a:srgbClr val="FF0000"/>
                </a:solidFill>
              </a:rPr>
              <a:t>交互</a:t>
            </a:r>
            <a:r>
              <a:rPr lang="zh-CN" altLang="en-US" sz="2000"/>
              <a:t>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基于类的元素：</a:t>
            </a:r>
            <a:r>
              <a:rPr lang="zh-CN" altLang="en-US" sz="2000"/>
              <a:t>描述了系统操作的</a:t>
            </a:r>
            <a:r>
              <a:rPr lang="zh-CN" altLang="en-US" sz="2000">
                <a:solidFill>
                  <a:srgbClr val="FF0000"/>
                </a:solidFill>
              </a:rPr>
              <a:t>对象</a:t>
            </a:r>
            <a:r>
              <a:rPr lang="zh-CN" altLang="en-US" sz="2000"/>
              <a:t>、</a:t>
            </a:r>
            <a:r>
              <a:rPr lang="zh-CN" altLang="en-US" sz="2000">
                <a:solidFill>
                  <a:srgbClr val="FF0000"/>
                </a:solidFill>
              </a:rPr>
              <a:t>对象间关系</a:t>
            </a:r>
            <a:r>
              <a:rPr lang="en-US" altLang="zh-CN" sz="2000"/>
              <a:t>(</a:t>
            </a:r>
            <a:r>
              <a:rPr lang="zh-CN" altLang="en-US" sz="2000"/>
              <a:t>某层级</a:t>
            </a:r>
            <a:r>
              <a:rPr lang="en-US" altLang="zh-CN" sz="2000"/>
              <a:t>)</a:t>
            </a:r>
            <a:r>
              <a:rPr lang="zh-CN" altLang="en-US" sz="2000"/>
              <a:t>，以及定义的</a:t>
            </a:r>
            <a:r>
              <a:rPr lang="zh-CN" altLang="en-US" sz="2000">
                <a:solidFill>
                  <a:srgbClr val="FF0000"/>
                </a:solidFill>
              </a:rPr>
              <a:t>类间</a:t>
            </a:r>
            <a:r>
              <a:rPr lang="zh-CN" altLang="en-US" sz="2000"/>
              <a:t>发生的</a:t>
            </a:r>
            <a:r>
              <a:rPr lang="zh-CN" altLang="en-US" sz="2000">
                <a:solidFill>
                  <a:srgbClr val="FF0000"/>
                </a:solidFill>
              </a:rPr>
              <a:t>协作</a:t>
            </a:r>
            <a:r>
              <a:rPr lang="zh-CN" altLang="en-US" sz="2000"/>
              <a:t>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行为元素：</a:t>
            </a:r>
            <a:r>
              <a:rPr lang="zh-CN" altLang="en-US" sz="2000"/>
              <a:t>描述</a:t>
            </a:r>
            <a:r>
              <a:rPr lang="zh-CN" altLang="en-US" sz="2000">
                <a:solidFill>
                  <a:srgbClr val="FF0000"/>
                </a:solidFill>
              </a:rPr>
              <a:t>外部事件</a:t>
            </a:r>
            <a:r>
              <a:rPr lang="zh-CN" altLang="en-US" sz="2000"/>
              <a:t>如何</a:t>
            </a:r>
            <a:r>
              <a:rPr lang="zh-CN" altLang="en-US" sz="2000">
                <a:solidFill>
                  <a:srgbClr val="FF0000"/>
                </a:solidFill>
              </a:rPr>
              <a:t>改变</a:t>
            </a:r>
            <a:r>
              <a:rPr lang="zh-CN" altLang="en-US" sz="2000"/>
              <a:t>系统或驻留在系统里的</a:t>
            </a:r>
            <a:r>
              <a:rPr lang="zh-CN" altLang="en-US" sz="2000">
                <a:solidFill>
                  <a:srgbClr val="FF0000"/>
                </a:solidFill>
              </a:rPr>
              <a:t>状态</a:t>
            </a:r>
            <a:r>
              <a:rPr lang="zh-CN" altLang="en-US" sz="2000"/>
              <a:t>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面向流的元素：</a:t>
            </a:r>
            <a:r>
              <a:rPr lang="zh-CN" altLang="en-US" sz="2000"/>
              <a:t>表示</a:t>
            </a:r>
            <a:r>
              <a:rPr lang="zh-CN" altLang="en-US" sz="2000">
                <a:solidFill>
                  <a:srgbClr val="FF0000"/>
                </a:solidFill>
              </a:rPr>
              <a:t>信息转换</a:t>
            </a:r>
            <a:r>
              <a:rPr lang="zh-CN" altLang="en-US" sz="2000"/>
              <a:t>的系统，描述了数据对象在流过各种系统功能时是如何转换的。</a:t>
            </a:r>
            <a:r>
              <a:rPr lang="en-US" altLang="zh-CN" sz="2000"/>
              <a:t>(</a:t>
            </a:r>
            <a:r>
              <a:rPr lang="zh-CN" altLang="en-US" sz="2000"/>
              <a:t>输入 </a:t>
            </a:r>
            <a:r>
              <a:rPr lang="en-US" altLang="zh-CN" sz="2000"/>
              <a:t>- </a:t>
            </a:r>
            <a:r>
              <a:rPr lang="zh-CN" altLang="en-US" sz="2000"/>
              <a:t>处理 </a:t>
            </a:r>
            <a:r>
              <a:rPr lang="en-US" altLang="zh-CN" sz="2000"/>
              <a:t>- </a:t>
            </a:r>
            <a:r>
              <a:rPr lang="zh-CN" altLang="en-US" sz="2000"/>
              <a:t>输出</a:t>
            </a:r>
            <a:r>
              <a:rPr lang="en-US" altLang="zh-CN" sz="20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A01E372F-E5B7-F946-F108-50FA7C00E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140392-F0D3-4C01-9CD5-C9BF1A3A41A0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D647457-4038-0B75-4833-9CD44A59C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需求工程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FCB016D9-D8D1-4694-A42B-15E906567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需求工程要干啥？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理解客户需要什么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分析要求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评估可行性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协商合理的方案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生成无歧义的详细说明方案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确认规格说明</a:t>
            </a:r>
          </a:p>
          <a:p>
            <a:pPr lvl="1">
              <a:lnSpc>
                <a:spcPct val="130000"/>
              </a:lnSpc>
            </a:pPr>
            <a:r>
              <a:rPr lang="zh-CN" altLang="en-US" sz="2000"/>
              <a:t>管理需求以至将这些需求转化为可运行系统。</a:t>
            </a:r>
          </a:p>
          <a:p>
            <a:pPr>
              <a:lnSpc>
                <a:spcPct val="130000"/>
              </a:lnSpc>
            </a:pPr>
            <a:r>
              <a:rPr lang="zh-CN" altLang="en-US"/>
              <a:t>需求工程过程主要通过执行</a:t>
            </a:r>
            <a:r>
              <a:rPr lang="zh-CN" altLang="en-US">
                <a:solidFill>
                  <a:srgbClr val="FF0000"/>
                </a:solidFill>
              </a:rPr>
              <a:t>七个不同的活动</a:t>
            </a:r>
            <a:r>
              <a:rPr lang="zh-CN" altLang="en-US"/>
              <a:t>来实现：</a:t>
            </a:r>
            <a:endParaRPr lang="en-US" altLang="zh-CN"/>
          </a:p>
          <a:p>
            <a:pPr lvl="1">
              <a:lnSpc>
                <a:spcPct val="130000"/>
              </a:lnSpc>
            </a:pPr>
            <a:r>
              <a:rPr lang="zh-CN" altLang="en-US" sz="2000"/>
              <a:t>起始、获取、细化、协商、规格说明、确认和管理。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71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43A4EAFE-5972-690B-8742-E2E1CB8499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27DD0F-1FF6-4E8B-897F-26EE133D1249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B5B5E19-D1F1-B82B-C9E3-4063BA9F3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）起始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C2193CCC-FF2C-77EE-03C8-218BF91AD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多数项目都是当</a:t>
            </a:r>
            <a:r>
              <a:rPr lang="zh-CN" altLang="en-US">
                <a:solidFill>
                  <a:srgbClr val="FF0000"/>
                </a:solidFill>
              </a:rPr>
              <a:t>确定了商业要求</a:t>
            </a:r>
            <a:r>
              <a:rPr lang="zh-CN" altLang="en-US"/>
              <a:t>或是</a:t>
            </a:r>
            <a:r>
              <a:rPr lang="zh-CN" altLang="en-US">
                <a:solidFill>
                  <a:srgbClr val="FF0000"/>
                </a:solidFill>
              </a:rPr>
              <a:t>发现了潜在的新市场</a:t>
            </a:r>
            <a:r>
              <a:rPr lang="zh-CN" altLang="en-US"/>
              <a:t>、新服务时才开始。业务领域的</a:t>
            </a:r>
            <a:r>
              <a:rPr lang="zh-CN" altLang="en-US">
                <a:solidFill>
                  <a:srgbClr val="FF0000"/>
                </a:solidFill>
              </a:rPr>
              <a:t>利益相关者</a:t>
            </a:r>
            <a:r>
              <a:rPr lang="en-US" altLang="zh-CN"/>
              <a:t>(</a:t>
            </a:r>
            <a:r>
              <a:rPr lang="zh-CN" altLang="en-US"/>
              <a:t>如业务管理人员、市场人员、产品管理人员</a:t>
            </a:r>
            <a:r>
              <a:rPr lang="en-US" altLang="zh-CN"/>
              <a:t>)</a:t>
            </a:r>
            <a:r>
              <a:rPr lang="zh-CN" altLang="en-US"/>
              <a:t>定义业务用例，确定市场的宽度和深度，进行粗略的可行性分析，并确定项目范围的工作说明。</a:t>
            </a:r>
          </a:p>
          <a:p>
            <a:pPr>
              <a:lnSpc>
                <a:spcPct val="150000"/>
              </a:lnSpc>
            </a:pPr>
            <a:r>
              <a:rPr lang="zh-CN" altLang="en-US"/>
              <a:t>在项目起始阶段中，要</a:t>
            </a:r>
            <a:r>
              <a:rPr lang="zh-CN" altLang="en-US">
                <a:solidFill>
                  <a:srgbClr val="FF0000"/>
                </a:solidFill>
              </a:rPr>
              <a:t>建立基本的理解</a:t>
            </a:r>
            <a:r>
              <a:rPr lang="zh-CN" altLang="en-US"/>
              <a:t>，包括对</a:t>
            </a:r>
            <a:r>
              <a:rPr lang="zh-CN" altLang="en-US">
                <a:solidFill>
                  <a:srgbClr val="FF0000"/>
                </a:solidFill>
              </a:rPr>
              <a:t>问题</a:t>
            </a:r>
            <a:r>
              <a:rPr lang="zh-CN" altLang="en-US"/>
              <a:t>、</a:t>
            </a:r>
            <a:r>
              <a:rPr lang="zh-CN" altLang="en-US">
                <a:solidFill>
                  <a:srgbClr val="FF0000"/>
                </a:solidFill>
              </a:rPr>
              <a:t>谁需要解决方案</a:t>
            </a:r>
            <a:r>
              <a:rPr lang="zh-CN" altLang="en-US"/>
              <a:t>、解决方案的</a:t>
            </a:r>
            <a:r>
              <a:rPr lang="zh-CN" altLang="en-US">
                <a:solidFill>
                  <a:srgbClr val="FF0000"/>
                </a:solidFill>
              </a:rPr>
              <a:t>性质</a:t>
            </a:r>
            <a:r>
              <a:rPr lang="zh-CN" altLang="en-US"/>
              <a:t>、与项目</a:t>
            </a:r>
            <a:r>
              <a:rPr lang="zh-CN" altLang="en-US">
                <a:solidFill>
                  <a:srgbClr val="FF0000"/>
                </a:solidFill>
              </a:rPr>
              <a:t>利益相关者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开发人员</a:t>
            </a:r>
            <a:r>
              <a:rPr lang="zh-CN" altLang="en-US"/>
              <a:t>之间达成初步</a:t>
            </a:r>
            <a:r>
              <a:rPr lang="zh-CN" altLang="en-US">
                <a:solidFill>
                  <a:srgbClr val="FF0000"/>
                </a:solidFill>
              </a:rPr>
              <a:t>交流合作</a:t>
            </a:r>
            <a:r>
              <a:rPr lang="zh-CN" altLang="en-US"/>
              <a:t>的效果。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7FE40C67-3890-DAC0-56D9-599EA8230A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DDB9A7-DA27-43C1-B9D3-8A7E46D4463E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E47497D-C03A-0435-B074-FC5B50B26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）获取</a:t>
            </a: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28A472EA-EFB2-003C-3544-7D73C7039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4" y="1052513"/>
            <a:ext cx="8135937" cy="50784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800"/>
              <a:t>询问客户、用户和其他人：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/>
              <a:t>系统或产品的</a:t>
            </a:r>
            <a:r>
              <a:rPr lang="zh-CN" altLang="en-US">
                <a:solidFill>
                  <a:srgbClr val="FF0000"/>
                </a:solidFill>
              </a:rPr>
              <a:t>目标是什么</a:t>
            </a:r>
            <a:endParaRPr lang="zh-CN" altLang="en-US"/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/>
              <a:t>想要</a:t>
            </a:r>
            <a:r>
              <a:rPr lang="zh-CN" altLang="en-US">
                <a:solidFill>
                  <a:srgbClr val="FF0000"/>
                </a:solidFill>
              </a:rPr>
              <a:t>实现什么</a:t>
            </a:r>
            <a:endParaRPr lang="zh-CN" altLang="en-US"/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/>
              <a:t>系统和产品</a:t>
            </a:r>
            <a:r>
              <a:rPr lang="zh-CN" altLang="en-US">
                <a:solidFill>
                  <a:srgbClr val="FF0000"/>
                </a:solidFill>
              </a:rPr>
              <a:t>如何满足业务</a:t>
            </a:r>
            <a:r>
              <a:rPr lang="zh-CN" altLang="en-US"/>
              <a:t>的要求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/>
              <a:t>最终系统或产品</a:t>
            </a:r>
            <a:r>
              <a:rPr lang="zh-CN" altLang="en-US">
                <a:solidFill>
                  <a:srgbClr val="FF0000"/>
                </a:solidFill>
              </a:rPr>
              <a:t>如何用于日常工作</a:t>
            </a:r>
            <a:endParaRPr lang="zh-CN" altLang="en-US"/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800"/>
              <a:t>这些问题看似简单，实际上并非如此简单</a:t>
            </a:r>
            <a:r>
              <a:rPr lang="en-US" altLang="zh-CN" sz="2800"/>
              <a:t>—</a:t>
            </a:r>
            <a:r>
              <a:rPr lang="zh-CN" altLang="en-US" sz="2800"/>
              <a:t>这非常困难。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CA88E877-2576-C544-7B8D-39B58F93C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9C82B9-2706-4F35-BE32-810052E12F3C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B96BE70-E007-E280-D5EE-28B97259F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）获取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1AC6A4A9-E036-6139-9F92-58EFBAE88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052513"/>
            <a:ext cx="8496300" cy="50784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/>
              <a:t>导出需求为什么</a:t>
            </a:r>
            <a:r>
              <a:rPr lang="zh-CN" altLang="en-US" sz="2800">
                <a:solidFill>
                  <a:srgbClr val="FF0000"/>
                </a:solidFill>
              </a:rPr>
              <a:t>困难</a:t>
            </a:r>
            <a:r>
              <a:rPr lang="zh-CN" altLang="en-US" sz="2800"/>
              <a:t>？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范围问题</a:t>
            </a:r>
            <a:r>
              <a:rPr lang="zh-CN" altLang="en-US"/>
              <a:t>：系统的</a:t>
            </a:r>
            <a:r>
              <a:rPr lang="zh-CN" altLang="en-US">
                <a:solidFill>
                  <a:srgbClr val="FF0000"/>
                </a:solidFill>
              </a:rPr>
              <a:t>边界不清楚</a:t>
            </a:r>
            <a:r>
              <a:rPr lang="zh-CN" altLang="en-US"/>
              <a:t>，或是客户或用户的</a:t>
            </a:r>
            <a:r>
              <a:rPr lang="zh-CN" altLang="en-US">
                <a:solidFill>
                  <a:srgbClr val="FF0000"/>
                </a:solidFill>
              </a:rPr>
              <a:t>说明带有不必要的技术细节</a:t>
            </a:r>
            <a:r>
              <a:rPr lang="zh-CN" altLang="en-US"/>
              <a:t>，这些细节可能会导致</a:t>
            </a:r>
            <a:r>
              <a:rPr lang="zh-CN" altLang="en-US">
                <a:solidFill>
                  <a:srgbClr val="FF0000"/>
                </a:solidFill>
              </a:rPr>
              <a:t>混淆</a:t>
            </a:r>
            <a:r>
              <a:rPr lang="zh-CN" altLang="en-US"/>
              <a:t>而不是澄清系统的整体目标。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理解问题</a:t>
            </a:r>
            <a:r>
              <a:rPr lang="zh-CN" altLang="en-US"/>
              <a:t>：</a:t>
            </a:r>
            <a:r>
              <a:rPr lang="zh-CN" altLang="en-US">
                <a:solidFill>
                  <a:srgbClr val="FF0000"/>
                </a:solidFill>
              </a:rPr>
              <a:t>客户</a:t>
            </a:r>
            <a:r>
              <a:rPr lang="zh-CN" altLang="en-US"/>
              <a:t>或用户</a:t>
            </a:r>
            <a:r>
              <a:rPr lang="zh-CN" altLang="en-US">
                <a:solidFill>
                  <a:srgbClr val="FF0000"/>
                </a:solidFill>
              </a:rPr>
              <a:t>并不能完全确定需要什么</a:t>
            </a:r>
            <a:r>
              <a:rPr lang="zh-CN" altLang="en-US"/>
              <a:t>，他们对其</a:t>
            </a:r>
            <a:r>
              <a:rPr lang="zh-CN" altLang="en-US">
                <a:solidFill>
                  <a:srgbClr val="FF0000"/>
                </a:solidFill>
              </a:rPr>
              <a:t>计算环境</a:t>
            </a:r>
            <a:r>
              <a:rPr lang="zh-CN" altLang="en-US"/>
              <a:t>的能力和限制所知甚少，对</a:t>
            </a:r>
            <a:r>
              <a:rPr lang="zh-CN" altLang="en-US">
                <a:solidFill>
                  <a:srgbClr val="FF0000"/>
                </a:solidFill>
              </a:rPr>
              <a:t>问题域没有完整的认识</a:t>
            </a:r>
            <a:r>
              <a:rPr lang="zh-CN" altLang="en-US"/>
              <a:t>，与系统工程师在</a:t>
            </a:r>
            <a:r>
              <a:rPr lang="zh-CN" altLang="en-US">
                <a:solidFill>
                  <a:srgbClr val="FF0000"/>
                </a:solidFill>
              </a:rPr>
              <a:t>沟通</a:t>
            </a:r>
            <a:r>
              <a:rPr lang="zh-CN" altLang="en-US"/>
              <a:t>上存在问题。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易变问题</a:t>
            </a:r>
            <a:r>
              <a:rPr lang="zh-CN" altLang="en-US"/>
              <a:t>：需求随</a:t>
            </a:r>
            <a:r>
              <a:rPr lang="zh-CN" altLang="en-US">
                <a:solidFill>
                  <a:srgbClr val="FF0000"/>
                </a:solidFill>
              </a:rPr>
              <a:t>时间</a:t>
            </a:r>
            <a:r>
              <a:rPr lang="zh-CN" altLang="en-US"/>
              <a:t>变化。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E7726054-EE13-C1B2-65A6-48A2829C5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36950D-5B27-4286-A2CE-BF32F84187CA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15B6EE1-C94A-F057-13A4-8CEAB428B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）细化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040E445-2734-EBE7-C54D-8AF716501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57338"/>
            <a:ext cx="8229600" cy="44307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在起始和导出阶段获得的信息将在精化阶段进行</a:t>
            </a:r>
            <a:r>
              <a:rPr lang="zh-CN" altLang="en-US" sz="2800">
                <a:solidFill>
                  <a:srgbClr val="FF0000"/>
                </a:solidFill>
              </a:rPr>
              <a:t>扩展和提炼</a:t>
            </a:r>
            <a:r>
              <a:rPr lang="zh-CN" altLang="en-US" sz="2800"/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该任务集中于</a:t>
            </a:r>
            <a:r>
              <a:rPr lang="zh-CN" altLang="en-US" sz="2800">
                <a:solidFill>
                  <a:srgbClr val="FF0000"/>
                </a:solidFill>
              </a:rPr>
              <a:t>开发一个精确的需求模型</a:t>
            </a:r>
            <a:r>
              <a:rPr lang="zh-CN" altLang="en-US" sz="2800"/>
              <a:t>，用以</a:t>
            </a:r>
            <a:r>
              <a:rPr lang="zh-CN" altLang="en-US" sz="2800">
                <a:solidFill>
                  <a:srgbClr val="FF0000"/>
                </a:solidFill>
              </a:rPr>
              <a:t>说明</a:t>
            </a:r>
            <a:r>
              <a:rPr lang="zh-CN" altLang="en-US" sz="2800"/>
              <a:t>软件的</a:t>
            </a:r>
            <a:r>
              <a:rPr lang="zh-CN" altLang="en-US" sz="2800">
                <a:solidFill>
                  <a:srgbClr val="FF0000"/>
                </a:solidFill>
              </a:rPr>
              <a:t>功能</a:t>
            </a:r>
            <a:r>
              <a:rPr lang="zh-CN" altLang="en-US" sz="2800"/>
              <a:t>、</a:t>
            </a:r>
            <a:r>
              <a:rPr lang="zh-CN" altLang="en-US" sz="2800">
                <a:solidFill>
                  <a:srgbClr val="FF0000"/>
                </a:solidFill>
              </a:rPr>
              <a:t>特征</a:t>
            </a:r>
            <a:r>
              <a:rPr lang="zh-CN" altLang="en-US" sz="2800"/>
              <a:t>和</a:t>
            </a:r>
            <a:r>
              <a:rPr lang="zh-CN" altLang="en-US" sz="2800">
                <a:solidFill>
                  <a:srgbClr val="FF0000"/>
                </a:solidFill>
              </a:rPr>
              <a:t>信息</a:t>
            </a:r>
            <a:r>
              <a:rPr lang="zh-CN" altLang="en-US" sz="2800"/>
              <a:t>的各个方面。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7FE9CE1E-CD4C-FED9-515D-2FB4CDFC86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868DAF0-88A4-4213-8F9D-328D7F9D6E8D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9E7906E-061B-13E0-149B-CD7EC628A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）协商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10649D8F-3DD7-A5AA-D5AF-6BBB3150B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836614"/>
            <a:ext cx="8229600" cy="5545137"/>
          </a:xfrm>
        </p:spPr>
        <p:txBody>
          <a:bodyPr/>
          <a:lstStyle/>
          <a:p>
            <a:pPr>
              <a:lnSpc>
                <a:spcPct val="145000"/>
              </a:lnSpc>
            </a:pPr>
            <a:r>
              <a:rPr lang="zh-CN" altLang="en-US" sz="2200"/>
              <a:t>存在问题：</a:t>
            </a:r>
          </a:p>
          <a:p>
            <a:pPr lvl="1">
              <a:lnSpc>
                <a:spcPct val="145000"/>
              </a:lnSpc>
            </a:pPr>
            <a:r>
              <a:rPr lang="zh-CN" altLang="en-US" sz="2000"/>
              <a:t>只给定</a:t>
            </a:r>
            <a:r>
              <a:rPr lang="zh-CN" altLang="en-US" sz="2000">
                <a:solidFill>
                  <a:srgbClr val="FF0000"/>
                </a:solidFill>
              </a:rPr>
              <a:t>有限的业务资源</a:t>
            </a:r>
            <a:r>
              <a:rPr lang="zh-CN" altLang="en-US" sz="2000"/>
              <a:t>，而客户和用户提出了</a:t>
            </a:r>
            <a:r>
              <a:rPr lang="zh-CN" altLang="en-US" sz="2000">
                <a:solidFill>
                  <a:srgbClr val="FF0000"/>
                </a:solidFill>
              </a:rPr>
              <a:t>过高的要求</a:t>
            </a:r>
            <a:r>
              <a:rPr lang="zh-CN" altLang="en-US" sz="2000"/>
              <a:t>。</a:t>
            </a:r>
          </a:p>
          <a:p>
            <a:pPr lvl="1">
              <a:lnSpc>
                <a:spcPct val="145000"/>
              </a:lnSpc>
            </a:pPr>
            <a:r>
              <a:rPr lang="zh-CN" altLang="en-US" sz="2000"/>
              <a:t>不同的客户或用户提出了</a:t>
            </a:r>
            <a:r>
              <a:rPr lang="zh-CN" altLang="en-US" sz="2000">
                <a:solidFill>
                  <a:srgbClr val="FF0000"/>
                </a:solidFill>
              </a:rPr>
              <a:t>相互冲突</a:t>
            </a:r>
            <a:r>
              <a:rPr lang="zh-CN" altLang="en-US" sz="2000"/>
              <a:t>的需求，并坚持“我们的特殊要求是至关重要的”。</a:t>
            </a:r>
          </a:p>
          <a:p>
            <a:pPr>
              <a:lnSpc>
                <a:spcPct val="145000"/>
              </a:lnSpc>
            </a:pPr>
            <a:r>
              <a:rPr lang="zh-CN" altLang="en-US" sz="2200"/>
              <a:t>需求工程师必须通过</a:t>
            </a:r>
            <a:r>
              <a:rPr lang="zh-CN" altLang="en-US" sz="2200">
                <a:solidFill>
                  <a:srgbClr val="FF0000"/>
                </a:solidFill>
              </a:rPr>
              <a:t>协商</a:t>
            </a:r>
            <a:r>
              <a:rPr lang="zh-CN" altLang="en-US" sz="2200"/>
              <a:t>过程来调解这些冲突。应该让客户、用户和其他利益相关者对各自的</a:t>
            </a:r>
            <a:r>
              <a:rPr lang="zh-CN" altLang="en-US" sz="2200">
                <a:solidFill>
                  <a:srgbClr val="FF0000"/>
                </a:solidFill>
              </a:rPr>
              <a:t>需求排序</a:t>
            </a:r>
            <a:r>
              <a:rPr lang="zh-CN" altLang="en-US" sz="2200"/>
              <a:t>，然后按优先级</a:t>
            </a:r>
            <a:r>
              <a:rPr lang="zh-CN" altLang="en-US" sz="2200">
                <a:solidFill>
                  <a:srgbClr val="FF0000"/>
                </a:solidFill>
              </a:rPr>
              <a:t>讨论冲突</a:t>
            </a:r>
            <a:r>
              <a:rPr lang="zh-CN" altLang="en-US" sz="2200"/>
              <a:t>。</a:t>
            </a:r>
          </a:p>
          <a:p>
            <a:pPr>
              <a:lnSpc>
                <a:spcPct val="145000"/>
              </a:lnSpc>
            </a:pPr>
            <a:r>
              <a:rPr lang="zh-CN" altLang="en-US" sz="2200"/>
              <a:t>使用</a:t>
            </a:r>
            <a:r>
              <a:rPr lang="zh-CN" altLang="en-US" sz="2200">
                <a:solidFill>
                  <a:srgbClr val="FF0000"/>
                </a:solidFill>
              </a:rPr>
              <a:t>迭代的方法</a:t>
            </a:r>
            <a:r>
              <a:rPr lang="zh-CN" altLang="en-US" sz="2200"/>
              <a:t>给需求排序，</a:t>
            </a:r>
            <a:r>
              <a:rPr lang="zh-CN" altLang="en-US" sz="2200">
                <a:solidFill>
                  <a:srgbClr val="FF0000"/>
                </a:solidFill>
              </a:rPr>
              <a:t>评估</a:t>
            </a:r>
            <a:r>
              <a:rPr lang="zh-CN" altLang="en-US" sz="2200"/>
              <a:t>每项需求对项目产生的</a:t>
            </a:r>
            <a:r>
              <a:rPr lang="zh-CN" altLang="en-US" sz="2200">
                <a:solidFill>
                  <a:srgbClr val="FF0000"/>
                </a:solidFill>
              </a:rPr>
              <a:t>成本和风险</a:t>
            </a:r>
            <a:r>
              <a:rPr lang="zh-CN" altLang="en-US" sz="2200"/>
              <a:t>，</a:t>
            </a:r>
            <a:r>
              <a:rPr lang="zh-CN" altLang="en-US" sz="2200">
                <a:solidFill>
                  <a:srgbClr val="FF0000"/>
                </a:solidFill>
              </a:rPr>
              <a:t>表述</a:t>
            </a:r>
            <a:r>
              <a:rPr lang="zh-CN" altLang="en-US" sz="2200"/>
              <a:t>内部冲突，</a:t>
            </a:r>
            <a:r>
              <a:rPr lang="zh-CN" altLang="en-US" sz="2200">
                <a:solidFill>
                  <a:srgbClr val="FF0000"/>
                </a:solidFill>
              </a:rPr>
              <a:t>删除</a:t>
            </a:r>
            <a:r>
              <a:rPr lang="zh-CN" altLang="en-US" sz="2200"/>
              <a:t>、</a:t>
            </a:r>
            <a:r>
              <a:rPr lang="zh-CN" altLang="en-US" sz="2200">
                <a:solidFill>
                  <a:srgbClr val="FF0000"/>
                </a:solidFill>
              </a:rPr>
              <a:t>组合</a:t>
            </a:r>
            <a:r>
              <a:rPr lang="zh-CN" altLang="en-US" sz="2200"/>
              <a:t>和</a:t>
            </a:r>
            <a:r>
              <a:rPr lang="en-US" altLang="zh-CN" sz="2200"/>
              <a:t>(</a:t>
            </a:r>
            <a:r>
              <a:rPr lang="zh-CN" altLang="en-US" sz="2200"/>
              <a:t>或</a:t>
            </a:r>
            <a:r>
              <a:rPr lang="en-US" altLang="zh-CN" sz="2200"/>
              <a:t>)</a:t>
            </a:r>
            <a:r>
              <a:rPr lang="zh-CN" altLang="en-US" sz="2200">
                <a:solidFill>
                  <a:srgbClr val="FF0000"/>
                </a:solidFill>
              </a:rPr>
              <a:t>修改</a:t>
            </a:r>
            <a:r>
              <a:rPr lang="zh-CN" altLang="en-US" sz="2200"/>
              <a:t>需求，以便参与各方均能达到一定的满意度。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2B24832C-40C2-2F86-B6F0-6776BA6E6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FA5B5C7-E8D2-4DC9-9B05-93180E22FB1A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CB08D89-30B6-55B3-D848-0DA93E8EC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）规格说明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3F3B7E9A-6608-5959-1317-8CEA20646B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981076"/>
            <a:ext cx="8569325" cy="5078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在基于计算机的系统</a:t>
            </a:r>
            <a:r>
              <a:rPr lang="en-US" altLang="zh-CN"/>
              <a:t>(</a:t>
            </a:r>
            <a:r>
              <a:rPr lang="zh-CN" altLang="en-US"/>
              <a:t>和软件</a:t>
            </a:r>
            <a:r>
              <a:rPr lang="en-US" altLang="zh-CN"/>
              <a:t>)</a:t>
            </a:r>
            <a:r>
              <a:rPr lang="zh-CN" altLang="en-US"/>
              <a:t>的环境下，</a:t>
            </a:r>
            <a:r>
              <a:rPr lang="zh-CN" altLang="en-US">
                <a:solidFill>
                  <a:srgbClr val="FF0000"/>
                </a:solidFill>
              </a:rPr>
              <a:t>术语</a:t>
            </a:r>
            <a:r>
              <a:rPr lang="zh-CN" altLang="en-US">
                <a:solidFill>
                  <a:schemeClr val="tx2"/>
                </a:solidFill>
              </a:rPr>
              <a:t>规格说明</a:t>
            </a:r>
            <a:r>
              <a:rPr lang="zh-CN" altLang="en-US"/>
              <a:t>对不同的人有不同的含义。一个规格说明可以是：</a:t>
            </a:r>
          </a:p>
          <a:p>
            <a:pPr lvl="1">
              <a:lnSpc>
                <a:spcPct val="150000"/>
              </a:lnSpc>
            </a:pPr>
            <a:r>
              <a:rPr lang="zh-CN" altLang="en-US" sz="2200"/>
              <a:t>一份写好的</a:t>
            </a:r>
            <a:r>
              <a:rPr lang="zh-CN" altLang="en-US" sz="2200">
                <a:solidFill>
                  <a:srgbClr val="FF0000"/>
                </a:solidFill>
              </a:rPr>
              <a:t>文档</a:t>
            </a:r>
            <a:r>
              <a:rPr lang="zh-CN" altLang="en-US" sz="2200"/>
              <a:t>、一套</a:t>
            </a:r>
            <a:r>
              <a:rPr lang="zh-CN" altLang="en-US" sz="2200">
                <a:solidFill>
                  <a:srgbClr val="FF0000"/>
                </a:solidFill>
              </a:rPr>
              <a:t>图形化的模型</a:t>
            </a:r>
            <a:r>
              <a:rPr lang="zh-CN" altLang="en-US" sz="2200"/>
              <a:t>、一个形式化的</a:t>
            </a:r>
            <a:r>
              <a:rPr lang="zh-CN" altLang="en-US" sz="2200">
                <a:solidFill>
                  <a:srgbClr val="FF0000"/>
                </a:solidFill>
              </a:rPr>
              <a:t>数学模型</a:t>
            </a:r>
            <a:r>
              <a:rPr lang="zh-CN" altLang="en-US" sz="2200"/>
              <a:t>、一组使用</a:t>
            </a:r>
            <a:r>
              <a:rPr lang="zh-CN" altLang="en-US" sz="2200">
                <a:solidFill>
                  <a:srgbClr val="FF0000"/>
                </a:solidFill>
              </a:rPr>
              <a:t>场景</a:t>
            </a:r>
            <a:r>
              <a:rPr lang="zh-CN" altLang="en-US" sz="2200"/>
              <a:t>、一个</a:t>
            </a:r>
            <a:r>
              <a:rPr lang="zh-CN" altLang="en-US" sz="2200">
                <a:solidFill>
                  <a:srgbClr val="FF0000"/>
                </a:solidFill>
              </a:rPr>
              <a:t>原型</a:t>
            </a:r>
            <a:r>
              <a:rPr lang="zh-CN" altLang="en-US" sz="2200"/>
              <a:t>或上述各项的</a:t>
            </a:r>
            <a:r>
              <a:rPr lang="zh-CN" altLang="en-US" sz="2200">
                <a:solidFill>
                  <a:srgbClr val="FF0000"/>
                </a:solidFill>
              </a:rPr>
              <a:t>任意组合</a:t>
            </a:r>
            <a:r>
              <a:rPr lang="zh-CN" altLang="en-US" sz="220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/>
              <a:t>在开发规格说明时</a:t>
            </a:r>
            <a:r>
              <a:rPr lang="zh-CN" altLang="en-US">
                <a:solidFill>
                  <a:srgbClr val="FF0000"/>
                </a:solidFill>
              </a:rPr>
              <a:t>保持灵活性</a:t>
            </a:r>
            <a:r>
              <a:rPr lang="zh-CN" altLang="en-US"/>
              <a:t>有时是必要的：</a:t>
            </a:r>
          </a:p>
          <a:p>
            <a:pPr lvl="1">
              <a:lnSpc>
                <a:spcPct val="150000"/>
              </a:lnSpc>
            </a:pPr>
            <a:r>
              <a:rPr lang="zh-CN" altLang="en-US" sz="2200"/>
              <a:t>对</a:t>
            </a:r>
            <a:r>
              <a:rPr lang="zh-CN" altLang="en-US" sz="2200">
                <a:solidFill>
                  <a:srgbClr val="FF0000"/>
                </a:solidFill>
              </a:rPr>
              <a:t>大型系统</a:t>
            </a:r>
            <a:r>
              <a:rPr lang="zh-CN" altLang="en-US" sz="2200"/>
              <a:t>而言，文档最好采用</a:t>
            </a:r>
            <a:r>
              <a:rPr lang="zh-CN" altLang="en-US" sz="2200">
                <a:solidFill>
                  <a:srgbClr val="FF0000"/>
                </a:solidFill>
              </a:rPr>
              <a:t>自然语言</a:t>
            </a:r>
            <a:r>
              <a:rPr lang="zh-CN" altLang="en-US" sz="2200"/>
              <a:t>描述和</a:t>
            </a:r>
            <a:r>
              <a:rPr lang="zh-CN" altLang="en-US" sz="2200">
                <a:solidFill>
                  <a:srgbClr val="FF0000"/>
                </a:solidFill>
              </a:rPr>
              <a:t>图形化</a:t>
            </a:r>
            <a:r>
              <a:rPr lang="zh-CN" altLang="en-US" sz="2200"/>
              <a:t>模型来编写。</a:t>
            </a:r>
            <a:endParaRPr lang="en-US" altLang="zh-CN" sz="2200"/>
          </a:p>
          <a:p>
            <a:pPr lvl="1">
              <a:lnSpc>
                <a:spcPct val="150000"/>
              </a:lnSpc>
            </a:pPr>
            <a:r>
              <a:rPr lang="zh-CN" altLang="en-US" sz="2200"/>
              <a:t>而对于技术环节明确的</a:t>
            </a:r>
            <a:r>
              <a:rPr lang="zh-CN" altLang="en-US" sz="2200">
                <a:solidFill>
                  <a:srgbClr val="FF0000"/>
                </a:solidFill>
              </a:rPr>
              <a:t>较小产品或系统</a:t>
            </a:r>
            <a:r>
              <a:rPr lang="zh-CN" altLang="en-US" sz="2200"/>
              <a:t>，使用</a:t>
            </a:r>
            <a:r>
              <a:rPr lang="zh-CN" altLang="en-US" sz="2200">
                <a:solidFill>
                  <a:srgbClr val="FF0000"/>
                </a:solidFill>
              </a:rPr>
              <a:t>场景</a:t>
            </a:r>
            <a:r>
              <a:rPr lang="zh-CN" altLang="en-US" sz="2200"/>
              <a:t>可能就足够了。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7440BB87-1026-E164-86D4-B9F699EDFD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A2ADE15-B650-4784-9F60-CCA7FBB91466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DE37539-812F-DECA-7100-F4E06D26C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）规格说明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458FBD59-5B07-CA8B-B4FE-CCEBCC5DB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4"/>
            <a:ext cx="8229600" cy="45735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两种需求文档：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</a:rPr>
              <a:t>需求定义</a:t>
            </a:r>
            <a:r>
              <a:rPr lang="zh-CN" altLang="en-US"/>
              <a:t>：客户要求的完整列表 </a:t>
            </a:r>
            <a:r>
              <a:rPr lang="en-US" altLang="zh-CN"/>
              <a:t>(</a:t>
            </a:r>
            <a:r>
              <a:rPr lang="zh-CN" altLang="en-US"/>
              <a:t>对外</a:t>
            </a:r>
            <a:r>
              <a:rPr lang="en-US" altLang="zh-CN"/>
              <a:t>)</a:t>
            </a:r>
          </a:p>
          <a:p>
            <a:pPr lvl="2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通常由</a:t>
            </a:r>
            <a:r>
              <a:rPr lang="zh-CN" altLang="en-US">
                <a:solidFill>
                  <a:schemeClr val="accent2"/>
                </a:solidFill>
              </a:rPr>
              <a:t>客户</a:t>
            </a:r>
            <a:r>
              <a:rPr lang="zh-CN" altLang="en-US"/>
              <a:t>和</a:t>
            </a:r>
            <a:r>
              <a:rPr lang="zh-CN" altLang="en-US">
                <a:solidFill>
                  <a:schemeClr val="accent2"/>
                </a:solidFill>
              </a:rPr>
              <a:t>需求分析师</a:t>
            </a:r>
            <a:r>
              <a:rPr lang="zh-CN" altLang="en-US"/>
              <a:t>一起编写，是开发人员对系统功能的一个合同，主要给</a:t>
            </a:r>
            <a:r>
              <a:rPr lang="zh-CN" altLang="en-US">
                <a:solidFill>
                  <a:srgbClr val="FF0000"/>
                </a:solidFill>
              </a:rPr>
              <a:t>客户</a:t>
            </a:r>
            <a:r>
              <a:rPr lang="zh-CN" altLang="en-US"/>
              <a:t>阅读；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</a:rPr>
              <a:t>需求规格说明</a:t>
            </a:r>
            <a:r>
              <a:rPr lang="zh-CN" altLang="en-US"/>
              <a:t>：要构建系统的规格化说明 </a:t>
            </a:r>
            <a:r>
              <a:rPr lang="en-US" altLang="zh-CN"/>
              <a:t>(</a:t>
            </a:r>
            <a:r>
              <a:rPr lang="zh-CN" altLang="en-US"/>
              <a:t>对内</a:t>
            </a:r>
            <a:r>
              <a:rPr lang="en-US" altLang="zh-CN"/>
              <a:t>)</a:t>
            </a:r>
            <a:endParaRPr lang="zh-CN" altLang="en-US"/>
          </a:p>
          <a:p>
            <a:pPr lvl="2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由</a:t>
            </a:r>
            <a:r>
              <a:rPr lang="zh-CN" altLang="en-US">
                <a:solidFill>
                  <a:schemeClr val="accent2"/>
                </a:solidFill>
              </a:rPr>
              <a:t>需求分析师</a:t>
            </a:r>
            <a:r>
              <a:rPr lang="zh-CN" altLang="en-US"/>
              <a:t>编写，并由其他</a:t>
            </a:r>
            <a:r>
              <a:rPr lang="zh-CN" altLang="en-US">
                <a:solidFill>
                  <a:srgbClr val="FF0000"/>
                </a:solidFill>
              </a:rPr>
              <a:t>软件开发人员</a:t>
            </a:r>
            <a:r>
              <a:rPr lang="zh-CN" altLang="en-US"/>
              <a:t>使用。</a:t>
            </a: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8231B69E-1683-11D1-FD33-90753935A5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C8FDA5-8770-4884-A8DF-8F6B5DED37C2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FE7C320-31AA-63EB-DDA1-7F80EB842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）规格说明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DAC5CF22-D10F-0435-7CAC-63145E259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81076"/>
            <a:ext cx="8229600" cy="5078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软件需求规格说明</a:t>
            </a:r>
            <a:r>
              <a:rPr lang="en-US" altLang="zh-CN"/>
              <a:t>(SRS)</a:t>
            </a:r>
            <a:r>
              <a:rPr lang="zh-CN" altLang="en-US"/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sz="2200">
                <a:solidFill>
                  <a:srgbClr val="FF0000"/>
                </a:solidFill>
              </a:rPr>
              <a:t>详细描述软件各个方面的文档</a:t>
            </a:r>
            <a:r>
              <a:rPr lang="zh-CN" altLang="en-US" sz="2200"/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sz="2200"/>
              <a:t>很多项目常常并没有写正规的</a:t>
            </a:r>
            <a:r>
              <a:rPr lang="en-US" altLang="zh-CN" sz="2200"/>
              <a:t>SRS</a:t>
            </a:r>
            <a:r>
              <a:rPr lang="zh-CN" altLang="en-US" sz="2200"/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sz="2200"/>
              <a:t>很多实例表明，花在软件需求规格说明的工作量还不如投入到其他软件工程活活动（</a:t>
            </a:r>
            <a:r>
              <a:rPr lang="zh-CN" altLang="en-US" sz="2200">
                <a:solidFill>
                  <a:srgbClr val="FF0000"/>
                </a:solidFill>
              </a:rPr>
              <a:t>慎重</a:t>
            </a:r>
            <a:r>
              <a:rPr lang="zh-CN" altLang="en-US" sz="2200"/>
              <a:t>）。</a:t>
            </a:r>
          </a:p>
          <a:p>
            <a:pPr lvl="1">
              <a:lnSpc>
                <a:spcPct val="150000"/>
              </a:lnSpc>
            </a:pPr>
            <a:r>
              <a:rPr lang="zh-CN" altLang="en-US" sz="2200"/>
              <a:t>但是，以下情况需求规格说明是非常必要的：</a:t>
            </a:r>
          </a:p>
          <a:p>
            <a:pPr lvl="2">
              <a:lnSpc>
                <a:spcPct val="150000"/>
              </a:lnSpc>
            </a:pPr>
            <a:r>
              <a:rPr lang="zh-CN" altLang="en-US" sz="2000"/>
              <a:t>当软件由第三方开发时</a:t>
            </a:r>
          </a:p>
          <a:p>
            <a:pPr lvl="2">
              <a:lnSpc>
                <a:spcPct val="150000"/>
              </a:lnSpc>
            </a:pPr>
            <a:r>
              <a:rPr lang="zh-CN" altLang="en-US" sz="2000"/>
              <a:t>当缺少规格说明将导致严重业务问题时</a:t>
            </a:r>
          </a:p>
          <a:p>
            <a:pPr lvl="2">
              <a:lnSpc>
                <a:spcPct val="150000"/>
              </a:lnSpc>
            </a:pPr>
            <a:r>
              <a:rPr lang="zh-CN" altLang="en-US" sz="2000"/>
              <a:t>当系统非常复杂或涉及十分重要的业务时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06AD4B2D-63D1-10B5-14BE-A305731B05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66DFE6-0E01-4C85-A4B1-08ABC597E2D8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430B777-F21E-BD84-5AD1-0B751E102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规格说明模板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0BB4FCA-A99F-FF30-95CA-9D4ADA4DA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1749" name="Picture 4">
            <a:extLst>
              <a:ext uri="{FF2B5EF4-FFF2-40B4-BE49-F238E27FC236}">
                <a16:creationId xmlns:a16="http://schemas.microsoft.com/office/drawing/2014/main" id="{967A6277-0922-4161-6DE7-3D518E545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981076"/>
            <a:ext cx="86042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F5888594-5A76-A71D-B6C9-4E7AF23915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3EC944-3615-4338-ACCE-B1DF78BEFB63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FB46B4A-3BFE-AF95-7A2C-3C2F6CF4B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）确认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450369CB-639B-F4B3-60EC-29302A3EA5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81076"/>
            <a:ext cx="8229600" cy="507841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200" dirty="0"/>
              <a:t>这一步将对需求工程的工作产品进行</a:t>
            </a:r>
            <a:r>
              <a:rPr lang="zh-CN" altLang="en-US" sz="2200" dirty="0">
                <a:solidFill>
                  <a:srgbClr val="FF0000"/>
                </a:solidFill>
              </a:rPr>
              <a:t>质量评估</a:t>
            </a:r>
            <a:r>
              <a:rPr lang="zh-CN" altLang="en-US" sz="2200" dirty="0"/>
              <a:t>。</a:t>
            </a:r>
          </a:p>
          <a:p>
            <a:pPr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200" dirty="0">
                <a:solidFill>
                  <a:srgbClr val="FF0000"/>
                </a:solidFill>
              </a:rPr>
              <a:t>正式的技术评审是最主要的需求确认机制</a:t>
            </a:r>
            <a:r>
              <a:rPr lang="zh-CN" altLang="en-US" sz="2200" dirty="0"/>
              <a:t>。确认需求的</a:t>
            </a:r>
            <a:r>
              <a:rPr lang="zh-CN" altLang="en-US" sz="2200" dirty="0">
                <a:solidFill>
                  <a:srgbClr val="FF0000"/>
                </a:solidFill>
              </a:rPr>
              <a:t>评审小组</a:t>
            </a:r>
            <a:r>
              <a:rPr lang="zh-CN" altLang="en-US" sz="2200" dirty="0"/>
              <a:t>包括软件工程师、客户、用户和其他利益相关者，他们检查系统规格说明，寻找：</a:t>
            </a:r>
          </a:p>
          <a:p>
            <a:pPr lvl="1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000" dirty="0"/>
              <a:t>内容或解释上的差错</a:t>
            </a:r>
          </a:p>
          <a:p>
            <a:pPr lvl="1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000" dirty="0"/>
              <a:t>可能需要进一步澄清的地方</a:t>
            </a:r>
          </a:p>
          <a:p>
            <a:pPr lvl="1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000" dirty="0"/>
              <a:t>丢失的信息</a:t>
            </a:r>
          </a:p>
          <a:p>
            <a:pPr lvl="1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000" dirty="0"/>
              <a:t>不一致 </a:t>
            </a:r>
            <a:r>
              <a:rPr lang="en-US" altLang="zh-CN" sz="2000" dirty="0"/>
              <a:t>(</a:t>
            </a:r>
            <a:r>
              <a:rPr lang="zh-CN" altLang="en-US" sz="2000" dirty="0"/>
              <a:t>开发大型系统时的主要问题</a:t>
            </a:r>
            <a:r>
              <a:rPr lang="en-US" altLang="zh-CN" sz="2000" dirty="0"/>
              <a:t>)</a:t>
            </a:r>
          </a:p>
          <a:p>
            <a:pPr lvl="1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000" dirty="0"/>
              <a:t>冲突或不现实的需求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6C4EEEE4-9F5F-392C-1F0A-B2E0A44E4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A229D01-97A3-4AE7-BFC8-88683917C6D0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4FF720B-FB12-9178-AC4E-2484B41B9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需求确认检查表</a:t>
            </a:r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4BFA71F9-CA37-523F-BF3C-528FA073AC1C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1951" y="981076"/>
            <a:ext cx="8856663" cy="5465763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A1B02F40-3875-E9F1-D373-982C8D942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2539BF-BFA0-4C7A-88FE-676B1BF24ECC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682F737-6C7A-4D44-75A1-24DB03D1A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）需求管理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3F14A93F-4C7A-D159-AEF8-51F7CBFC8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3239"/>
            <a:ext cx="8229600" cy="43576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/>
              <a:t>计算机的系统其</a:t>
            </a:r>
            <a:r>
              <a:rPr lang="zh-CN" altLang="en-US" sz="2800">
                <a:solidFill>
                  <a:srgbClr val="FF0000"/>
                </a:solidFill>
              </a:rPr>
              <a:t>需求会变更</a:t>
            </a:r>
            <a:r>
              <a:rPr lang="zh-CN" altLang="en-US" sz="2800"/>
              <a:t>，而且变更的要求贯穿于系统的</a:t>
            </a:r>
            <a:r>
              <a:rPr lang="zh-CN" altLang="en-US" sz="2800">
                <a:solidFill>
                  <a:srgbClr val="FF0000"/>
                </a:solidFill>
              </a:rPr>
              <a:t>整个生存期</a:t>
            </a:r>
            <a:r>
              <a:rPr lang="zh-CN" altLang="en-US" sz="280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FF0000"/>
                </a:solidFill>
              </a:rPr>
              <a:t>需求管理</a:t>
            </a:r>
            <a:r>
              <a:rPr lang="zh-CN" altLang="en-US" sz="2800"/>
              <a:t>是用于帮助项目组在项目进展中</a:t>
            </a:r>
            <a:r>
              <a:rPr lang="zh-CN" altLang="en-US" sz="2800">
                <a:solidFill>
                  <a:srgbClr val="FF0000"/>
                </a:solidFill>
              </a:rPr>
              <a:t>标识</a:t>
            </a:r>
            <a:r>
              <a:rPr lang="zh-CN" altLang="en-US" sz="2800"/>
              <a:t>、</a:t>
            </a:r>
            <a:r>
              <a:rPr lang="zh-CN" altLang="en-US" sz="2800">
                <a:solidFill>
                  <a:srgbClr val="FF0000"/>
                </a:solidFill>
              </a:rPr>
              <a:t>控制</a:t>
            </a:r>
            <a:r>
              <a:rPr lang="zh-CN" altLang="en-US" sz="2800"/>
              <a:t>和</a:t>
            </a:r>
            <a:r>
              <a:rPr lang="zh-CN" altLang="en-US" sz="2800">
                <a:solidFill>
                  <a:srgbClr val="FF0000"/>
                </a:solidFill>
              </a:rPr>
              <a:t>跟踪</a:t>
            </a:r>
            <a:r>
              <a:rPr lang="zh-CN" altLang="en-US" sz="2800"/>
              <a:t>需求以及需求变更的一组</a:t>
            </a:r>
            <a:r>
              <a:rPr lang="zh-CN" altLang="en-US" sz="2800">
                <a:solidFill>
                  <a:srgbClr val="FF0000"/>
                </a:solidFill>
              </a:rPr>
              <a:t>活动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>
            <a:extLst>
              <a:ext uri="{FF2B5EF4-FFF2-40B4-BE49-F238E27FC236}">
                <a16:creationId xmlns:a16="http://schemas.microsoft.com/office/drawing/2014/main" id="{6F8CCF5F-53BE-3FD7-318F-E2CD450A6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9F6DB6-8988-40C8-A0E6-5AC7212D0691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D4E18A5-567B-55AF-3D1D-FC1828D8E5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8424862" cy="1143000"/>
          </a:xfrm>
        </p:spPr>
        <p:txBody>
          <a:bodyPr/>
          <a:lstStyle/>
          <a:p>
            <a:pPr eaLnBrk="1" hangingPunct="1"/>
            <a:r>
              <a:rPr lang="zh-CN" altLang="en-US"/>
              <a:t>出卷系统案例（</a:t>
            </a:r>
            <a:r>
              <a:rPr lang="zh-CN" altLang="en-US">
                <a:solidFill>
                  <a:srgbClr val="FF0000"/>
                </a:solidFill>
              </a:rPr>
              <a:t>问题描述</a:t>
            </a:r>
            <a:r>
              <a:rPr lang="zh-CN" altLang="en-US"/>
              <a:t>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A0CF5B0-2C15-60E2-7788-18DCD31FC4E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20875" y="1052514"/>
            <a:ext cx="8351838" cy="496887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/>
              <a:t>系统支持人工辅助出卷和自动出卷：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/>
              <a:t>自动出卷：根据教师出卷要求，抽取题目，自动得到一份试卷；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/>
              <a:t>人工辅助出卷：根据教师出卷要求，抽取符合要求的题目，供教师选择。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出卷要求</a:t>
            </a:r>
            <a:r>
              <a:rPr lang="zh-CN" altLang="en-US" sz="2000"/>
              <a:t>包括总分，总难度及其比例，总题型及其比例，总知识点及其比例。</a:t>
            </a:r>
          </a:p>
          <a:p>
            <a:pPr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/>
              <a:t>系统能进行题库管理：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/>
              <a:t>包括试题录入、修改、删除等；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/>
              <a:t>至少有</a:t>
            </a:r>
            <a:r>
              <a:rPr lang="en-US" altLang="zh-CN" sz="2000"/>
              <a:t>1000</a:t>
            </a:r>
            <a:r>
              <a:rPr lang="zh-CN" altLang="en-US" sz="2000"/>
              <a:t>道不同类型的试题；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/>
              <a:t>能容纳足够多的试题；</a:t>
            </a:r>
          </a:p>
          <a:p>
            <a:pPr lvl="1" eaLnBrk="1" hangingPunct="1">
              <a:lnSpc>
                <a:spcPct val="130000"/>
              </a:lnSpc>
              <a:spcBef>
                <a:spcPts val="300"/>
              </a:spcBef>
            </a:pPr>
            <a:r>
              <a:rPr lang="zh-CN" altLang="en-US" sz="2000"/>
              <a:t>试题含有内容、答案、题型、难度、知识点和加入时间等信息。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10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6">
            <a:extLst>
              <a:ext uri="{FF2B5EF4-FFF2-40B4-BE49-F238E27FC236}">
                <a16:creationId xmlns:a16="http://schemas.microsoft.com/office/drawing/2014/main" id="{467655AE-83AD-596E-5AF2-B781CBAE23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EFE6231-2476-4CFF-A4EA-4E091EBAA25F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443" name="Rectangle 1026">
            <a:extLst>
              <a:ext uri="{FF2B5EF4-FFF2-40B4-BE49-F238E27FC236}">
                <a16:creationId xmlns:a16="http://schemas.microsoft.com/office/drawing/2014/main" id="{62E934B0-3872-D081-DDEF-19B9D76B1C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1"/>
            <a:ext cx="8208962" cy="936625"/>
          </a:xfrm>
        </p:spPr>
        <p:txBody>
          <a:bodyPr/>
          <a:lstStyle/>
          <a:p>
            <a:pPr eaLnBrk="1" hangingPunct="1"/>
            <a:r>
              <a:rPr lang="zh-CN" altLang="en-US"/>
              <a:t>出卷系统案例（</a:t>
            </a:r>
            <a:r>
              <a:rPr lang="zh-CN" altLang="en-US">
                <a:solidFill>
                  <a:srgbClr val="FF0000"/>
                </a:solidFill>
              </a:rPr>
              <a:t>问题描述</a:t>
            </a:r>
            <a:r>
              <a:rPr lang="en-US" altLang="zh-CN"/>
              <a:t>II</a:t>
            </a:r>
            <a:r>
              <a:rPr lang="zh-CN" altLang="en-US"/>
              <a:t>）</a:t>
            </a:r>
          </a:p>
        </p:txBody>
      </p:sp>
      <p:sp>
        <p:nvSpPr>
          <p:cNvPr id="61444" name="Rectangle 1027">
            <a:extLst>
              <a:ext uri="{FF2B5EF4-FFF2-40B4-BE49-F238E27FC236}">
                <a16:creationId xmlns:a16="http://schemas.microsoft.com/office/drawing/2014/main" id="{138A564A-B776-5C2F-CDE1-022933BF01E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90725" y="1444625"/>
            <a:ext cx="8426450" cy="40005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/>
              <a:t>系统能支持不同科目；</a:t>
            </a: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/>
              <a:t>系统有一个好的图形界面；</a:t>
            </a: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/>
              <a:t>试题不允许重复出现；</a:t>
            </a: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/>
              <a:t>试卷符合要求的</a:t>
            </a:r>
            <a:r>
              <a:rPr lang="en-US" altLang="zh-CN" sz="2800"/>
              <a:t>96%</a:t>
            </a:r>
            <a:r>
              <a:rPr lang="zh-CN" altLang="en-US" sz="2800"/>
              <a:t>以上即可结束，允许教师调整。</a:t>
            </a: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/>
              <a:t>能进行试卷分析。</a:t>
            </a:r>
            <a:endParaRPr lang="zh-CN" altLang="en-US" sz="2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71075711-6477-1804-D998-88970469D1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BC20D0B-AD94-4F93-9A7B-C652BEE3B77F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C2748ACD-3B52-CAF9-C502-0FE5229E7C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9" y="260350"/>
            <a:ext cx="8137525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出卷系统案例（</a:t>
            </a:r>
            <a:r>
              <a:rPr lang="zh-CN" altLang="en-US" dirty="0">
                <a:solidFill>
                  <a:srgbClr val="FF0000"/>
                </a:solidFill>
              </a:rPr>
              <a:t>功能分析</a:t>
            </a:r>
            <a:r>
              <a:rPr lang="zh-CN" altLang="en-US" dirty="0"/>
              <a:t>）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103D974-3814-183B-1BEF-D7474138259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063751" y="1227139"/>
            <a:ext cx="8208963" cy="4649787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/>
              <a:t>用户：教师、学生、题库维护人员。</a:t>
            </a:r>
          </a:p>
          <a:p>
            <a:pPr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/>
              <a:t>用户的各自问题：</a:t>
            </a:r>
          </a:p>
          <a:p>
            <a:pPr lvl="1"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 sz="2000"/>
              <a:t>教师：出一份合理的试卷，并能根据样式打印与输出；</a:t>
            </a:r>
          </a:p>
          <a:p>
            <a:pPr lvl="1"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 sz="2000"/>
              <a:t>学生：通过生成一些模拟试题，进行在线学习和检查学习结果；</a:t>
            </a:r>
          </a:p>
          <a:p>
            <a:pPr lvl="1"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 sz="2000"/>
              <a:t>题库维护人员：添加、更新、删除试题。</a:t>
            </a:r>
          </a:p>
          <a:p>
            <a:pPr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>
                <a:solidFill>
                  <a:srgbClr val="FF0000"/>
                </a:solidFill>
              </a:rPr>
              <a:t>精化</a:t>
            </a:r>
            <a:r>
              <a:rPr lang="zh-CN" altLang="en-US"/>
              <a:t>后的问题：</a:t>
            </a:r>
          </a:p>
          <a:p>
            <a:pPr lvl="1"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 sz="2000"/>
              <a:t>教师：自动出卷、手动出卷、试卷编辑、试卷输出；</a:t>
            </a:r>
          </a:p>
          <a:p>
            <a:pPr lvl="1"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 sz="2000"/>
              <a:t>学生：随机抽卷、在线练习、在线评价；</a:t>
            </a:r>
          </a:p>
          <a:p>
            <a:pPr lvl="1" eaLnBrk="1" hangingPunct="1">
              <a:lnSpc>
                <a:spcPct val="140000"/>
              </a:lnSpc>
              <a:spcBef>
                <a:spcPts val="300"/>
              </a:spcBef>
            </a:pPr>
            <a:r>
              <a:rPr lang="zh-CN" altLang="en-US" sz="2000"/>
              <a:t>题库维护人员：试题管理。</a:t>
            </a:r>
            <a:endParaRPr lang="en-US" altLang="zh-CN" sz="2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6">
            <a:extLst>
              <a:ext uri="{FF2B5EF4-FFF2-40B4-BE49-F238E27FC236}">
                <a16:creationId xmlns:a16="http://schemas.microsoft.com/office/drawing/2014/main" id="{946ABB4F-4646-12EA-BD71-5AD535F52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7023E1F-111F-4AA5-8745-D9371033641F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42F49F3-A94D-9C28-8F1E-D912821114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8534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出卷系统案例（</a:t>
            </a:r>
            <a:r>
              <a:rPr lang="zh-CN" altLang="en-US" dirty="0">
                <a:solidFill>
                  <a:srgbClr val="FF0000"/>
                </a:solidFill>
              </a:rPr>
              <a:t>功能分析</a:t>
            </a:r>
            <a:r>
              <a:rPr lang="en-US" altLang="zh-CN" dirty="0"/>
              <a:t>II</a:t>
            </a:r>
            <a:r>
              <a:rPr lang="zh-CN" altLang="en-US" dirty="0"/>
              <a:t>）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A04D2E8-5DA0-DF81-D8DE-F8CBACC3914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92313" y="981076"/>
            <a:ext cx="8280400" cy="504031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dirty="0"/>
              <a:t>系统的</a:t>
            </a:r>
            <a:r>
              <a:rPr lang="zh-CN" altLang="en-US" dirty="0">
                <a:solidFill>
                  <a:srgbClr val="FF0000"/>
                </a:solidFill>
              </a:rPr>
              <a:t>功能需求</a:t>
            </a:r>
            <a:r>
              <a:rPr lang="zh-CN" altLang="en-US" dirty="0"/>
              <a:t>：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自动出卷：根据教师要求自动生成一份合理的试卷；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手动出卷：教师手动从候选试题中挑选题目；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随机抽卷：随机抽取试题，生成一份试卷；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在线练习：学生可以在线做练习和查看答案；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在线评价：根据测试结果，评价学生的表现；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试题管理：管理人员维护题库中的试题；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试卷编辑：更新试题；</a:t>
            </a:r>
          </a:p>
          <a:p>
            <a:pPr lvl="1" eaLnBrk="1" hangingPunct="1">
              <a:lnSpc>
                <a:spcPct val="150000"/>
              </a:lnSpc>
              <a:spcBef>
                <a:spcPts val="500"/>
              </a:spcBef>
            </a:pPr>
            <a:r>
              <a:rPr lang="zh-CN" altLang="en-US" sz="2000" dirty="0"/>
              <a:t>试卷输出：根据某个样式输出试卷。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F6BA9249-A619-57D0-6B44-08118B5831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93A1D92-E94F-4507-AC95-7CEDF5BA42F9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C27534E-AB1F-5CD4-C0D0-10E8B3612E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出卷系统用例图</a:t>
            </a:r>
          </a:p>
        </p:txBody>
      </p:sp>
      <p:grpSp>
        <p:nvGrpSpPr>
          <p:cNvPr id="64516" name="Group 4">
            <a:extLst>
              <a:ext uri="{FF2B5EF4-FFF2-40B4-BE49-F238E27FC236}">
                <a16:creationId xmlns:a16="http://schemas.microsoft.com/office/drawing/2014/main" id="{59A0319C-FD5D-438D-4071-6DFB027ADD57}"/>
              </a:ext>
            </a:extLst>
          </p:cNvPr>
          <p:cNvGrpSpPr>
            <a:grpSpLocks/>
          </p:cNvGrpSpPr>
          <p:nvPr/>
        </p:nvGrpSpPr>
        <p:grpSpPr bwMode="auto">
          <a:xfrm>
            <a:off x="3524250" y="1066800"/>
            <a:ext cx="381000" cy="838200"/>
            <a:chOff x="822" y="1313"/>
            <a:chExt cx="398" cy="771"/>
          </a:xfrm>
        </p:grpSpPr>
        <p:sp>
          <p:nvSpPr>
            <p:cNvPr id="64566" name="Oval 5">
              <a:extLst>
                <a:ext uri="{FF2B5EF4-FFF2-40B4-BE49-F238E27FC236}">
                  <a16:creationId xmlns:a16="http://schemas.microsoft.com/office/drawing/2014/main" id="{5B501F5F-CA8F-90CF-650C-45D492F10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67" name="Line 6">
              <a:extLst>
                <a:ext uri="{FF2B5EF4-FFF2-40B4-BE49-F238E27FC236}">
                  <a16:creationId xmlns:a16="http://schemas.microsoft.com/office/drawing/2014/main" id="{36E45200-3CD0-1384-28BF-672B71B09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68" name="Line 7">
              <a:extLst>
                <a:ext uri="{FF2B5EF4-FFF2-40B4-BE49-F238E27FC236}">
                  <a16:creationId xmlns:a16="http://schemas.microsoft.com/office/drawing/2014/main" id="{DFFCA7D8-6A56-9AAB-D5EC-CB28E4B8B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69" name="Line 8">
              <a:extLst>
                <a:ext uri="{FF2B5EF4-FFF2-40B4-BE49-F238E27FC236}">
                  <a16:creationId xmlns:a16="http://schemas.microsoft.com/office/drawing/2014/main" id="{E9522B29-5097-7E50-F4E2-0F963E307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70" name="Line 9">
              <a:extLst>
                <a:ext uri="{FF2B5EF4-FFF2-40B4-BE49-F238E27FC236}">
                  <a16:creationId xmlns:a16="http://schemas.microsoft.com/office/drawing/2014/main" id="{BA5CD763-A92F-755A-6DFA-42EEDCE85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4517" name="Text Box 10">
            <a:extLst>
              <a:ext uri="{FF2B5EF4-FFF2-40B4-BE49-F238E27FC236}">
                <a16:creationId xmlns:a16="http://schemas.microsoft.com/office/drawing/2014/main" id="{52491B1E-9BC2-C2C1-F1D0-D1FF40CC0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1981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教师</a:t>
            </a:r>
          </a:p>
        </p:txBody>
      </p:sp>
      <p:grpSp>
        <p:nvGrpSpPr>
          <p:cNvPr id="64518" name="Group 23">
            <a:extLst>
              <a:ext uri="{FF2B5EF4-FFF2-40B4-BE49-F238E27FC236}">
                <a16:creationId xmlns:a16="http://schemas.microsoft.com/office/drawing/2014/main" id="{16B19589-89CE-E1AD-0798-57C4C884D131}"/>
              </a:ext>
            </a:extLst>
          </p:cNvPr>
          <p:cNvGrpSpPr>
            <a:grpSpLocks/>
          </p:cNvGrpSpPr>
          <p:nvPr/>
        </p:nvGrpSpPr>
        <p:grpSpPr bwMode="auto">
          <a:xfrm>
            <a:off x="3524250" y="2819400"/>
            <a:ext cx="381000" cy="838200"/>
            <a:chOff x="822" y="1313"/>
            <a:chExt cx="398" cy="771"/>
          </a:xfrm>
        </p:grpSpPr>
        <p:sp>
          <p:nvSpPr>
            <p:cNvPr id="64561" name="Oval 24">
              <a:extLst>
                <a:ext uri="{FF2B5EF4-FFF2-40B4-BE49-F238E27FC236}">
                  <a16:creationId xmlns:a16="http://schemas.microsoft.com/office/drawing/2014/main" id="{758768F9-A8A8-57ED-5A79-194823A25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62" name="Line 25">
              <a:extLst>
                <a:ext uri="{FF2B5EF4-FFF2-40B4-BE49-F238E27FC236}">
                  <a16:creationId xmlns:a16="http://schemas.microsoft.com/office/drawing/2014/main" id="{0E20F0BB-7AEE-6621-F8EC-FBA817412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63" name="Line 26">
              <a:extLst>
                <a:ext uri="{FF2B5EF4-FFF2-40B4-BE49-F238E27FC236}">
                  <a16:creationId xmlns:a16="http://schemas.microsoft.com/office/drawing/2014/main" id="{77D92CD4-7150-FE3D-A333-D65C0E4A0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64" name="Line 27">
              <a:extLst>
                <a:ext uri="{FF2B5EF4-FFF2-40B4-BE49-F238E27FC236}">
                  <a16:creationId xmlns:a16="http://schemas.microsoft.com/office/drawing/2014/main" id="{C5B71348-3961-7724-153D-3BBD3D156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65" name="Line 28">
              <a:extLst>
                <a:ext uri="{FF2B5EF4-FFF2-40B4-BE49-F238E27FC236}">
                  <a16:creationId xmlns:a16="http://schemas.microsoft.com/office/drawing/2014/main" id="{02C14CD4-CB15-D273-7F4F-82EF98C84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4519" name="Group 29">
            <a:extLst>
              <a:ext uri="{FF2B5EF4-FFF2-40B4-BE49-F238E27FC236}">
                <a16:creationId xmlns:a16="http://schemas.microsoft.com/office/drawing/2014/main" id="{132EB08A-27C9-760A-95EE-46A3C8BF9EA9}"/>
              </a:ext>
            </a:extLst>
          </p:cNvPr>
          <p:cNvGrpSpPr>
            <a:grpSpLocks/>
          </p:cNvGrpSpPr>
          <p:nvPr/>
        </p:nvGrpSpPr>
        <p:grpSpPr bwMode="auto">
          <a:xfrm>
            <a:off x="3524250" y="4724400"/>
            <a:ext cx="381000" cy="838200"/>
            <a:chOff x="822" y="1313"/>
            <a:chExt cx="398" cy="771"/>
          </a:xfrm>
        </p:grpSpPr>
        <p:sp>
          <p:nvSpPr>
            <p:cNvPr id="64556" name="Oval 30">
              <a:extLst>
                <a:ext uri="{FF2B5EF4-FFF2-40B4-BE49-F238E27FC236}">
                  <a16:creationId xmlns:a16="http://schemas.microsoft.com/office/drawing/2014/main" id="{3C23C372-4D2E-52B1-63B8-A54988EBF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57" name="Line 31">
              <a:extLst>
                <a:ext uri="{FF2B5EF4-FFF2-40B4-BE49-F238E27FC236}">
                  <a16:creationId xmlns:a16="http://schemas.microsoft.com/office/drawing/2014/main" id="{22992096-917F-D048-F70C-7FF7F7788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58" name="Line 32">
              <a:extLst>
                <a:ext uri="{FF2B5EF4-FFF2-40B4-BE49-F238E27FC236}">
                  <a16:creationId xmlns:a16="http://schemas.microsoft.com/office/drawing/2014/main" id="{594765FE-DA20-9145-3A1A-E824B39D9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59" name="Line 33">
              <a:extLst>
                <a:ext uri="{FF2B5EF4-FFF2-40B4-BE49-F238E27FC236}">
                  <a16:creationId xmlns:a16="http://schemas.microsoft.com/office/drawing/2014/main" id="{183F0F7D-9BD3-9E53-FB8D-D0E8B19EC0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60" name="Line 34">
              <a:extLst>
                <a:ext uri="{FF2B5EF4-FFF2-40B4-BE49-F238E27FC236}">
                  <a16:creationId xmlns:a16="http://schemas.microsoft.com/office/drawing/2014/main" id="{A71078ED-6FAD-2AC9-94EF-D18532DC6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4520" name="Text Box 35">
            <a:extLst>
              <a:ext uri="{FF2B5EF4-FFF2-40B4-BE49-F238E27FC236}">
                <a16:creationId xmlns:a16="http://schemas.microsoft.com/office/drawing/2014/main" id="{4D51CC34-4D90-18DD-8D23-41EED1E6D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657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学生</a:t>
            </a:r>
          </a:p>
        </p:txBody>
      </p:sp>
      <p:sp>
        <p:nvSpPr>
          <p:cNvPr id="64521" name="Text Box 36">
            <a:extLst>
              <a:ext uri="{FF2B5EF4-FFF2-40B4-BE49-F238E27FC236}">
                <a16:creationId xmlns:a16="http://schemas.microsoft.com/office/drawing/2014/main" id="{45AFA6F1-A302-45B7-1D29-98EA655E4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55626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题库维护人员</a:t>
            </a:r>
          </a:p>
        </p:txBody>
      </p:sp>
      <p:sp>
        <p:nvSpPr>
          <p:cNvPr id="64522" name="Rectangle 37">
            <a:extLst>
              <a:ext uri="{FF2B5EF4-FFF2-40B4-BE49-F238E27FC236}">
                <a16:creationId xmlns:a16="http://schemas.microsoft.com/office/drawing/2014/main" id="{50EB9D2F-1530-191E-00D8-CFCCF6412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88" y="984251"/>
            <a:ext cx="3370262" cy="5370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4523" name="Group 38">
            <a:extLst>
              <a:ext uri="{FF2B5EF4-FFF2-40B4-BE49-F238E27FC236}">
                <a16:creationId xmlns:a16="http://schemas.microsoft.com/office/drawing/2014/main" id="{8FEBD536-D1B8-CA82-A849-72E6A821B8A3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1066800"/>
            <a:ext cx="1981200" cy="533400"/>
            <a:chOff x="2643" y="949"/>
            <a:chExt cx="1237" cy="372"/>
          </a:xfrm>
        </p:grpSpPr>
        <p:sp>
          <p:nvSpPr>
            <p:cNvPr id="64554" name="Oval 39">
              <a:extLst>
                <a:ext uri="{FF2B5EF4-FFF2-40B4-BE49-F238E27FC236}">
                  <a16:creationId xmlns:a16="http://schemas.microsoft.com/office/drawing/2014/main" id="{7830C9D9-D38C-9150-AA6E-BF0AB904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55" name="Text Box 40">
              <a:extLst>
                <a:ext uri="{FF2B5EF4-FFF2-40B4-BE49-F238E27FC236}">
                  <a16:creationId xmlns:a16="http://schemas.microsoft.com/office/drawing/2014/main" id="{54FC3A17-7986-6C5B-B9AC-CA01C8475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自动出卷</a:t>
              </a:r>
            </a:p>
          </p:txBody>
        </p:sp>
      </p:grpSp>
      <p:grpSp>
        <p:nvGrpSpPr>
          <p:cNvPr id="64524" name="Group 44">
            <a:extLst>
              <a:ext uri="{FF2B5EF4-FFF2-40B4-BE49-F238E27FC236}">
                <a16:creationId xmlns:a16="http://schemas.microsoft.com/office/drawing/2014/main" id="{42AF4A03-46AB-C8EA-45C4-DFA8C81609C6}"/>
              </a:ext>
            </a:extLst>
          </p:cNvPr>
          <p:cNvGrpSpPr>
            <a:grpSpLocks/>
          </p:cNvGrpSpPr>
          <p:nvPr/>
        </p:nvGrpSpPr>
        <p:grpSpPr bwMode="auto">
          <a:xfrm>
            <a:off x="5353050" y="1676400"/>
            <a:ext cx="1981200" cy="533400"/>
            <a:chOff x="2643" y="949"/>
            <a:chExt cx="1237" cy="372"/>
          </a:xfrm>
        </p:grpSpPr>
        <p:sp>
          <p:nvSpPr>
            <p:cNvPr id="64552" name="Oval 45">
              <a:extLst>
                <a:ext uri="{FF2B5EF4-FFF2-40B4-BE49-F238E27FC236}">
                  <a16:creationId xmlns:a16="http://schemas.microsoft.com/office/drawing/2014/main" id="{10860D09-2651-6276-FDA1-E46D493E2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53" name="Text Box 46">
              <a:extLst>
                <a:ext uri="{FF2B5EF4-FFF2-40B4-BE49-F238E27FC236}">
                  <a16:creationId xmlns:a16="http://schemas.microsoft.com/office/drawing/2014/main" id="{DA8B4B13-3530-FFA5-3495-F065384C7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手动出卷</a:t>
              </a:r>
            </a:p>
          </p:txBody>
        </p:sp>
      </p:grpSp>
      <p:grpSp>
        <p:nvGrpSpPr>
          <p:cNvPr id="64525" name="Group 47">
            <a:extLst>
              <a:ext uri="{FF2B5EF4-FFF2-40B4-BE49-F238E27FC236}">
                <a16:creationId xmlns:a16="http://schemas.microsoft.com/office/drawing/2014/main" id="{090CC5C7-54FC-4636-7461-44930F5B7383}"/>
              </a:ext>
            </a:extLst>
          </p:cNvPr>
          <p:cNvGrpSpPr>
            <a:grpSpLocks/>
          </p:cNvGrpSpPr>
          <p:nvPr/>
        </p:nvGrpSpPr>
        <p:grpSpPr bwMode="auto">
          <a:xfrm>
            <a:off x="5353050" y="2286000"/>
            <a:ext cx="1981200" cy="533400"/>
            <a:chOff x="2643" y="949"/>
            <a:chExt cx="1237" cy="372"/>
          </a:xfrm>
        </p:grpSpPr>
        <p:sp>
          <p:nvSpPr>
            <p:cNvPr id="64550" name="Oval 48">
              <a:extLst>
                <a:ext uri="{FF2B5EF4-FFF2-40B4-BE49-F238E27FC236}">
                  <a16:creationId xmlns:a16="http://schemas.microsoft.com/office/drawing/2014/main" id="{675A79ED-89AE-9088-F897-8D0F1C07C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51" name="Text Box 49">
              <a:extLst>
                <a:ext uri="{FF2B5EF4-FFF2-40B4-BE49-F238E27FC236}">
                  <a16:creationId xmlns:a16="http://schemas.microsoft.com/office/drawing/2014/main" id="{04812F0D-4DE6-B21A-DB4B-445093F6E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试卷输出</a:t>
              </a:r>
            </a:p>
          </p:txBody>
        </p:sp>
      </p:grpSp>
      <p:grpSp>
        <p:nvGrpSpPr>
          <p:cNvPr id="64526" name="Group 53">
            <a:extLst>
              <a:ext uri="{FF2B5EF4-FFF2-40B4-BE49-F238E27FC236}">
                <a16:creationId xmlns:a16="http://schemas.microsoft.com/office/drawing/2014/main" id="{55DD37DB-4C55-8EFC-74C2-3637EBB373EA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3657600"/>
            <a:ext cx="1981200" cy="533400"/>
            <a:chOff x="2643" y="949"/>
            <a:chExt cx="1237" cy="372"/>
          </a:xfrm>
        </p:grpSpPr>
        <p:sp>
          <p:nvSpPr>
            <p:cNvPr id="64548" name="Oval 54">
              <a:extLst>
                <a:ext uri="{FF2B5EF4-FFF2-40B4-BE49-F238E27FC236}">
                  <a16:creationId xmlns:a16="http://schemas.microsoft.com/office/drawing/2014/main" id="{A63AAB40-BA48-BBCB-6FD8-19CC82981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49" name="Text Box 55">
              <a:extLst>
                <a:ext uri="{FF2B5EF4-FFF2-40B4-BE49-F238E27FC236}">
                  <a16:creationId xmlns:a16="http://schemas.microsoft.com/office/drawing/2014/main" id="{ABCE8D65-37A2-8442-CAA1-C8BD61298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随机抽卷</a:t>
              </a:r>
            </a:p>
          </p:txBody>
        </p:sp>
      </p:grpSp>
      <p:grpSp>
        <p:nvGrpSpPr>
          <p:cNvPr id="64527" name="Group 56">
            <a:extLst>
              <a:ext uri="{FF2B5EF4-FFF2-40B4-BE49-F238E27FC236}">
                <a16:creationId xmlns:a16="http://schemas.microsoft.com/office/drawing/2014/main" id="{CBFFA664-0948-5AE8-4E3C-AE444446F7F1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4343400"/>
            <a:ext cx="1981200" cy="533400"/>
            <a:chOff x="2643" y="949"/>
            <a:chExt cx="1237" cy="372"/>
          </a:xfrm>
        </p:grpSpPr>
        <p:sp>
          <p:nvSpPr>
            <p:cNvPr id="64546" name="Oval 57">
              <a:extLst>
                <a:ext uri="{FF2B5EF4-FFF2-40B4-BE49-F238E27FC236}">
                  <a16:creationId xmlns:a16="http://schemas.microsoft.com/office/drawing/2014/main" id="{9D1A275A-BF65-9D82-84D8-E782D521C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47" name="Text Box 58">
              <a:extLst>
                <a:ext uri="{FF2B5EF4-FFF2-40B4-BE49-F238E27FC236}">
                  <a16:creationId xmlns:a16="http://schemas.microsoft.com/office/drawing/2014/main" id="{3383D833-CA55-2355-230F-44ED27CC7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在线评价</a:t>
              </a:r>
            </a:p>
          </p:txBody>
        </p:sp>
      </p:grpSp>
      <p:grpSp>
        <p:nvGrpSpPr>
          <p:cNvPr id="64528" name="Group 59">
            <a:extLst>
              <a:ext uri="{FF2B5EF4-FFF2-40B4-BE49-F238E27FC236}">
                <a16:creationId xmlns:a16="http://schemas.microsoft.com/office/drawing/2014/main" id="{24A42A11-49EC-5A81-B7BE-6719DFC3303D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5029200"/>
            <a:ext cx="1981200" cy="533400"/>
            <a:chOff x="2643" y="949"/>
            <a:chExt cx="1237" cy="372"/>
          </a:xfrm>
        </p:grpSpPr>
        <p:sp>
          <p:nvSpPr>
            <p:cNvPr id="64544" name="Oval 60">
              <a:extLst>
                <a:ext uri="{FF2B5EF4-FFF2-40B4-BE49-F238E27FC236}">
                  <a16:creationId xmlns:a16="http://schemas.microsoft.com/office/drawing/2014/main" id="{47FA4C3B-7575-81A2-9B6A-DE2F3E0C1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45" name="Text Box 61">
              <a:extLst>
                <a:ext uri="{FF2B5EF4-FFF2-40B4-BE49-F238E27FC236}">
                  <a16:creationId xmlns:a16="http://schemas.microsoft.com/office/drawing/2014/main" id="{8D13E0B8-04FD-FC16-D29F-CCFE7A653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在线练习</a:t>
              </a:r>
            </a:p>
          </p:txBody>
        </p:sp>
      </p:grpSp>
      <p:grpSp>
        <p:nvGrpSpPr>
          <p:cNvPr id="64529" name="Group 62">
            <a:extLst>
              <a:ext uri="{FF2B5EF4-FFF2-40B4-BE49-F238E27FC236}">
                <a16:creationId xmlns:a16="http://schemas.microsoft.com/office/drawing/2014/main" id="{86B77BA3-C29D-A9CB-B3F7-CD75E0AA8521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5638800"/>
            <a:ext cx="1981200" cy="533400"/>
            <a:chOff x="2643" y="949"/>
            <a:chExt cx="1237" cy="372"/>
          </a:xfrm>
        </p:grpSpPr>
        <p:sp>
          <p:nvSpPr>
            <p:cNvPr id="64542" name="Oval 63">
              <a:extLst>
                <a:ext uri="{FF2B5EF4-FFF2-40B4-BE49-F238E27FC236}">
                  <a16:creationId xmlns:a16="http://schemas.microsoft.com/office/drawing/2014/main" id="{514C2318-FE7B-232B-28BA-D1E937501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43" name="Text Box 64">
              <a:extLst>
                <a:ext uri="{FF2B5EF4-FFF2-40B4-BE49-F238E27FC236}">
                  <a16:creationId xmlns:a16="http://schemas.microsoft.com/office/drawing/2014/main" id="{7D17368B-853A-994A-4515-9C0502F2B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试题管理</a:t>
              </a:r>
            </a:p>
          </p:txBody>
        </p:sp>
      </p:grpSp>
      <p:grpSp>
        <p:nvGrpSpPr>
          <p:cNvPr id="64530" name="Group 65">
            <a:extLst>
              <a:ext uri="{FF2B5EF4-FFF2-40B4-BE49-F238E27FC236}">
                <a16:creationId xmlns:a16="http://schemas.microsoft.com/office/drawing/2014/main" id="{397E10AB-7753-0D27-69BB-34D740A42AB9}"/>
              </a:ext>
            </a:extLst>
          </p:cNvPr>
          <p:cNvGrpSpPr>
            <a:grpSpLocks/>
          </p:cNvGrpSpPr>
          <p:nvPr/>
        </p:nvGrpSpPr>
        <p:grpSpPr bwMode="auto">
          <a:xfrm>
            <a:off x="5353050" y="2971800"/>
            <a:ext cx="1981200" cy="533400"/>
            <a:chOff x="2643" y="949"/>
            <a:chExt cx="1237" cy="372"/>
          </a:xfrm>
        </p:grpSpPr>
        <p:sp>
          <p:nvSpPr>
            <p:cNvPr id="64540" name="Oval 66">
              <a:extLst>
                <a:ext uri="{FF2B5EF4-FFF2-40B4-BE49-F238E27FC236}">
                  <a16:creationId xmlns:a16="http://schemas.microsoft.com/office/drawing/2014/main" id="{AB0B35B1-8250-6ABE-D1C5-394D560B4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41" name="Text Box 67">
              <a:extLst>
                <a:ext uri="{FF2B5EF4-FFF2-40B4-BE49-F238E27FC236}">
                  <a16:creationId xmlns:a16="http://schemas.microsoft.com/office/drawing/2014/main" id="{33BDB947-B28A-27E1-1440-8E9591743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试卷编辑</a:t>
              </a:r>
            </a:p>
          </p:txBody>
        </p:sp>
      </p:grpSp>
      <p:sp>
        <p:nvSpPr>
          <p:cNvPr id="64531" name="Line 68">
            <a:extLst>
              <a:ext uri="{FF2B5EF4-FFF2-40B4-BE49-F238E27FC236}">
                <a16:creationId xmlns:a16="http://schemas.microsoft.com/office/drawing/2014/main" id="{59A15606-7399-6CF2-51A4-0DFFCE001F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1450" y="1371600"/>
            <a:ext cx="1295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2" name="Text Box 69">
            <a:extLst>
              <a:ext uri="{FF2B5EF4-FFF2-40B4-BE49-F238E27FC236}">
                <a16:creationId xmlns:a16="http://schemas.microsoft.com/office/drawing/2014/main" id="{9DAECA0E-1320-450B-2286-43A43ED55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650" y="1066800"/>
            <a:ext cx="457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出卷系统</a:t>
            </a:r>
          </a:p>
        </p:txBody>
      </p:sp>
      <p:sp>
        <p:nvSpPr>
          <p:cNvPr id="64533" name="Line 70">
            <a:extLst>
              <a:ext uri="{FF2B5EF4-FFF2-40B4-BE49-F238E27FC236}">
                <a16:creationId xmlns:a16="http://schemas.microsoft.com/office/drawing/2014/main" id="{C7225FE3-FEA6-CB79-26E6-B12DE77B7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450" y="1524000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4" name="Line 71">
            <a:extLst>
              <a:ext uri="{FF2B5EF4-FFF2-40B4-BE49-F238E27FC236}">
                <a16:creationId xmlns:a16="http://schemas.microsoft.com/office/drawing/2014/main" id="{8892DD4B-198E-BCF4-8C94-D4D85CF67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450" y="15240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5" name="Line 72">
            <a:extLst>
              <a:ext uri="{FF2B5EF4-FFF2-40B4-BE49-F238E27FC236}">
                <a16:creationId xmlns:a16="http://schemas.microsoft.com/office/drawing/2014/main" id="{29DB3812-F82B-61D8-9BB7-5540979AE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450" y="1524000"/>
            <a:ext cx="13716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6" name="Line 73">
            <a:extLst>
              <a:ext uri="{FF2B5EF4-FFF2-40B4-BE49-F238E27FC236}">
                <a16:creationId xmlns:a16="http://schemas.microsoft.com/office/drawing/2014/main" id="{1F8CFF1F-681B-C895-6AFD-26611AC84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276600"/>
            <a:ext cx="1524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7" name="Line 74">
            <a:extLst>
              <a:ext uri="{FF2B5EF4-FFF2-40B4-BE49-F238E27FC236}">
                <a16:creationId xmlns:a16="http://schemas.microsoft.com/office/drawing/2014/main" id="{02B4696D-D28B-CEFD-BE53-6F8C05D90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276600"/>
            <a:ext cx="1524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8" name="Line 75">
            <a:extLst>
              <a:ext uri="{FF2B5EF4-FFF2-40B4-BE49-F238E27FC236}">
                <a16:creationId xmlns:a16="http://schemas.microsoft.com/office/drawing/2014/main" id="{F7A7B29A-50A8-7FE2-D0BF-4888942CA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3276600"/>
            <a:ext cx="152400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9" name="Line 76">
            <a:extLst>
              <a:ext uri="{FF2B5EF4-FFF2-40B4-BE49-F238E27FC236}">
                <a16:creationId xmlns:a16="http://schemas.microsoft.com/office/drawing/2014/main" id="{7C1FB0DC-A152-36C8-3066-75A8E4349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450" y="5181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>
            <a:extLst>
              <a:ext uri="{FF2B5EF4-FFF2-40B4-BE49-F238E27FC236}">
                <a16:creationId xmlns:a16="http://schemas.microsoft.com/office/drawing/2014/main" id="{69D183DE-14F3-E28D-C1AB-71DC79EA33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41F68E-6668-4681-AB0B-DD312D63B57E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5539" name="Rectangle 1026">
            <a:extLst>
              <a:ext uri="{FF2B5EF4-FFF2-40B4-BE49-F238E27FC236}">
                <a16:creationId xmlns:a16="http://schemas.microsoft.com/office/drawing/2014/main" id="{D5A1EC8F-A8CC-B449-751D-56DFE625DD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8064500" cy="865188"/>
          </a:xfrm>
        </p:spPr>
        <p:txBody>
          <a:bodyPr/>
          <a:lstStyle/>
          <a:p>
            <a:pPr eaLnBrk="1" hangingPunct="1"/>
            <a:r>
              <a:rPr lang="zh-CN" altLang="en-US"/>
              <a:t>短信系统案例（</a:t>
            </a:r>
            <a:r>
              <a:rPr lang="zh-CN" altLang="en-US">
                <a:solidFill>
                  <a:srgbClr val="FF0000"/>
                </a:solidFill>
              </a:rPr>
              <a:t>问题描述</a:t>
            </a:r>
            <a:r>
              <a:rPr lang="zh-CN" altLang="en-US"/>
              <a:t>）</a:t>
            </a:r>
          </a:p>
        </p:txBody>
      </p:sp>
      <p:sp>
        <p:nvSpPr>
          <p:cNvPr id="65540" name="Rectangle 1027">
            <a:extLst>
              <a:ext uri="{FF2B5EF4-FFF2-40B4-BE49-F238E27FC236}">
                <a16:creationId xmlns:a16="http://schemas.microsoft.com/office/drawing/2014/main" id="{4D923765-71A0-F688-7724-3AC68765468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19288" y="1052514"/>
            <a:ext cx="8208962" cy="49688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基本目的</a:t>
            </a:r>
            <a:r>
              <a:rPr lang="zh-CN" altLang="en-US" sz="2000"/>
              <a:t>：利用快捷的短信业务，发送即时消息以支持企事业单位进行信息通知、通告等各种服务，以及用短信进行客户服务。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短信发送</a:t>
            </a:r>
            <a:r>
              <a:rPr lang="zh-CN" altLang="en-US" sz="2000"/>
              <a:t>：客户选择若干个目标人员，编辑内容，立即或定时发送通知信息。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短信人工应答</a:t>
            </a:r>
            <a:r>
              <a:rPr lang="zh-CN" altLang="en-US" sz="2000"/>
              <a:t>：用户查看收到的短信内容，并可回复。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短信自动应答</a:t>
            </a:r>
            <a:r>
              <a:rPr lang="zh-CN" altLang="en-US" sz="2000"/>
              <a:t>：根据短信询问内容，并依据规则自动回复询问者。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短信接收</a:t>
            </a:r>
            <a:r>
              <a:rPr lang="zh-CN" altLang="en-US" sz="2000"/>
              <a:t>：接收外部短信。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短信确认</a:t>
            </a:r>
            <a:r>
              <a:rPr lang="zh-CN" altLang="en-US" sz="2000"/>
              <a:t>：确认接收方是否接收。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客户资料维护</a:t>
            </a:r>
            <a:r>
              <a:rPr lang="zh-CN" altLang="en-US" sz="2000"/>
              <a:t>：添加、删除和更新用户。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接口要求</a:t>
            </a:r>
            <a:r>
              <a:rPr lang="zh-CN" altLang="en-US" sz="2000"/>
              <a:t>：支持移动终端通过串口通信，支持与移动网关通信。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6">
            <a:extLst>
              <a:ext uri="{FF2B5EF4-FFF2-40B4-BE49-F238E27FC236}">
                <a16:creationId xmlns:a16="http://schemas.microsoft.com/office/drawing/2014/main" id="{1225C4D7-C749-F393-2DB5-CF32305F85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3DCF037-9BF4-48BC-9103-EE5019C7926C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11CA004-DD92-9C9F-765B-AA8C887856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9" y="260350"/>
            <a:ext cx="8137525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短信系统案例（</a:t>
            </a:r>
            <a:r>
              <a:rPr lang="zh-CN" altLang="en-US">
                <a:solidFill>
                  <a:srgbClr val="FF0000"/>
                </a:solidFill>
              </a:rPr>
              <a:t>功能分析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0733993D-9ABB-52DC-75A3-83C28BEAADC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847850" y="981075"/>
            <a:ext cx="8351838" cy="48958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/>
              <a:t>用户：收发人员、管理人员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/>
              <a:t>用户的各自问题：</a:t>
            </a:r>
          </a:p>
          <a:p>
            <a:pPr lvl="1"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收发人员</a:t>
            </a:r>
            <a:r>
              <a:rPr lang="zh-CN" altLang="en-US" sz="2000"/>
              <a:t>：负责</a:t>
            </a:r>
            <a:r>
              <a:rPr lang="zh-CN" altLang="en-US" sz="2000">
                <a:solidFill>
                  <a:srgbClr val="FF0000"/>
                </a:solidFill>
              </a:rPr>
              <a:t>发送</a:t>
            </a:r>
            <a:r>
              <a:rPr lang="zh-CN" altLang="en-US" sz="2000"/>
              <a:t>短信给用户或</a:t>
            </a:r>
            <a:r>
              <a:rPr lang="zh-CN" altLang="en-US" sz="2000">
                <a:solidFill>
                  <a:srgbClr val="FF0000"/>
                </a:solidFill>
              </a:rPr>
              <a:t>接受</a:t>
            </a:r>
            <a:r>
              <a:rPr lang="zh-CN" altLang="en-US" sz="2000"/>
              <a:t>用户短信；</a:t>
            </a:r>
          </a:p>
          <a:p>
            <a:pPr lvl="1"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管理人员</a:t>
            </a:r>
            <a:r>
              <a:rPr lang="zh-CN" altLang="en-US" sz="2000"/>
              <a:t>：添加、更新、删除</a:t>
            </a:r>
            <a:r>
              <a:rPr lang="zh-CN" altLang="en-US" sz="2000">
                <a:solidFill>
                  <a:srgbClr val="FF0000"/>
                </a:solidFill>
              </a:rPr>
              <a:t>用户。</a:t>
            </a:r>
          </a:p>
          <a:p>
            <a:pPr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/>
              <a:t>功能需求：</a:t>
            </a:r>
          </a:p>
          <a:p>
            <a:pPr lvl="1"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短信发送</a:t>
            </a:r>
            <a:r>
              <a:rPr lang="zh-CN" altLang="en-US" sz="2000"/>
              <a:t>：填写发送内容、选择发送用户、指明是否要回执、然后（通过无线终端或短信网关）发送短信；</a:t>
            </a:r>
          </a:p>
          <a:p>
            <a:pPr lvl="1"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短信接收</a:t>
            </a:r>
            <a:r>
              <a:rPr lang="zh-CN" altLang="en-US" sz="2000"/>
              <a:t>：从无线终端或短信网关读取短信内容，并查看；</a:t>
            </a:r>
          </a:p>
          <a:p>
            <a:pPr lvl="1" eaLnBrk="1" hangingPunct="1">
              <a:lnSpc>
                <a:spcPct val="150000"/>
              </a:lnSpc>
              <a:spcBef>
                <a:spcPts val="3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用户管理</a:t>
            </a:r>
            <a:r>
              <a:rPr lang="zh-CN" altLang="en-US" sz="2000"/>
              <a:t>：添加用户、更新用户、删除用户。</a:t>
            </a:r>
            <a:endParaRPr lang="zh-CN" altLang="en-US" sz="2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>
            <a:extLst>
              <a:ext uri="{FF2B5EF4-FFF2-40B4-BE49-F238E27FC236}">
                <a16:creationId xmlns:a16="http://schemas.microsoft.com/office/drawing/2014/main" id="{B0F61B4D-D0A1-B691-DF53-5B285DBAC7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9DE71-4865-46DE-A94C-AF453156AD8F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3E65ED0-096F-8C32-62A3-54C9F87564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短信系统用例图</a:t>
            </a:r>
          </a:p>
        </p:txBody>
      </p:sp>
      <p:grpSp>
        <p:nvGrpSpPr>
          <p:cNvPr id="67588" name="Group 3">
            <a:extLst>
              <a:ext uri="{FF2B5EF4-FFF2-40B4-BE49-F238E27FC236}">
                <a16:creationId xmlns:a16="http://schemas.microsoft.com/office/drawing/2014/main" id="{EFD640E3-078A-7436-809B-3D915FE22E8E}"/>
              </a:ext>
            </a:extLst>
          </p:cNvPr>
          <p:cNvGrpSpPr>
            <a:grpSpLocks/>
          </p:cNvGrpSpPr>
          <p:nvPr/>
        </p:nvGrpSpPr>
        <p:grpSpPr bwMode="auto">
          <a:xfrm>
            <a:off x="3306763" y="1676400"/>
            <a:ext cx="381000" cy="838200"/>
            <a:chOff x="822" y="1313"/>
            <a:chExt cx="398" cy="771"/>
          </a:xfrm>
        </p:grpSpPr>
        <p:sp>
          <p:nvSpPr>
            <p:cNvPr id="67615" name="Oval 4">
              <a:extLst>
                <a:ext uri="{FF2B5EF4-FFF2-40B4-BE49-F238E27FC236}">
                  <a16:creationId xmlns:a16="http://schemas.microsoft.com/office/drawing/2014/main" id="{B7D5663C-41EF-27D5-9D7B-A771F9564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16" name="Line 5">
              <a:extLst>
                <a:ext uri="{FF2B5EF4-FFF2-40B4-BE49-F238E27FC236}">
                  <a16:creationId xmlns:a16="http://schemas.microsoft.com/office/drawing/2014/main" id="{CA0420A2-6B79-C17D-30BA-A61602772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7" name="Line 6">
              <a:extLst>
                <a:ext uri="{FF2B5EF4-FFF2-40B4-BE49-F238E27FC236}">
                  <a16:creationId xmlns:a16="http://schemas.microsoft.com/office/drawing/2014/main" id="{B3630FBB-BFDA-1BA0-D87F-435EFF970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8" name="Line 7">
              <a:extLst>
                <a:ext uri="{FF2B5EF4-FFF2-40B4-BE49-F238E27FC236}">
                  <a16:creationId xmlns:a16="http://schemas.microsoft.com/office/drawing/2014/main" id="{1E29CDFD-D43F-BAD1-B9F0-B9FE119B8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9" name="Line 8">
              <a:extLst>
                <a:ext uri="{FF2B5EF4-FFF2-40B4-BE49-F238E27FC236}">
                  <a16:creationId xmlns:a16="http://schemas.microsoft.com/office/drawing/2014/main" id="{FA71C591-D2DB-AC31-74C0-3C86414A1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7589" name="Text Box 9">
            <a:extLst>
              <a:ext uri="{FF2B5EF4-FFF2-40B4-BE49-F238E27FC236}">
                <a16:creationId xmlns:a16="http://schemas.microsoft.com/office/drawing/2014/main" id="{365F587C-77F2-5ACF-28DB-8AF1B45CC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163" y="2667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用户</a:t>
            </a:r>
          </a:p>
        </p:txBody>
      </p:sp>
      <p:grpSp>
        <p:nvGrpSpPr>
          <p:cNvPr id="67590" name="Group 16">
            <a:extLst>
              <a:ext uri="{FF2B5EF4-FFF2-40B4-BE49-F238E27FC236}">
                <a16:creationId xmlns:a16="http://schemas.microsoft.com/office/drawing/2014/main" id="{BC4DE760-BE4B-5853-D185-D875979B89F4}"/>
              </a:ext>
            </a:extLst>
          </p:cNvPr>
          <p:cNvGrpSpPr>
            <a:grpSpLocks/>
          </p:cNvGrpSpPr>
          <p:nvPr/>
        </p:nvGrpSpPr>
        <p:grpSpPr bwMode="auto">
          <a:xfrm>
            <a:off x="3154363" y="4114800"/>
            <a:ext cx="381000" cy="838200"/>
            <a:chOff x="822" y="1313"/>
            <a:chExt cx="398" cy="771"/>
          </a:xfrm>
        </p:grpSpPr>
        <p:sp>
          <p:nvSpPr>
            <p:cNvPr id="67610" name="Oval 17">
              <a:extLst>
                <a:ext uri="{FF2B5EF4-FFF2-40B4-BE49-F238E27FC236}">
                  <a16:creationId xmlns:a16="http://schemas.microsoft.com/office/drawing/2014/main" id="{24ABFB4B-06AE-83A0-B0D9-25F43B139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11" name="Line 18">
              <a:extLst>
                <a:ext uri="{FF2B5EF4-FFF2-40B4-BE49-F238E27FC236}">
                  <a16:creationId xmlns:a16="http://schemas.microsoft.com/office/drawing/2014/main" id="{349E67F5-8456-EFAD-DFA5-04FBFAFE1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2" name="Line 19">
              <a:extLst>
                <a:ext uri="{FF2B5EF4-FFF2-40B4-BE49-F238E27FC236}">
                  <a16:creationId xmlns:a16="http://schemas.microsoft.com/office/drawing/2014/main" id="{FB4824E3-D0B2-9A33-380F-0AF421139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3" name="Line 20">
              <a:extLst>
                <a:ext uri="{FF2B5EF4-FFF2-40B4-BE49-F238E27FC236}">
                  <a16:creationId xmlns:a16="http://schemas.microsoft.com/office/drawing/2014/main" id="{B7D28FDB-59C2-A5DE-2FA2-99089DE1FB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4" name="Line 21">
              <a:extLst>
                <a:ext uri="{FF2B5EF4-FFF2-40B4-BE49-F238E27FC236}">
                  <a16:creationId xmlns:a16="http://schemas.microsoft.com/office/drawing/2014/main" id="{815687F5-6CBA-43A6-247A-D735AC242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7591" name="Text Box 23">
            <a:extLst>
              <a:ext uri="{FF2B5EF4-FFF2-40B4-BE49-F238E27FC236}">
                <a16:creationId xmlns:a16="http://schemas.microsoft.com/office/drawing/2014/main" id="{65917D44-6C8E-1CC1-0CE0-15B0135E9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563" y="518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管理员</a:t>
            </a:r>
          </a:p>
        </p:txBody>
      </p:sp>
      <p:sp>
        <p:nvSpPr>
          <p:cNvPr id="67592" name="Rectangle 24">
            <a:extLst>
              <a:ext uri="{FF2B5EF4-FFF2-40B4-BE49-F238E27FC236}">
                <a16:creationId xmlns:a16="http://schemas.microsoft.com/office/drawing/2014/main" id="{BC21AF2F-CAD8-6D1B-92B9-2F3B5A17E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1" y="984251"/>
            <a:ext cx="3370263" cy="5370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7593" name="Group 28">
            <a:extLst>
              <a:ext uri="{FF2B5EF4-FFF2-40B4-BE49-F238E27FC236}">
                <a16:creationId xmlns:a16="http://schemas.microsoft.com/office/drawing/2014/main" id="{59EAE0F6-5B18-A3E8-42A9-78DD38AF9488}"/>
              </a:ext>
            </a:extLst>
          </p:cNvPr>
          <p:cNvGrpSpPr>
            <a:grpSpLocks/>
          </p:cNvGrpSpPr>
          <p:nvPr/>
        </p:nvGrpSpPr>
        <p:grpSpPr bwMode="auto">
          <a:xfrm>
            <a:off x="5135563" y="1676400"/>
            <a:ext cx="1981200" cy="533400"/>
            <a:chOff x="2643" y="949"/>
            <a:chExt cx="1237" cy="372"/>
          </a:xfrm>
        </p:grpSpPr>
        <p:sp>
          <p:nvSpPr>
            <p:cNvPr id="67608" name="Oval 29">
              <a:extLst>
                <a:ext uri="{FF2B5EF4-FFF2-40B4-BE49-F238E27FC236}">
                  <a16:creationId xmlns:a16="http://schemas.microsoft.com/office/drawing/2014/main" id="{49BA6532-9DBA-2452-23C6-6DEA6E57B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9" name="Text Box 30">
              <a:extLst>
                <a:ext uri="{FF2B5EF4-FFF2-40B4-BE49-F238E27FC236}">
                  <a16:creationId xmlns:a16="http://schemas.microsoft.com/office/drawing/2014/main" id="{D4153241-A13F-18B4-D76E-90E8BFCEC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短信发送</a:t>
              </a:r>
            </a:p>
          </p:txBody>
        </p:sp>
      </p:grpSp>
      <p:grpSp>
        <p:nvGrpSpPr>
          <p:cNvPr id="67594" name="Group 37">
            <a:extLst>
              <a:ext uri="{FF2B5EF4-FFF2-40B4-BE49-F238E27FC236}">
                <a16:creationId xmlns:a16="http://schemas.microsoft.com/office/drawing/2014/main" id="{F439F01C-C6D5-9860-CFD7-E57DBD854F76}"/>
              </a:ext>
            </a:extLst>
          </p:cNvPr>
          <p:cNvGrpSpPr>
            <a:grpSpLocks/>
          </p:cNvGrpSpPr>
          <p:nvPr/>
        </p:nvGrpSpPr>
        <p:grpSpPr bwMode="auto">
          <a:xfrm>
            <a:off x="5287963" y="3886200"/>
            <a:ext cx="1981200" cy="533400"/>
            <a:chOff x="2643" y="949"/>
            <a:chExt cx="1237" cy="372"/>
          </a:xfrm>
        </p:grpSpPr>
        <p:sp>
          <p:nvSpPr>
            <p:cNvPr id="67606" name="Oval 38">
              <a:extLst>
                <a:ext uri="{FF2B5EF4-FFF2-40B4-BE49-F238E27FC236}">
                  <a16:creationId xmlns:a16="http://schemas.microsoft.com/office/drawing/2014/main" id="{906343AA-ABFE-BA5F-5122-02F2778AB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7" name="Text Box 39">
              <a:extLst>
                <a:ext uri="{FF2B5EF4-FFF2-40B4-BE49-F238E27FC236}">
                  <a16:creationId xmlns:a16="http://schemas.microsoft.com/office/drawing/2014/main" id="{438B62BD-3E8C-0066-081F-A7CAE05A8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用户管理</a:t>
              </a:r>
            </a:p>
          </p:txBody>
        </p:sp>
      </p:grpSp>
      <p:grpSp>
        <p:nvGrpSpPr>
          <p:cNvPr id="67595" name="Group 46">
            <a:extLst>
              <a:ext uri="{FF2B5EF4-FFF2-40B4-BE49-F238E27FC236}">
                <a16:creationId xmlns:a16="http://schemas.microsoft.com/office/drawing/2014/main" id="{7144BD4E-02AB-6E22-0B4C-FD205C3A05CD}"/>
              </a:ext>
            </a:extLst>
          </p:cNvPr>
          <p:cNvGrpSpPr>
            <a:grpSpLocks/>
          </p:cNvGrpSpPr>
          <p:nvPr/>
        </p:nvGrpSpPr>
        <p:grpSpPr bwMode="auto">
          <a:xfrm>
            <a:off x="5135563" y="2743200"/>
            <a:ext cx="1981200" cy="533400"/>
            <a:chOff x="2643" y="949"/>
            <a:chExt cx="1237" cy="372"/>
          </a:xfrm>
        </p:grpSpPr>
        <p:sp>
          <p:nvSpPr>
            <p:cNvPr id="67604" name="Oval 47">
              <a:extLst>
                <a:ext uri="{FF2B5EF4-FFF2-40B4-BE49-F238E27FC236}">
                  <a16:creationId xmlns:a16="http://schemas.microsoft.com/office/drawing/2014/main" id="{AAA8D53D-1B20-7CE5-6BBA-DB52A4398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5" name="Text Box 48">
              <a:extLst>
                <a:ext uri="{FF2B5EF4-FFF2-40B4-BE49-F238E27FC236}">
                  <a16:creationId xmlns:a16="http://schemas.microsoft.com/office/drawing/2014/main" id="{ADEF3F5B-5F58-C56E-E9CC-6F4107811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短信接收</a:t>
              </a:r>
            </a:p>
          </p:txBody>
        </p:sp>
      </p:grpSp>
      <p:sp>
        <p:nvSpPr>
          <p:cNvPr id="67596" name="Text Box 50">
            <a:extLst>
              <a:ext uri="{FF2B5EF4-FFF2-40B4-BE49-F238E27FC236}">
                <a16:creationId xmlns:a16="http://schemas.microsoft.com/office/drawing/2014/main" id="{5980E4E1-6503-E301-E4AE-5585CD77D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1066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短信系统</a:t>
            </a:r>
          </a:p>
        </p:txBody>
      </p:sp>
      <p:sp>
        <p:nvSpPr>
          <p:cNvPr id="67597" name="Line 51">
            <a:extLst>
              <a:ext uri="{FF2B5EF4-FFF2-40B4-BE49-F238E27FC236}">
                <a16:creationId xmlns:a16="http://schemas.microsoft.com/office/drawing/2014/main" id="{8B5ACC54-7E4E-C468-7E6C-6226C7720C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7763" y="1981200"/>
            <a:ext cx="1447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8" name="Line 53">
            <a:extLst>
              <a:ext uri="{FF2B5EF4-FFF2-40B4-BE49-F238E27FC236}">
                <a16:creationId xmlns:a16="http://schemas.microsoft.com/office/drawing/2014/main" id="{31B84202-E2F7-EF9F-3D84-5C0FDA964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22098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9" name="Line 57">
            <a:extLst>
              <a:ext uri="{FF2B5EF4-FFF2-40B4-BE49-F238E27FC236}">
                <a16:creationId xmlns:a16="http://schemas.microsoft.com/office/drawing/2014/main" id="{657C6A68-D5E5-6182-002D-3359828260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1563" y="4191000"/>
            <a:ext cx="1600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7600" name="Group 58">
            <a:extLst>
              <a:ext uri="{FF2B5EF4-FFF2-40B4-BE49-F238E27FC236}">
                <a16:creationId xmlns:a16="http://schemas.microsoft.com/office/drawing/2014/main" id="{EDE197A9-665F-D226-D9D7-516D9D03A8DB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4953000"/>
            <a:ext cx="1981200" cy="533400"/>
            <a:chOff x="2643" y="949"/>
            <a:chExt cx="1237" cy="372"/>
          </a:xfrm>
        </p:grpSpPr>
        <p:sp>
          <p:nvSpPr>
            <p:cNvPr id="67602" name="Oval 59">
              <a:extLst>
                <a:ext uri="{FF2B5EF4-FFF2-40B4-BE49-F238E27FC236}">
                  <a16:creationId xmlns:a16="http://schemas.microsoft.com/office/drawing/2014/main" id="{EEE09200-C17C-5FAF-2CC9-42A144D92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3" name="Text Box 60">
              <a:extLst>
                <a:ext uri="{FF2B5EF4-FFF2-40B4-BE49-F238E27FC236}">
                  <a16:creationId xmlns:a16="http://schemas.microsoft.com/office/drawing/2014/main" id="{0AAF81DF-E1DE-DC66-3D15-796E47869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" y="1017"/>
              <a:ext cx="781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系统设置</a:t>
              </a:r>
            </a:p>
          </p:txBody>
        </p:sp>
      </p:grpSp>
      <p:sp>
        <p:nvSpPr>
          <p:cNvPr id="67601" name="Line 61">
            <a:extLst>
              <a:ext uri="{FF2B5EF4-FFF2-40B4-BE49-F238E27FC236}">
                <a16:creationId xmlns:a16="http://schemas.microsoft.com/office/drawing/2014/main" id="{36A5007F-07B0-B87B-FF31-F93D89F1C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46482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>
            <a:extLst>
              <a:ext uri="{FF2B5EF4-FFF2-40B4-BE49-F238E27FC236}">
                <a16:creationId xmlns:a16="http://schemas.microsoft.com/office/drawing/2014/main" id="{9DB84D76-58FF-AB71-C910-78D08C9760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08BD77A-FF8D-4F8B-A00B-781A4C68435E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64643C59-6C09-5E1D-6A1F-C860B3D15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SafeHome</a:t>
            </a:r>
            <a:r>
              <a:rPr lang="zh-CN" altLang="en-US"/>
              <a:t>系统案例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876EFE3A-8C42-1320-AAFC-C4EA5D57F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58876"/>
            <a:ext cx="8229600" cy="5078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>
                <a:solidFill>
                  <a:srgbClr val="FF0000"/>
                </a:solidFill>
              </a:rPr>
              <a:t>房主</a:t>
            </a:r>
            <a:r>
              <a:rPr lang="zh-CN" altLang="en-US" sz="2600"/>
              <a:t>通过使用</a:t>
            </a:r>
            <a:r>
              <a:rPr lang="zh-CN" altLang="en-US" sz="2600">
                <a:solidFill>
                  <a:srgbClr val="FF0000"/>
                </a:solidFill>
              </a:rPr>
              <a:t>报警控制面板</a:t>
            </a:r>
            <a:r>
              <a:rPr lang="zh-CN" altLang="en-US" sz="2600"/>
              <a:t>或计算机等多种方式</a:t>
            </a:r>
            <a:r>
              <a:rPr lang="zh-CN" altLang="en-US" sz="2600">
                <a:solidFill>
                  <a:srgbClr val="FF0000"/>
                </a:solidFill>
              </a:rPr>
              <a:t>与住宅安全功能交互</a:t>
            </a:r>
            <a:r>
              <a:rPr lang="zh-CN" altLang="en-US" sz="2600"/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输入密码以便能进行其他交互操作。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查询安全区的状态。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查询传感器的状态。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在紧急情况时按下应急按钮。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激活或关闭安全系统。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6">
            <a:extLst>
              <a:ext uri="{FF2B5EF4-FFF2-40B4-BE49-F238E27FC236}">
                <a16:creationId xmlns:a16="http://schemas.microsoft.com/office/drawing/2014/main" id="{BE54C7CA-0D8C-0292-D864-99B91F0C9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CF3014-E90C-4B0B-9EE2-4FF1D3A84124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1B5BD77-07C2-A72E-143E-8D1895D7C1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CN"/>
              <a:t>SafeHome</a:t>
            </a:r>
            <a:r>
              <a:rPr lang="zh-CN" altLang="en-US"/>
              <a:t>系统案例</a:t>
            </a:r>
            <a:endParaRPr lang="en-US" altLang="zh-CN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BCA33F7-96A9-77F0-3A77-2D9A103B377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774826" y="981075"/>
            <a:ext cx="8353425" cy="515778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200"/>
              <a:t>考虑到房主使用控制面板的情况，</a:t>
            </a:r>
            <a:r>
              <a:rPr lang="zh-CN" altLang="en-US" sz="2200">
                <a:solidFill>
                  <a:srgbClr val="FF0000"/>
                </a:solidFill>
              </a:rPr>
              <a:t>系统激活</a:t>
            </a:r>
            <a:r>
              <a:rPr lang="zh-CN" altLang="en-US" sz="2200"/>
              <a:t>的基本用例</a:t>
            </a:r>
            <a:r>
              <a:rPr lang="en-US" altLang="zh-CN" sz="2200"/>
              <a:t>(</a:t>
            </a:r>
            <a:r>
              <a:rPr lang="zh-CN" altLang="en-US" sz="2200"/>
              <a:t>场景</a:t>
            </a:r>
            <a:r>
              <a:rPr lang="en-US" altLang="zh-CN" sz="2200"/>
              <a:t>)</a:t>
            </a:r>
            <a:r>
              <a:rPr lang="zh-CN" altLang="en-US" sz="2200"/>
              <a:t>：</a:t>
            </a: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房主观察控制面板，以</a:t>
            </a:r>
            <a:r>
              <a:rPr lang="zh-CN" altLang="en-US" sz="2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确定系统是否已准备好接收输入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。如果系统尚未就绪，“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not ready”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消息将显示在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LCD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显示器上，房主必须亲自动手关闭窗户或门以使得该消息消失。</a:t>
            </a: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房主使用键盘</a:t>
            </a:r>
            <a:r>
              <a:rPr lang="zh-CN" altLang="en-US" sz="2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位密码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，该密码和系统中存储的有效密码相比较。如果密码不正确，控制面板将鸣叫一声并自动复位以等待再次输入。如果密码正确，控制面板等待进一步的操作。</a:t>
            </a:r>
            <a:endParaRPr lang="en-US" altLang="zh-CN" sz="2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房主选择“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stay”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或“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away”</a:t>
            </a:r>
            <a:r>
              <a:rPr lang="zh-CN" altLang="en-US" sz="2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启动系统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。“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stay”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只激活外部传感器，“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</a:rPr>
              <a:t>away”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激活所有的传感器。</a:t>
            </a: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当激活时，房主可以看到一个红色的警报灯。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6">
            <a:extLst>
              <a:ext uri="{FF2B5EF4-FFF2-40B4-BE49-F238E27FC236}">
                <a16:creationId xmlns:a16="http://schemas.microsoft.com/office/drawing/2014/main" id="{EA7E1F20-CA00-1A68-CFC3-8A3229943E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28C8DB-5201-4337-8511-50EFCDFF4CAB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D527009-7FAF-4F99-687A-8041DF20D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SafeHome</a:t>
            </a:r>
            <a:r>
              <a:rPr lang="zh-CN" altLang="en-US"/>
              <a:t>用例模板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396437F3-537D-620E-9DB1-1C18526E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用例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：初始化监控</a:t>
            </a:r>
            <a:endParaRPr lang="en-US" altLang="zh-CN" sz="20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楷体" panose="02010609060101010101" pitchFamily="49" charset="-122"/>
                <a:ea typeface="楷体" panose="02010609060101010101" pitchFamily="49" charset="-122"/>
              </a:rPr>
              <a:t>主要参与者：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房主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楷体" panose="02010609060101010101" pitchFamily="49" charset="-122"/>
                <a:ea typeface="楷体" panose="02010609060101010101" pitchFamily="49" charset="-122"/>
              </a:rPr>
              <a:t>目标：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设置系统在房主离开住宅或留在房间内时监测传感器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楷体" panose="02010609060101010101" pitchFamily="49" charset="-122"/>
                <a:ea typeface="楷体" panose="02010609060101010101" pitchFamily="49" charset="-122"/>
              </a:rPr>
              <a:t>前提条件：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系统已经输入密码并识别各种传感器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楷体" panose="02010609060101010101" pitchFamily="49" charset="-122"/>
                <a:ea typeface="楷体" panose="02010609060101010101" pitchFamily="49" charset="-122"/>
              </a:rPr>
              <a:t>触发器：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房主决定“设置”系统，即打开警报功能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楷体" panose="02010609060101010101" pitchFamily="49" charset="-122"/>
                <a:ea typeface="楷体" panose="02010609060101010101" pitchFamily="49" charset="-122"/>
              </a:rPr>
              <a:t>场景：</a:t>
            </a:r>
            <a:endParaRPr lang="en-US" altLang="zh-CN" sz="160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观察控制面板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输入密码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选择“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stay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”或“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away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观察红色报警灯显示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SafeHome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已经被打开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1600">
                <a:latin typeface="楷体" panose="02010609060101010101" pitchFamily="49" charset="-122"/>
                <a:ea typeface="楷体" panose="02010609060101010101" pitchFamily="49" charset="-122"/>
              </a:rPr>
              <a:t>异常</a:t>
            </a:r>
            <a:r>
              <a:rPr lang="zh-CN" altLang="en-US" sz="1600"/>
              <a:t>：</a:t>
            </a:r>
            <a:endParaRPr lang="en-US" altLang="zh-CN" sz="1600"/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控制面板没有准备就绪：检查所有的传感器，确定哪些是开着的，并将其关闭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密码不正确：重新输入正确的密码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密码不识别：必须对监测和相应子系统重新设置密码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选择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stay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：  控制面板鸣叫两声并且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Stay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灯亮；激活边界传感器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Garamond" panose="02020404030301010803" pitchFamily="18" charset="0"/>
              <a:buAutoNum type="arabicPeriod"/>
            </a:pP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选择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away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：控制面板鸣叫三声并且</a:t>
            </a:r>
            <a:r>
              <a:rPr lang="en-US" altLang="zh-CN" sz="1600" b="0">
                <a:latin typeface="楷体" panose="02010609060101010101" pitchFamily="49" charset="-122"/>
                <a:ea typeface="楷体" panose="02010609060101010101" pitchFamily="49" charset="-122"/>
              </a:rPr>
              <a:t>away</a:t>
            </a:r>
            <a:r>
              <a:rPr lang="zh-CN" altLang="en-US" sz="1600" b="0">
                <a:latin typeface="楷体" panose="02010609060101010101" pitchFamily="49" charset="-122"/>
                <a:ea typeface="楷体" panose="02010609060101010101" pitchFamily="49" charset="-122"/>
              </a:rPr>
              <a:t>灯亮；激活所有传感器</a:t>
            </a:r>
            <a:endParaRPr lang="en-US" altLang="zh-CN" sz="1600" b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6">
            <a:extLst>
              <a:ext uri="{FF2B5EF4-FFF2-40B4-BE49-F238E27FC236}">
                <a16:creationId xmlns:a16="http://schemas.microsoft.com/office/drawing/2014/main" id="{21C07A03-EB47-DABE-CD7E-BAD872C745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87B983-86E1-4C95-B85F-D7E8408EDA50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9E031B8-C664-AEDE-1F06-4E4EECDE8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SafeHome</a:t>
            </a:r>
            <a:r>
              <a:rPr lang="zh-CN" altLang="en-US"/>
              <a:t>用例模板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0A4FE3-8B6F-CDE8-6D08-ED8D46E722BA}"/>
              </a:ext>
            </a:extLst>
          </p:cNvPr>
          <p:cNvSpPr txBox="1"/>
          <p:nvPr/>
        </p:nvSpPr>
        <p:spPr>
          <a:xfrm>
            <a:off x="2030414" y="981075"/>
            <a:ext cx="7572375" cy="5360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优先级：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必须实现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何时可用：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第一个增量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使用频率：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每天多次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使用方式：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通过控制面板接口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次要参与者：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技术支持人员，传感器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次要参与者使用方式：</a:t>
            </a:r>
            <a:endParaRPr kumimoji="1" lang="en-US" altLang="zh-CN" sz="1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AutoNum type="arabicPeriod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技术支持人员：电话线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AutoNum type="arabicPeriod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传感器：有线或无线接口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未解决的问题：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AutoNum type="arabicPeriod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是否还应该有不使用密码或使用缩略密码激活系统的方式？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AutoNum type="arabicPeriod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控制面板是否还应显示附加的文字信息？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AutoNum type="arabicPeriod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房主输入密码时，从按下第一个按键开始必须在多长时间内输入密码？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+mj-lt"/>
              <a:buAutoNum type="arabicPeriod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在真正激活系统之前有没有办法关闭系统？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    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en-US" altLang="zh-CN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    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可以使用类似的方法开发其他房主的交互用例，但是必须</a:t>
            </a:r>
            <a:r>
              <a:rPr kumimoji="1"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认真评审每个用例</a:t>
            </a: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，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r>
              <a:rPr kumimoji="1" lang="zh-CN" altLang="en-US" sz="1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charset="0"/>
              </a:rPr>
              <a:t>如果某些交互元素模糊不清，用例评审将解决这些问题。</a:t>
            </a:r>
            <a:endParaRPr kumimoji="1" lang="en-US" altLang="zh-CN" sz="1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宋体" charset="0"/>
            </a:endParaRPr>
          </a:p>
          <a:p>
            <a:pPr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endParaRPr kumimoji="1" lang="en-US" altLang="zh-CN" sz="1600" dirty="0">
              <a:solidFill>
                <a:srgbClr val="000000"/>
              </a:solidFill>
              <a:latin typeface="Arial"/>
              <a:ea typeface="宋体"/>
              <a:cs typeface="宋体" charset="0"/>
            </a:endParaRPr>
          </a:p>
          <a:p>
            <a:pPr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defRPr/>
            </a:pPr>
            <a:endParaRPr kumimoji="1" lang="en-US" altLang="zh-CN" sz="1600" dirty="0">
              <a:solidFill>
                <a:srgbClr val="000000"/>
              </a:solidFill>
              <a:latin typeface="Arial"/>
              <a:ea typeface="宋体"/>
              <a:cs typeface="宋体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6">
            <a:extLst>
              <a:ext uri="{FF2B5EF4-FFF2-40B4-BE49-F238E27FC236}">
                <a16:creationId xmlns:a16="http://schemas.microsoft.com/office/drawing/2014/main" id="{0D6E3C26-5E0A-C46C-A755-D46D4ACAB7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BD9B813-A656-4165-B1FC-9FD029496CF5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2604D48-8255-6828-ED0D-464D7CDFF6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5700712" cy="1143000"/>
          </a:xfrm>
        </p:spPr>
        <p:txBody>
          <a:bodyPr/>
          <a:lstStyle/>
          <a:p>
            <a:pPr eaLnBrk="1" hangingPunct="1"/>
            <a:r>
              <a:rPr lang="zh-CN" altLang="en-US"/>
              <a:t>用例图</a:t>
            </a:r>
          </a:p>
        </p:txBody>
      </p:sp>
      <p:grpSp>
        <p:nvGrpSpPr>
          <p:cNvPr id="72708" name="Group 3">
            <a:extLst>
              <a:ext uri="{FF2B5EF4-FFF2-40B4-BE49-F238E27FC236}">
                <a16:creationId xmlns:a16="http://schemas.microsoft.com/office/drawing/2014/main" id="{BD89E1D6-9FFA-3578-7719-66760ADDC349}"/>
              </a:ext>
            </a:extLst>
          </p:cNvPr>
          <p:cNvGrpSpPr>
            <a:grpSpLocks/>
          </p:cNvGrpSpPr>
          <p:nvPr/>
        </p:nvGrpSpPr>
        <p:grpSpPr bwMode="auto">
          <a:xfrm>
            <a:off x="3105151" y="1068389"/>
            <a:ext cx="403225" cy="1042987"/>
            <a:chOff x="822" y="1313"/>
            <a:chExt cx="398" cy="771"/>
          </a:xfrm>
        </p:grpSpPr>
        <p:sp>
          <p:nvSpPr>
            <p:cNvPr id="72741" name="Oval 4">
              <a:extLst>
                <a:ext uri="{FF2B5EF4-FFF2-40B4-BE49-F238E27FC236}">
                  <a16:creationId xmlns:a16="http://schemas.microsoft.com/office/drawing/2014/main" id="{828F0EB6-3764-38FD-2840-335E58E91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42" name="Line 5">
              <a:extLst>
                <a:ext uri="{FF2B5EF4-FFF2-40B4-BE49-F238E27FC236}">
                  <a16:creationId xmlns:a16="http://schemas.microsoft.com/office/drawing/2014/main" id="{B54C2D59-E5C2-12AB-3760-8B1ABFA03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43" name="Line 6">
              <a:extLst>
                <a:ext uri="{FF2B5EF4-FFF2-40B4-BE49-F238E27FC236}">
                  <a16:creationId xmlns:a16="http://schemas.microsoft.com/office/drawing/2014/main" id="{F2AB56C8-E4D3-3239-2C22-B3ADBEBF9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44" name="Line 7">
              <a:extLst>
                <a:ext uri="{FF2B5EF4-FFF2-40B4-BE49-F238E27FC236}">
                  <a16:creationId xmlns:a16="http://schemas.microsoft.com/office/drawing/2014/main" id="{FB6010EB-C728-871D-AE40-9AC78A98E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45" name="Line 8">
              <a:extLst>
                <a:ext uri="{FF2B5EF4-FFF2-40B4-BE49-F238E27FC236}">
                  <a16:creationId xmlns:a16="http://schemas.microsoft.com/office/drawing/2014/main" id="{76847A94-9798-E732-2617-48420AC6C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09" name="Text Box 9">
            <a:extLst>
              <a:ext uri="{FF2B5EF4-FFF2-40B4-BE49-F238E27FC236}">
                <a16:creationId xmlns:a16="http://schemas.microsoft.com/office/drawing/2014/main" id="{4FBD2028-4C97-0047-0F72-96011A429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9" y="2066926"/>
            <a:ext cx="928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000">
                <a:solidFill>
                  <a:srgbClr val="000000"/>
                </a:solidFill>
                <a:latin typeface="Helvetica" panose="020B0604020202020204" pitchFamily="34" charset="0"/>
              </a:rPr>
              <a:t>房主</a:t>
            </a:r>
          </a:p>
        </p:txBody>
      </p:sp>
      <p:grpSp>
        <p:nvGrpSpPr>
          <p:cNvPr id="72710" name="Group 10">
            <a:extLst>
              <a:ext uri="{FF2B5EF4-FFF2-40B4-BE49-F238E27FC236}">
                <a16:creationId xmlns:a16="http://schemas.microsoft.com/office/drawing/2014/main" id="{58FE0661-F702-6DF1-3121-CEE2D4096DEB}"/>
              </a:ext>
            </a:extLst>
          </p:cNvPr>
          <p:cNvGrpSpPr>
            <a:grpSpLocks/>
          </p:cNvGrpSpPr>
          <p:nvPr/>
        </p:nvGrpSpPr>
        <p:grpSpPr bwMode="auto">
          <a:xfrm>
            <a:off x="3068639" y="3103564"/>
            <a:ext cx="403225" cy="1042987"/>
            <a:chOff x="822" y="1313"/>
            <a:chExt cx="398" cy="771"/>
          </a:xfrm>
        </p:grpSpPr>
        <p:sp>
          <p:nvSpPr>
            <p:cNvPr id="72736" name="Oval 11">
              <a:extLst>
                <a:ext uri="{FF2B5EF4-FFF2-40B4-BE49-F238E27FC236}">
                  <a16:creationId xmlns:a16="http://schemas.microsoft.com/office/drawing/2014/main" id="{0D3BE0A7-5608-9ADF-75EB-953E09F8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1313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7" name="Line 12">
              <a:extLst>
                <a:ext uri="{FF2B5EF4-FFF2-40B4-BE49-F238E27FC236}">
                  <a16:creationId xmlns:a16="http://schemas.microsoft.com/office/drawing/2014/main" id="{6CED803B-B887-1D64-4F64-B253EA40E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" y="1736"/>
              <a:ext cx="3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38" name="Line 13">
              <a:extLst>
                <a:ext uri="{FF2B5EF4-FFF2-40B4-BE49-F238E27FC236}">
                  <a16:creationId xmlns:a16="http://schemas.microsoft.com/office/drawing/2014/main" id="{D648464F-3BCD-636E-7241-33C912AA6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" y="1618"/>
              <a:ext cx="0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39" name="Line 14">
              <a:extLst>
                <a:ext uri="{FF2B5EF4-FFF2-40B4-BE49-F238E27FC236}">
                  <a16:creationId xmlns:a16="http://schemas.microsoft.com/office/drawing/2014/main" id="{5B643B1E-356C-7D29-3467-06B5848FFC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1" y="1864"/>
              <a:ext cx="14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40" name="Line 15">
              <a:extLst>
                <a:ext uri="{FF2B5EF4-FFF2-40B4-BE49-F238E27FC236}">
                  <a16:creationId xmlns:a16="http://schemas.microsoft.com/office/drawing/2014/main" id="{A88FF9F3-BA6C-3B2F-FF44-EE87513BB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855"/>
              <a:ext cx="12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11" name="Text Box 16">
            <a:extLst>
              <a:ext uri="{FF2B5EF4-FFF2-40B4-BE49-F238E27FC236}">
                <a16:creationId xmlns:a16="http://schemas.microsoft.com/office/drawing/2014/main" id="{856B4B32-9336-9E7D-77FF-C74F02D5A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4235450"/>
            <a:ext cx="11287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000">
                <a:solidFill>
                  <a:srgbClr val="000000"/>
                </a:solidFill>
                <a:latin typeface="Helvetica" panose="020B0604020202020204" pitchFamily="34" charset="0"/>
              </a:rPr>
              <a:t>系统</a:t>
            </a:r>
          </a:p>
          <a:p>
            <a:pPr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000">
                <a:solidFill>
                  <a:srgbClr val="000000"/>
                </a:solidFill>
                <a:latin typeface="Helvetica" panose="020B0604020202020204" pitchFamily="34" charset="0"/>
              </a:rPr>
              <a:t>管理员</a:t>
            </a:r>
          </a:p>
        </p:txBody>
      </p:sp>
      <p:sp>
        <p:nvSpPr>
          <p:cNvPr id="72712" name="Oval 17">
            <a:extLst>
              <a:ext uri="{FF2B5EF4-FFF2-40B4-BE49-F238E27FC236}">
                <a16:creationId xmlns:a16="http://schemas.microsoft.com/office/drawing/2014/main" id="{7D3C74A4-B35D-E020-33BD-D71719B6B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4835526"/>
            <a:ext cx="2671762" cy="123031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3" name="Text Box 18">
            <a:extLst>
              <a:ext uri="{FF2B5EF4-FFF2-40B4-BE49-F238E27FC236}">
                <a16:creationId xmlns:a16="http://schemas.microsoft.com/office/drawing/2014/main" id="{21FC09FA-B6BB-9849-5BD7-143326CA0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011739"/>
            <a:ext cx="192563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000">
                <a:solidFill>
                  <a:srgbClr val="000000"/>
                </a:solidFill>
                <a:latin typeface="Helvetica" panose="020B0604020202020204" pitchFamily="34" charset="0"/>
              </a:rPr>
              <a:t>重新配置传感器及相关的系统特性</a:t>
            </a:r>
          </a:p>
        </p:txBody>
      </p:sp>
      <p:sp>
        <p:nvSpPr>
          <p:cNvPr id="72714" name="Rectangle 19">
            <a:extLst>
              <a:ext uri="{FF2B5EF4-FFF2-40B4-BE49-F238E27FC236}">
                <a16:creationId xmlns:a16="http://schemas.microsoft.com/office/drawing/2014/main" id="{07166282-03AB-CE23-9DAE-009E4F7F9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025" y="692151"/>
            <a:ext cx="2782888" cy="5370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1" lang="zh-CN" altLang="en-US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2715" name="Group 20">
            <a:extLst>
              <a:ext uri="{FF2B5EF4-FFF2-40B4-BE49-F238E27FC236}">
                <a16:creationId xmlns:a16="http://schemas.microsoft.com/office/drawing/2014/main" id="{6C31A4F2-E2AA-F7C2-A607-0C7715E72C8B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3856039"/>
            <a:ext cx="1963738" cy="904875"/>
            <a:chOff x="2643" y="949"/>
            <a:chExt cx="1237" cy="372"/>
          </a:xfrm>
        </p:grpSpPr>
        <p:sp>
          <p:nvSpPr>
            <p:cNvPr id="72734" name="Oval 21">
              <a:extLst>
                <a:ext uri="{FF2B5EF4-FFF2-40B4-BE49-F238E27FC236}">
                  <a16:creationId xmlns:a16="http://schemas.microsoft.com/office/drawing/2014/main" id="{ECACDA53-8CBD-5AA7-CB0B-D076ECE98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5" name="Text Box 22">
              <a:extLst>
                <a:ext uri="{FF2B5EF4-FFF2-40B4-BE49-F238E27FC236}">
                  <a16:creationId xmlns:a16="http://schemas.microsoft.com/office/drawing/2014/main" id="{E7C75253-824F-F964-50BF-EBD52C4AE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016"/>
              <a:ext cx="77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遇到错误条件</a:t>
              </a:r>
            </a:p>
          </p:txBody>
        </p:sp>
      </p:grpSp>
      <p:grpSp>
        <p:nvGrpSpPr>
          <p:cNvPr id="72716" name="Group 23">
            <a:extLst>
              <a:ext uri="{FF2B5EF4-FFF2-40B4-BE49-F238E27FC236}">
                <a16:creationId xmlns:a16="http://schemas.microsoft.com/office/drawing/2014/main" id="{013328B3-F441-6490-0413-34ED1C2F56E6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2819400"/>
            <a:ext cx="1963738" cy="903288"/>
            <a:chOff x="2643" y="949"/>
            <a:chExt cx="1237" cy="372"/>
          </a:xfrm>
        </p:grpSpPr>
        <p:sp>
          <p:nvSpPr>
            <p:cNvPr id="72732" name="Oval 24">
              <a:extLst>
                <a:ext uri="{FF2B5EF4-FFF2-40B4-BE49-F238E27FC236}">
                  <a16:creationId xmlns:a16="http://schemas.microsoft.com/office/drawing/2014/main" id="{D4E2611B-BBE2-66C3-7165-48AF122C3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3" name="Text Box 25">
              <a:extLst>
                <a:ext uri="{FF2B5EF4-FFF2-40B4-BE49-F238E27FC236}">
                  <a16:creationId xmlns:a16="http://schemas.microsoft.com/office/drawing/2014/main" id="{2F4532E4-CABE-37A9-FED2-3E053DAAB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016"/>
              <a:ext cx="77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报警事件的响应</a:t>
              </a:r>
            </a:p>
          </p:txBody>
        </p:sp>
      </p:grpSp>
      <p:grpSp>
        <p:nvGrpSpPr>
          <p:cNvPr id="72717" name="Group 26">
            <a:extLst>
              <a:ext uri="{FF2B5EF4-FFF2-40B4-BE49-F238E27FC236}">
                <a16:creationId xmlns:a16="http://schemas.microsoft.com/office/drawing/2014/main" id="{B4A001A9-A179-6677-8A20-64C95E5D6B9D}"/>
              </a:ext>
            </a:extLst>
          </p:cNvPr>
          <p:cNvGrpSpPr>
            <a:grpSpLocks/>
          </p:cNvGrpSpPr>
          <p:nvPr/>
        </p:nvGrpSpPr>
        <p:grpSpPr bwMode="auto">
          <a:xfrm>
            <a:off x="4746626" y="1824039"/>
            <a:ext cx="2327275" cy="903287"/>
            <a:chOff x="2643" y="949"/>
            <a:chExt cx="1237" cy="372"/>
          </a:xfrm>
        </p:grpSpPr>
        <p:sp>
          <p:nvSpPr>
            <p:cNvPr id="72730" name="Oval 27">
              <a:extLst>
                <a:ext uri="{FF2B5EF4-FFF2-40B4-BE49-F238E27FC236}">
                  <a16:creationId xmlns:a16="http://schemas.microsoft.com/office/drawing/2014/main" id="{ECAE21D1-3897-3653-E85E-AE9FACC4B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1" name="Text Box 28">
              <a:extLst>
                <a:ext uri="{FF2B5EF4-FFF2-40B4-BE49-F238E27FC236}">
                  <a16:creationId xmlns:a16="http://schemas.microsoft.com/office/drawing/2014/main" id="{DF7B49CB-5FB7-944A-8393-614AE3892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016"/>
              <a:ext cx="78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通过因特网访问系统</a:t>
              </a:r>
            </a:p>
          </p:txBody>
        </p:sp>
      </p:grpSp>
      <p:grpSp>
        <p:nvGrpSpPr>
          <p:cNvPr id="72718" name="Group 29">
            <a:extLst>
              <a:ext uri="{FF2B5EF4-FFF2-40B4-BE49-F238E27FC236}">
                <a16:creationId xmlns:a16="http://schemas.microsoft.com/office/drawing/2014/main" id="{B1AACF7A-68C6-3A9E-AF09-A5E622827B71}"/>
              </a:ext>
            </a:extLst>
          </p:cNvPr>
          <p:cNvGrpSpPr>
            <a:grpSpLocks/>
          </p:cNvGrpSpPr>
          <p:nvPr/>
        </p:nvGrpSpPr>
        <p:grpSpPr bwMode="auto">
          <a:xfrm>
            <a:off x="4846638" y="817564"/>
            <a:ext cx="2125662" cy="903287"/>
            <a:chOff x="2643" y="949"/>
            <a:chExt cx="1237" cy="372"/>
          </a:xfrm>
        </p:grpSpPr>
        <p:sp>
          <p:nvSpPr>
            <p:cNvPr id="72728" name="Oval 30">
              <a:extLst>
                <a:ext uri="{FF2B5EF4-FFF2-40B4-BE49-F238E27FC236}">
                  <a16:creationId xmlns:a16="http://schemas.microsoft.com/office/drawing/2014/main" id="{0D68960E-0746-5FB1-D319-555E7FBC9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949"/>
              <a:ext cx="1237" cy="37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29" name="Text Box 31">
              <a:extLst>
                <a:ext uri="{FF2B5EF4-FFF2-40B4-BE49-F238E27FC236}">
                  <a16:creationId xmlns:a16="http://schemas.microsoft.com/office/drawing/2014/main" id="{199DF620-B14B-FB1A-67C9-5BE942C3D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1016"/>
              <a:ext cx="77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安装</a:t>
              </a: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zh-CN" altLang="en-US" sz="2000">
                  <a:solidFill>
                    <a:srgbClr val="000000"/>
                  </a:solidFill>
                  <a:latin typeface="Helvetica" panose="020B0604020202020204" pitchFamily="34" charset="0"/>
                </a:rPr>
                <a:t>解除系统</a:t>
              </a:r>
            </a:p>
          </p:txBody>
        </p:sp>
      </p:grpSp>
      <p:sp>
        <p:nvSpPr>
          <p:cNvPr id="72719" name="Text Box 32">
            <a:extLst>
              <a:ext uri="{FF2B5EF4-FFF2-40B4-BE49-F238E27FC236}">
                <a16:creationId xmlns:a16="http://schemas.microsoft.com/office/drawing/2014/main" id="{CE41A794-DB2D-9BB3-DAD0-D6E9B325E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650" y="1463676"/>
            <a:ext cx="1214438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000">
                <a:solidFill>
                  <a:srgbClr val="000000"/>
                </a:solidFill>
                <a:latin typeface="Helvetica" panose="020B0604020202020204" pitchFamily="34" charset="0"/>
              </a:rPr>
              <a:t>传感器</a:t>
            </a:r>
          </a:p>
        </p:txBody>
      </p:sp>
      <p:sp>
        <p:nvSpPr>
          <p:cNvPr id="72720" name="Line 33">
            <a:extLst>
              <a:ext uri="{FF2B5EF4-FFF2-40B4-BE49-F238E27FC236}">
                <a16:creationId xmlns:a16="http://schemas.microsoft.com/office/drawing/2014/main" id="{2FA3A356-8ACD-D994-4BCE-3D13364560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9338" y="1246189"/>
            <a:ext cx="1257300" cy="261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1" name="Line 34">
            <a:extLst>
              <a:ext uri="{FF2B5EF4-FFF2-40B4-BE49-F238E27FC236}">
                <a16:creationId xmlns:a16="http://schemas.microsoft.com/office/drawing/2014/main" id="{7F7CBD89-C2F2-0ECD-8A3C-B4636D05F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6326" y="1652588"/>
            <a:ext cx="1128713" cy="55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2" name="Line 35">
            <a:extLst>
              <a:ext uri="{FF2B5EF4-FFF2-40B4-BE49-F238E27FC236}">
                <a16:creationId xmlns:a16="http://schemas.microsoft.com/office/drawing/2014/main" id="{C7F3F34B-F098-2515-0923-74FAB3E2A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3464" y="1843089"/>
            <a:ext cx="1373187" cy="1373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3" name="Line 36">
            <a:extLst>
              <a:ext uri="{FF2B5EF4-FFF2-40B4-BE49-F238E27FC236}">
                <a16:creationId xmlns:a16="http://schemas.microsoft.com/office/drawing/2014/main" id="{2343BB59-273F-4EAE-EA8D-A0502EDBB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2350" y="2008188"/>
            <a:ext cx="1358900" cy="2235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4" name="Line 37">
            <a:extLst>
              <a:ext uri="{FF2B5EF4-FFF2-40B4-BE49-F238E27FC236}">
                <a16:creationId xmlns:a16="http://schemas.microsoft.com/office/drawing/2014/main" id="{53BB8DEF-3EBC-5591-BBA6-6E43A1D14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6326" y="3808413"/>
            <a:ext cx="968375" cy="1662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5" name="Line 38">
            <a:extLst>
              <a:ext uri="{FF2B5EF4-FFF2-40B4-BE49-F238E27FC236}">
                <a16:creationId xmlns:a16="http://schemas.microsoft.com/office/drawing/2014/main" id="{FDB59592-FD35-859A-1B39-C2DC93AF40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7689" y="1582739"/>
            <a:ext cx="1209675" cy="1633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6" name="Line 39">
            <a:extLst>
              <a:ext uri="{FF2B5EF4-FFF2-40B4-BE49-F238E27FC236}">
                <a16:creationId xmlns:a16="http://schemas.microsoft.com/office/drawing/2014/main" id="{9AE4E47D-9770-D43C-8F8A-1D930E0CE6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1" y="1735138"/>
            <a:ext cx="1249363" cy="2493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27" name="Line 40">
            <a:extLst>
              <a:ext uri="{FF2B5EF4-FFF2-40B4-BE49-F238E27FC236}">
                <a16:creationId xmlns:a16="http://schemas.microsoft.com/office/drawing/2014/main" id="{B20B4AFD-FC73-E7AA-DB57-8077BA0F4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61226" y="1855788"/>
            <a:ext cx="873125" cy="360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8B4F9C26-91EF-0A01-42C5-218487233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A8FDB95-90A6-46C6-AF88-1D490E27F4C7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9B684C8-C480-F865-BA4B-F88B13EB4F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1"/>
            <a:ext cx="7772400" cy="792163"/>
          </a:xfrm>
        </p:spPr>
        <p:txBody>
          <a:bodyPr/>
          <a:lstStyle/>
          <a:p>
            <a:pPr eaLnBrk="1" hangingPunct="1"/>
            <a:r>
              <a:rPr lang="en-US" altLang="zh-CN" dirty="0"/>
              <a:t>CRC</a:t>
            </a:r>
            <a:r>
              <a:rPr lang="zh-CN" altLang="en-US" dirty="0"/>
              <a:t>建模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BFC7DE4-0E3A-3D82-2CFE-9FB6E5229B5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19289" y="981075"/>
            <a:ext cx="8353425" cy="5010150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/>
              <a:t>类</a:t>
            </a:r>
            <a:r>
              <a:rPr lang="en-US" altLang="zh-CN"/>
              <a:t>-</a:t>
            </a:r>
            <a:r>
              <a:rPr lang="zh-CN" altLang="en-US"/>
              <a:t>职责</a:t>
            </a:r>
            <a:r>
              <a:rPr lang="en-US" altLang="zh-CN"/>
              <a:t>-</a:t>
            </a:r>
            <a:r>
              <a:rPr lang="zh-CN" altLang="en-US"/>
              <a:t>协作者</a:t>
            </a:r>
            <a:r>
              <a:rPr lang="en-US" altLang="zh-CN"/>
              <a:t>CRC (Class-Responsibility-Collaborator)</a:t>
            </a:r>
            <a:r>
              <a:rPr lang="zh-CN" altLang="en-US"/>
              <a:t>建模：提供了一个</a:t>
            </a:r>
            <a:r>
              <a:rPr lang="zh-CN" altLang="en-US">
                <a:solidFill>
                  <a:schemeClr val="accent2"/>
                </a:solidFill>
              </a:rPr>
              <a:t>简单</a:t>
            </a:r>
            <a:r>
              <a:rPr lang="zh-CN" altLang="en-US"/>
              <a:t>方法，用于</a:t>
            </a:r>
            <a:r>
              <a:rPr lang="zh-CN" altLang="en-US">
                <a:solidFill>
                  <a:schemeClr val="accent2"/>
                </a:solidFill>
              </a:rPr>
              <a:t>识别</a:t>
            </a:r>
            <a:r>
              <a:rPr lang="zh-CN" altLang="en-US"/>
              <a:t>和</a:t>
            </a:r>
            <a:r>
              <a:rPr lang="zh-CN" altLang="en-US">
                <a:solidFill>
                  <a:schemeClr val="accent2"/>
                </a:solidFill>
              </a:rPr>
              <a:t>组织</a:t>
            </a:r>
            <a:r>
              <a:rPr lang="zh-CN" altLang="en-US"/>
              <a:t>与系统或产品</a:t>
            </a:r>
            <a:r>
              <a:rPr lang="zh-CN" altLang="en-US">
                <a:solidFill>
                  <a:srgbClr val="FF0000"/>
                </a:solidFill>
              </a:rPr>
              <a:t>需求相关的类</a:t>
            </a:r>
            <a:r>
              <a:rPr lang="zh-CN" altLang="en-US"/>
              <a:t>。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/>
              <a:t>CRC</a:t>
            </a:r>
            <a:r>
              <a:rPr lang="zh-CN" altLang="en-US"/>
              <a:t>模型是表示</a:t>
            </a:r>
            <a:r>
              <a:rPr lang="zh-CN" altLang="en-US">
                <a:solidFill>
                  <a:srgbClr val="FF0000"/>
                </a:solidFill>
              </a:rPr>
              <a:t>类的标准索引卡片</a:t>
            </a:r>
            <a:r>
              <a:rPr lang="zh-CN" altLang="en-US"/>
              <a:t>的</a:t>
            </a:r>
            <a:r>
              <a:rPr lang="zh-CN" altLang="en-US">
                <a:solidFill>
                  <a:schemeClr val="accent2"/>
                </a:solidFill>
              </a:rPr>
              <a:t>集合</a:t>
            </a:r>
            <a:r>
              <a:rPr lang="zh-CN" altLang="en-US"/>
              <a:t>，分成三部分：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200">
                <a:solidFill>
                  <a:schemeClr val="accent2"/>
                </a:solidFill>
              </a:rPr>
              <a:t>顶部：</a:t>
            </a:r>
            <a:r>
              <a:rPr lang="zh-CN" altLang="en-US" sz="2200"/>
              <a:t>写</a:t>
            </a:r>
            <a:r>
              <a:rPr lang="zh-CN" altLang="en-US" sz="2200">
                <a:solidFill>
                  <a:schemeClr val="accent2"/>
                </a:solidFill>
              </a:rPr>
              <a:t>类名；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200">
                <a:solidFill>
                  <a:schemeClr val="accent2"/>
                </a:solidFill>
              </a:rPr>
              <a:t>主体左侧：</a:t>
            </a:r>
            <a:r>
              <a:rPr lang="zh-CN" altLang="en-US" sz="2200"/>
              <a:t>列出类的</a:t>
            </a:r>
            <a:r>
              <a:rPr lang="zh-CN" altLang="en-US" sz="2200">
                <a:solidFill>
                  <a:schemeClr val="accent2"/>
                </a:solidFill>
              </a:rPr>
              <a:t>职责；</a:t>
            </a:r>
          </a:p>
          <a:p>
            <a:pPr lvl="2" eaLnBrk="1" hangingPunct="1">
              <a:lnSpc>
                <a:spcPct val="145000"/>
              </a:lnSpc>
            </a:pPr>
            <a:r>
              <a:rPr lang="zh-CN" altLang="en-US" sz="2000"/>
              <a:t>职责：和类相关的属性和操作，即“类所知道或能做的任何事”</a:t>
            </a:r>
          </a:p>
          <a:p>
            <a:pPr lvl="1" eaLnBrk="1" hangingPunct="1">
              <a:lnSpc>
                <a:spcPct val="145000"/>
              </a:lnSpc>
            </a:pPr>
            <a:r>
              <a:rPr lang="zh-CN" altLang="en-US" sz="2200">
                <a:solidFill>
                  <a:schemeClr val="accent2"/>
                </a:solidFill>
              </a:rPr>
              <a:t>主体右侧：</a:t>
            </a:r>
            <a:r>
              <a:rPr lang="zh-CN" altLang="en-US" sz="2200"/>
              <a:t>列出类的</a:t>
            </a:r>
            <a:r>
              <a:rPr lang="zh-CN" altLang="en-US" sz="2200">
                <a:solidFill>
                  <a:schemeClr val="accent2"/>
                </a:solidFill>
              </a:rPr>
              <a:t>协作者；</a:t>
            </a:r>
          </a:p>
          <a:p>
            <a:pPr lvl="2" eaLnBrk="1" hangingPunct="1">
              <a:lnSpc>
                <a:spcPct val="145000"/>
              </a:lnSpc>
            </a:pPr>
            <a:r>
              <a:rPr lang="zh-CN" altLang="en-US" sz="2000"/>
              <a:t>协作者：完成某个职责需要的其它类，即</a:t>
            </a:r>
            <a:r>
              <a:rPr lang="zh-CN" altLang="en-US" sz="2000">
                <a:solidFill>
                  <a:schemeClr val="accent1"/>
                </a:solidFill>
              </a:rPr>
              <a:t>信息请求</a:t>
            </a:r>
            <a:r>
              <a:rPr lang="zh-CN" altLang="en-US" sz="2000"/>
              <a:t>或</a:t>
            </a:r>
            <a:r>
              <a:rPr lang="zh-CN" altLang="en-US" sz="2000">
                <a:solidFill>
                  <a:schemeClr val="accent1"/>
                </a:solidFill>
              </a:rPr>
              <a:t>动作请求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4726DD4F-3F88-95F4-8C6D-0A5411F07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58B5F7E-0FF3-4A76-8132-DF85AF41E75F}" type="slidenum">
              <a:rPr lang="en-US" altLang="zh-CN" sz="14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0B30CEC-2EF2-56DE-ABEE-C0D3DBE0650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5562600" cy="508000"/>
          </a:xfrm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zh-CN"/>
              <a:t>CRC </a:t>
            </a:r>
            <a:r>
              <a:rPr lang="zh-CN" altLang="en-US"/>
              <a:t>建模（</a:t>
            </a:r>
            <a:r>
              <a:rPr lang="en-US" altLang="zh-CN"/>
              <a:t>II</a:t>
            </a:r>
            <a:r>
              <a:rPr lang="zh-CN" altLang="en-US"/>
              <a:t>）</a:t>
            </a:r>
          </a:p>
        </p:txBody>
      </p:sp>
      <p:grpSp>
        <p:nvGrpSpPr>
          <p:cNvPr id="2" name="Group 164">
            <a:extLst>
              <a:ext uri="{FF2B5EF4-FFF2-40B4-BE49-F238E27FC236}">
                <a16:creationId xmlns:a16="http://schemas.microsoft.com/office/drawing/2014/main" id="{D77F2F8E-1A39-8A6C-BD93-9CE015F0CB1B}"/>
              </a:ext>
            </a:extLst>
          </p:cNvPr>
          <p:cNvGrpSpPr>
            <a:grpSpLocks/>
          </p:cNvGrpSpPr>
          <p:nvPr/>
        </p:nvGrpSpPr>
        <p:grpSpPr bwMode="auto">
          <a:xfrm>
            <a:off x="2495551" y="1196976"/>
            <a:ext cx="7127875" cy="4608513"/>
            <a:chOff x="703" y="890"/>
            <a:chExt cx="4490" cy="2903"/>
          </a:xfrm>
        </p:grpSpPr>
        <p:sp>
          <p:nvSpPr>
            <p:cNvPr id="43013" name="AutoShape 9">
              <a:extLst>
                <a:ext uri="{FF2B5EF4-FFF2-40B4-BE49-F238E27FC236}">
                  <a16:creationId xmlns:a16="http://schemas.microsoft.com/office/drawing/2014/main" id="{212CDFC2-893C-E99B-6741-23B9E48EF55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03" y="890"/>
              <a:ext cx="4490" cy="2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4" name="Rectangle 11">
              <a:extLst>
                <a:ext uri="{FF2B5EF4-FFF2-40B4-BE49-F238E27FC236}">
                  <a16:creationId xmlns:a16="http://schemas.microsoft.com/office/drawing/2014/main" id="{41F48A8C-E3A7-D2E6-683C-803BB5981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" y="890"/>
              <a:ext cx="4105" cy="25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15" name="Line 12">
              <a:extLst>
                <a:ext uri="{FF2B5EF4-FFF2-40B4-BE49-F238E27FC236}">
                  <a16:creationId xmlns:a16="http://schemas.microsoft.com/office/drawing/2014/main" id="{06460A24-21B7-AF71-F62F-0FC3275D7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890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6" name="Line 13">
              <a:extLst>
                <a:ext uri="{FF2B5EF4-FFF2-40B4-BE49-F238E27FC236}">
                  <a16:creationId xmlns:a16="http://schemas.microsoft.com/office/drawing/2014/main" id="{B6712FBD-8905-CC82-5009-4391891A3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89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7" name="Line 14">
              <a:extLst>
                <a:ext uri="{FF2B5EF4-FFF2-40B4-BE49-F238E27FC236}">
                  <a16:creationId xmlns:a16="http://schemas.microsoft.com/office/drawing/2014/main" id="{04A3B578-E869-5EFB-4156-8F036AD77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890"/>
              <a:ext cx="1" cy="255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8" name="Line 15">
              <a:extLst>
                <a:ext uri="{FF2B5EF4-FFF2-40B4-BE49-F238E27FC236}">
                  <a16:creationId xmlns:a16="http://schemas.microsoft.com/office/drawing/2014/main" id="{BD82D793-8B67-CEF7-2803-43FA75AF3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3441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9" name="Line 16">
              <a:extLst>
                <a:ext uri="{FF2B5EF4-FFF2-40B4-BE49-F238E27FC236}">
                  <a16:creationId xmlns:a16="http://schemas.microsoft.com/office/drawing/2014/main" id="{D3917B72-4025-5128-69F9-6EA32254F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3441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0" name="Line 17">
              <a:extLst>
                <a:ext uri="{FF2B5EF4-FFF2-40B4-BE49-F238E27FC236}">
                  <a16:creationId xmlns:a16="http://schemas.microsoft.com/office/drawing/2014/main" id="{2339AFDA-E959-FB6A-0624-670A0DFE8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3441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1" name="Line 18">
              <a:extLst>
                <a:ext uri="{FF2B5EF4-FFF2-40B4-BE49-F238E27FC236}">
                  <a16:creationId xmlns:a16="http://schemas.microsoft.com/office/drawing/2014/main" id="{4658AC7F-86BA-E306-80CD-3808860173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" y="890"/>
              <a:ext cx="1" cy="255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2" name="Line 19">
              <a:extLst>
                <a:ext uri="{FF2B5EF4-FFF2-40B4-BE49-F238E27FC236}">
                  <a16:creationId xmlns:a16="http://schemas.microsoft.com/office/drawing/2014/main" id="{9357879F-A58D-12D5-178F-459720901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89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3" name="Rectangle 20">
              <a:extLst>
                <a:ext uri="{FF2B5EF4-FFF2-40B4-BE49-F238E27FC236}">
                  <a16:creationId xmlns:a16="http://schemas.microsoft.com/office/drawing/2014/main" id="{54DB95D9-55B9-1B5D-D947-F70602B3E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" y="890"/>
              <a:ext cx="4093" cy="249"/>
            </a:xfrm>
            <a:prstGeom prst="rect">
              <a:avLst/>
            </a:pr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24" name="Line 21">
              <a:extLst>
                <a:ext uri="{FF2B5EF4-FFF2-40B4-BE49-F238E27FC236}">
                  <a16:creationId xmlns:a16="http://schemas.microsoft.com/office/drawing/2014/main" id="{0F1620D6-8D1B-499C-9284-A9BB67345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890"/>
              <a:ext cx="40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5" name="Line 22">
              <a:extLst>
                <a:ext uri="{FF2B5EF4-FFF2-40B4-BE49-F238E27FC236}">
                  <a16:creationId xmlns:a16="http://schemas.microsoft.com/office/drawing/2014/main" id="{63273A53-731C-2E90-D72A-9401CA2CA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7" y="89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6" name="Line 23">
              <a:extLst>
                <a:ext uri="{FF2B5EF4-FFF2-40B4-BE49-F238E27FC236}">
                  <a16:creationId xmlns:a16="http://schemas.microsoft.com/office/drawing/2014/main" id="{BEC72AC8-D60A-6673-3FF0-2791CA061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7" y="890"/>
              <a:ext cx="1" cy="24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7" name="Line 24">
              <a:extLst>
                <a:ext uri="{FF2B5EF4-FFF2-40B4-BE49-F238E27FC236}">
                  <a16:creationId xmlns:a16="http://schemas.microsoft.com/office/drawing/2014/main" id="{4122365B-F219-7AA6-D4EF-A57F777AD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7" y="1139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8" name="Line 25">
              <a:extLst>
                <a:ext uri="{FF2B5EF4-FFF2-40B4-BE49-F238E27FC236}">
                  <a16:creationId xmlns:a16="http://schemas.microsoft.com/office/drawing/2014/main" id="{7F031845-E958-5F0E-EF4D-99DB51DE4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1139"/>
              <a:ext cx="40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9" name="Line 26">
              <a:extLst>
                <a:ext uri="{FF2B5EF4-FFF2-40B4-BE49-F238E27FC236}">
                  <a16:creationId xmlns:a16="http://schemas.microsoft.com/office/drawing/2014/main" id="{D0248385-D63A-B9BE-3CA4-E861B2E27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1139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0" name="Line 27">
              <a:extLst>
                <a:ext uri="{FF2B5EF4-FFF2-40B4-BE49-F238E27FC236}">
                  <a16:creationId xmlns:a16="http://schemas.microsoft.com/office/drawing/2014/main" id="{4C1FD7A4-2B25-7534-1CFD-1FA89B4B3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" y="890"/>
              <a:ext cx="1" cy="24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1" name="Line 28">
              <a:extLst>
                <a:ext uri="{FF2B5EF4-FFF2-40B4-BE49-F238E27FC236}">
                  <a16:creationId xmlns:a16="http://schemas.microsoft.com/office/drawing/2014/main" id="{EF1FDC72-6418-CE7E-B3AE-F1FEA3509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89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2" name="Rectangle 29">
              <a:extLst>
                <a:ext uri="{FF2B5EF4-FFF2-40B4-BE49-F238E27FC236}">
                  <a16:creationId xmlns:a16="http://schemas.microsoft.com/office/drawing/2014/main" id="{EE80452B-3510-297F-18CC-3A1D2BBBB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" y="924"/>
              <a:ext cx="35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33" name="Line 30">
              <a:extLst>
                <a:ext uri="{FF2B5EF4-FFF2-40B4-BE49-F238E27FC236}">
                  <a16:creationId xmlns:a16="http://schemas.microsoft.com/office/drawing/2014/main" id="{4B2DA40D-757B-A69E-85E5-8D1FA74BA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1310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4" name="Line 31">
              <a:extLst>
                <a:ext uri="{FF2B5EF4-FFF2-40B4-BE49-F238E27FC236}">
                  <a16:creationId xmlns:a16="http://schemas.microsoft.com/office/drawing/2014/main" id="{3694EF57-E9B7-5E65-4495-DB31F3CC4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1457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5" name="Rectangle 32">
              <a:extLst>
                <a:ext uri="{FF2B5EF4-FFF2-40B4-BE49-F238E27FC236}">
                  <a16:creationId xmlns:a16="http://schemas.microsoft.com/office/drawing/2014/main" id="{64BC42A9-0006-2B02-9DBD-059E6361A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" y="1151"/>
              <a:ext cx="55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Description: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36" name="Rectangle 33">
              <a:extLst>
                <a:ext uri="{FF2B5EF4-FFF2-40B4-BE49-F238E27FC236}">
                  <a16:creationId xmlns:a16="http://schemas.microsoft.com/office/drawing/2014/main" id="{3BA9DACD-9BC6-0656-E936-648545141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" y="1457"/>
              <a:ext cx="4105" cy="181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37" name="Line 34">
              <a:extLst>
                <a:ext uri="{FF2B5EF4-FFF2-40B4-BE49-F238E27FC236}">
                  <a16:creationId xmlns:a16="http://schemas.microsoft.com/office/drawing/2014/main" id="{7550DB06-C118-50D6-42EB-4E49E1D3F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1457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8" name="Line 35">
              <a:extLst>
                <a:ext uri="{FF2B5EF4-FFF2-40B4-BE49-F238E27FC236}">
                  <a16:creationId xmlns:a16="http://schemas.microsoft.com/office/drawing/2014/main" id="{FBFA6CAB-70A1-2E9F-FC6B-18746DAA1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145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9" name="Line 36">
              <a:extLst>
                <a:ext uri="{FF2B5EF4-FFF2-40B4-BE49-F238E27FC236}">
                  <a16:creationId xmlns:a16="http://schemas.microsoft.com/office/drawing/2014/main" id="{9BDD9135-982D-8520-685F-D281BF638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1457"/>
              <a:ext cx="1" cy="18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0" name="Line 37">
              <a:extLst>
                <a:ext uri="{FF2B5EF4-FFF2-40B4-BE49-F238E27FC236}">
                  <a16:creationId xmlns:a16="http://schemas.microsoft.com/office/drawing/2014/main" id="{CDE33559-841C-0DEE-7543-E709AA2E7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" y="1638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1" name="Line 38">
              <a:extLst>
                <a:ext uri="{FF2B5EF4-FFF2-40B4-BE49-F238E27FC236}">
                  <a16:creationId xmlns:a16="http://schemas.microsoft.com/office/drawing/2014/main" id="{9DD4C9DF-F396-9538-A940-068B54249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4" y="1638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2" name="Line 39">
              <a:extLst>
                <a:ext uri="{FF2B5EF4-FFF2-40B4-BE49-F238E27FC236}">
                  <a16:creationId xmlns:a16="http://schemas.microsoft.com/office/drawing/2014/main" id="{42363A62-1095-C5AA-9C5D-506CA1EC5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1638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3" name="Line 40">
              <a:extLst>
                <a:ext uri="{FF2B5EF4-FFF2-40B4-BE49-F238E27FC236}">
                  <a16:creationId xmlns:a16="http://schemas.microsoft.com/office/drawing/2014/main" id="{B4767793-D8B7-DB9F-3745-F27AD6C44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" y="1457"/>
              <a:ext cx="1" cy="18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4" name="Line 41">
              <a:extLst>
                <a:ext uri="{FF2B5EF4-FFF2-40B4-BE49-F238E27FC236}">
                  <a16:creationId xmlns:a16="http://schemas.microsoft.com/office/drawing/2014/main" id="{FF0CDB20-ED8B-3C93-04B7-FE47BBC6A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" y="145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5" name="Line 42">
              <a:extLst>
                <a:ext uri="{FF2B5EF4-FFF2-40B4-BE49-F238E27FC236}">
                  <a16:creationId xmlns:a16="http://schemas.microsoft.com/office/drawing/2014/main" id="{4E8C8AC3-C2FE-705A-40E8-E8E58A033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1457"/>
              <a:ext cx="1" cy="198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6" name="Rectangle 43">
              <a:extLst>
                <a:ext uri="{FF2B5EF4-FFF2-40B4-BE49-F238E27FC236}">
                  <a16:creationId xmlns:a16="http://schemas.microsoft.com/office/drawing/2014/main" id="{99BDE45A-8A07-99B9-B2F6-45E97103F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457"/>
              <a:ext cx="87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Responsibility: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47" name="Rectangle 44">
              <a:extLst>
                <a:ext uri="{FF2B5EF4-FFF2-40B4-BE49-F238E27FC236}">
                  <a16:creationId xmlns:a16="http://schemas.microsoft.com/office/drawing/2014/main" id="{423B0890-A4B8-0DCF-FEF3-983F40B04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468"/>
              <a:ext cx="80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Collaborator: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48" name="Rectangle 45">
              <a:extLst>
                <a:ext uri="{FF2B5EF4-FFF2-40B4-BE49-F238E27FC236}">
                  <a16:creationId xmlns:a16="http://schemas.microsoft.com/office/drawing/2014/main" id="{A3E3EF40-2C48-62BC-AA5D-66B22A25C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1003"/>
              <a:ext cx="4116" cy="25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49" name="Line 46">
              <a:extLst>
                <a:ext uri="{FF2B5EF4-FFF2-40B4-BE49-F238E27FC236}">
                  <a16:creationId xmlns:a16="http://schemas.microsoft.com/office/drawing/2014/main" id="{A53F223C-5B64-AF2B-767E-71F08F234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003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0" name="Line 47">
              <a:extLst>
                <a:ext uri="{FF2B5EF4-FFF2-40B4-BE49-F238E27FC236}">
                  <a16:creationId xmlns:a16="http://schemas.microsoft.com/office/drawing/2014/main" id="{EC1B1F8C-45F6-D4B9-4B7A-59DCA0F4F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003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1" name="Line 48">
              <a:extLst>
                <a:ext uri="{FF2B5EF4-FFF2-40B4-BE49-F238E27FC236}">
                  <a16:creationId xmlns:a16="http://schemas.microsoft.com/office/drawing/2014/main" id="{4F4E2046-6E87-6D79-0869-654C40C5C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003"/>
              <a:ext cx="1" cy="255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2" name="Line 49">
              <a:extLst>
                <a:ext uri="{FF2B5EF4-FFF2-40B4-BE49-F238E27FC236}">
                  <a16:creationId xmlns:a16="http://schemas.microsoft.com/office/drawing/2014/main" id="{EBEBE981-7B65-FFC6-483B-76D0D4290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555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3" name="Line 50">
              <a:extLst>
                <a:ext uri="{FF2B5EF4-FFF2-40B4-BE49-F238E27FC236}">
                  <a16:creationId xmlns:a16="http://schemas.microsoft.com/office/drawing/2014/main" id="{848057AE-E7FA-8A84-850A-B7067FF27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" y="3555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4" name="Line 51">
              <a:extLst>
                <a:ext uri="{FF2B5EF4-FFF2-40B4-BE49-F238E27FC236}">
                  <a16:creationId xmlns:a16="http://schemas.microsoft.com/office/drawing/2014/main" id="{765571C5-4F4F-E692-DEBB-35008BDA2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3555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5" name="Line 52">
              <a:extLst>
                <a:ext uri="{FF2B5EF4-FFF2-40B4-BE49-F238E27FC236}">
                  <a16:creationId xmlns:a16="http://schemas.microsoft.com/office/drawing/2014/main" id="{48FDF5FD-E55B-9383-5D26-D4209ECDD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003"/>
              <a:ext cx="1" cy="255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6" name="Line 53">
              <a:extLst>
                <a:ext uri="{FF2B5EF4-FFF2-40B4-BE49-F238E27FC236}">
                  <a16:creationId xmlns:a16="http://schemas.microsoft.com/office/drawing/2014/main" id="{A0C744C8-E5C9-42BA-BADF-F15B8C62E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003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7" name="Rectangle 54">
              <a:extLst>
                <a:ext uri="{FF2B5EF4-FFF2-40B4-BE49-F238E27FC236}">
                  <a16:creationId xmlns:a16="http://schemas.microsoft.com/office/drawing/2014/main" id="{8533AD22-A52F-82F9-26D0-D00BA8690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1003"/>
              <a:ext cx="4104" cy="261"/>
            </a:xfrm>
            <a:prstGeom prst="rect">
              <a:avLst/>
            </a:pr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58" name="Line 55">
              <a:extLst>
                <a:ext uri="{FF2B5EF4-FFF2-40B4-BE49-F238E27FC236}">
                  <a16:creationId xmlns:a16="http://schemas.microsoft.com/office/drawing/2014/main" id="{830702E8-C7A2-A61A-B9E7-7A1FB77E4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003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59" name="Line 56">
              <a:extLst>
                <a:ext uri="{FF2B5EF4-FFF2-40B4-BE49-F238E27FC236}">
                  <a16:creationId xmlns:a16="http://schemas.microsoft.com/office/drawing/2014/main" id="{93514767-D219-3206-40E6-9A316B579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" y="1003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0" name="Line 57">
              <a:extLst>
                <a:ext uri="{FF2B5EF4-FFF2-40B4-BE49-F238E27FC236}">
                  <a16:creationId xmlns:a16="http://schemas.microsoft.com/office/drawing/2014/main" id="{9D4C27BA-B794-E2FA-C84C-6482C7CD1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" y="1003"/>
              <a:ext cx="1" cy="26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1" name="Line 58">
              <a:extLst>
                <a:ext uri="{FF2B5EF4-FFF2-40B4-BE49-F238E27FC236}">
                  <a16:creationId xmlns:a16="http://schemas.microsoft.com/office/drawing/2014/main" id="{7E322ED7-58CB-F247-1877-99397222D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" y="1264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2" name="Line 59">
              <a:extLst>
                <a:ext uri="{FF2B5EF4-FFF2-40B4-BE49-F238E27FC236}">
                  <a16:creationId xmlns:a16="http://schemas.microsoft.com/office/drawing/2014/main" id="{CF68E5D7-13F1-4429-10CC-6F6A423BB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" y="1264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3" name="Line 60">
              <a:extLst>
                <a:ext uri="{FF2B5EF4-FFF2-40B4-BE49-F238E27FC236}">
                  <a16:creationId xmlns:a16="http://schemas.microsoft.com/office/drawing/2014/main" id="{E51BB576-1C9A-8328-9E27-91E0B6DB8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264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4" name="Line 61">
              <a:extLst>
                <a:ext uri="{FF2B5EF4-FFF2-40B4-BE49-F238E27FC236}">
                  <a16:creationId xmlns:a16="http://schemas.microsoft.com/office/drawing/2014/main" id="{03FEDA44-9B9E-69B7-4D7A-70D64DACB2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003"/>
              <a:ext cx="1" cy="26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5" name="Line 62">
              <a:extLst>
                <a:ext uri="{FF2B5EF4-FFF2-40B4-BE49-F238E27FC236}">
                  <a16:creationId xmlns:a16="http://schemas.microsoft.com/office/drawing/2014/main" id="{9CB278E5-44E2-F12C-37B5-938C0B5F7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003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6" name="Rectangle 63">
              <a:extLst>
                <a:ext uri="{FF2B5EF4-FFF2-40B4-BE49-F238E27FC236}">
                  <a16:creationId xmlns:a16="http://schemas.microsoft.com/office/drawing/2014/main" id="{C1599215-8084-EF6A-4B7A-57FD573D8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1037"/>
              <a:ext cx="35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67" name="Line 64">
              <a:extLst>
                <a:ext uri="{FF2B5EF4-FFF2-40B4-BE49-F238E27FC236}">
                  <a16:creationId xmlns:a16="http://schemas.microsoft.com/office/drawing/2014/main" id="{66907F3D-F138-FCC9-A73A-21A1C9B73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423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8" name="Line 65">
              <a:extLst>
                <a:ext uri="{FF2B5EF4-FFF2-40B4-BE49-F238E27FC236}">
                  <a16:creationId xmlns:a16="http://schemas.microsoft.com/office/drawing/2014/main" id="{9CD0578B-1614-594E-307A-EA8E9A85B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570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9" name="Rectangle 66">
              <a:extLst>
                <a:ext uri="{FF2B5EF4-FFF2-40B4-BE49-F238E27FC236}">
                  <a16:creationId xmlns:a16="http://schemas.microsoft.com/office/drawing/2014/main" id="{FB13E357-B4EC-4284-7889-2EF74EEEC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1276"/>
              <a:ext cx="55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Description: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70" name="Rectangle 67">
              <a:extLst>
                <a:ext uri="{FF2B5EF4-FFF2-40B4-BE49-F238E27FC236}">
                  <a16:creationId xmlns:a16="http://schemas.microsoft.com/office/drawing/2014/main" id="{56D777F9-716D-E9C5-A447-049F225EF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1570"/>
              <a:ext cx="4116" cy="19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71" name="Line 68">
              <a:extLst>
                <a:ext uri="{FF2B5EF4-FFF2-40B4-BE49-F238E27FC236}">
                  <a16:creationId xmlns:a16="http://schemas.microsoft.com/office/drawing/2014/main" id="{868B6781-DBF5-40B7-1F28-210A3D56F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570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2" name="Line 69">
              <a:extLst>
                <a:ext uri="{FF2B5EF4-FFF2-40B4-BE49-F238E27FC236}">
                  <a16:creationId xmlns:a16="http://schemas.microsoft.com/office/drawing/2014/main" id="{5D8694BD-AF60-17F4-0A62-774C87470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7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3" name="Line 70">
              <a:extLst>
                <a:ext uri="{FF2B5EF4-FFF2-40B4-BE49-F238E27FC236}">
                  <a16:creationId xmlns:a16="http://schemas.microsoft.com/office/drawing/2014/main" id="{621117A7-5637-682F-0829-2B472BFBB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70"/>
              <a:ext cx="1" cy="19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4" name="Line 71">
              <a:extLst>
                <a:ext uri="{FF2B5EF4-FFF2-40B4-BE49-F238E27FC236}">
                  <a16:creationId xmlns:a16="http://schemas.microsoft.com/office/drawing/2014/main" id="{9BDD7B9F-DE83-99AC-3798-893EA1473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763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5" name="Line 72">
              <a:extLst>
                <a:ext uri="{FF2B5EF4-FFF2-40B4-BE49-F238E27FC236}">
                  <a16:creationId xmlns:a16="http://schemas.microsoft.com/office/drawing/2014/main" id="{536932AF-CE4A-EFBF-93C3-3677585AAE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" y="1763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6" name="Line 73">
              <a:extLst>
                <a:ext uri="{FF2B5EF4-FFF2-40B4-BE49-F238E27FC236}">
                  <a16:creationId xmlns:a16="http://schemas.microsoft.com/office/drawing/2014/main" id="{397B578C-AEEB-EE98-A6F4-7A404DC4C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763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7" name="Line 74">
              <a:extLst>
                <a:ext uri="{FF2B5EF4-FFF2-40B4-BE49-F238E27FC236}">
                  <a16:creationId xmlns:a16="http://schemas.microsoft.com/office/drawing/2014/main" id="{9CD264FA-4F01-E236-BBC0-1A9F2B8FA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1570"/>
              <a:ext cx="1" cy="19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8" name="Line 75">
              <a:extLst>
                <a:ext uri="{FF2B5EF4-FFF2-40B4-BE49-F238E27FC236}">
                  <a16:creationId xmlns:a16="http://schemas.microsoft.com/office/drawing/2014/main" id="{B8BA0828-DED1-1735-6037-514E3FF66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157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9" name="Line 76">
              <a:extLst>
                <a:ext uri="{FF2B5EF4-FFF2-40B4-BE49-F238E27FC236}">
                  <a16:creationId xmlns:a16="http://schemas.microsoft.com/office/drawing/2014/main" id="{119BF7F9-41C2-2FC8-D02F-A08BCD9A8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570"/>
              <a:ext cx="1" cy="198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0" name="Rectangle 77">
              <a:extLst>
                <a:ext uri="{FF2B5EF4-FFF2-40B4-BE49-F238E27FC236}">
                  <a16:creationId xmlns:a16="http://schemas.microsoft.com/office/drawing/2014/main" id="{0733FD1F-4E18-1136-4179-623158C8B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1570"/>
              <a:ext cx="87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Responsibility: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81" name="Rectangle 78">
              <a:extLst>
                <a:ext uri="{FF2B5EF4-FFF2-40B4-BE49-F238E27FC236}">
                  <a16:creationId xmlns:a16="http://schemas.microsoft.com/office/drawing/2014/main" id="{2BE96C2C-B901-FC14-50AB-C66B6413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1582"/>
              <a:ext cx="80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Collaborator: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82" name="Rectangle 79">
              <a:extLst>
                <a:ext uri="{FF2B5EF4-FFF2-40B4-BE49-F238E27FC236}">
                  <a16:creationId xmlns:a16="http://schemas.microsoft.com/office/drawing/2014/main" id="{1D9846D3-E70A-5F01-9D00-525976FB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1117"/>
              <a:ext cx="4116" cy="25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83" name="Line 80">
              <a:extLst>
                <a:ext uri="{FF2B5EF4-FFF2-40B4-BE49-F238E27FC236}">
                  <a16:creationId xmlns:a16="http://schemas.microsoft.com/office/drawing/2014/main" id="{33CBAB67-7D1D-FDD8-DEBA-C83B2F7F3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117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4" name="Line 81">
              <a:extLst>
                <a:ext uri="{FF2B5EF4-FFF2-40B4-BE49-F238E27FC236}">
                  <a16:creationId xmlns:a16="http://schemas.microsoft.com/office/drawing/2014/main" id="{6CCFD99A-64F7-C021-B73F-1869EB674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111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5" name="Line 82">
              <a:extLst>
                <a:ext uri="{FF2B5EF4-FFF2-40B4-BE49-F238E27FC236}">
                  <a16:creationId xmlns:a16="http://schemas.microsoft.com/office/drawing/2014/main" id="{9E6E2745-CFC7-759F-CE8B-D8FDB7E77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1117"/>
              <a:ext cx="1" cy="255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6" name="Line 83">
              <a:extLst>
                <a:ext uri="{FF2B5EF4-FFF2-40B4-BE49-F238E27FC236}">
                  <a16:creationId xmlns:a16="http://schemas.microsoft.com/office/drawing/2014/main" id="{EA87E4BB-9B2B-97F4-BAFE-14F420D26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3668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7" name="Line 84">
              <a:extLst>
                <a:ext uri="{FF2B5EF4-FFF2-40B4-BE49-F238E27FC236}">
                  <a16:creationId xmlns:a16="http://schemas.microsoft.com/office/drawing/2014/main" id="{C4F436DB-D5C7-93C9-DB12-BF080367C8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1" y="3668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8" name="Line 85">
              <a:extLst>
                <a:ext uri="{FF2B5EF4-FFF2-40B4-BE49-F238E27FC236}">
                  <a16:creationId xmlns:a16="http://schemas.microsoft.com/office/drawing/2014/main" id="{DD0E3707-EF83-C86D-5924-8714783D0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3668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89" name="Line 86">
              <a:extLst>
                <a:ext uri="{FF2B5EF4-FFF2-40B4-BE49-F238E27FC236}">
                  <a16:creationId xmlns:a16="http://schemas.microsoft.com/office/drawing/2014/main" id="{03B41937-B495-306E-0C85-4B5D6349AC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" y="1117"/>
              <a:ext cx="1" cy="255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0" name="Line 87">
              <a:extLst>
                <a:ext uri="{FF2B5EF4-FFF2-40B4-BE49-F238E27FC236}">
                  <a16:creationId xmlns:a16="http://schemas.microsoft.com/office/drawing/2014/main" id="{B2F4FDDA-FA6F-14D4-ED08-7EA21C9E9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11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1" name="Rectangle 88">
              <a:extLst>
                <a:ext uri="{FF2B5EF4-FFF2-40B4-BE49-F238E27FC236}">
                  <a16:creationId xmlns:a16="http://schemas.microsoft.com/office/drawing/2014/main" id="{43FF2C81-3F03-88E9-DD4A-057505F52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1117"/>
              <a:ext cx="4105" cy="261"/>
            </a:xfrm>
            <a:prstGeom prst="rect">
              <a:avLst/>
            </a:pr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92" name="Line 89">
              <a:extLst>
                <a:ext uri="{FF2B5EF4-FFF2-40B4-BE49-F238E27FC236}">
                  <a16:creationId xmlns:a16="http://schemas.microsoft.com/office/drawing/2014/main" id="{3FCC9720-0BFA-901E-E3E1-9AB04C8F7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117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3" name="Line 90">
              <a:extLst>
                <a:ext uri="{FF2B5EF4-FFF2-40B4-BE49-F238E27FC236}">
                  <a16:creationId xmlns:a16="http://schemas.microsoft.com/office/drawing/2014/main" id="{96EF6E09-52E6-4100-A1BB-30053B18F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6" y="111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4" name="Line 91">
              <a:extLst>
                <a:ext uri="{FF2B5EF4-FFF2-40B4-BE49-F238E27FC236}">
                  <a16:creationId xmlns:a16="http://schemas.microsoft.com/office/drawing/2014/main" id="{B6D446A5-BB9B-65CC-7D07-F3EA5D050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6" y="1117"/>
              <a:ext cx="1" cy="26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5" name="Line 92">
              <a:extLst>
                <a:ext uri="{FF2B5EF4-FFF2-40B4-BE49-F238E27FC236}">
                  <a16:creationId xmlns:a16="http://schemas.microsoft.com/office/drawing/2014/main" id="{B2E74E4F-CF1B-D4F6-7154-1EA080BE5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6" y="1378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6" name="Line 93">
              <a:extLst>
                <a:ext uri="{FF2B5EF4-FFF2-40B4-BE49-F238E27FC236}">
                  <a16:creationId xmlns:a16="http://schemas.microsoft.com/office/drawing/2014/main" id="{35498E9A-FA6A-B87A-C396-426CD063E3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1" y="1378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7" name="Line 94">
              <a:extLst>
                <a:ext uri="{FF2B5EF4-FFF2-40B4-BE49-F238E27FC236}">
                  <a16:creationId xmlns:a16="http://schemas.microsoft.com/office/drawing/2014/main" id="{AB0866FD-16E6-D40D-6DCD-D3CBDF32A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378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8" name="Line 95">
              <a:extLst>
                <a:ext uri="{FF2B5EF4-FFF2-40B4-BE49-F238E27FC236}">
                  <a16:creationId xmlns:a16="http://schemas.microsoft.com/office/drawing/2014/main" id="{D3DA6026-72B4-39E6-66BB-BD10596368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" y="1117"/>
              <a:ext cx="1" cy="26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9" name="Line 96">
              <a:extLst>
                <a:ext uri="{FF2B5EF4-FFF2-40B4-BE49-F238E27FC236}">
                  <a16:creationId xmlns:a16="http://schemas.microsoft.com/office/drawing/2014/main" id="{4E7AD67F-FBC2-9DEF-6C4C-49A2972D3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11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0" name="Rectangle 97">
              <a:extLst>
                <a:ext uri="{FF2B5EF4-FFF2-40B4-BE49-F238E27FC236}">
                  <a16:creationId xmlns:a16="http://schemas.microsoft.com/office/drawing/2014/main" id="{C2DA3974-67FE-C2F8-43C9-BFC3CD0DB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" y="1151"/>
              <a:ext cx="35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01" name="Line 98">
              <a:extLst>
                <a:ext uri="{FF2B5EF4-FFF2-40B4-BE49-F238E27FC236}">
                  <a16:creationId xmlns:a16="http://schemas.microsoft.com/office/drawing/2014/main" id="{0B4E4066-9701-3F6E-D26E-36B7E9118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1536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2" name="Line 99">
              <a:extLst>
                <a:ext uri="{FF2B5EF4-FFF2-40B4-BE49-F238E27FC236}">
                  <a16:creationId xmlns:a16="http://schemas.microsoft.com/office/drawing/2014/main" id="{77501D24-1FA8-0A16-B842-0A0AEA43E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684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3" name="Rectangle 100">
              <a:extLst>
                <a:ext uri="{FF2B5EF4-FFF2-40B4-BE49-F238E27FC236}">
                  <a16:creationId xmlns:a16="http://schemas.microsoft.com/office/drawing/2014/main" id="{3C70A691-2C9A-D763-994F-500AD6EB3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" y="1389"/>
              <a:ext cx="55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Description: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04" name="Rectangle 101">
              <a:extLst>
                <a:ext uri="{FF2B5EF4-FFF2-40B4-BE49-F238E27FC236}">
                  <a16:creationId xmlns:a16="http://schemas.microsoft.com/office/drawing/2014/main" id="{1CECED24-49EC-FC36-7F6F-7D5C765D4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1684"/>
              <a:ext cx="4116" cy="19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05" name="Line 102">
              <a:extLst>
                <a:ext uri="{FF2B5EF4-FFF2-40B4-BE49-F238E27FC236}">
                  <a16:creationId xmlns:a16="http://schemas.microsoft.com/office/drawing/2014/main" id="{10F982C3-8ED1-0A69-0573-DDAD91E44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684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6" name="Line 103">
              <a:extLst>
                <a:ext uri="{FF2B5EF4-FFF2-40B4-BE49-F238E27FC236}">
                  <a16:creationId xmlns:a16="http://schemas.microsoft.com/office/drawing/2014/main" id="{4026FDF9-5BCE-B449-F745-FEEF99225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1684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7" name="Line 104">
              <a:extLst>
                <a:ext uri="{FF2B5EF4-FFF2-40B4-BE49-F238E27FC236}">
                  <a16:creationId xmlns:a16="http://schemas.microsoft.com/office/drawing/2014/main" id="{CE267538-2280-B3C9-E8A3-89BC00554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1684"/>
              <a:ext cx="1" cy="19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8" name="Line 105">
              <a:extLst>
                <a:ext uri="{FF2B5EF4-FFF2-40B4-BE49-F238E27FC236}">
                  <a16:creationId xmlns:a16="http://schemas.microsoft.com/office/drawing/2014/main" id="{592F05C8-B2A5-71A2-99B5-8FAB64CFE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187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9" name="Line 106">
              <a:extLst>
                <a:ext uri="{FF2B5EF4-FFF2-40B4-BE49-F238E27FC236}">
                  <a16:creationId xmlns:a16="http://schemas.microsoft.com/office/drawing/2014/main" id="{101CEDA3-F383-D099-085C-685FD3CE1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1" y="1877"/>
              <a:ext cx="411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0" name="Line 107">
              <a:extLst>
                <a:ext uri="{FF2B5EF4-FFF2-40B4-BE49-F238E27FC236}">
                  <a16:creationId xmlns:a16="http://schemas.microsoft.com/office/drawing/2014/main" id="{64163B12-990D-AA42-EB67-2083DDEF7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877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1" name="Line 108">
              <a:extLst>
                <a:ext uri="{FF2B5EF4-FFF2-40B4-BE49-F238E27FC236}">
                  <a16:creationId xmlns:a16="http://schemas.microsoft.com/office/drawing/2014/main" id="{918EAB4B-B9F8-C7B4-6B12-8EDE3A832F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" y="1684"/>
              <a:ext cx="1" cy="19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2" name="Line 109">
              <a:extLst>
                <a:ext uri="{FF2B5EF4-FFF2-40B4-BE49-F238E27FC236}">
                  <a16:creationId xmlns:a16="http://schemas.microsoft.com/office/drawing/2014/main" id="{379CCC6B-DAE3-D221-80CF-88B6E8111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1684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3" name="Line 110">
              <a:extLst>
                <a:ext uri="{FF2B5EF4-FFF2-40B4-BE49-F238E27FC236}">
                  <a16:creationId xmlns:a16="http://schemas.microsoft.com/office/drawing/2014/main" id="{F8B02528-02D6-512F-6F0B-8B1C9A72C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1684"/>
              <a:ext cx="1" cy="198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4" name="Rectangle 111">
              <a:extLst>
                <a:ext uri="{FF2B5EF4-FFF2-40B4-BE49-F238E27FC236}">
                  <a16:creationId xmlns:a16="http://schemas.microsoft.com/office/drawing/2014/main" id="{283A4E06-5C59-AE80-5749-8EAF6CC79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" y="1684"/>
              <a:ext cx="87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Responsibility: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15" name="Rectangle 112">
              <a:extLst>
                <a:ext uri="{FF2B5EF4-FFF2-40B4-BE49-F238E27FC236}">
                  <a16:creationId xmlns:a16="http://schemas.microsoft.com/office/drawing/2014/main" id="{922909BB-DF42-99C7-F4C2-FF94D83C8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4" y="1695"/>
              <a:ext cx="80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Collaborator: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16" name="Rectangle 113">
              <a:extLst>
                <a:ext uri="{FF2B5EF4-FFF2-40B4-BE49-F238E27FC236}">
                  <a16:creationId xmlns:a16="http://schemas.microsoft.com/office/drawing/2014/main" id="{AAEF1604-8D2C-899E-4D95-C6A114B8A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1242"/>
              <a:ext cx="4104" cy="2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17" name="Line 114">
              <a:extLst>
                <a:ext uri="{FF2B5EF4-FFF2-40B4-BE49-F238E27FC236}">
                  <a16:creationId xmlns:a16="http://schemas.microsoft.com/office/drawing/2014/main" id="{D932A190-8576-4ABA-220C-B2C5D1F8E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242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8" name="Line 115">
              <a:extLst>
                <a:ext uri="{FF2B5EF4-FFF2-40B4-BE49-F238E27FC236}">
                  <a16:creationId xmlns:a16="http://schemas.microsoft.com/office/drawing/2014/main" id="{B5D3AC86-B92F-7D75-19D7-54BB2B86B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242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9" name="Line 116">
              <a:extLst>
                <a:ext uri="{FF2B5EF4-FFF2-40B4-BE49-F238E27FC236}">
                  <a16:creationId xmlns:a16="http://schemas.microsoft.com/office/drawing/2014/main" id="{95D0AF12-46A2-5092-9ED9-5EB2344EB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242"/>
              <a:ext cx="1" cy="254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0" name="Line 117">
              <a:extLst>
                <a:ext uri="{FF2B5EF4-FFF2-40B4-BE49-F238E27FC236}">
                  <a16:creationId xmlns:a16="http://schemas.microsoft.com/office/drawing/2014/main" id="{06E32D2B-0961-40D5-AD1E-55D2ADC4C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3782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1" name="Line 118">
              <a:extLst>
                <a:ext uri="{FF2B5EF4-FFF2-40B4-BE49-F238E27FC236}">
                  <a16:creationId xmlns:a16="http://schemas.microsoft.com/office/drawing/2014/main" id="{05360F48-CE0A-19B3-4666-B13F99067F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" y="3782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2" name="Line 119">
              <a:extLst>
                <a:ext uri="{FF2B5EF4-FFF2-40B4-BE49-F238E27FC236}">
                  <a16:creationId xmlns:a16="http://schemas.microsoft.com/office/drawing/2014/main" id="{26E11676-2130-C325-F78E-598D20733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782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3" name="Line 120">
              <a:extLst>
                <a:ext uri="{FF2B5EF4-FFF2-40B4-BE49-F238E27FC236}">
                  <a16:creationId xmlns:a16="http://schemas.microsoft.com/office/drawing/2014/main" id="{796FC180-C62D-CFBD-D94E-67572F385C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1242"/>
              <a:ext cx="1" cy="254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4" name="Line 121">
              <a:extLst>
                <a:ext uri="{FF2B5EF4-FFF2-40B4-BE49-F238E27FC236}">
                  <a16:creationId xmlns:a16="http://schemas.microsoft.com/office/drawing/2014/main" id="{77361469-2203-E00D-C835-0D1608A37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242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5" name="Rectangle 122">
              <a:extLst>
                <a:ext uri="{FF2B5EF4-FFF2-40B4-BE49-F238E27FC236}">
                  <a16:creationId xmlns:a16="http://schemas.microsoft.com/office/drawing/2014/main" id="{D40FA36B-31D2-4735-341C-D834C6B9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1242"/>
              <a:ext cx="4093" cy="249"/>
            </a:xfrm>
            <a:prstGeom prst="rect">
              <a:avLst/>
            </a:pr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26" name="Line 123">
              <a:extLst>
                <a:ext uri="{FF2B5EF4-FFF2-40B4-BE49-F238E27FC236}">
                  <a16:creationId xmlns:a16="http://schemas.microsoft.com/office/drawing/2014/main" id="{53BB3F10-5A34-DD4C-FAAB-C8A7C61C6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242"/>
              <a:ext cx="40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7" name="Line 124">
              <a:extLst>
                <a:ext uri="{FF2B5EF4-FFF2-40B4-BE49-F238E27FC236}">
                  <a16:creationId xmlns:a16="http://schemas.microsoft.com/office/drawing/2014/main" id="{C04C926A-4F48-95DF-B71B-B2F4CE3ED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9" y="1242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8" name="Line 125">
              <a:extLst>
                <a:ext uri="{FF2B5EF4-FFF2-40B4-BE49-F238E27FC236}">
                  <a16:creationId xmlns:a16="http://schemas.microsoft.com/office/drawing/2014/main" id="{24337032-A702-DE1D-8ED4-D51B17649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9" y="1242"/>
              <a:ext cx="1" cy="24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29" name="Line 126">
              <a:extLst>
                <a:ext uri="{FF2B5EF4-FFF2-40B4-BE49-F238E27FC236}">
                  <a16:creationId xmlns:a16="http://schemas.microsoft.com/office/drawing/2014/main" id="{D9EAE172-60E8-F418-782D-F3B6C2F2D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9" y="1491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0" name="Line 127">
              <a:extLst>
                <a:ext uri="{FF2B5EF4-FFF2-40B4-BE49-F238E27FC236}">
                  <a16:creationId xmlns:a16="http://schemas.microsoft.com/office/drawing/2014/main" id="{AFE5E583-84C2-6A31-A553-E51B5EE2B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" y="1491"/>
              <a:ext cx="40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1" name="Line 128">
              <a:extLst>
                <a:ext uri="{FF2B5EF4-FFF2-40B4-BE49-F238E27FC236}">
                  <a16:creationId xmlns:a16="http://schemas.microsoft.com/office/drawing/2014/main" id="{F847E0CE-54B8-AE6A-972F-C28A106CB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491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2" name="Line 129">
              <a:extLst>
                <a:ext uri="{FF2B5EF4-FFF2-40B4-BE49-F238E27FC236}">
                  <a16:creationId xmlns:a16="http://schemas.microsoft.com/office/drawing/2014/main" id="{861A3C7F-A35F-66C2-25ED-38F1205BD8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1242"/>
              <a:ext cx="1" cy="24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3" name="Line 130">
              <a:extLst>
                <a:ext uri="{FF2B5EF4-FFF2-40B4-BE49-F238E27FC236}">
                  <a16:creationId xmlns:a16="http://schemas.microsoft.com/office/drawing/2014/main" id="{BEEA431B-6CB1-5EF2-80B4-191D3A489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242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4" name="Rectangle 131">
              <a:extLst>
                <a:ext uri="{FF2B5EF4-FFF2-40B4-BE49-F238E27FC236}">
                  <a16:creationId xmlns:a16="http://schemas.microsoft.com/office/drawing/2014/main" id="{37B35007-440A-1CAB-E325-9BADDD5A4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76"/>
              <a:ext cx="39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>
                  <a:solidFill>
                    <a:srgbClr val="0033CC"/>
                  </a:solidFill>
                  <a:latin typeface="Times New Roman" panose="02020603050405020304" pitchFamily="18" charset="0"/>
                </a:rPr>
                <a:t>Class:</a:t>
              </a:r>
              <a:r>
                <a:rPr kumimoji="1"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kumimoji="1" lang="en-US" altLang="zh-CN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35" name="Rectangle 132">
              <a:extLst>
                <a:ext uri="{FF2B5EF4-FFF2-40B4-BE49-F238E27FC236}">
                  <a16:creationId xmlns:a16="http://schemas.microsoft.com/office/drawing/2014/main" id="{FCED1519-F64B-C9AB-E177-FBF2BC0BC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276"/>
              <a:ext cx="54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700" b="0">
                  <a:solidFill>
                    <a:srgbClr val="0033CC"/>
                  </a:solidFill>
                  <a:latin typeface="Times New Roman" panose="02020603050405020304" pitchFamily="18" charset="0"/>
                </a:rPr>
                <a:t>FloorPlan</a:t>
              </a:r>
              <a:endParaRPr kumimoji="1" lang="en-US" altLang="zh-CN" b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36" name="Line 133">
              <a:extLst>
                <a:ext uri="{FF2B5EF4-FFF2-40B4-BE49-F238E27FC236}">
                  <a16:creationId xmlns:a16="http://schemas.microsoft.com/office/drawing/2014/main" id="{61B3DB96-16F4-1372-BDDC-4A5C34E16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4" y="1650"/>
              <a:ext cx="4105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7" name="Line 134">
              <a:extLst>
                <a:ext uri="{FF2B5EF4-FFF2-40B4-BE49-F238E27FC236}">
                  <a16:creationId xmlns:a16="http://schemas.microsoft.com/office/drawing/2014/main" id="{63507116-A6DA-FD45-FF2B-050D55EA4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809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8" name="Rectangle 135">
              <a:extLst>
                <a:ext uri="{FF2B5EF4-FFF2-40B4-BE49-F238E27FC236}">
                  <a16:creationId xmlns:a16="http://schemas.microsoft.com/office/drawing/2014/main" id="{5BDB77B7-C587-FA14-05C6-B12C4E852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503"/>
              <a:ext cx="26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说明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  <a:endPara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39" name="Rectangle 136">
              <a:extLst>
                <a:ext uri="{FF2B5EF4-FFF2-40B4-BE49-F238E27FC236}">
                  <a16:creationId xmlns:a16="http://schemas.microsoft.com/office/drawing/2014/main" id="{0D8695E2-7DB0-D4D5-386D-0028CD121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1809"/>
              <a:ext cx="4104" cy="181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zh-CN" altLang="en-US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40" name="Line 137">
              <a:extLst>
                <a:ext uri="{FF2B5EF4-FFF2-40B4-BE49-F238E27FC236}">
                  <a16:creationId xmlns:a16="http://schemas.microsoft.com/office/drawing/2014/main" id="{DAE12873-531D-2C57-D7C8-CD6FE2CC0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809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1" name="Line 138">
              <a:extLst>
                <a:ext uri="{FF2B5EF4-FFF2-40B4-BE49-F238E27FC236}">
                  <a16:creationId xmlns:a16="http://schemas.microsoft.com/office/drawing/2014/main" id="{851D1091-5FC9-E668-5377-AFC820E82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809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2" name="Line 139">
              <a:extLst>
                <a:ext uri="{FF2B5EF4-FFF2-40B4-BE49-F238E27FC236}">
                  <a16:creationId xmlns:a16="http://schemas.microsoft.com/office/drawing/2014/main" id="{078FDB26-E02D-E590-D1D5-049AF6E17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809"/>
              <a:ext cx="1" cy="18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3" name="Line 140">
              <a:extLst>
                <a:ext uri="{FF2B5EF4-FFF2-40B4-BE49-F238E27FC236}">
                  <a16:creationId xmlns:a16="http://schemas.microsoft.com/office/drawing/2014/main" id="{11C4DDAF-93AE-8030-B756-3044F19D1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" y="199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4" name="Line 141">
              <a:extLst>
                <a:ext uri="{FF2B5EF4-FFF2-40B4-BE49-F238E27FC236}">
                  <a16:creationId xmlns:a16="http://schemas.microsoft.com/office/drawing/2014/main" id="{09887A6E-1813-FE58-448F-406DC9AB2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" y="1990"/>
              <a:ext cx="410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5" name="Line 142">
              <a:extLst>
                <a:ext uri="{FF2B5EF4-FFF2-40B4-BE49-F238E27FC236}">
                  <a16:creationId xmlns:a16="http://schemas.microsoft.com/office/drawing/2014/main" id="{112D33F9-6F8F-662B-E97C-80984C202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990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6" name="Line 143">
              <a:extLst>
                <a:ext uri="{FF2B5EF4-FFF2-40B4-BE49-F238E27FC236}">
                  <a16:creationId xmlns:a16="http://schemas.microsoft.com/office/drawing/2014/main" id="{90A9D407-CB60-93A0-D5D0-4A4372A48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1809"/>
              <a:ext cx="1" cy="18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7" name="Line 144">
              <a:extLst>
                <a:ext uri="{FF2B5EF4-FFF2-40B4-BE49-F238E27FC236}">
                  <a16:creationId xmlns:a16="http://schemas.microsoft.com/office/drawing/2014/main" id="{3D6B0FD7-E4F1-D51F-6C34-6B8D83A39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809"/>
              <a:ext cx="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8" name="Line 145">
              <a:extLst>
                <a:ext uri="{FF2B5EF4-FFF2-40B4-BE49-F238E27FC236}">
                  <a16:creationId xmlns:a16="http://schemas.microsoft.com/office/drawing/2014/main" id="{77D40399-4F6F-B6B4-F614-F2B8007DB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2" y="1809"/>
              <a:ext cx="1" cy="197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9" name="Rectangle 146">
              <a:extLst>
                <a:ext uri="{FF2B5EF4-FFF2-40B4-BE49-F238E27FC236}">
                  <a16:creationId xmlns:a16="http://schemas.microsoft.com/office/drawing/2014/main" id="{C3B1E51D-E62F-19F9-836E-28253837B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1" y="1809"/>
              <a:ext cx="46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700">
                  <a:solidFill>
                    <a:srgbClr val="006600"/>
                  </a:solidFill>
                  <a:latin typeface="Times New Roman" panose="02020603050405020304" pitchFamily="18" charset="0"/>
                </a:rPr>
                <a:t>职责：</a:t>
              </a:r>
              <a:r>
                <a:rPr kumimoji="1" lang="en-US" altLang="zh-CN" sz="1700">
                  <a:solidFill>
                    <a:srgbClr val="006600"/>
                  </a:solidFill>
                  <a:latin typeface="Times New Roman" panose="02020603050405020304" pitchFamily="18" charset="0"/>
                </a:rPr>
                <a:t>:</a:t>
              </a:r>
              <a:endParaRPr kumimoji="1" lang="en-US" altLang="zh-CN" b="0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50" name="Rectangle 147">
              <a:extLst>
                <a:ext uri="{FF2B5EF4-FFF2-40B4-BE49-F238E27FC236}">
                  <a16:creationId xmlns:a16="http://schemas.microsoft.com/office/drawing/2014/main" id="{84597CDE-4F3B-3DEA-E48A-5ABBD6D86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820"/>
              <a:ext cx="46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700">
                  <a:solidFill>
                    <a:srgbClr val="FF0000"/>
                  </a:solidFill>
                  <a:latin typeface="Times New Roman" panose="02020603050405020304" pitchFamily="18" charset="0"/>
                </a:rPr>
                <a:t>协作者</a:t>
              </a:r>
              <a:r>
                <a:rPr kumimoji="1" lang="en-US" altLang="zh-CN" sz="1700">
                  <a:solidFill>
                    <a:srgbClr val="FF0000"/>
                  </a:solidFill>
                  <a:latin typeface="Times New Roman" panose="02020603050405020304" pitchFamily="18" charset="0"/>
                </a:rPr>
                <a:t>:</a:t>
              </a:r>
              <a:endPara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51" name="Line 148">
              <a:extLst>
                <a:ext uri="{FF2B5EF4-FFF2-40B4-BE49-F238E27FC236}">
                  <a16:creationId xmlns:a16="http://schemas.microsoft.com/office/drawing/2014/main" id="{758003D2-47C9-979A-857C-6400E4E14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171"/>
              <a:ext cx="4104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2" name="Line 149">
              <a:extLst>
                <a:ext uri="{FF2B5EF4-FFF2-40B4-BE49-F238E27FC236}">
                  <a16:creationId xmlns:a16="http://schemas.microsoft.com/office/drawing/2014/main" id="{DDDD58B3-0BC1-F2B4-7A83-73429F9C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7" y="2398"/>
              <a:ext cx="4105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3" name="Line 150">
              <a:extLst>
                <a:ext uri="{FF2B5EF4-FFF2-40B4-BE49-F238E27FC236}">
                  <a16:creationId xmlns:a16="http://schemas.microsoft.com/office/drawing/2014/main" id="{73C131CE-937A-EA31-FF87-243A6E393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591"/>
              <a:ext cx="4104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4" name="Line 151">
              <a:extLst>
                <a:ext uri="{FF2B5EF4-FFF2-40B4-BE49-F238E27FC236}">
                  <a16:creationId xmlns:a16="http://schemas.microsoft.com/office/drawing/2014/main" id="{B20744EB-60F9-02B6-EE7A-6CD17D239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4" y="2784"/>
              <a:ext cx="4105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5" name="Line 152">
              <a:extLst>
                <a:ext uri="{FF2B5EF4-FFF2-40B4-BE49-F238E27FC236}">
                  <a16:creationId xmlns:a16="http://schemas.microsoft.com/office/drawing/2014/main" id="{4EC82279-A672-C0CD-BD99-9E33B72C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7" y="3011"/>
              <a:ext cx="4105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6" name="Line 153">
              <a:extLst>
                <a:ext uri="{FF2B5EF4-FFF2-40B4-BE49-F238E27FC236}">
                  <a16:creationId xmlns:a16="http://schemas.microsoft.com/office/drawing/2014/main" id="{4FF5F14E-6EAA-A386-157A-2C8F779EC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7" y="3215"/>
              <a:ext cx="4105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7" name="Line 154">
              <a:extLst>
                <a:ext uri="{FF2B5EF4-FFF2-40B4-BE49-F238E27FC236}">
                  <a16:creationId xmlns:a16="http://schemas.microsoft.com/office/drawing/2014/main" id="{FAD52395-41FD-A010-2911-4818BADA7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7" y="3407"/>
              <a:ext cx="4105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8" name="Line 155">
              <a:extLst>
                <a:ext uri="{FF2B5EF4-FFF2-40B4-BE49-F238E27FC236}">
                  <a16:creationId xmlns:a16="http://schemas.microsoft.com/office/drawing/2014/main" id="{2F223E9C-1AD7-ED24-755D-9941403D0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7" y="3600"/>
              <a:ext cx="4105" cy="1"/>
            </a:xfrm>
            <a:prstGeom prst="line">
              <a:avLst/>
            </a:prstGeom>
            <a:noFill/>
            <a:ln w="17463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9" name="Rectangle 156">
              <a:extLst>
                <a:ext uri="{FF2B5EF4-FFF2-40B4-BE49-F238E27FC236}">
                  <a16:creationId xmlns:a16="http://schemas.microsoft.com/office/drawing/2014/main" id="{23376777-3FF6-E5CE-9294-C3B28DD4A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2631"/>
              <a:ext cx="79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合并墙、门和窗</a:t>
              </a:r>
              <a:endParaRPr kumimoji="1" lang="zh-CN" altLang="en-US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0" name="Rectangle 157">
              <a:extLst>
                <a:ext uri="{FF2B5EF4-FFF2-40B4-BE49-F238E27FC236}">
                  <a16:creationId xmlns:a16="http://schemas.microsoft.com/office/drawing/2014/main" id="{C8EC57A5-02DE-D676-2426-1DDA897FF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835"/>
              <a:ext cx="90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显示摄像头的位置</a:t>
              </a:r>
              <a:endParaRPr kumimoji="1" lang="zh-CN" altLang="en-US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1" name="Rectangle 158">
              <a:extLst>
                <a:ext uri="{FF2B5EF4-FFF2-40B4-BE49-F238E27FC236}">
                  <a16:creationId xmlns:a16="http://schemas.microsoft.com/office/drawing/2014/main" id="{D2269D57-5DE0-5B0F-4549-FC2302813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013"/>
              <a:ext cx="138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定义住宅平面图的名称</a:t>
              </a:r>
              <a:r>
                <a:rPr kumimoji="1" lang="en-US" altLang="zh-CN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/</a:t>
              </a:r>
              <a:r>
                <a:rPr kumimoji="1" lang="zh-CN" altLang="en-US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类型</a:t>
              </a:r>
              <a:endParaRPr kumimoji="1" lang="zh-CN" altLang="en-US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2" name="Rectangle 159">
              <a:extLst>
                <a:ext uri="{FF2B5EF4-FFF2-40B4-BE49-F238E27FC236}">
                  <a16:creationId xmlns:a16="http://schemas.microsoft.com/office/drawing/2014/main" id="{3270630B-8EFA-1D53-6234-1DA7410EA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217"/>
              <a:ext cx="113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管理住宅平面图的布局</a:t>
              </a:r>
              <a:endParaRPr kumimoji="1" lang="zh-CN" altLang="en-US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3" name="Rectangle 160">
              <a:extLst>
                <a:ext uri="{FF2B5EF4-FFF2-40B4-BE49-F238E27FC236}">
                  <a16:creationId xmlns:a16="http://schemas.microsoft.com/office/drawing/2014/main" id="{96C00DAA-5D80-4C8C-DCD3-6AD6494F5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433"/>
              <a:ext cx="101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zh-CN" altLang="en-US" sz="1400">
                  <a:solidFill>
                    <a:srgbClr val="006600"/>
                  </a:solidFill>
                  <a:latin typeface="Times New Roman" panose="02020603050405020304" pitchFamily="18" charset="0"/>
                </a:rPr>
                <a:t>缩放显示住宅平面图</a:t>
              </a:r>
              <a:endParaRPr kumimoji="1" lang="zh-CN" altLang="en-US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4" name="Rectangle 161">
              <a:extLst>
                <a:ext uri="{FF2B5EF4-FFF2-40B4-BE49-F238E27FC236}">
                  <a16:creationId xmlns:a16="http://schemas.microsoft.com/office/drawing/2014/main" id="{324BC1E2-CBE4-64C2-D69F-E755670D1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603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endParaRPr kumimoji="1" lang="en-US" altLang="zh-CN" sz="1400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5" name="Rectangle 162">
              <a:extLst>
                <a:ext uri="{FF2B5EF4-FFF2-40B4-BE49-F238E27FC236}">
                  <a16:creationId xmlns:a16="http://schemas.microsoft.com/office/drawing/2014/main" id="{FE220014-002D-CF3C-2A63-4822486EC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635"/>
              <a:ext cx="22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Wall</a:t>
              </a:r>
              <a:endParaRPr kumimoji="1"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166" name="Rectangle 163">
              <a:extLst>
                <a:ext uri="{FF2B5EF4-FFF2-40B4-BE49-F238E27FC236}">
                  <a16:creationId xmlns:a16="http://schemas.microsoft.com/office/drawing/2014/main" id="{4F76A64B-EE2B-06FA-E39D-091FBEEC9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827"/>
              <a:ext cx="39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kumimoji="1" lang="en-US" altLang="zh-CN" sz="1400">
                  <a:solidFill>
                    <a:srgbClr val="FF0000"/>
                  </a:solidFill>
                  <a:latin typeface="Times New Roman" panose="02020603050405020304" pitchFamily="18" charset="0"/>
                </a:rPr>
                <a:t>Camera</a:t>
              </a:r>
              <a:endParaRPr kumimoji="1"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4">
  <a:themeElements>
    <a:clrScheme name="模板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模板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模板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主题4">
  <a:themeElements>
    <a:clrScheme name="模板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模板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模板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3036</Words>
  <Application>Microsoft Office PowerPoint</Application>
  <PresentationFormat>宽屏</PresentationFormat>
  <Paragraphs>358</Paragraphs>
  <Slides>37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等线</vt:lpstr>
      <vt:lpstr>等线 Light</vt:lpstr>
      <vt:lpstr>方正舒体</vt:lpstr>
      <vt:lpstr>楷体</vt:lpstr>
      <vt:lpstr>宋体</vt:lpstr>
      <vt:lpstr>Arial</vt:lpstr>
      <vt:lpstr>Calibri</vt:lpstr>
      <vt:lpstr>Garamond</vt:lpstr>
      <vt:lpstr>Helvetica</vt:lpstr>
      <vt:lpstr>Times New Roman</vt:lpstr>
      <vt:lpstr>Wingdings</vt:lpstr>
      <vt:lpstr>Office 主题​​</vt:lpstr>
      <vt:lpstr>1_主题4</vt:lpstr>
      <vt:lpstr>2_主题4</vt:lpstr>
      <vt:lpstr>本章内容</vt:lpstr>
      <vt:lpstr>需求建模模型</vt:lpstr>
      <vt:lpstr>总体目标和原理</vt:lpstr>
      <vt:lpstr>总体目标和原理</vt:lpstr>
      <vt:lpstr>分析的经验原则(1)</vt:lpstr>
      <vt:lpstr>分析的经验原则(2)</vt:lpstr>
      <vt:lpstr>域分析</vt:lpstr>
      <vt:lpstr>需求模型的元素</vt:lpstr>
      <vt:lpstr>需求建模方法</vt:lpstr>
      <vt:lpstr>需求工程</vt:lpstr>
      <vt:lpstr>（1）起始</vt:lpstr>
      <vt:lpstr>（2）获取</vt:lpstr>
      <vt:lpstr>（2）获取</vt:lpstr>
      <vt:lpstr>（3）细化</vt:lpstr>
      <vt:lpstr>（4）协商</vt:lpstr>
      <vt:lpstr>（5）规格说明</vt:lpstr>
      <vt:lpstr>（5）规格说明</vt:lpstr>
      <vt:lpstr>（5）规格说明</vt:lpstr>
      <vt:lpstr>规格说明模板</vt:lpstr>
      <vt:lpstr>（6）确认</vt:lpstr>
      <vt:lpstr>需求确认检查表</vt:lpstr>
      <vt:lpstr>（7）需求管理</vt:lpstr>
      <vt:lpstr>出卷系统案例（问题描述）</vt:lpstr>
      <vt:lpstr>出卷系统案例（问题描述II）</vt:lpstr>
      <vt:lpstr>出卷系统案例（功能分析）</vt:lpstr>
      <vt:lpstr>出卷系统案例（功能分析II）</vt:lpstr>
      <vt:lpstr>出卷系统用例图</vt:lpstr>
      <vt:lpstr>短信系统案例（问题描述）</vt:lpstr>
      <vt:lpstr>短信系统案例（功能分析）</vt:lpstr>
      <vt:lpstr>短信系统用例图</vt:lpstr>
      <vt:lpstr>SafeHome系统案例</vt:lpstr>
      <vt:lpstr>SafeHome系统案例</vt:lpstr>
      <vt:lpstr>SafeHome用例模板</vt:lpstr>
      <vt:lpstr>SafeHome用例模板</vt:lpstr>
      <vt:lpstr>用例图</vt:lpstr>
      <vt:lpstr>CRC建模</vt:lpstr>
      <vt:lpstr>CRC 建模（II）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Xintian Liang</dc:creator>
  <cp:lastModifiedBy>Xintian Liang</cp:lastModifiedBy>
  <cp:revision>1</cp:revision>
  <dcterms:created xsi:type="dcterms:W3CDTF">2024-12-18T08:06:58Z</dcterms:created>
  <dcterms:modified xsi:type="dcterms:W3CDTF">2024-12-18T08:26:52Z</dcterms:modified>
</cp:coreProperties>
</file>